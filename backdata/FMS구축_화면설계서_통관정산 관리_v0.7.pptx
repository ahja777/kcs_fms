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6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7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610" r:id="rId2"/>
    <p:sldMasterId id="2147484614" r:id="rId3"/>
    <p:sldMasterId id="2147484617" r:id="rId4"/>
    <p:sldMasterId id="2147484620" r:id="rId5"/>
    <p:sldMasterId id="2147484623" r:id="rId6"/>
    <p:sldMasterId id="2147484626" r:id="rId7"/>
    <p:sldMasterId id="2147484629" r:id="rId8"/>
  </p:sldMasterIdLst>
  <p:notesMasterIdLst>
    <p:notesMasterId r:id="rId24"/>
  </p:notesMasterIdLst>
  <p:handoutMasterIdLst>
    <p:handoutMasterId r:id="rId25"/>
  </p:handoutMasterIdLst>
  <p:sldIdLst>
    <p:sldId id="520" r:id="rId9"/>
    <p:sldId id="578" r:id="rId10"/>
    <p:sldId id="626" r:id="rId11"/>
    <p:sldId id="627" r:id="rId12"/>
    <p:sldId id="624" r:id="rId13"/>
    <p:sldId id="625" r:id="rId14"/>
    <p:sldId id="630" r:id="rId15"/>
    <p:sldId id="631" r:id="rId16"/>
    <p:sldId id="634" r:id="rId17"/>
    <p:sldId id="635" r:id="rId18"/>
    <p:sldId id="632" r:id="rId19"/>
    <p:sldId id="636" r:id="rId20"/>
    <p:sldId id="609" r:id="rId21"/>
    <p:sldId id="610" r:id="rId22"/>
    <p:sldId id="611" r:id="rId23"/>
  </p:sldIdLst>
  <p:sldSz cx="10080625" cy="6858000"/>
  <p:notesSz cx="6858000" cy="1000125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kern="1200">
        <a:solidFill>
          <a:schemeClr val="tx1"/>
        </a:solidFill>
        <a:latin typeface="Arial" charset="0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kern="1200">
        <a:solidFill>
          <a:schemeClr val="tx1"/>
        </a:solidFill>
        <a:latin typeface="Arial" charset="0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kern="1200">
        <a:solidFill>
          <a:schemeClr val="tx1"/>
        </a:solidFill>
        <a:latin typeface="Arial" charset="0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kern="1200">
        <a:solidFill>
          <a:schemeClr val="tx1"/>
        </a:solidFill>
        <a:latin typeface="Arial" charset="0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kern="1200">
        <a:solidFill>
          <a:schemeClr val="tx1"/>
        </a:solidFill>
        <a:latin typeface="Arial" charset="0"/>
        <a:ea typeface="굴림" charset="-127"/>
        <a:cs typeface="+mn-cs"/>
      </a:defRPr>
    </a:lvl5pPr>
    <a:lvl6pPr marL="2286000" algn="l" defTabSz="914400" rtl="0" eaLnBrk="1" latinLnBrk="1" hangingPunct="1">
      <a:defRPr kumimoji="1" sz="800" kern="1200">
        <a:solidFill>
          <a:schemeClr val="tx1"/>
        </a:solidFill>
        <a:latin typeface="Arial" charset="0"/>
        <a:ea typeface="굴림" charset="-127"/>
        <a:cs typeface="+mn-cs"/>
      </a:defRPr>
    </a:lvl6pPr>
    <a:lvl7pPr marL="2743200" algn="l" defTabSz="914400" rtl="0" eaLnBrk="1" latinLnBrk="1" hangingPunct="1">
      <a:defRPr kumimoji="1" sz="800" kern="1200">
        <a:solidFill>
          <a:schemeClr val="tx1"/>
        </a:solidFill>
        <a:latin typeface="Arial" charset="0"/>
        <a:ea typeface="굴림" charset="-127"/>
        <a:cs typeface="+mn-cs"/>
      </a:defRPr>
    </a:lvl7pPr>
    <a:lvl8pPr marL="3200400" algn="l" defTabSz="914400" rtl="0" eaLnBrk="1" latinLnBrk="1" hangingPunct="1">
      <a:defRPr kumimoji="1" sz="800" kern="1200">
        <a:solidFill>
          <a:schemeClr val="tx1"/>
        </a:solidFill>
        <a:latin typeface="Arial" charset="0"/>
        <a:ea typeface="굴림" charset="-127"/>
        <a:cs typeface="+mn-cs"/>
      </a:defRPr>
    </a:lvl8pPr>
    <a:lvl9pPr marL="3657600" algn="l" defTabSz="914400" rtl="0" eaLnBrk="1" latinLnBrk="1" hangingPunct="1">
      <a:defRPr kumimoji="1" sz="800" kern="1200">
        <a:solidFill>
          <a:schemeClr val="tx1"/>
        </a:solidFill>
        <a:latin typeface="Arial" charset="0"/>
        <a:ea typeface="굴림" charset="-127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634">
          <p15:clr>
            <a:srgbClr val="A4A3A4"/>
          </p15:clr>
        </p15:guide>
        <p15:guide id="2" orient="horz" pos="571">
          <p15:clr>
            <a:srgbClr val="A4A3A4"/>
          </p15:clr>
        </p15:guide>
        <p15:guide id="3" orient="horz" pos="3407">
          <p15:clr>
            <a:srgbClr val="A4A3A4"/>
          </p15:clr>
        </p15:guide>
        <p15:guide id="4" pos="226">
          <p15:clr>
            <a:srgbClr val="A4A3A4"/>
          </p15:clr>
        </p15:guide>
        <p15:guide id="5" pos="113">
          <p15:clr>
            <a:srgbClr val="A4A3A4"/>
          </p15:clr>
        </p15:guide>
        <p15:guide id="6" pos="4785">
          <p15:clr>
            <a:srgbClr val="A4A3A4"/>
          </p15:clr>
        </p15:guide>
        <p15:guide id="7" pos="467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49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llo" initials="H" lastIdx="0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99CCFF"/>
    <a:srgbClr val="FF9900"/>
    <a:srgbClr val="FFCC66"/>
    <a:srgbClr val="003366"/>
    <a:srgbClr val="003399"/>
    <a:srgbClr val="D3E5F9"/>
    <a:srgbClr val="DDEAFF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598" autoAdjust="0"/>
    <p:restoredTop sz="92270" autoAdjust="0"/>
  </p:normalViewPr>
  <p:slideViewPr>
    <p:cSldViewPr snapToObjects="1" showGuides="1">
      <p:cViewPr>
        <p:scale>
          <a:sx n="90" d="100"/>
          <a:sy n="90" d="100"/>
        </p:scale>
        <p:origin x="-2150" y="283"/>
      </p:cViewPr>
      <p:guideLst>
        <p:guide orient="horz" pos="3634"/>
        <p:guide orient="horz" pos="663"/>
        <p:guide orient="horz" pos="3929"/>
        <p:guide pos="226"/>
        <p:guide pos="113"/>
        <p:guide pos="4785"/>
        <p:guide pos="46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Objects="1" showGuides="1">
      <p:cViewPr>
        <p:scale>
          <a:sx n="60" d="100"/>
          <a:sy n="60" d="100"/>
        </p:scale>
        <p:origin x="-3366" y="-84"/>
      </p:cViewPr>
      <p:guideLst>
        <p:guide orient="horz" pos="3149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9960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949960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829CEB7A-0FD7-402D-9DEE-A41DD0476EB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964983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73100" y="750888"/>
            <a:ext cx="5511800" cy="37496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751388"/>
            <a:ext cx="548640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9960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9499600"/>
            <a:ext cx="2971800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59C9AA-EB12-41C5-9B5B-FF8AA1A382D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96201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751388"/>
            <a:ext cx="2743200" cy="4498975"/>
          </a:xfrm>
        </p:spPr>
        <p:txBody>
          <a:bodyPr>
            <a:normAutofit/>
          </a:bodyPr>
          <a:lstStyle/>
          <a:p>
            <a:endParaRPr lang="ko-KR" altLang="en-US" sz="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59C9AA-EB12-41C5-9B5B-FF8AA1A382DD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A45F9285-D553-47AC-A1F0-A983A84B1917}" type="slidenum">
              <a:rPr lang="en-US" altLang="ko-KR" sz="1200">
                <a:solidFill>
                  <a:prstClr val="black"/>
                </a:solidFill>
              </a:rPr>
              <a:pPr eaLnBrk="1" hangingPunct="1"/>
              <a:t>2</a:t>
            </a:fld>
            <a:endParaRPr lang="en-US" altLang="ko-KR" sz="1200">
              <a:solidFill>
                <a:prstClr val="black"/>
              </a:solidFill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74688" y="750888"/>
            <a:ext cx="5508625" cy="37496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750314"/>
            <a:ext cx="5029200" cy="450080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954" tIns="45477" rIns="90954" bIns="45477"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584" indent="-228584"/>
            <a:r>
              <a:rPr lang="en-US" altLang="ko-KR" smtClean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59C9AA-EB12-41C5-9B5B-FF8AA1A382DD}" type="slidenum">
              <a:rPr lang="en-US" altLang="ko-KR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776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Description(</a:t>
            </a:r>
            <a:r>
              <a:rPr lang="ko-KR" altLang="en-US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화면설명</a:t>
            </a:r>
            <a:r>
              <a:rPr lang="en-US" altLang="ko-K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228600" indent="-228600">
              <a:buFont typeface="Wingdings" pitchFamily="2" charset="2"/>
              <a:buAutoNum type="arabicPeriod"/>
            </a:pPr>
            <a:r>
              <a:rPr lang="ko-KR" altLang="en-US" sz="1200" dirty="0" smtClean="0"/>
              <a:t>항목설명</a:t>
            </a:r>
            <a:endParaRPr lang="en-US" altLang="ko-KR" sz="1200" dirty="0" smtClean="0"/>
          </a:p>
          <a:p>
            <a:pPr marL="228600" indent="-228600">
              <a:buFont typeface="Wingdings" pitchFamily="2" charset="2"/>
              <a:buNone/>
            </a:pPr>
            <a:r>
              <a:rPr lang="en-US" altLang="ko-KR" sz="1200" baseline="0" dirty="0" smtClean="0"/>
              <a:t>   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59C9AA-EB12-41C5-9B5B-FF8AA1A382DD}" type="slidenum">
              <a:rPr lang="en-US" altLang="ko-KR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776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Description(</a:t>
            </a:r>
            <a:r>
              <a:rPr lang="ko-KR" altLang="en-US" sz="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화면설명</a:t>
            </a:r>
            <a:r>
              <a:rPr lang="en-US" altLang="ko-KR" sz="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ko-KR" sz="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</a:t>
            </a:r>
            <a:r>
              <a:rPr lang="ko-KR" altLang="en-US" sz="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조회</a:t>
            </a:r>
            <a:endParaRPr lang="en-US" altLang="ko-KR" sz="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Font typeface="Wingdings" pitchFamily="2" charset="2"/>
              <a:buNone/>
            </a:pPr>
            <a:r>
              <a:rPr lang="en-US" altLang="ko-KR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59C9AA-EB12-41C5-9B5B-FF8AA1A382DD}" type="slidenum">
              <a:rPr lang="en-US" altLang="ko-KR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31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Description(</a:t>
            </a:r>
            <a:r>
              <a:rPr lang="ko-KR" altLang="en-US" sz="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화면설명</a:t>
            </a:r>
            <a:r>
              <a:rPr lang="en-US" altLang="ko-KR" sz="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ko-KR" sz="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</a:t>
            </a:r>
            <a:r>
              <a:rPr lang="ko-KR" altLang="en-US" sz="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조회</a:t>
            </a:r>
            <a:endParaRPr lang="en-US" altLang="ko-KR" sz="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Font typeface="Wingdings" pitchFamily="2" charset="2"/>
              <a:buNone/>
            </a:pPr>
            <a:r>
              <a:rPr lang="en-US" altLang="ko-KR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1) Rate Apply: 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ko-KR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2) CUR: CUR</a:t>
            </a:r>
            <a:r>
              <a:rPr lang="ko-KR" altLang="en-US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을 입력하는 텍스트박스</a:t>
            </a:r>
            <a:r>
              <a:rPr lang="en-US" altLang="ko-KR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ko-KR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3) Weight: </a:t>
            </a:r>
            <a:r>
              <a:rPr lang="ko-KR" altLang="en-US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중량을 입력하는 텍스트박스</a:t>
            </a:r>
            <a:r>
              <a:rPr lang="en-US" altLang="ko-KR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ko-KR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4) Rate: </a:t>
            </a:r>
            <a:r>
              <a:rPr lang="ko-KR" altLang="en-US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비율을 입력하는 텍스트박스</a:t>
            </a:r>
            <a:r>
              <a:rPr lang="en-US" altLang="ko-KR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ko-KR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5) %: 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ko-KR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6) Net Amount: Net Amount</a:t>
            </a:r>
            <a:r>
              <a:rPr lang="ko-KR" altLang="en-US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를 입력하는 텍스트박스</a:t>
            </a:r>
            <a:r>
              <a:rPr lang="en-US" altLang="ko-KR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ko-KR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7) D/C Amount: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ko-KR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8) IATA </a:t>
            </a:r>
            <a:r>
              <a:rPr lang="en-US" altLang="ko-KR" sz="800" baseline="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Commision</a:t>
            </a:r>
            <a:r>
              <a:rPr lang="en-US" altLang="ko-KR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IATA </a:t>
            </a:r>
            <a:r>
              <a:rPr lang="en-US" altLang="ko-KR" sz="800" baseline="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Commision</a:t>
            </a:r>
            <a:r>
              <a:rPr lang="ko-KR" altLang="en-US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을 입력하는 텍스트박스</a:t>
            </a:r>
            <a:r>
              <a:rPr lang="en-US" altLang="ko-KR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ko-KR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9) Amount: Amount</a:t>
            </a:r>
            <a:r>
              <a:rPr lang="ko-KR" altLang="en-US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를 입력하는 텍스트박스</a:t>
            </a:r>
            <a:r>
              <a:rPr lang="en-US" altLang="ko-KR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ko-KR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10) Vat: Vat</a:t>
            </a:r>
            <a:r>
              <a:rPr lang="ko-KR" altLang="en-US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를 입력하는 텍스트박스</a:t>
            </a:r>
            <a:r>
              <a:rPr lang="en-US" altLang="ko-KR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ko-KR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11) Expense D/C Amount: Expense D/C Amount</a:t>
            </a:r>
            <a:r>
              <a:rPr lang="ko-KR" altLang="en-US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를 입력하는 텍스트박스</a:t>
            </a:r>
            <a:r>
              <a:rPr lang="en-US" altLang="ko-KR" sz="80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59C9AA-EB12-41C5-9B5B-FF8AA1A382DD}" type="slidenum">
              <a:rPr lang="en-US" altLang="ko-KR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31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751388"/>
            <a:ext cx="2707196" cy="4498975"/>
          </a:xfrm>
        </p:spPr>
        <p:txBody>
          <a:bodyPr lIns="97200">
            <a:no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Description(</a:t>
            </a:r>
            <a:r>
              <a:rPr lang="ko-KR" altLang="en-US" sz="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화면설명</a:t>
            </a:r>
            <a:r>
              <a:rPr lang="en-US" altLang="ko-KR" sz="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228600" indent="-228600">
              <a:buFont typeface="Wingdings" pitchFamily="2" charset="2"/>
              <a:buNone/>
            </a:pPr>
            <a:r>
              <a:rPr lang="en-US" altLang="ko-KR" sz="600" dirty="0" smtClean="0"/>
              <a:t>1. </a:t>
            </a:r>
            <a:r>
              <a:rPr lang="ko-KR" altLang="en-US" sz="600" dirty="0" smtClean="0"/>
              <a:t>기능</a:t>
            </a:r>
            <a:endParaRPr lang="en-US" altLang="ko-KR" sz="600" dirty="0" smtClean="0"/>
          </a:p>
          <a:p>
            <a:pPr marL="228600" indent="-228600">
              <a:buFont typeface="Wingdings" pitchFamily="2" charset="2"/>
              <a:buNone/>
            </a:pPr>
            <a:r>
              <a:rPr lang="en-US" altLang="ko-KR" sz="600" baseline="0" dirty="0" smtClean="0"/>
              <a:t> </a:t>
            </a:r>
            <a:r>
              <a:rPr lang="en-US" altLang="ko-KR" sz="600" dirty="0" smtClean="0"/>
              <a:t>1) </a:t>
            </a:r>
            <a:r>
              <a:rPr lang="ko-KR" altLang="en-US" sz="600" dirty="0" smtClean="0"/>
              <a:t>수출입물류통관예상서</a:t>
            </a:r>
            <a:endParaRPr kumimoji="1" lang="en-US" altLang="ko-KR" sz="600" kern="1200" baseline="0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  <a:cs typeface="+mn-cs"/>
            </a:endParaRPr>
          </a:p>
          <a:p>
            <a:pPr marL="228600" indent="-228600">
              <a:buFont typeface="Wingdings" pitchFamily="2" charset="2"/>
              <a:buNone/>
            </a:pPr>
            <a:endParaRPr kumimoji="1" lang="en-US" altLang="ko-KR" sz="600" kern="1200" baseline="0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59C9AA-EB12-41C5-9B5B-FF8AA1A382DD}" type="slidenum">
              <a:rPr lang="en-US" altLang="ko-KR" smtClean="0">
                <a:solidFill>
                  <a:prstClr val="black"/>
                </a:solidFill>
              </a:rPr>
              <a:pPr>
                <a:defRPr/>
              </a:pPr>
              <a:t>9</a:t>
            </a:fld>
            <a:endParaRPr lang="en-US" altLang="ko-KR">
              <a:solidFill>
                <a:prstClr val="black"/>
              </a:solidFill>
            </a:endParaRPr>
          </a:p>
        </p:txBody>
      </p:sp>
      <p:sp>
        <p:nvSpPr>
          <p:cNvPr id="5" name="슬라이드 노트 개체 틀 2"/>
          <p:cNvSpPr txBox="1">
            <a:spLocks/>
          </p:cNvSpPr>
          <p:nvPr/>
        </p:nvSpPr>
        <p:spPr bwMode="auto">
          <a:xfrm>
            <a:off x="3477704" y="4751388"/>
            <a:ext cx="2707196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t" anchorCtr="0" compatLnSpc="1">
            <a:prstTxWarp prst="textNoShape">
              <a:avLst/>
            </a:prstTxWarp>
            <a:noAutofit/>
          </a:bodyPr>
          <a:lstStyle>
            <a:lvl1pPr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6. Master Air Way Bill </a:t>
            </a:r>
            <a:r>
              <a:rPr lang="ko-KR" altLang="en-US" sz="600" dirty="0" smtClean="0">
                <a:solidFill>
                  <a:prstClr val="black"/>
                </a:solidFill>
              </a:rPr>
              <a:t>고유번호가 표시됨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7. Master Air Way Bill </a:t>
            </a:r>
            <a:r>
              <a:rPr lang="ko-KR" altLang="en-US" sz="600" dirty="0" smtClean="0">
                <a:solidFill>
                  <a:prstClr val="black"/>
                </a:solidFill>
              </a:rPr>
              <a:t>에 속한 </a:t>
            </a:r>
            <a:r>
              <a:rPr lang="en-US" altLang="ko-KR" sz="600" dirty="0" smtClean="0">
                <a:solidFill>
                  <a:prstClr val="black"/>
                </a:solidFill>
              </a:rPr>
              <a:t>House Air Way Bill </a:t>
            </a:r>
            <a:r>
              <a:rPr lang="ko-KR" altLang="en-US" sz="600" dirty="0" smtClean="0">
                <a:solidFill>
                  <a:prstClr val="black"/>
                </a:solidFill>
              </a:rPr>
              <a:t>항목의 개수가 표시됨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8. </a:t>
            </a:r>
            <a:r>
              <a:rPr lang="ko-KR" altLang="en-US" sz="600" dirty="0" smtClean="0">
                <a:solidFill>
                  <a:prstClr val="black"/>
                </a:solidFill>
              </a:rPr>
              <a:t>기능버튼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1) </a:t>
            </a:r>
            <a:r>
              <a:rPr lang="ko-KR" altLang="en-US" sz="600" dirty="0" err="1" smtClean="0">
                <a:solidFill>
                  <a:prstClr val="black"/>
                </a:solidFill>
              </a:rPr>
              <a:t>적하목록을</a:t>
            </a:r>
            <a:r>
              <a:rPr lang="ko-KR" altLang="en-US" sz="600" dirty="0" smtClean="0">
                <a:solidFill>
                  <a:prstClr val="black"/>
                </a:solidFill>
              </a:rPr>
              <a:t> 전송하기 전에 신고항목이 누락되거나 잘못 입력된 곳이 있는지 검증하기 위해 사용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2) </a:t>
            </a:r>
            <a:r>
              <a:rPr lang="ko-KR" altLang="en-US" sz="600" dirty="0" smtClean="0">
                <a:solidFill>
                  <a:prstClr val="black"/>
                </a:solidFill>
              </a:rPr>
              <a:t>검증 결과를 표시함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3) </a:t>
            </a:r>
            <a:r>
              <a:rPr lang="ko-KR" altLang="en-US" sz="600" dirty="0" err="1" smtClean="0">
                <a:solidFill>
                  <a:prstClr val="black"/>
                </a:solidFill>
              </a:rPr>
              <a:t>적하목록을</a:t>
            </a:r>
            <a:r>
              <a:rPr lang="ko-KR" altLang="en-US" sz="600" dirty="0" smtClean="0">
                <a:solidFill>
                  <a:prstClr val="black"/>
                </a:solidFill>
              </a:rPr>
              <a:t> 전송한 후 전송된 신고서가 </a:t>
            </a:r>
            <a:r>
              <a:rPr lang="en-US" altLang="ko-KR" sz="600" dirty="0" smtClean="0">
                <a:solidFill>
                  <a:prstClr val="black"/>
                </a:solidFill>
              </a:rPr>
              <a:t>MFCS</a:t>
            </a:r>
            <a:r>
              <a:rPr lang="ko-KR" altLang="en-US" sz="600" dirty="0" smtClean="0">
                <a:solidFill>
                  <a:prstClr val="black"/>
                </a:solidFill>
              </a:rPr>
              <a:t>에 취합이 정상적으로 이루어지고 있는지 상태확인을 할 때 사용하는 버튼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srgbClr val="FF0000"/>
                </a:solidFill>
              </a:rPr>
              <a:t>4) </a:t>
            </a:r>
            <a:r>
              <a:rPr lang="ko-KR" altLang="en-US" sz="600" dirty="0" err="1" smtClean="0">
                <a:solidFill>
                  <a:srgbClr val="FF0000"/>
                </a:solidFill>
              </a:rPr>
              <a:t>적하목록</a:t>
            </a:r>
            <a:r>
              <a:rPr lang="ko-KR" altLang="en-US" sz="600" dirty="0" smtClean="0">
                <a:solidFill>
                  <a:srgbClr val="FF0000"/>
                </a:solidFill>
              </a:rPr>
              <a:t> 데이터를 일괄로 변경하고자 할 때 사용하는 버튼</a:t>
            </a:r>
            <a:r>
              <a:rPr lang="en-US" altLang="ko-KR" sz="600" dirty="0" smtClean="0">
                <a:solidFill>
                  <a:srgbClr val="FF0000"/>
                </a:solidFill>
              </a:rPr>
              <a:t>(TBD).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5) </a:t>
            </a:r>
            <a:r>
              <a:rPr lang="ko-KR" altLang="en-US" sz="600" dirty="0" smtClean="0">
                <a:solidFill>
                  <a:prstClr val="black"/>
                </a:solidFill>
              </a:rPr>
              <a:t>검색된 데이터를 엑셀 파일 형태로 저장</a:t>
            </a:r>
            <a:endParaRPr lang="en-US" altLang="ko-KR" sz="600" dirty="0" smtClean="0">
              <a:solidFill>
                <a:prstClr val="black"/>
              </a:solidFill>
            </a:endParaRP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6)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7)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8)</a:t>
            </a:r>
          </a:p>
          <a:p>
            <a:pPr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9. </a:t>
            </a:r>
            <a:r>
              <a:rPr lang="ko-KR" altLang="en-US" sz="600" dirty="0" smtClean="0">
                <a:solidFill>
                  <a:prstClr val="black"/>
                </a:solidFill>
              </a:rPr>
              <a:t>입력항목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1) Manifest </a:t>
            </a:r>
            <a:r>
              <a:rPr lang="en-US" altLang="ko-KR" sz="600" dirty="0" err="1" smtClean="0">
                <a:solidFill>
                  <a:prstClr val="black"/>
                </a:solidFill>
              </a:rPr>
              <a:t>JOBerence</a:t>
            </a:r>
            <a:r>
              <a:rPr lang="en-US" altLang="ko-KR" sz="600" dirty="0" smtClean="0">
                <a:solidFill>
                  <a:prstClr val="black"/>
                </a:solidFill>
              </a:rPr>
              <a:t> No.: </a:t>
            </a:r>
            <a:r>
              <a:rPr lang="ko-KR" altLang="en-US" sz="600" dirty="0" err="1" smtClean="0">
                <a:solidFill>
                  <a:prstClr val="black"/>
                </a:solidFill>
              </a:rPr>
              <a:t>적하목록</a:t>
            </a:r>
            <a:r>
              <a:rPr lang="ko-KR" altLang="en-US" sz="600" dirty="0" smtClean="0">
                <a:solidFill>
                  <a:prstClr val="black"/>
                </a:solidFill>
              </a:rPr>
              <a:t> 관리번호 입력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2) </a:t>
            </a:r>
            <a:r>
              <a:rPr lang="ko-KR" altLang="en-US" sz="600" dirty="0" smtClean="0">
                <a:solidFill>
                  <a:prstClr val="black"/>
                </a:solidFill>
              </a:rPr>
              <a:t>중계사업자</a:t>
            </a:r>
            <a:r>
              <a:rPr lang="en-US" altLang="ko-KR" sz="600" dirty="0" smtClean="0">
                <a:solidFill>
                  <a:prstClr val="black"/>
                </a:solidFill>
              </a:rPr>
              <a:t>: </a:t>
            </a:r>
            <a:r>
              <a:rPr lang="ko-KR" altLang="en-US" sz="600" dirty="0" err="1" smtClean="0">
                <a:solidFill>
                  <a:prstClr val="black"/>
                </a:solidFill>
              </a:rPr>
              <a:t>적하목록</a:t>
            </a:r>
            <a:r>
              <a:rPr lang="ko-KR" altLang="en-US" sz="600" dirty="0" smtClean="0">
                <a:solidFill>
                  <a:prstClr val="black"/>
                </a:solidFill>
              </a:rPr>
              <a:t> 중계사업자 </a:t>
            </a:r>
            <a:r>
              <a:rPr lang="en-US" altLang="ko-KR" sz="600" dirty="0" smtClean="0">
                <a:solidFill>
                  <a:prstClr val="black"/>
                </a:solidFill>
              </a:rPr>
              <a:t>KTNET </a:t>
            </a:r>
            <a:r>
              <a:rPr lang="ko-KR" altLang="en-US" sz="600" dirty="0" smtClean="0">
                <a:solidFill>
                  <a:prstClr val="black"/>
                </a:solidFill>
              </a:rPr>
              <a:t>또는 </a:t>
            </a:r>
            <a:r>
              <a:rPr lang="en-US" altLang="ko-KR" sz="600" dirty="0" smtClean="0">
                <a:solidFill>
                  <a:prstClr val="black"/>
                </a:solidFill>
              </a:rPr>
              <a:t>KCENT </a:t>
            </a:r>
            <a:r>
              <a:rPr lang="ko-KR" altLang="en-US" sz="600" dirty="0" smtClean="0">
                <a:solidFill>
                  <a:prstClr val="black"/>
                </a:solidFill>
              </a:rPr>
              <a:t>을 선택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3) Master AWB No.: Master AWB</a:t>
            </a:r>
            <a:r>
              <a:rPr lang="ko-KR" altLang="en-US" sz="600" dirty="0" smtClean="0">
                <a:solidFill>
                  <a:prstClr val="black"/>
                </a:solidFill>
              </a:rPr>
              <a:t>번호 입력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4) Carrier/Flight No.: </a:t>
            </a:r>
            <a:r>
              <a:rPr lang="ko-KR" altLang="en-US" sz="600" dirty="0" smtClean="0">
                <a:solidFill>
                  <a:prstClr val="black"/>
                </a:solidFill>
              </a:rPr>
              <a:t>항공사</a:t>
            </a:r>
            <a:r>
              <a:rPr lang="en-US" altLang="ko-KR" sz="600" dirty="0" smtClean="0">
                <a:solidFill>
                  <a:prstClr val="black"/>
                </a:solidFill>
              </a:rPr>
              <a:t>/ </a:t>
            </a:r>
            <a:r>
              <a:rPr lang="ko-KR" altLang="en-US" sz="600" dirty="0" err="1" smtClean="0">
                <a:solidFill>
                  <a:prstClr val="black"/>
                </a:solidFill>
              </a:rPr>
              <a:t>편명</a:t>
            </a:r>
            <a:r>
              <a:rPr lang="ko-KR" altLang="en-US" sz="600" dirty="0" smtClean="0">
                <a:solidFill>
                  <a:prstClr val="black"/>
                </a:solidFill>
              </a:rPr>
              <a:t> 중 </a:t>
            </a:r>
            <a:r>
              <a:rPr lang="en-US" altLang="ko-KR" sz="600" dirty="0" smtClean="0">
                <a:solidFill>
                  <a:prstClr val="black"/>
                </a:solidFill>
              </a:rPr>
              <a:t>Tail</a:t>
            </a:r>
            <a:r>
              <a:rPr lang="ko-KR" altLang="en-US" sz="600" dirty="0" smtClean="0">
                <a:solidFill>
                  <a:prstClr val="black"/>
                </a:solidFill>
              </a:rPr>
              <a:t>번호 입력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5) Port of Departure: </a:t>
            </a:r>
            <a:r>
              <a:rPr lang="ko-KR" altLang="en-US" sz="600" dirty="0" err="1" smtClean="0">
                <a:solidFill>
                  <a:prstClr val="black"/>
                </a:solidFill>
              </a:rPr>
              <a:t>출발항</a:t>
            </a:r>
            <a:r>
              <a:rPr lang="en-US" altLang="ko-KR" sz="600" dirty="0" smtClean="0">
                <a:solidFill>
                  <a:prstClr val="black"/>
                </a:solidFill>
              </a:rPr>
              <a:t>,</a:t>
            </a:r>
            <a:r>
              <a:rPr lang="ko-KR" altLang="en-US" sz="600" dirty="0" smtClean="0">
                <a:solidFill>
                  <a:prstClr val="black"/>
                </a:solidFill>
              </a:rPr>
              <a:t>출발지 공항코드 입력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6) Port of Destination: </a:t>
            </a:r>
            <a:r>
              <a:rPr lang="ko-KR" altLang="en-US" sz="600" dirty="0" smtClean="0">
                <a:solidFill>
                  <a:prstClr val="black"/>
                </a:solidFill>
              </a:rPr>
              <a:t>도착항</a:t>
            </a:r>
            <a:r>
              <a:rPr lang="en-US" altLang="ko-KR" sz="600" dirty="0" smtClean="0">
                <a:solidFill>
                  <a:prstClr val="black"/>
                </a:solidFill>
              </a:rPr>
              <a:t>,</a:t>
            </a:r>
            <a:r>
              <a:rPr lang="ko-KR" altLang="en-US" sz="600" dirty="0" smtClean="0">
                <a:solidFill>
                  <a:prstClr val="black"/>
                </a:solidFill>
              </a:rPr>
              <a:t>도착지 공항코드 입력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7) Date of Departure: </a:t>
            </a:r>
            <a:r>
              <a:rPr lang="ko-KR" altLang="en-US" sz="600" dirty="0" smtClean="0">
                <a:solidFill>
                  <a:prstClr val="black"/>
                </a:solidFill>
              </a:rPr>
              <a:t>출발일자 입력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8) PKG’S/ </a:t>
            </a:r>
            <a:r>
              <a:rPr lang="en-US" altLang="ko-KR" sz="600" dirty="0" err="1" smtClean="0">
                <a:solidFill>
                  <a:prstClr val="black"/>
                </a:solidFill>
              </a:rPr>
              <a:t>G.Weight</a:t>
            </a:r>
            <a:r>
              <a:rPr lang="en-US" altLang="ko-KR" sz="600" dirty="0" smtClean="0">
                <a:solidFill>
                  <a:prstClr val="black"/>
                </a:solidFill>
              </a:rPr>
              <a:t>: </a:t>
            </a:r>
            <a:r>
              <a:rPr lang="ko-KR" altLang="en-US" sz="600" dirty="0" smtClean="0">
                <a:solidFill>
                  <a:prstClr val="black"/>
                </a:solidFill>
              </a:rPr>
              <a:t>수량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10. Grid</a:t>
            </a:r>
            <a:r>
              <a:rPr lang="ko-KR" altLang="en-US" sz="600" dirty="0" smtClean="0">
                <a:solidFill>
                  <a:prstClr val="black"/>
                </a:solidFill>
              </a:rPr>
              <a:t>에서 선택된 항목의 상세 정보가 표시됨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>
              <a:buFont typeface="Wingdings" pitchFamily="2" charset="2"/>
              <a:buNone/>
            </a:pPr>
            <a:endParaRPr lang="en-US" altLang="ko-KR" sz="600" dirty="0" smtClean="0">
              <a:solidFill>
                <a:prstClr val="black"/>
              </a:solidFill>
            </a:endParaRPr>
          </a:p>
          <a:p>
            <a:pPr marL="171450" indent="-171450"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ko-KR" sz="600" b="1" dirty="0" smtClean="0">
                <a:solidFill>
                  <a:prstClr val="black"/>
                </a:solidFill>
              </a:rPr>
              <a:t>Abbreviation(</a:t>
            </a:r>
            <a:r>
              <a:rPr lang="ko-KR" altLang="en-US" sz="600" b="1" dirty="0" smtClean="0">
                <a:solidFill>
                  <a:prstClr val="black"/>
                </a:solidFill>
              </a:rPr>
              <a:t>약어</a:t>
            </a:r>
            <a:r>
              <a:rPr lang="en-US" altLang="ko-KR" sz="600" b="1" dirty="0" smtClean="0">
                <a:solidFill>
                  <a:prstClr val="black"/>
                </a:solidFill>
              </a:rPr>
              <a:t>)</a:t>
            </a:r>
          </a:p>
          <a:p>
            <a:pPr marL="108000"/>
            <a:endParaRPr lang="en-US" altLang="ko-KR" sz="600" dirty="0" smtClean="0">
              <a:solidFill>
                <a:prstClr val="black"/>
              </a:solidFill>
            </a:endParaRPr>
          </a:p>
          <a:p>
            <a:pPr marL="108000"/>
            <a:endParaRPr lang="ko-KR" altLang="en-US" sz="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586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751388"/>
            <a:ext cx="2707196" cy="4498975"/>
          </a:xfrm>
        </p:spPr>
        <p:txBody>
          <a:bodyPr lIns="97200">
            <a:no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Description(</a:t>
            </a:r>
            <a:r>
              <a:rPr lang="ko-KR" altLang="en-US" sz="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화면설명</a:t>
            </a:r>
            <a:r>
              <a:rPr lang="en-US" altLang="ko-KR" sz="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228600" indent="-228600">
              <a:buFont typeface="Wingdings" pitchFamily="2" charset="2"/>
              <a:buNone/>
            </a:pPr>
            <a:r>
              <a:rPr lang="en-US" altLang="ko-KR" sz="600" dirty="0" smtClean="0"/>
              <a:t>1. </a:t>
            </a:r>
            <a:r>
              <a:rPr lang="ko-KR" altLang="en-US" sz="600" dirty="0" smtClean="0"/>
              <a:t>기능</a:t>
            </a:r>
            <a:endParaRPr lang="en-US" altLang="ko-KR" sz="600" dirty="0" smtClean="0"/>
          </a:p>
          <a:p>
            <a:pPr marL="228600" indent="-228600">
              <a:buFont typeface="Wingdings" pitchFamily="2" charset="2"/>
              <a:buNone/>
            </a:pPr>
            <a:r>
              <a:rPr lang="en-US" altLang="ko-KR" sz="600" baseline="0" dirty="0" smtClean="0"/>
              <a:t> </a:t>
            </a:r>
            <a:r>
              <a:rPr lang="en-US" altLang="ko-KR" sz="600" dirty="0" smtClean="0"/>
              <a:t>1) </a:t>
            </a:r>
            <a:r>
              <a:rPr lang="ko-KR" altLang="en-US" sz="600" dirty="0" smtClean="0"/>
              <a:t>수출입물류통관예상서</a:t>
            </a:r>
            <a:endParaRPr kumimoji="1" lang="en-US" altLang="ko-KR" sz="600" kern="1200" baseline="0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  <a:cs typeface="+mn-cs"/>
            </a:endParaRPr>
          </a:p>
          <a:p>
            <a:pPr marL="228600" indent="-228600">
              <a:buFont typeface="Wingdings" pitchFamily="2" charset="2"/>
              <a:buNone/>
            </a:pPr>
            <a:endParaRPr kumimoji="1" lang="en-US" altLang="ko-KR" sz="600" kern="1200" baseline="0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59C9AA-EB12-41C5-9B5B-FF8AA1A382DD}" type="slidenum">
              <a:rPr lang="en-US" altLang="ko-KR" smtClean="0">
                <a:solidFill>
                  <a:prstClr val="black"/>
                </a:solidFill>
              </a:rPr>
              <a:pPr>
                <a:defRPr/>
              </a:pPr>
              <a:t>10</a:t>
            </a:fld>
            <a:endParaRPr lang="en-US" altLang="ko-KR">
              <a:solidFill>
                <a:prstClr val="black"/>
              </a:solidFill>
            </a:endParaRPr>
          </a:p>
        </p:txBody>
      </p:sp>
      <p:sp>
        <p:nvSpPr>
          <p:cNvPr id="5" name="슬라이드 노트 개체 틀 2"/>
          <p:cNvSpPr txBox="1">
            <a:spLocks/>
          </p:cNvSpPr>
          <p:nvPr/>
        </p:nvSpPr>
        <p:spPr bwMode="auto">
          <a:xfrm>
            <a:off x="3477704" y="4751388"/>
            <a:ext cx="2707196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t" anchorCtr="0" compatLnSpc="1">
            <a:prstTxWarp prst="textNoShape">
              <a:avLst/>
            </a:prstTxWarp>
            <a:noAutofit/>
          </a:bodyPr>
          <a:lstStyle>
            <a:lvl1pPr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6. Master Air Way Bill </a:t>
            </a:r>
            <a:r>
              <a:rPr lang="ko-KR" altLang="en-US" sz="600" dirty="0" smtClean="0">
                <a:solidFill>
                  <a:prstClr val="black"/>
                </a:solidFill>
              </a:rPr>
              <a:t>고유번호가 표시됨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7. Master Air Way Bill </a:t>
            </a:r>
            <a:r>
              <a:rPr lang="ko-KR" altLang="en-US" sz="600" dirty="0" smtClean="0">
                <a:solidFill>
                  <a:prstClr val="black"/>
                </a:solidFill>
              </a:rPr>
              <a:t>에 속한 </a:t>
            </a:r>
            <a:r>
              <a:rPr lang="en-US" altLang="ko-KR" sz="600" dirty="0" smtClean="0">
                <a:solidFill>
                  <a:prstClr val="black"/>
                </a:solidFill>
              </a:rPr>
              <a:t>House Air Way Bill </a:t>
            </a:r>
            <a:r>
              <a:rPr lang="ko-KR" altLang="en-US" sz="600" dirty="0" smtClean="0">
                <a:solidFill>
                  <a:prstClr val="black"/>
                </a:solidFill>
              </a:rPr>
              <a:t>항목의 개수가 표시됨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8. </a:t>
            </a:r>
            <a:r>
              <a:rPr lang="ko-KR" altLang="en-US" sz="600" dirty="0" smtClean="0">
                <a:solidFill>
                  <a:prstClr val="black"/>
                </a:solidFill>
              </a:rPr>
              <a:t>기능버튼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1) </a:t>
            </a:r>
            <a:r>
              <a:rPr lang="ko-KR" altLang="en-US" sz="600" dirty="0" err="1" smtClean="0">
                <a:solidFill>
                  <a:prstClr val="black"/>
                </a:solidFill>
              </a:rPr>
              <a:t>적하목록을</a:t>
            </a:r>
            <a:r>
              <a:rPr lang="ko-KR" altLang="en-US" sz="600" dirty="0" smtClean="0">
                <a:solidFill>
                  <a:prstClr val="black"/>
                </a:solidFill>
              </a:rPr>
              <a:t> 전송하기 전에 신고항목이 누락되거나 잘못 입력된 곳이 있는지 검증하기 위해 사용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2) </a:t>
            </a:r>
            <a:r>
              <a:rPr lang="ko-KR" altLang="en-US" sz="600" dirty="0" smtClean="0">
                <a:solidFill>
                  <a:prstClr val="black"/>
                </a:solidFill>
              </a:rPr>
              <a:t>검증 결과를 표시함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3) </a:t>
            </a:r>
            <a:r>
              <a:rPr lang="ko-KR" altLang="en-US" sz="600" dirty="0" err="1" smtClean="0">
                <a:solidFill>
                  <a:prstClr val="black"/>
                </a:solidFill>
              </a:rPr>
              <a:t>적하목록을</a:t>
            </a:r>
            <a:r>
              <a:rPr lang="ko-KR" altLang="en-US" sz="600" dirty="0" smtClean="0">
                <a:solidFill>
                  <a:prstClr val="black"/>
                </a:solidFill>
              </a:rPr>
              <a:t> 전송한 후 전송된 신고서가 </a:t>
            </a:r>
            <a:r>
              <a:rPr lang="en-US" altLang="ko-KR" sz="600" dirty="0" smtClean="0">
                <a:solidFill>
                  <a:prstClr val="black"/>
                </a:solidFill>
              </a:rPr>
              <a:t>MFCS</a:t>
            </a:r>
            <a:r>
              <a:rPr lang="ko-KR" altLang="en-US" sz="600" dirty="0" smtClean="0">
                <a:solidFill>
                  <a:prstClr val="black"/>
                </a:solidFill>
              </a:rPr>
              <a:t>에 취합이 정상적으로 이루어지고 있는지 상태확인을 할 때 사용하는 버튼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srgbClr val="FF0000"/>
                </a:solidFill>
              </a:rPr>
              <a:t>4) </a:t>
            </a:r>
            <a:r>
              <a:rPr lang="ko-KR" altLang="en-US" sz="600" dirty="0" err="1" smtClean="0">
                <a:solidFill>
                  <a:srgbClr val="FF0000"/>
                </a:solidFill>
              </a:rPr>
              <a:t>적하목록</a:t>
            </a:r>
            <a:r>
              <a:rPr lang="ko-KR" altLang="en-US" sz="600" dirty="0" smtClean="0">
                <a:solidFill>
                  <a:srgbClr val="FF0000"/>
                </a:solidFill>
              </a:rPr>
              <a:t> 데이터를 일괄로 변경하고자 할 때 사용하는 버튼</a:t>
            </a:r>
            <a:r>
              <a:rPr lang="en-US" altLang="ko-KR" sz="600" dirty="0" smtClean="0">
                <a:solidFill>
                  <a:srgbClr val="FF0000"/>
                </a:solidFill>
              </a:rPr>
              <a:t>(TBD).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5) </a:t>
            </a:r>
            <a:r>
              <a:rPr lang="ko-KR" altLang="en-US" sz="600" dirty="0" smtClean="0">
                <a:solidFill>
                  <a:prstClr val="black"/>
                </a:solidFill>
              </a:rPr>
              <a:t>검색된 데이터를 엑셀 파일 형태로 저장</a:t>
            </a:r>
            <a:endParaRPr lang="en-US" altLang="ko-KR" sz="600" dirty="0" smtClean="0">
              <a:solidFill>
                <a:prstClr val="black"/>
              </a:solidFill>
            </a:endParaRP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6)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7)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8)</a:t>
            </a:r>
          </a:p>
          <a:p>
            <a:pPr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9. </a:t>
            </a:r>
            <a:r>
              <a:rPr lang="ko-KR" altLang="en-US" sz="600" dirty="0" smtClean="0">
                <a:solidFill>
                  <a:prstClr val="black"/>
                </a:solidFill>
              </a:rPr>
              <a:t>입력항목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1) Manifest </a:t>
            </a:r>
            <a:r>
              <a:rPr lang="en-US" altLang="ko-KR" sz="600" dirty="0" err="1" smtClean="0">
                <a:solidFill>
                  <a:prstClr val="black"/>
                </a:solidFill>
              </a:rPr>
              <a:t>JOBerence</a:t>
            </a:r>
            <a:r>
              <a:rPr lang="en-US" altLang="ko-KR" sz="600" dirty="0" smtClean="0">
                <a:solidFill>
                  <a:prstClr val="black"/>
                </a:solidFill>
              </a:rPr>
              <a:t> No.: </a:t>
            </a:r>
            <a:r>
              <a:rPr lang="ko-KR" altLang="en-US" sz="600" dirty="0" err="1" smtClean="0">
                <a:solidFill>
                  <a:prstClr val="black"/>
                </a:solidFill>
              </a:rPr>
              <a:t>적하목록</a:t>
            </a:r>
            <a:r>
              <a:rPr lang="ko-KR" altLang="en-US" sz="600" dirty="0" smtClean="0">
                <a:solidFill>
                  <a:prstClr val="black"/>
                </a:solidFill>
              </a:rPr>
              <a:t> 관리번호 입력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2) </a:t>
            </a:r>
            <a:r>
              <a:rPr lang="ko-KR" altLang="en-US" sz="600" dirty="0" smtClean="0">
                <a:solidFill>
                  <a:prstClr val="black"/>
                </a:solidFill>
              </a:rPr>
              <a:t>중계사업자</a:t>
            </a:r>
            <a:r>
              <a:rPr lang="en-US" altLang="ko-KR" sz="600" dirty="0" smtClean="0">
                <a:solidFill>
                  <a:prstClr val="black"/>
                </a:solidFill>
              </a:rPr>
              <a:t>: </a:t>
            </a:r>
            <a:r>
              <a:rPr lang="ko-KR" altLang="en-US" sz="600" dirty="0" err="1" smtClean="0">
                <a:solidFill>
                  <a:prstClr val="black"/>
                </a:solidFill>
              </a:rPr>
              <a:t>적하목록</a:t>
            </a:r>
            <a:r>
              <a:rPr lang="ko-KR" altLang="en-US" sz="600" dirty="0" smtClean="0">
                <a:solidFill>
                  <a:prstClr val="black"/>
                </a:solidFill>
              </a:rPr>
              <a:t> 중계사업자 </a:t>
            </a:r>
            <a:r>
              <a:rPr lang="en-US" altLang="ko-KR" sz="600" dirty="0" smtClean="0">
                <a:solidFill>
                  <a:prstClr val="black"/>
                </a:solidFill>
              </a:rPr>
              <a:t>KTNET </a:t>
            </a:r>
            <a:r>
              <a:rPr lang="ko-KR" altLang="en-US" sz="600" dirty="0" smtClean="0">
                <a:solidFill>
                  <a:prstClr val="black"/>
                </a:solidFill>
              </a:rPr>
              <a:t>또는 </a:t>
            </a:r>
            <a:r>
              <a:rPr lang="en-US" altLang="ko-KR" sz="600" dirty="0" smtClean="0">
                <a:solidFill>
                  <a:prstClr val="black"/>
                </a:solidFill>
              </a:rPr>
              <a:t>KCENT </a:t>
            </a:r>
            <a:r>
              <a:rPr lang="ko-KR" altLang="en-US" sz="600" dirty="0" smtClean="0">
                <a:solidFill>
                  <a:prstClr val="black"/>
                </a:solidFill>
              </a:rPr>
              <a:t>을 선택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3) Master AWB No.: Master AWB</a:t>
            </a:r>
            <a:r>
              <a:rPr lang="ko-KR" altLang="en-US" sz="600" dirty="0" smtClean="0">
                <a:solidFill>
                  <a:prstClr val="black"/>
                </a:solidFill>
              </a:rPr>
              <a:t>번호 입력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4) Carrier/Flight No.: </a:t>
            </a:r>
            <a:r>
              <a:rPr lang="ko-KR" altLang="en-US" sz="600" dirty="0" smtClean="0">
                <a:solidFill>
                  <a:prstClr val="black"/>
                </a:solidFill>
              </a:rPr>
              <a:t>항공사</a:t>
            </a:r>
            <a:r>
              <a:rPr lang="en-US" altLang="ko-KR" sz="600" dirty="0" smtClean="0">
                <a:solidFill>
                  <a:prstClr val="black"/>
                </a:solidFill>
              </a:rPr>
              <a:t>/ </a:t>
            </a:r>
            <a:r>
              <a:rPr lang="ko-KR" altLang="en-US" sz="600" dirty="0" err="1" smtClean="0">
                <a:solidFill>
                  <a:prstClr val="black"/>
                </a:solidFill>
              </a:rPr>
              <a:t>편명</a:t>
            </a:r>
            <a:r>
              <a:rPr lang="ko-KR" altLang="en-US" sz="600" dirty="0" smtClean="0">
                <a:solidFill>
                  <a:prstClr val="black"/>
                </a:solidFill>
              </a:rPr>
              <a:t> 중 </a:t>
            </a:r>
            <a:r>
              <a:rPr lang="en-US" altLang="ko-KR" sz="600" dirty="0" smtClean="0">
                <a:solidFill>
                  <a:prstClr val="black"/>
                </a:solidFill>
              </a:rPr>
              <a:t>Tail</a:t>
            </a:r>
            <a:r>
              <a:rPr lang="ko-KR" altLang="en-US" sz="600" dirty="0" smtClean="0">
                <a:solidFill>
                  <a:prstClr val="black"/>
                </a:solidFill>
              </a:rPr>
              <a:t>번호 입력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5) Port of Departure: </a:t>
            </a:r>
            <a:r>
              <a:rPr lang="ko-KR" altLang="en-US" sz="600" dirty="0" err="1" smtClean="0">
                <a:solidFill>
                  <a:prstClr val="black"/>
                </a:solidFill>
              </a:rPr>
              <a:t>출발항</a:t>
            </a:r>
            <a:r>
              <a:rPr lang="en-US" altLang="ko-KR" sz="600" dirty="0" smtClean="0">
                <a:solidFill>
                  <a:prstClr val="black"/>
                </a:solidFill>
              </a:rPr>
              <a:t>,</a:t>
            </a:r>
            <a:r>
              <a:rPr lang="ko-KR" altLang="en-US" sz="600" dirty="0" smtClean="0">
                <a:solidFill>
                  <a:prstClr val="black"/>
                </a:solidFill>
              </a:rPr>
              <a:t>출발지 공항코드 입력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6) Port of Destination: </a:t>
            </a:r>
            <a:r>
              <a:rPr lang="ko-KR" altLang="en-US" sz="600" dirty="0" smtClean="0">
                <a:solidFill>
                  <a:prstClr val="black"/>
                </a:solidFill>
              </a:rPr>
              <a:t>도착항</a:t>
            </a:r>
            <a:r>
              <a:rPr lang="en-US" altLang="ko-KR" sz="600" dirty="0" smtClean="0">
                <a:solidFill>
                  <a:prstClr val="black"/>
                </a:solidFill>
              </a:rPr>
              <a:t>,</a:t>
            </a:r>
            <a:r>
              <a:rPr lang="ko-KR" altLang="en-US" sz="600" dirty="0" smtClean="0">
                <a:solidFill>
                  <a:prstClr val="black"/>
                </a:solidFill>
              </a:rPr>
              <a:t>도착지 공항코드 입력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7) Date of Departure: </a:t>
            </a:r>
            <a:r>
              <a:rPr lang="ko-KR" altLang="en-US" sz="600" dirty="0" smtClean="0">
                <a:solidFill>
                  <a:prstClr val="black"/>
                </a:solidFill>
              </a:rPr>
              <a:t>출발일자 입력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8) PKG’S/ </a:t>
            </a:r>
            <a:r>
              <a:rPr lang="en-US" altLang="ko-KR" sz="600" dirty="0" err="1" smtClean="0">
                <a:solidFill>
                  <a:prstClr val="black"/>
                </a:solidFill>
              </a:rPr>
              <a:t>G.Weight</a:t>
            </a:r>
            <a:r>
              <a:rPr lang="en-US" altLang="ko-KR" sz="600" dirty="0" smtClean="0">
                <a:solidFill>
                  <a:prstClr val="black"/>
                </a:solidFill>
              </a:rPr>
              <a:t>: </a:t>
            </a:r>
            <a:r>
              <a:rPr lang="ko-KR" altLang="en-US" sz="600" dirty="0" smtClean="0">
                <a:solidFill>
                  <a:prstClr val="black"/>
                </a:solidFill>
              </a:rPr>
              <a:t>수량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10. Grid</a:t>
            </a:r>
            <a:r>
              <a:rPr lang="ko-KR" altLang="en-US" sz="600" dirty="0" smtClean="0">
                <a:solidFill>
                  <a:prstClr val="black"/>
                </a:solidFill>
              </a:rPr>
              <a:t>에서 선택된 항목의 상세 정보가 표시됨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>
              <a:buFont typeface="Wingdings" pitchFamily="2" charset="2"/>
              <a:buNone/>
            </a:pPr>
            <a:endParaRPr lang="en-US" altLang="ko-KR" sz="600" dirty="0" smtClean="0">
              <a:solidFill>
                <a:prstClr val="black"/>
              </a:solidFill>
            </a:endParaRPr>
          </a:p>
          <a:p>
            <a:pPr marL="171450" indent="-171450"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ko-KR" sz="600" b="1" dirty="0" smtClean="0">
                <a:solidFill>
                  <a:prstClr val="black"/>
                </a:solidFill>
              </a:rPr>
              <a:t>Abbreviation(</a:t>
            </a:r>
            <a:r>
              <a:rPr lang="ko-KR" altLang="en-US" sz="600" b="1" dirty="0" smtClean="0">
                <a:solidFill>
                  <a:prstClr val="black"/>
                </a:solidFill>
              </a:rPr>
              <a:t>약어</a:t>
            </a:r>
            <a:r>
              <a:rPr lang="en-US" altLang="ko-KR" sz="600" b="1" dirty="0" smtClean="0">
                <a:solidFill>
                  <a:prstClr val="black"/>
                </a:solidFill>
              </a:rPr>
              <a:t>)</a:t>
            </a:r>
          </a:p>
          <a:p>
            <a:pPr marL="108000"/>
            <a:endParaRPr lang="en-US" altLang="ko-KR" sz="600" dirty="0" smtClean="0">
              <a:solidFill>
                <a:prstClr val="black"/>
              </a:solidFill>
            </a:endParaRPr>
          </a:p>
          <a:p>
            <a:pPr marL="108000"/>
            <a:endParaRPr lang="ko-KR" altLang="en-US" sz="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586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751388"/>
            <a:ext cx="2707196" cy="4498975"/>
          </a:xfrm>
        </p:spPr>
        <p:txBody>
          <a:bodyPr lIns="97200">
            <a:no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Description(</a:t>
            </a:r>
            <a:r>
              <a:rPr lang="ko-KR" altLang="en-US" sz="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화면설명</a:t>
            </a:r>
            <a:r>
              <a:rPr lang="en-US" altLang="ko-KR" sz="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228600" indent="-228600">
              <a:buFont typeface="Wingdings" pitchFamily="2" charset="2"/>
              <a:buNone/>
            </a:pPr>
            <a:r>
              <a:rPr lang="en-US" altLang="ko-KR" sz="600" dirty="0" smtClean="0"/>
              <a:t>1. </a:t>
            </a:r>
            <a:r>
              <a:rPr lang="ko-KR" altLang="en-US" sz="600" dirty="0" smtClean="0"/>
              <a:t>기능</a:t>
            </a:r>
            <a:endParaRPr lang="en-US" altLang="ko-KR" sz="600" dirty="0" smtClean="0"/>
          </a:p>
          <a:p>
            <a:pPr marL="228600" indent="-228600">
              <a:buFont typeface="Wingdings" pitchFamily="2" charset="2"/>
              <a:buNone/>
            </a:pPr>
            <a:r>
              <a:rPr lang="en-US" altLang="ko-KR" sz="600" baseline="0" dirty="0" smtClean="0"/>
              <a:t>  </a:t>
            </a:r>
            <a:r>
              <a:rPr lang="en-US" altLang="ko-KR" sz="600" dirty="0" smtClean="0"/>
              <a:t>1) </a:t>
            </a:r>
            <a:r>
              <a:rPr lang="ko-KR" altLang="en-US" sz="600" dirty="0" smtClean="0"/>
              <a:t>통관지출결의서 출력물</a:t>
            </a:r>
            <a:endParaRPr lang="en-US" altLang="ko-KR" sz="600" dirty="0" smtClean="0"/>
          </a:p>
          <a:p>
            <a:pPr marL="228600" indent="-228600">
              <a:buFont typeface="Wingdings" pitchFamily="2" charset="2"/>
              <a:buNone/>
            </a:pPr>
            <a:endParaRPr kumimoji="1" lang="en-US" altLang="ko-KR" sz="600" kern="1200" baseline="0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59C9AA-EB12-41C5-9B5B-FF8AA1A382DD}" type="slidenum">
              <a:rPr lang="en-US" altLang="ko-KR" smtClean="0">
                <a:solidFill>
                  <a:prstClr val="black"/>
                </a:solidFill>
              </a:rPr>
              <a:pPr>
                <a:defRPr/>
              </a:pPr>
              <a:t>11</a:t>
            </a:fld>
            <a:endParaRPr lang="en-US" altLang="ko-KR">
              <a:solidFill>
                <a:prstClr val="black"/>
              </a:solidFill>
            </a:endParaRPr>
          </a:p>
        </p:txBody>
      </p:sp>
      <p:sp>
        <p:nvSpPr>
          <p:cNvPr id="5" name="슬라이드 노트 개체 틀 2"/>
          <p:cNvSpPr txBox="1">
            <a:spLocks/>
          </p:cNvSpPr>
          <p:nvPr/>
        </p:nvSpPr>
        <p:spPr bwMode="auto">
          <a:xfrm>
            <a:off x="3477704" y="4751388"/>
            <a:ext cx="2707196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t" anchorCtr="0" compatLnSpc="1">
            <a:prstTxWarp prst="textNoShape">
              <a:avLst/>
            </a:prstTxWarp>
            <a:noAutofit/>
          </a:bodyPr>
          <a:lstStyle>
            <a:lvl1pPr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6. Master Air Way Bill </a:t>
            </a:r>
            <a:r>
              <a:rPr lang="ko-KR" altLang="en-US" sz="600" dirty="0" smtClean="0">
                <a:solidFill>
                  <a:prstClr val="black"/>
                </a:solidFill>
              </a:rPr>
              <a:t>고유번호가 표시됨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7. Master Air Way Bill </a:t>
            </a:r>
            <a:r>
              <a:rPr lang="ko-KR" altLang="en-US" sz="600" dirty="0" smtClean="0">
                <a:solidFill>
                  <a:prstClr val="black"/>
                </a:solidFill>
              </a:rPr>
              <a:t>에 속한 </a:t>
            </a:r>
            <a:r>
              <a:rPr lang="en-US" altLang="ko-KR" sz="600" dirty="0" smtClean="0">
                <a:solidFill>
                  <a:prstClr val="black"/>
                </a:solidFill>
              </a:rPr>
              <a:t>House Air Way Bill </a:t>
            </a:r>
            <a:r>
              <a:rPr lang="ko-KR" altLang="en-US" sz="600" dirty="0" smtClean="0">
                <a:solidFill>
                  <a:prstClr val="black"/>
                </a:solidFill>
              </a:rPr>
              <a:t>항목의 개수가 표시됨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8. </a:t>
            </a:r>
            <a:r>
              <a:rPr lang="ko-KR" altLang="en-US" sz="600" dirty="0" smtClean="0">
                <a:solidFill>
                  <a:prstClr val="black"/>
                </a:solidFill>
              </a:rPr>
              <a:t>기능버튼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1) </a:t>
            </a:r>
            <a:r>
              <a:rPr lang="ko-KR" altLang="en-US" sz="600" dirty="0" err="1" smtClean="0">
                <a:solidFill>
                  <a:prstClr val="black"/>
                </a:solidFill>
              </a:rPr>
              <a:t>적하목록을</a:t>
            </a:r>
            <a:r>
              <a:rPr lang="ko-KR" altLang="en-US" sz="600" dirty="0" smtClean="0">
                <a:solidFill>
                  <a:prstClr val="black"/>
                </a:solidFill>
              </a:rPr>
              <a:t> 전송하기 전에 신고항목이 누락되거나 잘못 입력된 곳이 있는지 검증하기 위해 사용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2) </a:t>
            </a:r>
            <a:r>
              <a:rPr lang="ko-KR" altLang="en-US" sz="600" dirty="0" smtClean="0">
                <a:solidFill>
                  <a:prstClr val="black"/>
                </a:solidFill>
              </a:rPr>
              <a:t>검증 결과를 표시함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3) </a:t>
            </a:r>
            <a:r>
              <a:rPr lang="ko-KR" altLang="en-US" sz="600" dirty="0" err="1" smtClean="0">
                <a:solidFill>
                  <a:prstClr val="black"/>
                </a:solidFill>
              </a:rPr>
              <a:t>적하목록을</a:t>
            </a:r>
            <a:r>
              <a:rPr lang="ko-KR" altLang="en-US" sz="600" dirty="0" smtClean="0">
                <a:solidFill>
                  <a:prstClr val="black"/>
                </a:solidFill>
              </a:rPr>
              <a:t> 전송한 후 전송된 신고서가 </a:t>
            </a:r>
            <a:r>
              <a:rPr lang="en-US" altLang="ko-KR" sz="600" dirty="0" smtClean="0">
                <a:solidFill>
                  <a:prstClr val="black"/>
                </a:solidFill>
              </a:rPr>
              <a:t>MFCS</a:t>
            </a:r>
            <a:r>
              <a:rPr lang="ko-KR" altLang="en-US" sz="600" dirty="0" smtClean="0">
                <a:solidFill>
                  <a:prstClr val="black"/>
                </a:solidFill>
              </a:rPr>
              <a:t>에 취합이 정상적으로 이루어지고 있는지 상태확인을 할 때 사용하는 버튼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srgbClr val="FF0000"/>
                </a:solidFill>
              </a:rPr>
              <a:t>4) </a:t>
            </a:r>
            <a:r>
              <a:rPr lang="ko-KR" altLang="en-US" sz="600" dirty="0" err="1" smtClean="0">
                <a:solidFill>
                  <a:srgbClr val="FF0000"/>
                </a:solidFill>
              </a:rPr>
              <a:t>적하목록</a:t>
            </a:r>
            <a:r>
              <a:rPr lang="ko-KR" altLang="en-US" sz="600" dirty="0" smtClean="0">
                <a:solidFill>
                  <a:srgbClr val="FF0000"/>
                </a:solidFill>
              </a:rPr>
              <a:t> 데이터를 일괄로 변경하고자 할 때 사용하는 버튼</a:t>
            </a:r>
            <a:r>
              <a:rPr lang="en-US" altLang="ko-KR" sz="600" dirty="0" smtClean="0">
                <a:solidFill>
                  <a:srgbClr val="FF0000"/>
                </a:solidFill>
              </a:rPr>
              <a:t>(TBD).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5) </a:t>
            </a:r>
            <a:r>
              <a:rPr lang="ko-KR" altLang="en-US" sz="600" dirty="0" smtClean="0">
                <a:solidFill>
                  <a:prstClr val="black"/>
                </a:solidFill>
              </a:rPr>
              <a:t>검색된 데이터를 엑셀 파일 형태로 저장</a:t>
            </a:r>
            <a:endParaRPr lang="en-US" altLang="ko-KR" sz="600" dirty="0" smtClean="0">
              <a:solidFill>
                <a:prstClr val="black"/>
              </a:solidFill>
            </a:endParaRP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6)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7)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8)</a:t>
            </a:r>
          </a:p>
          <a:p>
            <a:pPr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9. </a:t>
            </a:r>
            <a:r>
              <a:rPr lang="ko-KR" altLang="en-US" sz="600" dirty="0" smtClean="0">
                <a:solidFill>
                  <a:prstClr val="black"/>
                </a:solidFill>
              </a:rPr>
              <a:t>입력항목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1) Manifest </a:t>
            </a:r>
            <a:r>
              <a:rPr lang="en-US" altLang="ko-KR" sz="600" dirty="0" err="1" smtClean="0">
                <a:solidFill>
                  <a:prstClr val="black"/>
                </a:solidFill>
              </a:rPr>
              <a:t>JOBerence</a:t>
            </a:r>
            <a:r>
              <a:rPr lang="en-US" altLang="ko-KR" sz="600" dirty="0" smtClean="0">
                <a:solidFill>
                  <a:prstClr val="black"/>
                </a:solidFill>
              </a:rPr>
              <a:t> No.: </a:t>
            </a:r>
            <a:r>
              <a:rPr lang="ko-KR" altLang="en-US" sz="600" dirty="0" err="1" smtClean="0">
                <a:solidFill>
                  <a:prstClr val="black"/>
                </a:solidFill>
              </a:rPr>
              <a:t>적하목록</a:t>
            </a:r>
            <a:r>
              <a:rPr lang="ko-KR" altLang="en-US" sz="600" dirty="0" smtClean="0">
                <a:solidFill>
                  <a:prstClr val="black"/>
                </a:solidFill>
              </a:rPr>
              <a:t> 관리번호 입력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2) </a:t>
            </a:r>
            <a:r>
              <a:rPr lang="ko-KR" altLang="en-US" sz="600" dirty="0" smtClean="0">
                <a:solidFill>
                  <a:prstClr val="black"/>
                </a:solidFill>
              </a:rPr>
              <a:t>중계사업자</a:t>
            </a:r>
            <a:r>
              <a:rPr lang="en-US" altLang="ko-KR" sz="600" dirty="0" smtClean="0">
                <a:solidFill>
                  <a:prstClr val="black"/>
                </a:solidFill>
              </a:rPr>
              <a:t>: </a:t>
            </a:r>
            <a:r>
              <a:rPr lang="ko-KR" altLang="en-US" sz="600" dirty="0" err="1" smtClean="0">
                <a:solidFill>
                  <a:prstClr val="black"/>
                </a:solidFill>
              </a:rPr>
              <a:t>적하목록</a:t>
            </a:r>
            <a:r>
              <a:rPr lang="ko-KR" altLang="en-US" sz="600" dirty="0" smtClean="0">
                <a:solidFill>
                  <a:prstClr val="black"/>
                </a:solidFill>
              </a:rPr>
              <a:t> 중계사업자 </a:t>
            </a:r>
            <a:r>
              <a:rPr lang="en-US" altLang="ko-KR" sz="600" dirty="0" smtClean="0">
                <a:solidFill>
                  <a:prstClr val="black"/>
                </a:solidFill>
              </a:rPr>
              <a:t>KTNET </a:t>
            </a:r>
            <a:r>
              <a:rPr lang="ko-KR" altLang="en-US" sz="600" dirty="0" smtClean="0">
                <a:solidFill>
                  <a:prstClr val="black"/>
                </a:solidFill>
              </a:rPr>
              <a:t>또는 </a:t>
            </a:r>
            <a:r>
              <a:rPr lang="en-US" altLang="ko-KR" sz="600" dirty="0" smtClean="0">
                <a:solidFill>
                  <a:prstClr val="black"/>
                </a:solidFill>
              </a:rPr>
              <a:t>KCENT </a:t>
            </a:r>
            <a:r>
              <a:rPr lang="ko-KR" altLang="en-US" sz="600" dirty="0" smtClean="0">
                <a:solidFill>
                  <a:prstClr val="black"/>
                </a:solidFill>
              </a:rPr>
              <a:t>을 선택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3) Master AWB No.: Master AWB</a:t>
            </a:r>
            <a:r>
              <a:rPr lang="ko-KR" altLang="en-US" sz="600" dirty="0" smtClean="0">
                <a:solidFill>
                  <a:prstClr val="black"/>
                </a:solidFill>
              </a:rPr>
              <a:t>번호 입력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4) Carrier/Flight No.: </a:t>
            </a:r>
            <a:r>
              <a:rPr lang="ko-KR" altLang="en-US" sz="600" dirty="0" smtClean="0">
                <a:solidFill>
                  <a:prstClr val="black"/>
                </a:solidFill>
              </a:rPr>
              <a:t>항공사</a:t>
            </a:r>
            <a:r>
              <a:rPr lang="en-US" altLang="ko-KR" sz="600" dirty="0" smtClean="0">
                <a:solidFill>
                  <a:prstClr val="black"/>
                </a:solidFill>
              </a:rPr>
              <a:t>/ </a:t>
            </a:r>
            <a:r>
              <a:rPr lang="ko-KR" altLang="en-US" sz="600" dirty="0" err="1" smtClean="0">
                <a:solidFill>
                  <a:prstClr val="black"/>
                </a:solidFill>
              </a:rPr>
              <a:t>편명</a:t>
            </a:r>
            <a:r>
              <a:rPr lang="ko-KR" altLang="en-US" sz="600" dirty="0" smtClean="0">
                <a:solidFill>
                  <a:prstClr val="black"/>
                </a:solidFill>
              </a:rPr>
              <a:t> 중 </a:t>
            </a:r>
            <a:r>
              <a:rPr lang="en-US" altLang="ko-KR" sz="600" dirty="0" smtClean="0">
                <a:solidFill>
                  <a:prstClr val="black"/>
                </a:solidFill>
              </a:rPr>
              <a:t>Tail</a:t>
            </a:r>
            <a:r>
              <a:rPr lang="ko-KR" altLang="en-US" sz="600" dirty="0" smtClean="0">
                <a:solidFill>
                  <a:prstClr val="black"/>
                </a:solidFill>
              </a:rPr>
              <a:t>번호 입력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5) Port of Departure: </a:t>
            </a:r>
            <a:r>
              <a:rPr lang="ko-KR" altLang="en-US" sz="600" dirty="0" err="1" smtClean="0">
                <a:solidFill>
                  <a:prstClr val="black"/>
                </a:solidFill>
              </a:rPr>
              <a:t>출발항</a:t>
            </a:r>
            <a:r>
              <a:rPr lang="en-US" altLang="ko-KR" sz="600" dirty="0" smtClean="0">
                <a:solidFill>
                  <a:prstClr val="black"/>
                </a:solidFill>
              </a:rPr>
              <a:t>,</a:t>
            </a:r>
            <a:r>
              <a:rPr lang="ko-KR" altLang="en-US" sz="600" dirty="0" smtClean="0">
                <a:solidFill>
                  <a:prstClr val="black"/>
                </a:solidFill>
              </a:rPr>
              <a:t>출발지 공항코드 입력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6) Port of Destination: </a:t>
            </a:r>
            <a:r>
              <a:rPr lang="ko-KR" altLang="en-US" sz="600" dirty="0" smtClean="0">
                <a:solidFill>
                  <a:prstClr val="black"/>
                </a:solidFill>
              </a:rPr>
              <a:t>도착항</a:t>
            </a:r>
            <a:r>
              <a:rPr lang="en-US" altLang="ko-KR" sz="600" dirty="0" smtClean="0">
                <a:solidFill>
                  <a:prstClr val="black"/>
                </a:solidFill>
              </a:rPr>
              <a:t>,</a:t>
            </a:r>
            <a:r>
              <a:rPr lang="ko-KR" altLang="en-US" sz="600" dirty="0" smtClean="0">
                <a:solidFill>
                  <a:prstClr val="black"/>
                </a:solidFill>
              </a:rPr>
              <a:t>도착지 공항코드 입력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7) Date of Departure: </a:t>
            </a:r>
            <a:r>
              <a:rPr lang="ko-KR" altLang="en-US" sz="600" dirty="0" smtClean="0">
                <a:solidFill>
                  <a:prstClr val="black"/>
                </a:solidFill>
              </a:rPr>
              <a:t>출발일자 입력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8) PKG’S/ </a:t>
            </a:r>
            <a:r>
              <a:rPr lang="en-US" altLang="ko-KR" sz="600" dirty="0" err="1" smtClean="0">
                <a:solidFill>
                  <a:prstClr val="black"/>
                </a:solidFill>
              </a:rPr>
              <a:t>G.Weight</a:t>
            </a:r>
            <a:r>
              <a:rPr lang="en-US" altLang="ko-KR" sz="600" dirty="0" smtClean="0">
                <a:solidFill>
                  <a:prstClr val="black"/>
                </a:solidFill>
              </a:rPr>
              <a:t>: </a:t>
            </a:r>
            <a:r>
              <a:rPr lang="ko-KR" altLang="en-US" sz="600" dirty="0" smtClean="0">
                <a:solidFill>
                  <a:prstClr val="black"/>
                </a:solidFill>
              </a:rPr>
              <a:t>수량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>
              <a:buFont typeface="Wingdings" pitchFamily="2" charset="2"/>
              <a:buNone/>
            </a:pPr>
            <a:r>
              <a:rPr lang="en-US" altLang="ko-KR" sz="600" dirty="0" smtClean="0">
                <a:solidFill>
                  <a:prstClr val="black"/>
                </a:solidFill>
              </a:rPr>
              <a:t>10. Grid</a:t>
            </a:r>
            <a:r>
              <a:rPr lang="ko-KR" altLang="en-US" sz="600" dirty="0" smtClean="0">
                <a:solidFill>
                  <a:prstClr val="black"/>
                </a:solidFill>
              </a:rPr>
              <a:t>에서 선택된 항목의 상세 정보가 표시됨</a:t>
            </a:r>
            <a:r>
              <a:rPr lang="en-US" altLang="ko-KR" sz="600" dirty="0" smtClean="0">
                <a:solidFill>
                  <a:prstClr val="black"/>
                </a:solidFill>
              </a:rPr>
              <a:t>.</a:t>
            </a:r>
          </a:p>
          <a:p>
            <a:pPr>
              <a:buFont typeface="Wingdings" pitchFamily="2" charset="2"/>
              <a:buNone/>
            </a:pPr>
            <a:endParaRPr lang="en-US" altLang="ko-KR" sz="600" dirty="0" smtClean="0">
              <a:solidFill>
                <a:prstClr val="black"/>
              </a:solidFill>
            </a:endParaRPr>
          </a:p>
          <a:p>
            <a:pPr marL="171450" indent="-171450"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ko-KR" sz="600" b="1" dirty="0" smtClean="0">
                <a:solidFill>
                  <a:prstClr val="black"/>
                </a:solidFill>
              </a:rPr>
              <a:t>Abbreviation(</a:t>
            </a:r>
            <a:r>
              <a:rPr lang="ko-KR" altLang="en-US" sz="600" b="1" dirty="0" smtClean="0">
                <a:solidFill>
                  <a:prstClr val="black"/>
                </a:solidFill>
              </a:rPr>
              <a:t>약어</a:t>
            </a:r>
            <a:r>
              <a:rPr lang="en-US" altLang="ko-KR" sz="600" b="1" dirty="0" smtClean="0">
                <a:solidFill>
                  <a:prstClr val="black"/>
                </a:solidFill>
              </a:rPr>
              <a:t>)</a:t>
            </a:r>
          </a:p>
          <a:p>
            <a:pPr marL="108000"/>
            <a:endParaRPr lang="en-US" altLang="ko-KR" sz="600" dirty="0" smtClean="0">
              <a:solidFill>
                <a:prstClr val="black"/>
              </a:solidFill>
            </a:endParaRPr>
          </a:p>
          <a:p>
            <a:pPr marL="108000"/>
            <a:endParaRPr lang="ko-KR" altLang="en-US" sz="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578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751388"/>
            <a:ext cx="2707196" cy="4498975"/>
          </a:xfrm>
        </p:spPr>
        <p:txBody>
          <a:bodyPr lIns="97200">
            <a:no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Description(</a:t>
            </a:r>
            <a:r>
              <a:rPr lang="ko-KR" altLang="en-US" sz="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화면설명</a:t>
            </a:r>
            <a:r>
              <a:rPr lang="en-US" altLang="ko-KR" sz="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228600" indent="-228600">
              <a:buFont typeface="Wingdings" pitchFamily="2" charset="2"/>
              <a:buNone/>
            </a:pPr>
            <a:r>
              <a:rPr lang="en-US" altLang="ko-KR" sz="600" dirty="0" smtClean="0"/>
              <a:t>1. </a:t>
            </a:r>
            <a:r>
              <a:rPr lang="ko-KR" altLang="en-US" sz="600" dirty="0" smtClean="0"/>
              <a:t>입력</a:t>
            </a:r>
            <a:endParaRPr lang="en-US" altLang="ko-KR" sz="600" dirty="0" smtClean="0"/>
          </a:p>
          <a:p>
            <a:pPr marL="228600" indent="-228600">
              <a:buFont typeface="Wingdings" pitchFamily="2" charset="2"/>
              <a:buNone/>
            </a:pPr>
            <a:r>
              <a:rPr lang="en-US" altLang="ko-KR" sz="600" baseline="0" dirty="0" smtClean="0"/>
              <a:t>  </a:t>
            </a:r>
            <a:r>
              <a:rPr lang="en-US" altLang="ko-KR" sz="600" dirty="0" smtClean="0"/>
              <a:t>1)</a:t>
            </a:r>
          </a:p>
          <a:p>
            <a:pPr marL="228600" indent="-228600">
              <a:buFont typeface="Wingdings" pitchFamily="2" charset="2"/>
              <a:buNone/>
            </a:pPr>
            <a:endParaRPr kumimoji="1" lang="en-US" altLang="ko-KR" sz="600" kern="1200" baseline="0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59C9AA-EB12-41C5-9B5B-FF8AA1A382DD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sp>
        <p:nvSpPr>
          <p:cNvPr id="5" name="슬라이드 노트 개체 틀 2"/>
          <p:cNvSpPr txBox="1">
            <a:spLocks/>
          </p:cNvSpPr>
          <p:nvPr/>
        </p:nvSpPr>
        <p:spPr bwMode="auto">
          <a:xfrm>
            <a:off x="3477704" y="4751388"/>
            <a:ext cx="2707196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t" anchorCtr="0" compatLnSpc="1">
            <a:prstTxWarp prst="textNoShape">
              <a:avLst/>
            </a:prstTxWarp>
            <a:noAutofit/>
          </a:bodyPr>
          <a:lstStyle>
            <a:lvl1pPr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6. Master Air Way Bill </a:t>
            </a:r>
            <a:r>
              <a:rPr lang="ko-KR" altLang="en-US" sz="600" dirty="0" smtClean="0"/>
              <a:t>고유번호가 표시됨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7. Master Air Way Bill </a:t>
            </a:r>
            <a:r>
              <a:rPr lang="ko-KR" altLang="en-US" sz="600" dirty="0" smtClean="0"/>
              <a:t>에 속한 </a:t>
            </a:r>
            <a:r>
              <a:rPr lang="en-US" altLang="ko-KR" sz="600" dirty="0" smtClean="0"/>
              <a:t>House Air Way Bill </a:t>
            </a:r>
            <a:r>
              <a:rPr lang="ko-KR" altLang="en-US" sz="600" dirty="0" smtClean="0"/>
              <a:t>항목의 개수가 표시됨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8. </a:t>
            </a:r>
            <a:r>
              <a:rPr lang="ko-KR" altLang="en-US" sz="600" dirty="0" smtClean="0"/>
              <a:t>기능버튼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1) </a:t>
            </a:r>
            <a:r>
              <a:rPr lang="ko-KR" altLang="en-US" sz="600" dirty="0" err="1" smtClean="0"/>
              <a:t>적하목록을</a:t>
            </a:r>
            <a:r>
              <a:rPr lang="ko-KR" altLang="en-US" sz="600" dirty="0" smtClean="0"/>
              <a:t> 전송하기 전에 신고항목이 누락되거나 잘못 입력된 곳이 있는지 검증하기 위해 사용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2) </a:t>
            </a:r>
            <a:r>
              <a:rPr lang="ko-KR" altLang="en-US" sz="600" dirty="0" smtClean="0"/>
              <a:t>검증 결과를 표시함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3) </a:t>
            </a:r>
            <a:r>
              <a:rPr lang="ko-KR" altLang="en-US" sz="600" dirty="0" err="1" smtClean="0"/>
              <a:t>적하목록을</a:t>
            </a:r>
            <a:r>
              <a:rPr lang="ko-KR" altLang="en-US" sz="600" dirty="0" smtClean="0"/>
              <a:t> 전송한 후 전송된 신고서가 </a:t>
            </a:r>
            <a:r>
              <a:rPr lang="en-US" altLang="ko-KR" sz="600" dirty="0" smtClean="0"/>
              <a:t>MFCS</a:t>
            </a:r>
            <a:r>
              <a:rPr lang="ko-KR" altLang="en-US" sz="600" dirty="0" smtClean="0"/>
              <a:t>에 취합이 정상적으로 이루어지고 있는지 상태확인을 할 때 사용하는 버튼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srgbClr val="FF0000"/>
                </a:solidFill>
              </a:rPr>
              <a:t>4) </a:t>
            </a:r>
            <a:r>
              <a:rPr lang="ko-KR" altLang="en-US" sz="600" dirty="0" err="1" smtClean="0">
                <a:solidFill>
                  <a:srgbClr val="FF0000"/>
                </a:solidFill>
              </a:rPr>
              <a:t>적하목록</a:t>
            </a:r>
            <a:r>
              <a:rPr lang="ko-KR" altLang="en-US" sz="600" dirty="0" smtClean="0">
                <a:solidFill>
                  <a:srgbClr val="FF0000"/>
                </a:solidFill>
              </a:rPr>
              <a:t> 데이터를 일괄로 변경하고자 할 때 사용하는 버튼</a:t>
            </a:r>
            <a:r>
              <a:rPr lang="en-US" altLang="ko-KR" sz="600" dirty="0" smtClean="0">
                <a:solidFill>
                  <a:srgbClr val="FF0000"/>
                </a:solidFill>
              </a:rPr>
              <a:t>(TBD).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5) </a:t>
            </a:r>
            <a:r>
              <a:rPr lang="ko-KR" altLang="en-US" sz="600" dirty="0" smtClean="0"/>
              <a:t>검색된 데이터를 엑셀 파일 형태로 저장</a:t>
            </a:r>
            <a:endParaRPr lang="en-US" altLang="ko-KR" sz="600" dirty="0" smtClean="0"/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6)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7)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8)</a:t>
            </a:r>
          </a:p>
          <a:p>
            <a:pPr>
              <a:buFont typeface="Wingdings" pitchFamily="2" charset="2"/>
              <a:buNone/>
            </a:pPr>
            <a:r>
              <a:rPr lang="en-US" altLang="ko-KR" sz="600" dirty="0" smtClean="0"/>
              <a:t>9. </a:t>
            </a:r>
            <a:r>
              <a:rPr lang="ko-KR" altLang="en-US" sz="600" dirty="0" smtClean="0"/>
              <a:t>입력항목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1) Manifest Reference No.: </a:t>
            </a:r>
            <a:r>
              <a:rPr lang="ko-KR" altLang="en-US" sz="600" dirty="0" err="1" smtClean="0"/>
              <a:t>적하목록</a:t>
            </a:r>
            <a:r>
              <a:rPr lang="ko-KR" altLang="en-US" sz="600" dirty="0" smtClean="0"/>
              <a:t> 관리번호 입력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2) </a:t>
            </a:r>
            <a:r>
              <a:rPr lang="ko-KR" altLang="en-US" sz="600" dirty="0" smtClean="0"/>
              <a:t>중계사업자</a:t>
            </a:r>
            <a:r>
              <a:rPr lang="en-US" altLang="ko-KR" sz="600" dirty="0" smtClean="0"/>
              <a:t>: </a:t>
            </a:r>
            <a:r>
              <a:rPr lang="ko-KR" altLang="en-US" sz="600" dirty="0" err="1" smtClean="0"/>
              <a:t>적하목록</a:t>
            </a:r>
            <a:r>
              <a:rPr lang="ko-KR" altLang="en-US" sz="600" dirty="0" smtClean="0"/>
              <a:t> 중계사업자 </a:t>
            </a:r>
            <a:r>
              <a:rPr lang="en-US" altLang="ko-KR" sz="600" dirty="0" smtClean="0"/>
              <a:t>KTNET </a:t>
            </a:r>
            <a:r>
              <a:rPr lang="ko-KR" altLang="en-US" sz="600" dirty="0" smtClean="0"/>
              <a:t>또는 </a:t>
            </a:r>
            <a:r>
              <a:rPr lang="en-US" altLang="ko-KR" sz="600" dirty="0" smtClean="0"/>
              <a:t>KCENT </a:t>
            </a:r>
            <a:r>
              <a:rPr lang="ko-KR" altLang="en-US" sz="600" dirty="0" smtClean="0"/>
              <a:t>을 선택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3) Master AWB No.: Master AWB</a:t>
            </a:r>
            <a:r>
              <a:rPr lang="ko-KR" altLang="en-US" sz="600" dirty="0" smtClean="0"/>
              <a:t>번호 입력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4) Carrier/Flight No.: </a:t>
            </a:r>
            <a:r>
              <a:rPr lang="ko-KR" altLang="en-US" sz="600" dirty="0" smtClean="0"/>
              <a:t>항공사</a:t>
            </a:r>
            <a:r>
              <a:rPr lang="en-US" altLang="ko-KR" sz="600" dirty="0" smtClean="0"/>
              <a:t>/ </a:t>
            </a:r>
            <a:r>
              <a:rPr lang="ko-KR" altLang="en-US" sz="600" dirty="0" err="1" smtClean="0"/>
              <a:t>편명</a:t>
            </a:r>
            <a:r>
              <a:rPr lang="ko-KR" altLang="en-US" sz="600" dirty="0" smtClean="0"/>
              <a:t> 중 </a:t>
            </a:r>
            <a:r>
              <a:rPr lang="en-US" altLang="ko-KR" sz="600" dirty="0" smtClean="0"/>
              <a:t>Tail</a:t>
            </a:r>
            <a:r>
              <a:rPr lang="ko-KR" altLang="en-US" sz="600" dirty="0" smtClean="0"/>
              <a:t>번호 입력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5) Port of Departure: </a:t>
            </a:r>
            <a:r>
              <a:rPr lang="ko-KR" altLang="en-US" sz="600" dirty="0" err="1" smtClean="0"/>
              <a:t>출발항</a:t>
            </a:r>
            <a:r>
              <a:rPr lang="en-US" altLang="ko-KR" sz="600" dirty="0" smtClean="0"/>
              <a:t>,</a:t>
            </a:r>
            <a:r>
              <a:rPr lang="ko-KR" altLang="en-US" sz="600" dirty="0" smtClean="0"/>
              <a:t>출발지 공항코드 입력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6) Port of Destination: </a:t>
            </a:r>
            <a:r>
              <a:rPr lang="ko-KR" altLang="en-US" sz="600" dirty="0" smtClean="0"/>
              <a:t>도착항</a:t>
            </a:r>
            <a:r>
              <a:rPr lang="en-US" altLang="ko-KR" sz="600" dirty="0" smtClean="0"/>
              <a:t>,</a:t>
            </a:r>
            <a:r>
              <a:rPr lang="ko-KR" altLang="en-US" sz="600" dirty="0" smtClean="0"/>
              <a:t>도착지 공항코드 입력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7) Date of Departure: </a:t>
            </a:r>
            <a:r>
              <a:rPr lang="ko-KR" altLang="en-US" sz="600" dirty="0" smtClean="0"/>
              <a:t>출발일자 입력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8) PKG’S/ </a:t>
            </a:r>
            <a:r>
              <a:rPr lang="en-US" altLang="ko-KR" sz="600" dirty="0" err="1" smtClean="0"/>
              <a:t>G.Weight</a:t>
            </a:r>
            <a:r>
              <a:rPr lang="en-US" altLang="ko-KR" sz="600" dirty="0" smtClean="0"/>
              <a:t>: </a:t>
            </a:r>
            <a:r>
              <a:rPr lang="ko-KR" altLang="en-US" sz="600" dirty="0" smtClean="0"/>
              <a:t>수량</a:t>
            </a:r>
            <a:r>
              <a:rPr lang="en-US" altLang="ko-KR" sz="600" dirty="0" smtClean="0"/>
              <a:t>.</a:t>
            </a:r>
          </a:p>
          <a:p>
            <a:pPr>
              <a:buFont typeface="Wingdings" pitchFamily="2" charset="2"/>
              <a:buNone/>
            </a:pPr>
            <a:r>
              <a:rPr lang="en-US" altLang="ko-KR" sz="600" dirty="0" smtClean="0"/>
              <a:t>10. Grid</a:t>
            </a:r>
            <a:r>
              <a:rPr lang="ko-KR" altLang="en-US" sz="600" dirty="0" smtClean="0"/>
              <a:t>에서 선택된 항목의 상세 정보가 표시됨</a:t>
            </a:r>
            <a:r>
              <a:rPr lang="en-US" altLang="ko-KR" sz="600" dirty="0" smtClean="0"/>
              <a:t>.</a:t>
            </a:r>
          </a:p>
          <a:p>
            <a:pPr>
              <a:buFont typeface="Wingdings" pitchFamily="2" charset="2"/>
              <a:buNone/>
            </a:pPr>
            <a:endParaRPr lang="en-US" altLang="ko-KR" sz="600" dirty="0" smtClean="0"/>
          </a:p>
          <a:p>
            <a:pPr marL="171450" indent="-171450"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ko-KR" sz="600" b="1" dirty="0" smtClean="0"/>
              <a:t>Abbreviation(</a:t>
            </a:r>
            <a:r>
              <a:rPr lang="ko-KR" altLang="en-US" sz="600" b="1" dirty="0" smtClean="0"/>
              <a:t>약어</a:t>
            </a:r>
            <a:r>
              <a:rPr lang="en-US" altLang="ko-KR" sz="600" b="1" dirty="0" smtClean="0"/>
              <a:t>)</a:t>
            </a:r>
          </a:p>
          <a:p>
            <a:pPr marL="108000"/>
            <a:endParaRPr lang="en-US" altLang="ko-KR" sz="600" dirty="0" smtClean="0"/>
          </a:p>
          <a:p>
            <a:pPr marL="108000"/>
            <a:endParaRPr lang="ko-KR" altLang="en-US" sz="600" dirty="0"/>
          </a:p>
        </p:txBody>
      </p:sp>
    </p:spTree>
    <p:extLst>
      <p:ext uri="{BB962C8B-B14F-4D97-AF65-F5344CB8AC3E}">
        <p14:creationId xmlns:p14="http://schemas.microsoft.com/office/powerpoint/2010/main" val="2905114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751388"/>
            <a:ext cx="2707196" cy="4498975"/>
          </a:xfrm>
        </p:spPr>
        <p:txBody>
          <a:bodyPr lIns="97200">
            <a:no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Description(</a:t>
            </a:r>
            <a:r>
              <a:rPr lang="ko-KR" altLang="en-US" sz="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화면설명</a:t>
            </a:r>
            <a:r>
              <a:rPr lang="en-US" altLang="ko-KR" sz="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228600" indent="-228600">
              <a:buFont typeface="Wingdings" pitchFamily="2" charset="2"/>
              <a:buNone/>
            </a:pPr>
            <a:r>
              <a:rPr lang="en-US" altLang="ko-KR" sz="600" dirty="0" smtClean="0"/>
              <a:t>1. </a:t>
            </a:r>
            <a:r>
              <a:rPr lang="ko-KR" altLang="en-US" sz="600" dirty="0" smtClean="0"/>
              <a:t>입력</a:t>
            </a:r>
            <a:endParaRPr lang="en-US" altLang="ko-KR" sz="600" dirty="0" smtClean="0"/>
          </a:p>
          <a:p>
            <a:pPr marL="228600" indent="-228600">
              <a:buFont typeface="Wingdings" pitchFamily="2" charset="2"/>
              <a:buNone/>
            </a:pPr>
            <a:r>
              <a:rPr lang="en-US" altLang="ko-KR" sz="600" baseline="0" dirty="0" smtClean="0"/>
              <a:t>  </a:t>
            </a:r>
            <a:r>
              <a:rPr lang="en-US" altLang="ko-KR" sz="600" dirty="0" smtClean="0"/>
              <a:t>1)</a:t>
            </a:r>
          </a:p>
          <a:p>
            <a:pPr marL="228600" indent="-228600">
              <a:buFont typeface="Wingdings" pitchFamily="2" charset="2"/>
              <a:buNone/>
            </a:pPr>
            <a:endParaRPr kumimoji="1" lang="en-US" altLang="ko-KR" sz="600" kern="1200" baseline="0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59C9AA-EB12-41C5-9B5B-FF8AA1A382DD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sp>
        <p:nvSpPr>
          <p:cNvPr id="5" name="슬라이드 노트 개체 틀 2"/>
          <p:cNvSpPr txBox="1">
            <a:spLocks/>
          </p:cNvSpPr>
          <p:nvPr/>
        </p:nvSpPr>
        <p:spPr bwMode="auto">
          <a:xfrm>
            <a:off x="3477704" y="4751388"/>
            <a:ext cx="2707196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t" anchorCtr="0" compatLnSpc="1">
            <a:prstTxWarp prst="textNoShape">
              <a:avLst/>
            </a:prstTxWarp>
            <a:noAutofit/>
          </a:bodyPr>
          <a:lstStyle>
            <a:lvl1pPr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6. Master Air Way Bill </a:t>
            </a:r>
            <a:r>
              <a:rPr lang="ko-KR" altLang="en-US" sz="600" dirty="0" smtClean="0"/>
              <a:t>고유번호가 표시됨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7. Master Air Way Bill </a:t>
            </a:r>
            <a:r>
              <a:rPr lang="ko-KR" altLang="en-US" sz="600" dirty="0" smtClean="0"/>
              <a:t>에 속한 </a:t>
            </a:r>
            <a:r>
              <a:rPr lang="en-US" altLang="ko-KR" sz="600" dirty="0" smtClean="0"/>
              <a:t>House Air Way Bill </a:t>
            </a:r>
            <a:r>
              <a:rPr lang="ko-KR" altLang="en-US" sz="600" dirty="0" smtClean="0"/>
              <a:t>항목의 개수가 표시됨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8. </a:t>
            </a:r>
            <a:r>
              <a:rPr lang="ko-KR" altLang="en-US" sz="600" dirty="0" smtClean="0"/>
              <a:t>기능버튼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1) </a:t>
            </a:r>
            <a:r>
              <a:rPr lang="ko-KR" altLang="en-US" sz="600" dirty="0" err="1" smtClean="0"/>
              <a:t>적하목록을</a:t>
            </a:r>
            <a:r>
              <a:rPr lang="ko-KR" altLang="en-US" sz="600" dirty="0" smtClean="0"/>
              <a:t> 전송하기 전에 신고항목이 누락되거나 잘못 입력된 곳이 있는지 검증하기 위해 사용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2) </a:t>
            </a:r>
            <a:r>
              <a:rPr lang="ko-KR" altLang="en-US" sz="600" dirty="0" smtClean="0"/>
              <a:t>검증 결과를 표시함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3) </a:t>
            </a:r>
            <a:r>
              <a:rPr lang="ko-KR" altLang="en-US" sz="600" dirty="0" err="1" smtClean="0"/>
              <a:t>적하목록을</a:t>
            </a:r>
            <a:r>
              <a:rPr lang="ko-KR" altLang="en-US" sz="600" dirty="0" smtClean="0"/>
              <a:t> 전송한 후 전송된 신고서가 </a:t>
            </a:r>
            <a:r>
              <a:rPr lang="en-US" altLang="ko-KR" sz="600" dirty="0" smtClean="0"/>
              <a:t>MFCS</a:t>
            </a:r>
            <a:r>
              <a:rPr lang="ko-KR" altLang="en-US" sz="600" dirty="0" smtClean="0"/>
              <a:t>에 취합이 정상적으로 이루어지고 있는지 상태확인을 할 때 사용하는 버튼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srgbClr val="FF0000"/>
                </a:solidFill>
              </a:rPr>
              <a:t>4) </a:t>
            </a:r>
            <a:r>
              <a:rPr lang="ko-KR" altLang="en-US" sz="600" dirty="0" err="1" smtClean="0">
                <a:solidFill>
                  <a:srgbClr val="FF0000"/>
                </a:solidFill>
              </a:rPr>
              <a:t>적하목록</a:t>
            </a:r>
            <a:r>
              <a:rPr lang="ko-KR" altLang="en-US" sz="600" dirty="0" smtClean="0">
                <a:solidFill>
                  <a:srgbClr val="FF0000"/>
                </a:solidFill>
              </a:rPr>
              <a:t> 데이터를 일괄로 변경하고자 할 때 사용하는 버튼</a:t>
            </a:r>
            <a:r>
              <a:rPr lang="en-US" altLang="ko-KR" sz="600" dirty="0" smtClean="0">
                <a:solidFill>
                  <a:srgbClr val="FF0000"/>
                </a:solidFill>
              </a:rPr>
              <a:t>(TBD).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5) </a:t>
            </a:r>
            <a:r>
              <a:rPr lang="ko-KR" altLang="en-US" sz="600" dirty="0" smtClean="0"/>
              <a:t>검색된 데이터를 엑셀 파일 형태로 저장</a:t>
            </a:r>
            <a:endParaRPr lang="en-US" altLang="ko-KR" sz="600" dirty="0" smtClean="0"/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6)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7)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8)</a:t>
            </a:r>
          </a:p>
          <a:p>
            <a:pPr>
              <a:buFont typeface="Wingdings" pitchFamily="2" charset="2"/>
              <a:buNone/>
            </a:pPr>
            <a:r>
              <a:rPr lang="en-US" altLang="ko-KR" sz="600" dirty="0" smtClean="0"/>
              <a:t>9. </a:t>
            </a:r>
            <a:r>
              <a:rPr lang="ko-KR" altLang="en-US" sz="600" dirty="0" smtClean="0"/>
              <a:t>입력항목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1) Manifest Reference No.: </a:t>
            </a:r>
            <a:r>
              <a:rPr lang="ko-KR" altLang="en-US" sz="600" dirty="0" err="1" smtClean="0"/>
              <a:t>적하목록</a:t>
            </a:r>
            <a:r>
              <a:rPr lang="ko-KR" altLang="en-US" sz="600" dirty="0" smtClean="0"/>
              <a:t> 관리번호 입력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2) </a:t>
            </a:r>
            <a:r>
              <a:rPr lang="ko-KR" altLang="en-US" sz="600" dirty="0" smtClean="0"/>
              <a:t>중계사업자</a:t>
            </a:r>
            <a:r>
              <a:rPr lang="en-US" altLang="ko-KR" sz="600" dirty="0" smtClean="0"/>
              <a:t>: </a:t>
            </a:r>
            <a:r>
              <a:rPr lang="ko-KR" altLang="en-US" sz="600" dirty="0" err="1" smtClean="0"/>
              <a:t>적하목록</a:t>
            </a:r>
            <a:r>
              <a:rPr lang="ko-KR" altLang="en-US" sz="600" dirty="0" smtClean="0"/>
              <a:t> 중계사업자 </a:t>
            </a:r>
            <a:r>
              <a:rPr lang="en-US" altLang="ko-KR" sz="600" dirty="0" smtClean="0"/>
              <a:t>KTNET </a:t>
            </a:r>
            <a:r>
              <a:rPr lang="ko-KR" altLang="en-US" sz="600" dirty="0" smtClean="0"/>
              <a:t>또는 </a:t>
            </a:r>
            <a:r>
              <a:rPr lang="en-US" altLang="ko-KR" sz="600" dirty="0" smtClean="0"/>
              <a:t>KCENT </a:t>
            </a:r>
            <a:r>
              <a:rPr lang="ko-KR" altLang="en-US" sz="600" dirty="0" smtClean="0"/>
              <a:t>을 선택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3) Master AWB No.: Master AWB</a:t>
            </a:r>
            <a:r>
              <a:rPr lang="ko-KR" altLang="en-US" sz="600" dirty="0" smtClean="0"/>
              <a:t>번호 입력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4) Carrier/Flight No.: </a:t>
            </a:r>
            <a:r>
              <a:rPr lang="ko-KR" altLang="en-US" sz="600" dirty="0" smtClean="0"/>
              <a:t>항공사</a:t>
            </a:r>
            <a:r>
              <a:rPr lang="en-US" altLang="ko-KR" sz="600" dirty="0" smtClean="0"/>
              <a:t>/ </a:t>
            </a:r>
            <a:r>
              <a:rPr lang="ko-KR" altLang="en-US" sz="600" dirty="0" err="1" smtClean="0"/>
              <a:t>편명</a:t>
            </a:r>
            <a:r>
              <a:rPr lang="ko-KR" altLang="en-US" sz="600" dirty="0" smtClean="0"/>
              <a:t> 중 </a:t>
            </a:r>
            <a:r>
              <a:rPr lang="en-US" altLang="ko-KR" sz="600" dirty="0" smtClean="0"/>
              <a:t>Tail</a:t>
            </a:r>
            <a:r>
              <a:rPr lang="ko-KR" altLang="en-US" sz="600" dirty="0" smtClean="0"/>
              <a:t>번호 입력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5) Port of Departure: </a:t>
            </a:r>
            <a:r>
              <a:rPr lang="ko-KR" altLang="en-US" sz="600" dirty="0" err="1" smtClean="0"/>
              <a:t>출발항</a:t>
            </a:r>
            <a:r>
              <a:rPr lang="en-US" altLang="ko-KR" sz="600" dirty="0" smtClean="0"/>
              <a:t>,</a:t>
            </a:r>
            <a:r>
              <a:rPr lang="ko-KR" altLang="en-US" sz="600" dirty="0" smtClean="0"/>
              <a:t>출발지 공항코드 입력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6) Port of Destination: </a:t>
            </a:r>
            <a:r>
              <a:rPr lang="ko-KR" altLang="en-US" sz="600" dirty="0" smtClean="0"/>
              <a:t>도착항</a:t>
            </a:r>
            <a:r>
              <a:rPr lang="en-US" altLang="ko-KR" sz="600" dirty="0" smtClean="0"/>
              <a:t>,</a:t>
            </a:r>
            <a:r>
              <a:rPr lang="ko-KR" altLang="en-US" sz="600" dirty="0" smtClean="0"/>
              <a:t>도착지 공항코드 입력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7) Date of Departure: </a:t>
            </a:r>
            <a:r>
              <a:rPr lang="ko-KR" altLang="en-US" sz="600" dirty="0" smtClean="0"/>
              <a:t>출발일자 입력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8) PKG’S/ </a:t>
            </a:r>
            <a:r>
              <a:rPr lang="en-US" altLang="ko-KR" sz="600" dirty="0" err="1" smtClean="0"/>
              <a:t>G.Weight</a:t>
            </a:r>
            <a:r>
              <a:rPr lang="en-US" altLang="ko-KR" sz="600" dirty="0" smtClean="0"/>
              <a:t>: </a:t>
            </a:r>
            <a:r>
              <a:rPr lang="ko-KR" altLang="en-US" sz="600" dirty="0" smtClean="0"/>
              <a:t>수량</a:t>
            </a:r>
            <a:r>
              <a:rPr lang="en-US" altLang="ko-KR" sz="600" dirty="0" smtClean="0"/>
              <a:t>.</a:t>
            </a:r>
          </a:p>
          <a:p>
            <a:pPr>
              <a:buFont typeface="Wingdings" pitchFamily="2" charset="2"/>
              <a:buNone/>
            </a:pPr>
            <a:r>
              <a:rPr lang="en-US" altLang="ko-KR" sz="600" dirty="0" smtClean="0"/>
              <a:t>10. Grid</a:t>
            </a:r>
            <a:r>
              <a:rPr lang="ko-KR" altLang="en-US" sz="600" dirty="0" smtClean="0"/>
              <a:t>에서 선택된 항목의 상세 정보가 표시됨</a:t>
            </a:r>
            <a:r>
              <a:rPr lang="en-US" altLang="ko-KR" sz="600" dirty="0" smtClean="0"/>
              <a:t>.</a:t>
            </a:r>
          </a:p>
          <a:p>
            <a:pPr>
              <a:buFont typeface="Wingdings" pitchFamily="2" charset="2"/>
              <a:buNone/>
            </a:pPr>
            <a:endParaRPr lang="en-US" altLang="ko-KR" sz="600" dirty="0" smtClean="0"/>
          </a:p>
          <a:p>
            <a:pPr marL="171450" indent="-171450"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ko-KR" sz="600" b="1" dirty="0" smtClean="0"/>
              <a:t>Abbreviation(</a:t>
            </a:r>
            <a:r>
              <a:rPr lang="ko-KR" altLang="en-US" sz="600" b="1" dirty="0" smtClean="0"/>
              <a:t>약어</a:t>
            </a:r>
            <a:r>
              <a:rPr lang="en-US" altLang="ko-KR" sz="600" b="1" dirty="0" smtClean="0"/>
              <a:t>)</a:t>
            </a:r>
          </a:p>
          <a:p>
            <a:pPr marL="108000"/>
            <a:endParaRPr lang="en-US" altLang="ko-KR" sz="600" dirty="0" smtClean="0"/>
          </a:p>
          <a:p>
            <a:pPr marL="108000"/>
            <a:endParaRPr lang="ko-KR" altLang="en-US" sz="600" dirty="0"/>
          </a:p>
        </p:txBody>
      </p:sp>
    </p:spTree>
    <p:extLst>
      <p:ext uri="{BB962C8B-B14F-4D97-AF65-F5344CB8AC3E}">
        <p14:creationId xmlns:p14="http://schemas.microsoft.com/office/powerpoint/2010/main" val="1521154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751388"/>
            <a:ext cx="2707196" cy="4498975"/>
          </a:xfrm>
        </p:spPr>
        <p:txBody>
          <a:bodyPr lIns="97200">
            <a:no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Description(</a:t>
            </a:r>
            <a:r>
              <a:rPr lang="ko-KR" altLang="en-US" sz="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화면설명</a:t>
            </a:r>
            <a:r>
              <a:rPr lang="en-US" altLang="ko-KR" sz="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228600" indent="-228600">
              <a:buFont typeface="Wingdings" pitchFamily="2" charset="2"/>
              <a:buNone/>
            </a:pPr>
            <a:r>
              <a:rPr lang="en-US" altLang="ko-KR" sz="600" dirty="0" smtClean="0"/>
              <a:t>1. </a:t>
            </a:r>
            <a:r>
              <a:rPr lang="ko-KR" altLang="en-US" sz="600" dirty="0" smtClean="0"/>
              <a:t>입력</a:t>
            </a:r>
            <a:endParaRPr lang="en-US" altLang="ko-KR" sz="600" dirty="0" smtClean="0"/>
          </a:p>
          <a:p>
            <a:pPr marL="228600" indent="-228600">
              <a:buFont typeface="Wingdings" pitchFamily="2" charset="2"/>
              <a:buNone/>
            </a:pPr>
            <a:r>
              <a:rPr lang="en-US" altLang="ko-KR" sz="600" baseline="0" dirty="0" smtClean="0"/>
              <a:t>  </a:t>
            </a:r>
            <a:r>
              <a:rPr lang="en-US" altLang="ko-KR" sz="600" dirty="0" smtClean="0"/>
              <a:t>1)</a:t>
            </a:r>
          </a:p>
          <a:p>
            <a:pPr marL="228600" indent="-228600">
              <a:buFont typeface="Wingdings" pitchFamily="2" charset="2"/>
              <a:buNone/>
            </a:pPr>
            <a:endParaRPr kumimoji="1" lang="en-US" altLang="ko-KR" sz="600" kern="1200" baseline="0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59C9AA-EB12-41C5-9B5B-FF8AA1A382DD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sp>
        <p:nvSpPr>
          <p:cNvPr id="5" name="슬라이드 노트 개체 틀 2"/>
          <p:cNvSpPr txBox="1">
            <a:spLocks/>
          </p:cNvSpPr>
          <p:nvPr/>
        </p:nvSpPr>
        <p:spPr bwMode="auto">
          <a:xfrm>
            <a:off x="3477704" y="4751388"/>
            <a:ext cx="2707196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80" tIns="47640" rIns="95280" bIns="47640" numCol="1" anchor="t" anchorCtr="0" compatLnSpc="1">
            <a:prstTxWarp prst="textNoShape">
              <a:avLst/>
            </a:prstTxWarp>
            <a:noAutofit/>
          </a:bodyPr>
          <a:lstStyle>
            <a:lvl1pPr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latinLnBrk="1" hangingPunct="0">
              <a:spcBef>
                <a:spcPct val="3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6. Master Air Way Bill </a:t>
            </a:r>
            <a:r>
              <a:rPr lang="ko-KR" altLang="en-US" sz="600" dirty="0" smtClean="0"/>
              <a:t>고유번호가 표시됨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7. Master Air Way Bill </a:t>
            </a:r>
            <a:r>
              <a:rPr lang="ko-KR" altLang="en-US" sz="600" dirty="0" smtClean="0"/>
              <a:t>에 속한 </a:t>
            </a:r>
            <a:r>
              <a:rPr lang="en-US" altLang="ko-KR" sz="600" dirty="0" smtClean="0"/>
              <a:t>House Air Way Bill </a:t>
            </a:r>
            <a:r>
              <a:rPr lang="ko-KR" altLang="en-US" sz="600" dirty="0" smtClean="0"/>
              <a:t>항목의 개수가 표시됨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8. </a:t>
            </a:r>
            <a:r>
              <a:rPr lang="ko-KR" altLang="en-US" sz="600" dirty="0" smtClean="0"/>
              <a:t>기능버튼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1) </a:t>
            </a:r>
            <a:r>
              <a:rPr lang="ko-KR" altLang="en-US" sz="600" dirty="0" err="1" smtClean="0"/>
              <a:t>적하목록을</a:t>
            </a:r>
            <a:r>
              <a:rPr lang="ko-KR" altLang="en-US" sz="600" dirty="0" smtClean="0"/>
              <a:t> 전송하기 전에 신고항목이 누락되거나 잘못 입력된 곳이 있는지 검증하기 위해 사용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2) </a:t>
            </a:r>
            <a:r>
              <a:rPr lang="ko-KR" altLang="en-US" sz="600" dirty="0" smtClean="0"/>
              <a:t>검증 결과를 표시함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3) </a:t>
            </a:r>
            <a:r>
              <a:rPr lang="ko-KR" altLang="en-US" sz="600" dirty="0" err="1" smtClean="0"/>
              <a:t>적하목록을</a:t>
            </a:r>
            <a:r>
              <a:rPr lang="ko-KR" altLang="en-US" sz="600" dirty="0" smtClean="0"/>
              <a:t> 전송한 후 전송된 신고서가 </a:t>
            </a:r>
            <a:r>
              <a:rPr lang="en-US" altLang="ko-KR" sz="600" dirty="0" smtClean="0"/>
              <a:t>MFCS</a:t>
            </a:r>
            <a:r>
              <a:rPr lang="ko-KR" altLang="en-US" sz="600" dirty="0" smtClean="0"/>
              <a:t>에 취합이 정상적으로 이루어지고 있는지 상태확인을 할 때 사용하는 버튼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>
                <a:solidFill>
                  <a:srgbClr val="FF0000"/>
                </a:solidFill>
              </a:rPr>
              <a:t>4) </a:t>
            </a:r>
            <a:r>
              <a:rPr lang="ko-KR" altLang="en-US" sz="600" dirty="0" err="1" smtClean="0">
                <a:solidFill>
                  <a:srgbClr val="FF0000"/>
                </a:solidFill>
              </a:rPr>
              <a:t>적하목록</a:t>
            </a:r>
            <a:r>
              <a:rPr lang="ko-KR" altLang="en-US" sz="600" dirty="0" smtClean="0">
                <a:solidFill>
                  <a:srgbClr val="FF0000"/>
                </a:solidFill>
              </a:rPr>
              <a:t> 데이터를 일괄로 변경하고자 할 때 사용하는 버튼</a:t>
            </a:r>
            <a:r>
              <a:rPr lang="en-US" altLang="ko-KR" sz="600" dirty="0" smtClean="0">
                <a:solidFill>
                  <a:srgbClr val="FF0000"/>
                </a:solidFill>
              </a:rPr>
              <a:t>(TBD).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5) </a:t>
            </a:r>
            <a:r>
              <a:rPr lang="ko-KR" altLang="en-US" sz="600" dirty="0" smtClean="0"/>
              <a:t>검색된 데이터를 엑셀 파일 형태로 저장</a:t>
            </a:r>
            <a:endParaRPr lang="en-US" altLang="ko-KR" sz="600" dirty="0" smtClean="0"/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6)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7)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8)</a:t>
            </a:r>
          </a:p>
          <a:p>
            <a:pPr>
              <a:buFont typeface="Wingdings" pitchFamily="2" charset="2"/>
              <a:buNone/>
            </a:pPr>
            <a:r>
              <a:rPr lang="en-US" altLang="ko-KR" sz="600" dirty="0" smtClean="0"/>
              <a:t>9. </a:t>
            </a:r>
            <a:r>
              <a:rPr lang="ko-KR" altLang="en-US" sz="600" dirty="0" smtClean="0"/>
              <a:t>입력항목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1) Manifest Reference No.: </a:t>
            </a:r>
            <a:r>
              <a:rPr lang="ko-KR" altLang="en-US" sz="600" dirty="0" err="1" smtClean="0"/>
              <a:t>적하목록</a:t>
            </a:r>
            <a:r>
              <a:rPr lang="ko-KR" altLang="en-US" sz="600" dirty="0" smtClean="0"/>
              <a:t> 관리번호 입력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2) </a:t>
            </a:r>
            <a:r>
              <a:rPr lang="ko-KR" altLang="en-US" sz="600" dirty="0" smtClean="0"/>
              <a:t>중계사업자</a:t>
            </a:r>
            <a:r>
              <a:rPr lang="en-US" altLang="ko-KR" sz="600" dirty="0" smtClean="0"/>
              <a:t>: </a:t>
            </a:r>
            <a:r>
              <a:rPr lang="ko-KR" altLang="en-US" sz="600" dirty="0" err="1" smtClean="0"/>
              <a:t>적하목록</a:t>
            </a:r>
            <a:r>
              <a:rPr lang="ko-KR" altLang="en-US" sz="600" dirty="0" smtClean="0"/>
              <a:t> 중계사업자 </a:t>
            </a:r>
            <a:r>
              <a:rPr lang="en-US" altLang="ko-KR" sz="600" dirty="0" smtClean="0"/>
              <a:t>KTNET </a:t>
            </a:r>
            <a:r>
              <a:rPr lang="ko-KR" altLang="en-US" sz="600" dirty="0" smtClean="0"/>
              <a:t>또는 </a:t>
            </a:r>
            <a:r>
              <a:rPr lang="en-US" altLang="ko-KR" sz="600" dirty="0" smtClean="0"/>
              <a:t>KCENT </a:t>
            </a:r>
            <a:r>
              <a:rPr lang="ko-KR" altLang="en-US" sz="600" dirty="0" smtClean="0"/>
              <a:t>을 선택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3) Master AWB No.: Master AWB</a:t>
            </a:r>
            <a:r>
              <a:rPr lang="ko-KR" altLang="en-US" sz="600" dirty="0" smtClean="0"/>
              <a:t>번호 입력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4) Carrier/Flight No.: </a:t>
            </a:r>
            <a:r>
              <a:rPr lang="ko-KR" altLang="en-US" sz="600" dirty="0" smtClean="0"/>
              <a:t>항공사</a:t>
            </a:r>
            <a:r>
              <a:rPr lang="en-US" altLang="ko-KR" sz="600" dirty="0" smtClean="0"/>
              <a:t>/ </a:t>
            </a:r>
            <a:r>
              <a:rPr lang="ko-KR" altLang="en-US" sz="600" dirty="0" err="1" smtClean="0"/>
              <a:t>편명</a:t>
            </a:r>
            <a:r>
              <a:rPr lang="ko-KR" altLang="en-US" sz="600" dirty="0" smtClean="0"/>
              <a:t> 중 </a:t>
            </a:r>
            <a:r>
              <a:rPr lang="en-US" altLang="ko-KR" sz="600" dirty="0" smtClean="0"/>
              <a:t>Tail</a:t>
            </a:r>
            <a:r>
              <a:rPr lang="ko-KR" altLang="en-US" sz="600" dirty="0" smtClean="0"/>
              <a:t>번호 입력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5) Port of Departure: </a:t>
            </a:r>
            <a:r>
              <a:rPr lang="ko-KR" altLang="en-US" sz="600" dirty="0" err="1" smtClean="0"/>
              <a:t>출발항</a:t>
            </a:r>
            <a:r>
              <a:rPr lang="en-US" altLang="ko-KR" sz="600" dirty="0" smtClean="0"/>
              <a:t>,</a:t>
            </a:r>
            <a:r>
              <a:rPr lang="ko-KR" altLang="en-US" sz="600" dirty="0" smtClean="0"/>
              <a:t>출발지 공항코드 입력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6) Port of Destination: </a:t>
            </a:r>
            <a:r>
              <a:rPr lang="ko-KR" altLang="en-US" sz="600" dirty="0" smtClean="0"/>
              <a:t>도착항</a:t>
            </a:r>
            <a:r>
              <a:rPr lang="en-US" altLang="ko-KR" sz="600" dirty="0" smtClean="0"/>
              <a:t>,</a:t>
            </a:r>
            <a:r>
              <a:rPr lang="ko-KR" altLang="en-US" sz="600" dirty="0" smtClean="0"/>
              <a:t>도착지 공항코드 입력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7) Date of Departure: </a:t>
            </a:r>
            <a:r>
              <a:rPr lang="ko-KR" altLang="en-US" sz="600" dirty="0" smtClean="0"/>
              <a:t>출발일자 입력</a:t>
            </a:r>
            <a:r>
              <a:rPr lang="en-US" altLang="ko-KR" sz="600" dirty="0" smtClean="0"/>
              <a:t>.</a:t>
            </a:r>
          </a:p>
          <a:p>
            <a:pPr marL="72000">
              <a:buFont typeface="Wingdings" pitchFamily="2" charset="2"/>
              <a:buNone/>
            </a:pPr>
            <a:r>
              <a:rPr lang="en-US" altLang="ko-KR" sz="600" dirty="0" smtClean="0"/>
              <a:t>8) PKG’S/ </a:t>
            </a:r>
            <a:r>
              <a:rPr lang="en-US" altLang="ko-KR" sz="600" dirty="0" err="1" smtClean="0"/>
              <a:t>G.Weight</a:t>
            </a:r>
            <a:r>
              <a:rPr lang="en-US" altLang="ko-KR" sz="600" dirty="0" smtClean="0"/>
              <a:t>: </a:t>
            </a:r>
            <a:r>
              <a:rPr lang="ko-KR" altLang="en-US" sz="600" dirty="0" smtClean="0"/>
              <a:t>수량</a:t>
            </a:r>
            <a:r>
              <a:rPr lang="en-US" altLang="ko-KR" sz="600" dirty="0" smtClean="0"/>
              <a:t>.</a:t>
            </a:r>
          </a:p>
          <a:p>
            <a:pPr>
              <a:buFont typeface="Wingdings" pitchFamily="2" charset="2"/>
              <a:buNone/>
            </a:pPr>
            <a:r>
              <a:rPr lang="en-US" altLang="ko-KR" sz="600" dirty="0" smtClean="0"/>
              <a:t>10. Grid</a:t>
            </a:r>
            <a:r>
              <a:rPr lang="ko-KR" altLang="en-US" sz="600" dirty="0" smtClean="0"/>
              <a:t>에서 선택된 항목의 상세 정보가 표시됨</a:t>
            </a:r>
            <a:r>
              <a:rPr lang="en-US" altLang="ko-KR" sz="600" dirty="0" smtClean="0"/>
              <a:t>.</a:t>
            </a:r>
          </a:p>
          <a:p>
            <a:pPr>
              <a:buFont typeface="Wingdings" pitchFamily="2" charset="2"/>
              <a:buNone/>
            </a:pPr>
            <a:endParaRPr lang="en-US" altLang="ko-KR" sz="600" dirty="0" smtClean="0"/>
          </a:p>
          <a:p>
            <a:pPr marL="171450" indent="-171450"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ko-KR" sz="600" b="1" dirty="0" smtClean="0"/>
              <a:t>Abbreviation(</a:t>
            </a:r>
            <a:r>
              <a:rPr lang="ko-KR" altLang="en-US" sz="600" b="1" dirty="0" smtClean="0"/>
              <a:t>약어</a:t>
            </a:r>
            <a:r>
              <a:rPr lang="en-US" altLang="ko-KR" sz="600" b="1" dirty="0" smtClean="0"/>
              <a:t>)</a:t>
            </a:r>
          </a:p>
          <a:p>
            <a:pPr marL="108000"/>
            <a:endParaRPr lang="en-US" altLang="ko-KR" sz="600" dirty="0" smtClean="0"/>
          </a:p>
          <a:p>
            <a:pPr marL="108000"/>
            <a:endParaRPr lang="ko-KR" altLang="en-US" sz="600" dirty="0"/>
          </a:p>
        </p:txBody>
      </p:sp>
    </p:spTree>
    <p:extLst>
      <p:ext uri="{BB962C8B-B14F-4D97-AF65-F5344CB8AC3E}">
        <p14:creationId xmlns:p14="http://schemas.microsoft.com/office/powerpoint/2010/main" val="2626782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항공수출 -적하목록 신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239" y="548640"/>
            <a:ext cx="34194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56" y="507960"/>
            <a:ext cx="9871143" cy="201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5723" y="533400"/>
            <a:ext cx="34194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40771" y="533400"/>
            <a:ext cx="74676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. 항공수출 - 적하목록 정정신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056" y="507960"/>
            <a:ext cx="9871143" cy="201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596" y="544473"/>
            <a:ext cx="3190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4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072CF4-CF31-4D6D-8177-FA8ABBB81111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 dirty="0">
                <a:solidFill>
                  <a:srgbClr val="000000"/>
                </a:solidFill>
              </a:rPr>
              <a:t> / 89</a:t>
            </a:r>
          </a:p>
        </p:txBody>
      </p:sp>
    </p:spTree>
    <p:extLst>
      <p:ext uri="{BB962C8B-B14F-4D97-AF65-F5344CB8AC3E}">
        <p14:creationId xmlns:p14="http://schemas.microsoft.com/office/powerpoint/2010/main" val="300393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346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항공수출 -적하목록 신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239" y="548640"/>
            <a:ext cx="34194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56" y="507960"/>
            <a:ext cx="9871143" cy="201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5723" y="533400"/>
            <a:ext cx="34194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40771" y="533400"/>
            <a:ext cx="74676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84045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. 항공수출 - 적하목록 정정신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056" y="507960"/>
            <a:ext cx="9871143" cy="201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596" y="544473"/>
            <a:ext cx="3190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08848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항공수출 -적하목록 신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239" y="548640"/>
            <a:ext cx="34194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56" y="507960"/>
            <a:ext cx="9871143" cy="201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5723" y="533400"/>
            <a:ext cx="34194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40771" y="533400"/>
            <a:ext cx="74676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24948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. 항공수출 - 적하목록 정정신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056" y="507960"/>
            <a:ext cx="9871143" cy="201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596" y="544473"/>
            <a:ext cx="3190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77717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항공수출 -적하목록 신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239" y="548640"/>
            <a:ext cx="34194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56" y="507960"/>
            <a:ext cx="9871143" cy="201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5723" y="533400"/>
            <a:ext cx="34194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40771" y="533400"/>
            <a:ext cx="74676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85715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. 항공수출 - 적하목록 정정신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056" y="507960"/>
            <a:ext cx="9871143" cy="201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596" y="544473"/>
            <a:ext cx="3190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40041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항공수출 -적하목록 신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239" y="548640"/>
            <a:ext cx="34194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56" y="507960"/>
            <a:ext cx="9871143" cy="201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5723" y="533400"/>
            <a:ext cx="34194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40771" y="533400"/>
            <a:ext cx="74676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775420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. 항공수출 - 적하목록 정정신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056" y="507960"/>
            <a:ext cx="9871143" cy="201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596" y="544473"/>
            <a:ext cx="3190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630397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항공수출 -적하목록 신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239" y="548640"/>
            <a:ext cx="34194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56" y="507960"/>
            <a:ext cx="9871143" cy="201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5723" y="533400"/>
            <a:ext cx="34194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40771" y="533400"/>
            <a:ext cx="74676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55385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. 항공수출 - 적하목록 정정신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056" y="507960"/>
            <a:ext cx="9871143" cy="201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596" y="544473"/>
            <a:ext cx="3190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26572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항공수출 -적하목록 신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239" y="548640"/>
            <a:ext cx="34194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056" y="507960"/>
            <a:ext cx="9871143" cy="201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5723" y="533400"/>
            <a:ext cx="34194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40771" y="533400"/>
            <a:ext cx="74676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273701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. 항공수출 - 적하목록 정정신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056" y="507960"/>
            <a:ext cx="9871143" cy="201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596" y="544473"/>
            <a:ext cx="3190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66167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0"/>
          <p:cNvSpPr>
            <a:spLocks noChangeArrowheads="1"/>
          </p:cNvSpPr>
          <p:nvPr/>
        </p:nvSpPr>
        <p:spPr bwMode="auto">
          <a:xfrm>
            <a:off x="76204" y="76201"/>
            <a:ext cx="9917113" cy="67056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ea typeface="돋움" pitchFamily="50" charset="-127"/>
            </a:endParaRPr>
          </a:p>
        </p:txBody>
      </p:sp>
      <p:sp>
        <p:nvSpPr>
          <p:cNvPr id="1027" name="Line 61"/>
          <p:cNvSpPr>
            <a:spLocks noChangeShapeType="1"/>
          </p:cNvSpPr>
          <p:nvPr/>
        </p:nvSpPr>
        <p:spPr bwMode="auto">
          <a:xfrm>
            <a:off x="76200" y="476250"/>
            <a:ext cx="991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8" name="Line 62"/>
          <p:cNvSpPr>
            <a:spLocks noChangeShapeType="1"/>
          </p:cNvSpPr>
          <p:nvPr/>
        </p:nvSpPr>
        <p:spPr bwMode="auto">
          <a:xfrm>
            <a:off x="990600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9" name="Text Box 63"/>
          <p:cNvSpPr txBox="1">
            <a:spLocks noChangeArrowheads="1"/>
          </p:cNvSpPr>
          <p:nvPr/>
        </p:nvSpPr>
        <p:spPr bwMode="auto">
          <a:xfrm>
            <a:off x="44450" y="296863"/>
            <a:ext cx="689612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smtClean="0">
                <a:latin typeface="굴림체" pitchFamily="49" charset="-127"/>
                <a:ea typeface="굴림체" pitchFamily="49" charset="-127"/>
              </a:rPr>
              <a:t>Page Name</a:t>
            </a:r>
          </a:p>
        </p:txBody>
      </p:sp>
      <p:sp>
        <p:nvSpPr>
          <p:cNvPr id="1030" name="Text Box 64"/>
          <p:cNvSpPr txBox="1">
            <a:spLocks noChangeArrowheads="1"/>
          </p:cNvSpPr>
          <p:nvPr/>
        </p:nvSpPr>
        <p:spPr bwMode="auto">
          <a:xfrm>
            <a:off x="5140325" y="260350"/>
            <a:ext cx="800100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dirty="0" smtClean="0">
                <a:latin typeface="굴림체" pitchFamily="49" charset="-127"/>
                <a:ea typeface="굴림체" pitchFamily="49" charset="-127"/>
              </a:rPr>
              <a:t>Directory</a:t>
            </a:r>
          </a:p>
        </p:txBody>
      </p:sp>
      <p:sp>
        <p:nvSpPr>
          <p:cNvPr id="1031" name="Line 66"/>
          <p:cNvSpPr>
            <a:spLocks noChangeShapeType="1"/>
          </p:cNvSpPr>
          <p:nvPr/>
        </p:nvSpPr>
        <p:spPr bwMode="auto">
          <a:xfrm flipV="1">
            <a:off x="76203" y="260350"/>
            <a:ext cx="9915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3" name="Text Box 67"/>
          <p:cNvSpPr txBox="1">
            <a:spLocks noChangeArrowheads="1"/>
          </p:cNvSpPr>
          <p:nvPr/>
        </p:nvSpPr>
        <p:spPr bwMode="auto">
          <a:xfrm>
            <a:off x="44452" y="74612"/>
            <a:ext cx="857927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smtClean="0">
                <a:latin typeface="굴림체" pitchFamily="49" charset="-127"/>
                <a:ea typeface="굴림체" pitchFamily="49" charset="-127"/>
              </a:rPr>
              <a:t>Project Name</a:t>
            </a:r>
          </a:p>
        </p:txBody>
      </p:sp>
      <p:sp>
        <p:nvSpPr>
          <p:cNvPr id="1034" name="Text Box 68"/>
          <p:cNvSpPr txBox="1">
            <a:spLocks noChangeArrowheads="1"/>
          </p:cNvSpPr>
          <p:nvPr/>
        </p:nvSpPr>
        <p:spPr bwMode="auto">
          <a:xfrm>
            <a:off x="990600" y="82551"/>
            <a:ext cx="1828800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baseline="0" dirty="0" err="1" smtClean="0">
                <a:latin typeface="굴림체" pitchFamily="49" charset="-127"/>
                <a:ea typeface="굴림체" pitchFamily="49" charset="-127"/>
              </a:rPr>
              <a:t>FMS_Project</a:t>
            </a:r>
            <a:r>
              <a:rPr lang="en-US" altLang="ko-KR" baseline="0" dirty="0" smtClean="0">
                <a:latin typeface="굴림체" pitchFamily="49" charset="-127"/>
                <a:ea typeface="굴림체" pitchFamily="49" charset="-127"/>
              </a:rPr>
              <a:t> </a:t>
            </a:r>
            <a:r>
              <a:rPr lang="ko-KR" altLang="en-US" baseline="0" dirty="0" smtClean="0">
                <a:latin typeface="굴림체" pitchFamily="49" charset="-127"/>
                <a:ea typeface="굴림체" pitchFamily="49" charset="-127"/>
              </a:rPr>
              <a:t>서비스</a:t>
            </a:r>
            <a:endParaRPr lang="ko-KR" altLang="en-US" dirty="0" smtClean="0"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2" name="Line 69"/>
          <p:cNvSpPr>
            <a:spLocks noChangeShapeType="1"/>
          </p:cNvSpPr>
          <p:nvPr/>
        </p:nvSpPr>
        <p:spPr bwMode="auto">
          <a:xfrm>
            <a:off x="8534400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6" name="Text Box 70"/>
          <p:cNvSpPr txBox="1">
            <a:spLocks noChangeArrowheads="1"/>
          </p:cNvSpPr>
          <p:nvPr/>
        </p:nvSpPr>
        <p:spPr bwMode="auto">
          <a:xfrm>
            <a:off x="7935915" y="71437"/>
            <a:ext cx="674688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latin typeface="굴림체" pitchFamily="49" charset="-127"/>
                <a:ea typeface="굴림체" pitchFamily="49" charset="-127"/>
              </a:rPr>
              <a:t>작성자</a:t>
            </a:r>
          </a:p>
        </p:txBody>
      </p:sp>
      <p:sp>
        <p:nvSpPr>
          <p:cNvPr id="1037" name="Text Box 71"/>
          <p:cNvSpPr txBox="1">
            <a:spLocks noChangeArrowheads="1"/>
          </p:cNvSpPr>
          <p:nvPr/>
        </p:nvSpPr>
        <p:spPr bwMode="auto">
          <a:xfrm>
            <a:off x="9109075" y="71437"/>
            <a:ext cx="674688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latin typeface="굴림체" pitchFamily="49" charset="-127"/>
                <a:ea typeface="굴림체" pitchFamily="49" charset="-127"/>
              </a:rPr>
              <a:t>수정일</a:t>
            </a:r>
          </a:p>
        </p:txBody>
      </p:sp>
      <p:sp>
        <p:nvSpPr>
          <p:cNvPr id="1038" name="Text Box 72"/>
          <p:cNvSpPr txBox="1">
            <a:spLocks noChangeArrowheads="1"/>
          </p:cNvSpPr>
          <p:nvPr/>
        </p:nvSpPr>
        <p:spPr bwMode="auto">
          <a:xfrm>
            <a:off x="8575678" y="74612"/>
            <a:ext cx="492125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latin typeface="굴림체" pitchFamily="49" charset="-127"/>
                <a:ea typeface="굴림체" pitchFamily="49" charset="-127"/>
              </a:rPr>
              <a:t>확 인</a:t>
            </a:r>
          </a:p>
        </p:txBody>
      </p:sp>
      <p:sp>
        <p:nvSpPr>
          <p:cNvPr id="1039" name="Text Box 73"/>
          <p:cNvSpPr txBox="1">
            <a:spLocks noChangeArrowheads="1"/>
          </p:cNvSpPr>
          <p:nvPr/>
        </p:nvSpPr>
        <p:spPr bwMode="auto">
          <a:xfrm>
            <a:off x="7924800" y="260350"/>
            <a:ext cx="609600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dirty="0" smtClean="0">
                <a:latin typeface="굴림체" pitchFamily="49" charset="-127"/>
                <a:ea typeface="굴림체" pitchFamily="49" charset="-127"/>
              </a:rPr>
              <a:t>허철원</a:t>
            </a:r>
            <a:endParaRPr lang="ko-KR" altLang="ko-KR" dirty="0" smtClean="0"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3" name="Line 74"/>
          <p:cNvSpPr>
            <a:spLocks noChangeShapeType="1"/>
          </p:cNvSpPr>
          <p:nvPr/>
        </p:nvSpPr>
        <p:spPr bwMode="auto">
          <a:xfrm>
            <a:off x="9067800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1" name="Text Box 75"/>
          <p:cNvSpPr txBox="1">
            <a:spLocks noChangeArrowheads="1"/>
          </p:cNvSpPr>
          <p:nvPr/>
        </p:nvSpPr>
        <p:spPr bwMode="auto">
          <a:xfrm>
            <a:off x="5105404" y="63500"/>
            <a:ext cx="752129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dirty="0" smtClean="0">
                <a:latin typeface="굴림체" pitchFamily="49" charset="-127"/>
                <a:ea typeface="굴림체" pitchFamily="49" charset="-127"/>
              </a:rPr>
              <a:t>Title </a:t>
            </a:r>
            <a:r>
              <a:rPr lang="ko-KR" altLang="en-US" sz="900" b="1" dirty="0" smtClean="0">
                <a:latin typeface="굴림체" pitchFamily="49" charset="-127"/>
                <a:ea typeface="굴림체" pitchFamily="49" charset="-127"/>
              </a:rPr>
              <a:t>태그</a:t>
            </a:r>
          </a:p>
        </p:txBody>
      </p:sp>
      <p:sp>
        <p:nvSpPr>
          <p:cNvPr id="4" name="Line 76"/>
          <p:cNvSpPr>
            <a:spLocks noChangeShapeType="1"/>
          </p:cNvSpPr>
          <p:nvPr/>
        </p:nvSpPr>
        <p:spPr bwMode="auto">
          <a:xfrm>
            <a:off x="5140325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3" name="Text Box 77"/>
          <p:cNvSpPr txBox="1">
            <a:spLocks noChangeArrowheads="1"/>
          </p:cNvSpPr>
          <p:nvPr/>
        </p:nvSpPr>
        <p:spPr bwMode="auto">
          <a:xfrm>
            <a:off x="3384550" y="76200"/>
            <a:ext cx="1415772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dirty="0" smtClean="0">
                <a:latin typeface="굴림체" pitchFamily="49" charset="-127"/>
                <a:ea typeface="굴림체" pitchFamily="49" charset="-127"/>
              </a:rPr>
              <a:t>화면설계서 </a:t>
            </a:r>
            <a:r>
              <a:rPr lang="en-US" altLang="ko-KR" dirty="0" smtClean="0">
                <a:latin typeface="Times New Roman" pitchFamily="18" charset="0"/>
                <a:ea typeface="굴림체" pitchFamily="49" charset="-127"/>
              </a:rPr>
              <a:t>–</a:t>
            </a:r>
            <a:r>
              <a:rPr lang="en-US" altLang="ko-KR" dirty="0" smtClean="0">
                <a:latin typeface="굴림체" pitchFamily="49" charset="-127"/>
                <a:ea typeface="굴림체" pitchFamily="49" charset="-127"/>
              </a:rPr>
              <a:t> </a:t>
            </a:r>
            <a:r>
              <a:rPr lang="en-US" altLang="ko-KR" dirty="0" err="1" smtClean="0">
                <a:latin typeface="굴림체" pitchFamily="49" charset="-127"/>
                <a:ea typeface="굴림체" pitchFamily="49" charset="-127"/>
              </a:rPr>
              <a:t>FMS_Project</a:t>
            </a:r>
            <a:endParaRPr lang="ko-KR" altLang="en-US" dirty="0" smtClean="0"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5" name="Line 78"/>
          <p:cNvSpPr>
            <a:spLocks noChangeShapeType="1"/>
          </p:cNvSpPr>
          <p:nvPr/>
        </p:nvSpPr>
        <p:spPr bwMode="auto">
          <a:xfrm>
            <a:off x="7912100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5" name="Line 80"/>
          <p:cNvSpPr>
            <a:spLocks noChangeShapeType="1"/>
          </p:cNvSpPr>
          <p:nvPr/>
        </p:nvSpPr>
        <p:spPr bwMode="auto">
          <a:xfrm>
            <a:off x="5864225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6" name="Line 81"/>
          <p:cNvSpPr>
            <a:spLocks noChangeShapeType="1"/>
          </p:cNvSpPr>
          <p:nvPr/>
        </p:nvSpPr>
        <p:spPr bwMode="auto">
          <a:xfrm>
            <a:off x="2863850" y="63502"/>
            <a:ext cx="0" cy="19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8" name="Text Box 82"/>
          <p:cNvSpPr txBox="1">
            <a:spLocks noChangeArrowheads="1"/>
          </p:cNvSpPr>
          <p:nvPr/>
        </p:nvSpPr>
        <p:spPr bwMode="auto">
          <a:xfrm>
            <a:off x="2819404" y="44450"/>
            <a:ext cx="639919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smtClean="0">
                <a:latin typeface="굴림체" pitchFamily="49" charset="-127"/>
                <a:ea typeface="굴림체" pitchFamily="49" charset="-127"/>
              </a:rPr>
              <a:t>Doc </a:t>
            </a:r>
            <a:r>
              <a:rPr lang="ko-KR" altLang="en-US" sz="900" b="1" smtClean="0">
                <a:latin typeface="굴림체" pitchFamily="49" charset="-127"/>
                <a:ea typeface="굴림체" pitchFamily="49" charset="-127"/>
              </a:rPr>
              <a:t>분류</a:t>
            </a:r>
          </a:p>
        </p:txBody>
      </p:sp>
      <p:sp>
        <p:nvSpPr>
          <p:cNvPr id="6" name="Line 83"/>
          <p:cNvSpPr>
            <a:spLocks noChangeShapeType="1"/>
          </p:cNvSpPr>
          <p:nvPr/>
        </p:nvSpPr>
        <p:spPr bwMode="auto">
          <a:xfrm>
            <a:off x="3414713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0" name="Text Box 87"/>
          <p:cNvSpPr txBox="1">
            <a:spLocks noChangeArrowheads="1"/>
          </p:cNvSpPr>
          <p:nvPr/>
        </p:nvSpPr>
        <p:spPr bwMode="auto">
          <a:xfrm>
            <a:off x="3360737" y="260350"/>
            <a:ext cx="690563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latin typeface="굴림체" pitchFamily="49" charset="-127"/>
                <a:ea typeface="굴림체" pitchFamily="49" charset="-127"/>
              </a:rPr>
              <a:t>화면</a:t>
            </a:r>
            <a:r>
              <a:rPr lang="en-US" altLang="ko-KR" sz="900" b="1" smtClean="0">
                <a:latin typeface="굴림체" pitchFamily="49" charset="-127"/>
                <a:ea typeface="굴림체" pitchFamily="49" charset="-127"/>
              </a:rPr>
              <a:t>CODE</a:t>
            </a:r>
          </a:p>
        </p:txBody>
      </p:sp>
      <p:sp>
        <p:nvSpPr>
          <p:cNvPr id="7" name="Line 88"/>
          <p:cNvSpPr>
            <a:spLocks noChangeShapeType="1"/>
          </p:cNvSpPr>
          <p:nvPr/>
        </p:nvSpPr>
        <p:spPr bwMode="auto">
          <a:xfrm>
            <a:off x="3962400" y="2603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2" name="Text Box 89"/>
          <p:cNvSpPr txBox="1">
            <a:spLocks noChangeArrowheads="1"/>
          </p:cNvSpPr>
          <p:nvPr/>
        </p:nvSpPr>
        <p:spPr bwMode="auto">
          <a:xfrm>
            <a:off x="9034463" y="260351"/>
            <a:ext cx="838200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latinLnBrk="0">
              <a:defRPr/>
            </a:pPr>
            <a:r>
              <a:rPr kumimoji="0" lang="en-US" altLang="ko-KR" dirty="0" smtClean="0">
                <a:latin typeface="굴림체" pitchFamily="49" charset="-127"/>
                <a:ea typeface="굴림체" pitchFamily="49" charset="-127"/>
              </a:rPr>
              <a:t>2020/04/09</a:t>
            </a:r>
            <a:endParaRPr kumimoji="0" lang="en-US" altLang="ko-KR" dirty="0" smtClean="0"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054" name="Text Box 92"/>
          <p:cNvSpPr txBox="1">
            <a:spLocks noChangeArrowheads="1"/>
          </p:cNvSpPr>
          <p:nvPr/>
        </p:nvSpPr>
        <p:spPr bwMode="auto">
          <a:xfrm>
            <a:off x="7691437" y="500063"/>
            <a:ext cx="2011363" cy="159462"/>
          </a:xfrm>
          <a:prstGeom prst="rect">
            <a:avLst/>
          </a:prstGeom>
          <a:noFill/>
          <a:ln>
            <a:noFill/>
          </a:ln>
          <a:extLst/>
        </p:spPr>
        <p:txBody>
          <a:bodyPr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 dirty="0" smtClean="0">
                <a:solidFill>
                  <a:schemeClr val="bg1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Description (</a:t>
            </a:r>
            <a:r>
              <a:rPr lang="ko-KR" altLang="en-US" b="1" dirty="0" smtClean="0">
                <a:solidFill>
                  <a:schemeClr val="bg1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화면설명</a:t>
            </a:r>
            <a:r>
              <a:rPr lang="en-US" altLang="ko-KR" b="1" dirty="0" smtClean="0">
                <a:solidFill>
                  <a:schemeClr val="bg1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)</a:t>
            </a:r>
          </a:p>
        </p:txBody>
      </p:sp>
      <p:sp>
        <p:nvSpPr>
          <p:cNvPr id="1056" name="Text Box 94"/>
          <p:cNvSpPr txBox="1">
            <a:spLocks noChangeArrowheads="1"/>
          </p:cNvSpPr>
          <p:nvPr/>
        </p:nvSpPr>
        <p:spPr bwMode="auto">
          <a:xfrm>
            <a:off x="9027313" y="6597651"/>
            <a:ext cx="714375" cy="159462"/>
          </a:xfrm>
          <a:prstGeom prst="rect">
            <a:avLst/>
          </a:prstGeom>
          <a:noFill/>
          <a:ln>
            <a:noFill/>
          </a:ln>
          <a:extLst/>
        </p:spPr>
        <p:txBody>
          <a:bodyPr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 smtClean="0">
                <a:latin typeface="돋움" pitchFamily="50" charset="-127"/>
              </a:rPr>
              <a:t>Page No :</a:t>
            </a:r>
          </a:p>
        </p:txBody>
      </p:sp>
      <p:sp>
        <p:nvSpPr>
          <p:cNvPr id="1057" name="Text Box 95"/>
          <p:cNvSpPr txBox="1">
            <a:spLocks noChangeArrowheads="1"/>
          </p:cNvSpPr>
          <p:nvPr/>
        </p:nvSpPr>
        <p:spPr bwMode="auto">
          <a:xfrm>
            <a:off x="9614685" y="6564313"/>
            <a:ext cx="354882" cy="23301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fld id="{D54402F3-F5D2-4362-A2CF-5B68B14495E9}" type="slidenum">
              <a:rPr lang="en-US" altLang="ko-KR" sz="900" smtClean="0">
                <a:latin typeface="굴림" pitchFamily="50" charset="-127"/>
                <a:ea typeface="굴림" pitchFamily="50" charset="-127"/>
              </a:rPr>
              <a:pPr eaLnBrk="1" hangingPunct="1">
                <a:defRPr/>
              </a:pPr>
              <a:t>‹#›</a:t>
            </a:fld>
            <a:endParaRPr lang="en-US" altLang="ko-KR" sz="900" dirty="0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09" r:id="rId1"/>
    <p:sldLayoutId id="2147484607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Line 4"/>
          <p:cNvSpPr>
            <a:spLocks noChangeShapeType="1"/>
          </p:cNvSpPr>
          <p:nvPr userDrawn="1"/>
        </p:nvSpPr>
        <p:spPr bwMode="auto">
          <a:xfrm>
            <a:off x="0" y="549275"/>
            <a:ext cx="10080625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>
              <a:defRPr/>
            </a:pPr>
            <a:endParaRPr lang="ko-KR" altLang="en-US" sz="1200" b="1">
              <a:solidFill>
                <a:srgbClr val="000000"/>
              </a:solidFill>
              <a:ea typeface="돋움" pitchFamily="50" charset="-127"/>
            </a:endParaRP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465201" y="6515100"/>
            <a:ext cx="1148610" cy="2873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="1">
                <a:latin typeface="Century Gothic" pitchFamily="34" charset="0"/>
                <a:ea typeface="돋움체" pitchFamily="49" charset="-127"/>
              </a:defRPr>
            </a:lvl1pPr>
          </a:lstStyle>
          <a:p>
            <a:pPr>
              <a:defRPr/>
            </a:pPr>
            <a:fld id="{AFEBEF0B-4912-4BA3-B85C-9D69C82B00BB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 dirty="0">
                <a:solidFill>
                  <a:srgbClr val="000000"/>
                </a:solidFill>
              </a:rPr>
              <a:t> / 10</a:t>
            </a:r>
          </a:p>
        </p:txBody>
      </p:sp>
    </p:spTree>
    <p:extLst>
      <p:ext uri="{BB962C8B-B14F-4D97-AF65-F5344CB8AC3E}">
        <p14:creationId xmlns:p14="http://schemas.microsoft.com/office/powerpoint/2010/main" val="830808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11" r:id="rId1"/>
    <p:sldLayoutId id="2147484612" r:id="rId2"/>
    <p:sldLayoutId id="2147484613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0"/>
          <p:cNvSpPr>
            <a:spLocks noChangeArrowheads="1"/>
          </p:cNvSpPr>
          <p:nvPr/>
        </p:nvSpPr>
        <p:spPr bwMode="auto">
          <a:xfrm>
            <a:off x="76204" y="76201"/>
            <a:ext cx="9917113" cy="67056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solidFill>
                <a:srgbClr val="000000"/>
              </a:solidFill>
              <a:ea typeface="돋움" pitchFamily="50" charset="-127"/>
            </a:endParaRPr>
          </a:p>
        </p:txBody>
      </p:sp>
      <p:sp>
        <p:nvSpPr>
          <p:cNvPr id="1027" name="Line 61"/>
          <p:cNvSpPr>
            <a:spLocks noChangeShapeType="1"/>
          </p:cNvSpPr>
          <p:nvPr/>
        </p:nvSpPr>
        <p:spPr bwMode="auto">
          <a:xfrm>
            <a:off x="76200" y="476250"/>
            <a:ext cx="991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28" name="Line 62"/>
          <p:cNvSpPr>
            <a:spLocks noChangeShapeType="1"/>
          </p:cNvSpPr>
          <p:nvPr/>
        </p:nvSpPr>
        <p:spPr bwMode="auto">
          <a:xfrm>
            <a:off x="990600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29" name="Text Box 63"/>
          <p:cNvSpPr txBox="1">
            <a:spLocks noChangeArrowheads="1"/>
          </p:cNvSpPr>
          <p:nvPr/>
        </p:nvSpPr>
        <p:spPr bwMode="auto">
          <a:xfrm>
            <a:off x="44450" y="296863"/>
            <a:ext cx="646331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화면유형</a:t>
            </a:r>
            <a:endParaRPr lang="en-US" altLang="ko-KR" sz="900" b="1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030" name="Text Box 64"/>
          <p:cNvSpPr txBox="1">
            <a:spLocks noChangeArrowheads="1"/>
          </p:cNvSpPr>
          <p:nvPr/>
        </p:nvSpPr>
        <p:spPr bwMode="auto">
          <a:xfrm>
            <a:off x="5140325" y="260350"/>
            <a:ext cx="800100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lang="en-US" altLang="ko-KR" sz="900" b="1" dirty="0" err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ory</a:t>
            </a:r>
            <a:endParaRPr lang="en-US" altLang="ko-KR" sz="900" b="1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031" name="Line 66"/>
          <p:cNvSpPr>
            <a:spLocks noChangeShapeType="1"/>
          </p:cNvSpPr>
          <p:nvPr/>
        </p:nvSpPr>
        <p:spPr bwMode="auto">
          <a:xfrm flipV="1">
            <a:off x="76203" y="260350"/>
            <a:ext cx="9915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33" name="Text Box 67"/>
          <p:cNvSpPr txBox="1">
            <a:spLocks noChangeArrowheads="1"/>
          </p:cNvSpPr>
          <p:nvPr/>
        </p:nvSpPr>
        <p:spPr bwMode="auto">
          <a:xfrm>
            <a:off x="44452" y="74612"/>
            <a:ext cx="857927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Project Name</a:t>
            </a:r>
          </a:p>
        </p:txBody>
      </p:sp>
      <p:sp>
        <p:nvSpPr>
          <p:cNvPr id="1034" name="Text Box 68"/>
          <p:cNvSpPr txBox="1">
            <a:spLocks noChangeArrowheads="1"/>
          </p:cNvSpPr>
          <p:nvPr/>
        </p:nvSpPr>
        <p:spPr bwMode="auto">
          <a:xfrm>
            <a:off x="990600" y="82551"/>
            <a:ext cx="1828800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dirty="0" err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FMS_Project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서비스</a:t>
            </a:r>
          </a:p>
        </p:txBody>
      </p:sp>
      <p:sp>
        <p:nvSpPr>
          <p:cNvPr id="2" name="Line 69"/>
          <p:cNvSpPr>
            <a:spLocks noChangeShapeType="1"/>
          </p:cNvSpPr>
          <p:nvPr/>
        </p:nvSpPr>
        <p:spPr bwMode="auto">
          <a:xfrm>
            <a:off x="8534400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36" name="Text Box 70"/>
          <p:cNvSpPr txBox="1">
            <a:spLocks noChangeArrowheads="1"/>
          </p:cNvSpPr>
          <p:nvPr/>
        </p:nvSpPr>
        <p:spPr bwMode="auto">
          <a:xfrm>
            <a:off x="7935915" y="71437"/>
            <a:ext cx="674688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작성자</a:t>
            </a:r>
          </a:p>
        </p:txBody>
      </p:sp>
      <p:sp>
        <p:nvSpPr>
          <p:cNvPr id="1037" name="Text Box 71"/>
          <p:cNvSpPr txBox="1">
            <a:spLocks noChangeArrowheads="1"/>
          </p:cNvSpPr>
          <p:nvPr/>
        </p:nvSpPr>
        <p:spPr bwMode="auto">
          <a:xfrm>
            <a:off x="9109075" y="71437"/>
            <a:ext cx="674688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수정일</a:t>
            </a:r>
          </a:p>
        </p:txBody>
      </p:sp>
      <p:sp>
        <p:nvSpPr>
          <p:cNvPr id="1038" name="Text Box 72"/>
          <p:cNvSpPr txBox="1">
            <a:spLocks noChangeArrowheads="1"/>
          </p:cNvSpPr>
          <p:nvPr/>
        </p:nvSpPr>
        <p:spPr bwMode="auto">
          <a:xfrm>
            <a:off x="8575678" y="74612"/>
            <a:ext cx="492125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확 인</a:t>
            </a:r>
          </a:p>
        </p:txBody>
      </p:sp>
      <p:sp>
        <p:nvSpPr>
          <p:cNvPr id="1039" name="Text Box 73"/>
          <p:cNvSpPr txBox="1">
            <a:spLocks noChangeArrowheads="1"/>
          </p:cNvSpPr>
          <p:nvPr/>
        </p:nvSpPr>
        <p:spPr bwMode="auto">
          <a:xfrm>
            <a:off x="7924800" y="260350"/>
            <a:ext cx="609600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허철원</a:t>
            </a:r>
            <a:endParaRPr lang="ko-KR" altLang="ko-KR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3" name="Line 74"/>
          <p:cNvSpPr>
            <a:spLocks noChangeShapeType="1"/>
          </p:cNvSpPr>
          <p:nvPr/>
        </p:nvSpPr>
        <p:spPr bwMode="auto">
          <a:xfrm>
            <a:off x="9067800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1" name="Text Box 75"/>
          <p:cNvSpPr txBox="1">
            <a:spLocks noChangeArrowheads="1"/>
          </p:cNvSpPr>
          <p:nvPr/>
        </p:nvSpPr>
        <p:spPr bwMode="auto">
          <a:xfrm>
            <a:off x="5105404" y="63500"/>
            <a:ext cx="752129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Title </a:t>
            </a:r>
            <a:r>
              <a:rPr lang="ko-KR" altLang="en-US" sz="900" b="1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태그</a:t>
            </a:r>
          </a:p>
        </p:txBody>
      </p:sp>
      <p:sp>
        <p:nvSpPr>
          <p:cNvPr id="4" name="Line 76"/>
          <p:cNvSpPr>
            <a:spLocks noChangeShapeType="1"/>
          </p:cNvSpPr>
          <p:nvPr/>
        </p:nvSpPr>
        <p:spPr bwMode="auto">
          <a:xfrm>
            <a:off x="5140325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3" name="Text Box 77"/>
          <p:cNvSpPr txBox="1">
            <a:spLocks noChangeArrowheads="1"/>
          </p:cNvSpPr>
          <p:nvPr/>
        </p:nvSpPr>
        <p:spPr bwMode="auto">
          <a:xfrm>
            <a:off x="3384550" y="76200"/>
            <a:ext cx="1415772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화면설계서 </a:t>
            </a:r>
            <a:r>
              <a:rPr lang="en-US" altLang="ko-KR" dirty="0" smtClean="0">
                <a:solidFill>
                  <a:srgbClr val="000000"/>
                </a:solidFill>
                <a:latin typeface="Times New Roman" pitchFamily="18" charset="0"/>
                <a:ea typeface="굴림체" pitchFamily="49" charset="-127"/>
              </a:rPr>
              <a:t>–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FMS_Project</a:t>
            </a:r>
            <a:endParaRPr lang="ko-KR" altLang="en-US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5" name="Line 78"/>
          <p:cNvSpPr>
            <a:spLocks noChangeShapeType="1"/>
          </p:cNvSpPr>
          <p:nvPr/>
        </p:nvSpPr>
        <p:spPr bwMode="auto">
          <a:xfrm>
            <a:off x="7912100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5" name="Line 80"/>
          <p:cNvSpPr>
            <a:spLocks noChangeShapeType="1"/>
          </p:cNvSpPr>
          <p:nvPr/>
        </p:nvSpPr>
        <p:spPr bwMode="auto">
          <a:xfrm>
            <a:off x="5864225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6" name="Line 81"/>
          <p:cNvSpPr>
            <a:spLocks noChangeShapeType="1"/>
          </p:cNvSpPr>
          <p:nvPr/>
        </p:nvSpPr>
        <p:spPr bwMode="auto">
          <a:xfrm>
            <a:off x="2863850" y="63502"/>
            <a:ext cx="0" cy="19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8" name="Text Box 82"/>
          <p:cNvSpPr txBox="1">
            <a:spLocks noChangeArrowheads="1"/>
          </p:cNvSpPr>
          <p:nvPr/>
        </p:nvSpPr>
        <p:spPr bwMode="auto">
          <a:xfrm>
            <a:off x="2819404" y="44450"/>
            <a:ext cx="639919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Doc </a:t>
            </a: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분류</a:t>
            </a:r>
          </a:p>
        </p:txBody>
      </p:sp>
      <p:sp>
        <p:nvSpPr>
          <p:cNvPr id="6" name="Line 83"/>
          <p:cNvSpPr>
            <a:spLocks noChangeShapeType="1"/>
          </p:cNvSpPr>
          <p:nvPr/>
        </p:nvSpPr>
        <p:spPr bwMode="auto">
          <a:xfrm>
            <a:off x="3414713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50" name="Text Box 87"/>
          <p:cNvSpPr txBox="1">
            <a:spLocks noChangeArrowheads="1"/>
          </p:cNvSpPr>
          <p:nvPr/>
        </p:nvSpPr>
        <p:spPr bwMode="auto">
          <a:xfrm>
            <a:off x="3360737" y="260350"/>
            <a:ext cx="690563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화면</a:t>
            </a:r>
            <a:r>
              <a:rPr lang="en-US" altLang="ko-KR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CODE</a:t>
            </a:r>
          </a:p>
        </p:txBody>
      </p:sp>
      <p:sp>
        <p:nvSpPr>
          <p:cNvPr id="7" name="Line 88"/>
          <p:cNvSpPr>
            <a:spLocks noChangeShapeType="1"/>
          </p:cNvSpPr>
          <p:nvPr/>
        </p:nvSpPr>
        <p:spPr bwMode="auto">
          <a:xfrm>
            <a:off x="3962400" y="2603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52" name="Text Box 89"/>
          <p:cNvSpPr txBox="1">
            <a:spLocks noChangeArrowheads="1"/>
          </p:cNvSpPr>
          <p:nvPr/>
        </p:nvSpPr>
        <p:spPr bwMode="auto">
          <a:xfrm>
            <a:off x="9034463" y="260351"/>
            <a:ext cx="838200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latinLnBrk="0">
              <a:defRPr/>
            </a:pPr>
            <a:r>
              <a:rPr kumimoji="0" lang="en-US" altLang="ko-KR" dirty="0" smtClean="0">
                <a:latin typeface="굴림체" pitchFamily="49" charset="-127"/>
                <a:ea typeface="굴림체" pitchFamily="49" charset="-127"/>
              </a:rPr>
              <a:t>2020/04/09</a:t>
            </a:r>
            <a:endParaRPr kumimoji="0" lang="en-US" altLang="ko-KR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054" name="Text Box 92"/>
          <p:cNvSpPr txBox="1">
            <a:spLocks noChangeArrowheads="1"/>
          </p:cNvSpPr>
          <p:nvPr/>
        </p:nvSpPr>
        <p:spPr bwMode="auto">
          <a:xfrm>
            <a:off x="7691437" y="500063"/>
            <a:ext cx="2011363" cy="159462"/>
          </a:xfrm>
          <a:prstGeom prst="rect">
            <a:avLst/>
          </a:prstGeom>
          <a:noFill/>
          <a:ln>
            <a:noFill/>
          </a:ln>
          <a:extLst/>
        </p:spPr>
        <p:txBody>
          <a:bodyPr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 dirty="0" smtClean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Description (</a:t>
            </a:r>
            <a:r>
              <a:rPr lang="ko-KR" altLang="en-US" b="1" dirty="0" smtClean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화면설명</a:t>
            </a:r>
            <a:r>
              <a:rPr lang="en-US" altLang="ko-KR" b="1" dirty="0" smtClean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)</a:t>
            </a:r>
          </a:p>
        </p:txBody>
      </p:sp>
      <p:sp>
        <p:nvSpPr>
          <p:cNvPr id="1056" name="Text Box 94"/>
          <p:cNvSpPr txBox="1">
            <a:spLocks noChangeArrowheads="1"/>
          </p:cNvSpPr>
          <p:nvPr/>
        </p:nvSpPr>
        <p:spPr bwMode="auto">
          <a:xfrm>
            <a:off x="9027313" y="6597651"/>
            <a:ext cx="714375" cy="159462"/>
          </a:xfrm>
          <a:prstGeom prst="rect">
            <a:avLst/>
          </a:prstGeom>
          <a:noFill/>
          <a:ln>
            <a:noFill/>
          </a:ln>
          <a:extLst/>
        </p:spPr>
        <p:txBody>
          <a:bodyPr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 smtClean="0">
                <a:solidFill>
                  <a:srgbClr val="000000"/>
                </a:solidFill>
                <a:latin typeface="돋움" pitchFamily="50" charset="-127"/>
              </a:rPr>
              <a:t>Page No :</a:t>
            </a:r>
          </a:p>
        </p:txBody>
      </p:sp>
      <p:sp>
        <p:nvSpPr>
          <p:cNvPr id="1057" name="Text Box 95"/>
          <p:cNvSpPr txBox="1">
            <a:spLocks noChangeArrowheads="1"/>
          </p:cNvSpPr>
          <p:nvPr/>
        </p:nvSpPr>
        <p:spPr bwMode="auto">
          <a:xfrm>
            <a:off x="9614685" y="6564313"/>
            <a:ext cx="354882" cy="23301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fld id="{D54402F3-F5D2-4362-A2CF-5B68B14495E9}" type="slidenum">
              <a:rPr lang="en-US" altLang="ko-KR" sz="900" smtClean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 eaLnBrk="1" hangingPunct="1">
                <a:defRPr/>
              </a:pPr>
              <a:t>‹#›</a:t>
            </a:fld>
            <a:endParaRPr lang="en-US" altLang="ko-KR" sz="900" dirty="0" smtClean="0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4253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15" r:id="rId1"/>
    <p:sldLayoutId id="2147484616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0"/>
          <p:cNvSpPr>
            <a:spLocks noChangeArrowheads="1"/>
          </p:cNvSpPr>
          <p:nvPr/>
        </p:nvSpPr>
        <p:spPr bwMode="auto">
          <a:xfrm>
            <a:off x="76204" y="76201"/>
            <a:ext cx="9917113" cy="67056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solidFill>
                <a:srgbClr val="000000"/>
              </a:solidFill>
              <a:ea typeface="돋움" pitchFamily="50" charset="-127"/>
            </a:endParaRPr>
          </a:p>
        </p:txBody>
      </p:sp>
      <p:sp>
        <p:nvSpPr>
          <p:cNvPr id="1027" name="Line 61"/>
          <p:cNvSpPr>
            <a:spLocks noChangeShapeType="1"/>
          </p:cNvSpPr>
          <p:nvPr/>
        </p:nvSpPr>
        <p:spPr bwMode="auto">
          <a:xfrm>
            <a:off x="76200" y="476250"/>
            <a:ext cx="991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28" name="Line 62"/>
          <p:cNvSpPr>
            <a:spLocks noChangeShapeType="1"/>
          </p:cNvSpPr>
          <p:nvPr/>
        </p:nvSpPr>
        <p:spPr bwMode="auto">
          <a:xfrm>
            <a:off x="990600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29" name="Text Box 63"/>
          <p:cNvSpPr txBox="1">
            <a:spLocks noChangeArrowheads="1"/>
          </p:cNvSpPr>
          <p:nvPr/>
        </p:nvSpPr>
        <p:spPr bwMode="auto">
          <a:xfrm>
            <a:off x="44450" y="296863"/>
            <a:ext cx="646331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화면유형</a:t>
            </a:r>
            <a:endParaRPr lang="en-US" altLang="ko-KR" sz="900" b="1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030" name="Text Box 64"/>
          <p:cNvSpPr txBox="1">
            <a:spLocks noChangeArrowheads="1"/>
          </p:cNvSpPr>
          <p:nvPr/>
        </p:nvSpPr>
        <p:spPr bwMode="auto">
          <a:xfrm>
            <a:off x="5140325" y="260350"/>
            <a:ext cx="800100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Directory</a:t>
            </a:r>
          </a:p>
        </p:txBody>
      </p:sp>
      <p:sp>
        <p:nvSpPr>
          <p:cNvPr id="1031" name="Line 66"/>
          <p:cNvSpPr>
            <a:spLocks noChangeShapeType="1"/>
          </p:cNvSpPr>
          <p:nvPr/>
        </p:nvSpPr>
        <p:spPr bwMode="auto">
          <a:xfrm flipV="1">
            <a:off x="76203" y="260350"/>
            <a:ext cx="9915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33" name="Text Box 67"/>
          <p:cNvSpPr txBox="1">
            <a:spLocks noChangeArrowheads="1"/>
          </p:cNvSpPr>
          <p:nvPr/>
        </p:nvSpPr>
        <p:spPr bwMode="auto">
          <a:xfrm>
            <a:off x="44452" y="74612"/>
            <a:ext cx="857927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Project Name</a:t>
            </a:r>
          </a:p>
        </p:txBody>
      </p:sp>
      <p:sp>
        <p:nvSpPr>
          <p:cNvPr id="1034" name="Text Box 68"/>
          <p:cNvSpPr txBox="1">
            <a:spLocks noChangeArrowheads="1"/>
          </p:cNvSpPr>
          <p:nvPr/>
        </p:nvSpPr>
        <p:spPr bwMode="auto">
          <a:xfrm>
            <a:off x="990600" y="82551"/>
            <a:ext cx="1828800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dirty="0" err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FMS_Project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서비스</a:t>
            </a:r>
          </a:p>
        </p:txBody>
      </p:sp>
      <p:sp>
        <p:nvSpPr>
          <p:cNvPr id="2" name="Line 69"/>
          <p:cNvSpPr>
            <a:spLocks noChangeShapeType="1"/>
          </p:cNvSpPr>
          <p:nvPr/>
        </p:nvSpPr>
        <p:spPr bwMode="auto">
          <a:xfrm>
            <a:off x="8534400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36" name="Text Box 70"/>
          <p:cNvSpPr txBox="1">
            <a:spLocks noChangeArrowheads="1"/>
          </p:cNvSpPr>
          <p:nvPr/>
        </p:nvSpPr>
        <p:spPr bwMode="auto">
          <a:xfrm>
            <a:off x="7935915" y="71437"/>
            <a:ext cx="674688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작성자</a:t>
            </a:r>
          </a:p>
        </p:txBody>
      </p:sp>
      <p:sp>
        <p:nvSpPr>
          <p:cNvPr id="1037" name="Text Box 71"/>
          <p:cNvSpPr txBox="1">
            <a:spLocks noChangeArrowheads="1"/>
          </p:cNvSpPr>
          <p:nvPr/>
        </p:nvSpPr>
        <p:spPr bwMode="auto">
          <a:xfrm>
            <a:off x="9109075" y="71437"/>
            <a:ext cx="674688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수정일</a:t>
            </a:r>
          </a:p>
        </p:txBody>
      </p:sp>
      <p:sp>
        <p:nvSpPr>
          <p:cNvPr id="1038" name="Text Box 72"/>
          <p:cNvSpPr txBox="1">
            <a:spLocks noChangeArrowheads="1"/>
          </p:cNvSpPr>
          <p:nvPr/>
        </p:nvSpPr>
        <p:spPr bwMode="auto">
          <a:xfrm>
            <a:off x="8575678" y="74612"/>
            <a:ext cx="492125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확 인</a:t>
            </a:r>
          </a:p>
        </p:txBody>
      </p:sp>
      <p:sp>
        <p:nvSpPr>
          <p:cNvPr id="1039" name="Text Box 73"/>
          <p:cNvSpPr txBox="1">
            <a:spLocks noChangeArrowheads="1"/>
          </p:cNvSpPr>
          <p:nvPr/>
        </p:nvSpPr>
        <p:spPr bwMode="auto">
          <a:xfrm>
            <a:off x="7924800" y="260350"/>
            <a:ext cx="609600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허철원</a:t>
            </a:r>
            <a:endParaRPr lang="ko-KR" altLang="ko-KR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3" name="Line 74"/>
          <p:cNvSpPr>
            <a:spLocks noChangeShapeType="1"/>
          </p:cNvSpPr>
          <p:nvPr/>
        </p:nvSpPr>
        <p:spPr bwMode="auto">
          <a:xfrm>
            <a:off x="9067800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1" name="Text Box 75"/>
          <p:cNvSpPr txBox="1">
            <a:spLocks noChangeArrowheads="1"/>
          </p:cNvSpPr>
          <p:nvPr/>
        </p:nvSpPr>
        <p:spPr bwMode="auto">
          <a:xfrm>
            <a:off x="5105404" y="63500"/>
            <a:ext cx="752129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Title </a:t>
            </a:r>
            <a:r>
              <a:rPr lang="ko-KR" altLang="en-US" sz="900" b="1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태그</a:t>
            </a:r>
          </a:p>
        </p:txBody>
      </p:sp>
      <p:sp>
        <p:nvSpPr>
          <p:cNvPr id="4" name="Line 76"/>
          <p:cNvSpPr>
            <a:spLocks noChangeShapeType="1"/>
          </p:cNvSpPr>
          <p:nvPr/>
        </p:nvSpPr>
        <p:spPr bwMode="auto">
          <a:xfrm>
            <a:off x="5140325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3" name="Text Box 77"/>
          <p:cNvSpPr txBox="1">
            <a:spLocks noChangeArrowheads="1"/>
          </p:cNvSpPr>
          <p:nvPr/>
        </p:nvSpPr>
        <p:spPr bwMode="auto">
          <a:xfrm>
            <a:off x="3384550" y="76200"/>
            <a:ext cx="1415772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화면설계서 </a:t>
            </a:r>
            <a:r>
              <a:rPr lang="en-US" altLang="ko-KR" dirty="0" smtClean="0">
                <a:solidFill>
                  <a:srgbClr val="000000"/>
                </a:solidFill>
                <a:latin typeface="Times New Roman" pitchFamily="18" charset="0"/>
                <a:ea typeface="굴림체" pitchFamily="49" charset="-127"/>
              </a:rPr>
              <a:t>–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FMS_Project</a:t>
            </a:r>
            <a:endParaRPr lang="ko-KR" altLang="en-US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5" name="Line 78"/>
          <p:cNvSpPr>
            <a:spLocks noChangeShapeType="1"/>
          </p:cNvSpPr>
          <p:nvPr/>
        </p:nvSpPr>
        <p:spPr bwMode="auto">
          <a:xfrm>
            <a:off x="7912100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5" name="Line 80"/>
          <p:cNvSpPr>
            <a:spLocks noChangeShapeType="1"/>
          </p:cNvSpPr>
          <p:nvPr/>
        </p:nvSpPr>
        <p:spPr bwMode="auto">
          <a:xfrm>
            <a:off x="5864225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6" name="Line 81"/>
          <p:cNvSpPr>
            <a:spLocks noChangeShapeType="1"/>
          </p:cNvSpPr>
          <p:nvPr/>
        </p:nvSpPr>
        <p:spPr bwMode="auto">
          <a:xfrm>
            <a:off x="2863850" y="63502"/>
            <a:ext cx="0" cy="19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8" name="Text Box 82"/>
          <p:cNvSpPr txBox="1">
            <a:spLocks noChangeArrowheads="1"/>
          </p:cNvSpPr>
          <p:nvPr/>
        </p:nvSpPr>
        <p:spPr bwMode="auto">
          <a:xfrm>
            <a:off x="2819404" y="44450"/>
            <a:ext cx="639919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Doc </a:t>
            </a: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분류</a:t>
            </a:r>
          </a:p>
        </p:txBody>
      </p:sp>
      <p:sp>
        <p:nvSpPr>
          <p:cNvPr id="6" name="Line 83"/>
          <p:cNvSpPr>
            <a:spLocks noChangeShapeType="1"/>
          </p:cNvSpPr>
          <p:nvPr/>
        </p:nvSpPr>
        <p:spPr bwMode="auto">
          <a:xfrm>
            <a:off x="3414713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50" name="Text Box 87"/>
          <p:cNvSpPr txBox="1">
            <a:spLocks noChangeArrowheads="1"/>
          </p:cNvSpPr>
          <p:nvPr/>
        </p:nvSpPr>
        <p:spPr bwMode="auto">
          <a:xfrm>
            <a:off x="3360737" y="260350"/>
            <a:ext cx="690563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화면</a:t>
            </a:r>
            <a:r>
              <a:rPr lang="en-US" altLang="ko-KR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CODE</a:t>
            </a:r>
          </a:p>
        </p:txBody>
      </p:sp>
      <p:sp>
        <p:nvSpPr>
          <p:cNvPr id="7" name="Line 88"/>
          <p:cNvSpPr>
            <a:spLocks noChangeShapeType="1"/>
          </p:cNvSpPr>
          <p:nvPr/>
        </p:nvSpPr>
        <p:spPr bwMode="auto">
          <a:xfrm>
            <a:off x="3962400" y="2603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52" name="Text Box 89"/>
          <p:cNvSpPr txBox="1">
            <a:spLocks noChangeArrowheads="1"/>
          </p:cNvSpPr>
          <p:nvPr/>
        </p:nvSpPr>
        <p:spPr bwMode="auto">
          <a:xfrm>
            <a:off x="9034463" y="260351"/>
            <a:ext cx="838200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latinLnBrk="0">
              <a:defRPr/>
            </a:pPr>
            <a:r>
              <a:rPr kumimoji="0" lang="en-US" altLang="ko-KR" dirty="0" smtClean="0">
                <a:latin typeface="굴림체" pitchFamily="49" charset="-127"/>
                <a:ea typeface="굴림체" pitchFamily="49" charset="-127"/>
              </a:rPr>
              <a:t>2020/04/09</a:t>
            </a:r>
            <a:endParaRPr kumimoji="0" lang="en-US" altLang="ko-KR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054" name="Text Box 92"/>
          <p:cNvSpPr txBox="1">
            <a:spLocks noChangeArrowheads="1"/>
          </p:cNvSpPr>
          <p:nvPr/>
        </p:nvSpPr>
        <p:spPr bwMode="auto">
          <a:xfrm>
            <a:off x="7691437" y="500063"/>
            <a:ext cx="2011363" cy="159462"/>
          </a:xfrm>
          <a:prstGeom prst="rect">
            <a:avLst/>
          </a:prstGeom>
          <a:noFill/>
          <a:ln>
            <a:noFill/>
          </a:ln>
          <a:extLst/>
        </p:spPr>
        <p:txBody>
          <a:bodyPr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 dirty="0" smtClean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Description (</a:t>
            </a:r>
            <a:r>
              <a:rPr lang="ko-KR" altLang="en-US" b="1" dirty="0" smtClean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화면설명</a:t>
            </a:r>
            <a:r>
              <a:rPr lang="en-US" altLang="ko-KR" b="1" dirty="0" smtClean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)</a:t>
            </a:r>
          </a:p>
        </p:txBody>
      </p:sp>
      <p:sp>
        <p:nvSpPr>
          <p:cNvPr id="1056" name="Text Box 94"/>
          <p:cNvSpPr txBox="1">
            <a:spLocks noChangeArrowheads="1"/>
          </p:cNvSpPr>
          <p:nvPr/>
        </p:nvSpPr>
        <p:spPr bwMode="auto">
          <a:xfrm>
            <a:off x="9027313" y="6597651"/>
            <a:ext cx="714375" cy="159462"/>
          </a:xfrm>
          <a:prstGeom prst="rect">
            <a:avLst/>
          </a:prstGeom>
          <a:noFill/>
          <a:ln>
            <a:noFill/>
          </a:ln>
          <a:extLst/>
        </p:spPr>
        <p:txBody>
          <a:bodyPr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 smtClean="0">
                <a:solidFill>
                  <a:srgbClr val="000000"/>
                </a:solidFill>
                <a:latin typeface="돋움" pitchFamily="50" charset="-127"/>
              </a:rPr>
              <a:t>Page No :</a:t>
            </a:r>
          </a:p>
        </p:txBody>
      </p:sp>
      <p:sp>
        <p:nvSpPr>
          <p:cNvPr id="1057" name="Text Box 95"/>
          <p:cNvSpPr txBox="1">
            <a:spLocks noChangeArrowheads="1"/>
          </p:cNvSpPr>
          <p:nvPr/>
        </p:nvSpPr>
        <p:spPr bwMode="auto">
          <a:xfrm>
            <a:off x="9614685" y="6564313"/>
            <a:ext cx="354882" cy="23301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fld id="{D54402F3-F5D2-4362-A2CF-5B68B14495E9}" type="slidenum">
              <a:rPr lang="en-US" altLang="ko-KR" sz="900" smtClean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 eaLnBrk="1" hangingPunct="1">
                <a:defRPr/>
              </a:pPr>
              <a:t>‹#›</a:t>
            </a:fld>
            <a:endParaRPr lang="en-US" altLang="ko-KR" sz="900" dirty="0" smtClean="0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4293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18" r:id="rId1"/>
    <p:sldLayoutId id="2147484619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0"/>
          <p:cNvSpPr>
            <a:spLocks noChangeArrowheads="1"/>
          </p:cNvSpPr>
          <p:nvPr/>
        </p:nvSpPr>
        <p:spPr bwMode="auto">
          <a:xfrm>
            <a:off x="76204" y="76201"/>
            <a:ext cx="9917113" cy="67056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solidFill>
                <a:srgbClr val="000000"/>
              </a:solidFill>
              <a:ea typeface="돋움" pitchFamily="50" charset="-127"/>
            </a:endParaRPr>
          </a:p>
        </p:txBody>
      </p:sp>
      <p:sp>
        <p:nvSpPr>
          <p:cNvPr id="1027" name="Line 61"/>
          <p:cNvSpPr>
            <a:spLocks noChangeShapeType="1"/>
          </p:cNvSpPr>
          <p:nvPr/>
        </p:nvSpPr>
        <p:spPr bwMode="auto">
          <a:xfrm>
            <a:off x="76200" y="476250"/>
            <a:ext cx="991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28" name="Line 62"/>
          <p:cNvSpPr>
            <a:spLocks noChangeShapeType="1"/>
          </p:cNvSpPr>
          <p:nvPr/>
        </p:nvSpPr>
        <p:spPr bwMode="auto">
          <a:xfrm>
            <a:off x="990600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29" name="Text Box 63"/>
          <p:cNvSpPr txBox="1">
            <a:spLocks noChangeArrowheads="1"/>
          </p:cNvSpPr>
          <p:nvPr/>
        </p:nvSpPr>
        <p:spPr bwMode="auto">
          <a:xfrm>
            <a:off x="44450" y="296863"/>
            <a:ext cx="646331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화면유형</a:t>
            </a:r>
            <a:endParaRPr lang="en-US" altLang="ko-KR" sz="900" b="1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030" name="Text Box 64"/>
          <p:cNvSpPr txBox="1">
            <a:spLocks noChangeArrowheads="1"/>
          </p:cNvSpPr>
          <p:nvPr/>
        </p:nvSpPr>
        <p:spPr bwMode="auto">
          <a:xfrm>
            <a:off x="5140325" y="260350"/>
            <a:ext cx="800100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lang="en-US" altLang="ko-KR" sz="900" b="1" dirty="0" err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ory</a:t>
            </a:r>
            <a:endParaRPr lang="en-US" altLang="ko-KR" sz="900" b="1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031" name="Line 66"/>
          <p:cNvSpPr>
            <a:spLocks noChangeShapeType="1"/>
          </p:cNvSpPr>
          <p:nvPr/>
        </p:nvSpPr>
        <p:spPr bwMode="auto">
          <a:xfrm flipV="1">
            <a:off x="76203" y="260350"/>
            <a:ext cx="9915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33" name="Text Box 67"/>
          <p:cNvSpPr txBox="1">
            <a:spLocks noChangeArrowheads="1"/>
          </p:cNvSpPr>
          <p:nvPr/>
        </p:nvSpPr>
        <p:spPr bwMode="auto">
          <a:xfrm>
            <a:off x="44452" y="74612"/>
            <a:ext cx="857927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Project Name</a:t>
            </a:r>
          </a:p>
        </p:txBody>
      </p:sp>
      <p:sp>
        <p:nvSpPr>
          <p:cNvPr id="1034" name="Text Box 68"/>
          <p:cNvSpPr txBox="1">
            <a:spLocks noChangeArrowheads="1"/>
          </p:cNvSpPr>
          <p:nvPr/>
        </p:nvSpPr>
        <p:spPr bwMode="auto">
          <a:xfrm>
            <a:off x="990600" y="82551"/>
            <a:ext cx="1828800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dirty="0" err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FMS_Project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서비스</a:t>
            </a:r>
          </a:p>
        </p:txBody>
      </p:sp>
      <p:sp>
        <p:nvSpPr>
          <p:cNvPr id="2" name="Line 69"/>
          <p:cNvSpPr>
            <a:spLocks noChangeShapeType="1"/>
          </p:cNvSpPr>
          <p:nvPr/>
        </p:nvSpPr>
        <p:spPr bwMode="auto">
          <a:xfrm>
            <a:off x="8534400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36" name="Text Box 70"/>
          <p:cNvSpPr txBox="1">
            <a:spLocks noChangeArrowheads="1"/>
          </p:cNvSpPr>
          <p:nvPr/>
        </p:nvSpPr>
        <p:spPr bwMode="auto">
          <a:xfrm>
            <a:off x="7935915" y="71437"/>
            <a:ext cx="674688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작성자</a:t>
            </a:r>
          </a:p>
        </p:txBody>
      </p:sp>
      <p:sp>
        <p:nvSpPr>
          <p:cNvPr id="1037" name="Text Box 71"/>
          <p:cNvSpPr txBox="1">
            <a:spLocks noChangeArrowheads="1"/>
          </p:cNvSpPr>
          <p:nvPr/>
        </p:nvSpPr>
        <p:spPr bwMode="auto">
          <a:xfrm>
            <a:off x="9109075" y="71437"/>
            <a:ext cx="674688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수정일</a:t>
            </a:r>
          </a:p>
        </p:txBody>
      </p:sp>
      <p:sp>
        <p:nvSpPr>
          <p:cNvPr id="1038" name="Text Box 72"/>
          <p:cNvSpPr txBox="1">
            <a:spLocks noChangeArrowheads="1"/>
          </p:cNvSpPr>
          <p:nvPr/>
        </p:nvSpPr>
        <p:spPr bwMode="auto">
          <a:xfrm>
            <a:off x="8575678" y="74612"/>
            <a:ext cx="492125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확 인</a:t>
            </a:r>
          </a:p>
        </p:txBody>
      </p:sp>
      <p:sp>
        <p:nvSpPr>
          <p:cNvPr id="1039" name="Text Box 73"/>
          <p:cNvSpPr txBox="1">
            <a:spLocks noChangeArrowheads="1"/>
          </p:cNvSpPr>
          <p:nvPr/>
        </p:nvSpPr>
        <p:spPr bwMode="auto">
          <a:xfrm>
            <a:off x="7924800" y="260350"/>
            <a:ext cx="609600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허철원</a:t>
            </a:r>
            <a:endParaRPr lang="ko-KR" altLang="ko-KR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3" name="Line 74"/>
          <p:cNvSpPr>
            <a:spLocks noChangeShapeType="1"/>
          </p:cNvSpPr>
          <p:nvPr/>
        </p:nvSpPr>
        <p:spPr bwMode="auto">
          <a:xfrm>
            <a:off x="9067800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1" name="Text Box 75"/>
          <p:cNvSpPr txBox="1">
            <a:spLocks noChangeArrowheads="1"/>
          </p:cNvSpPr>
          <p:nvPr/>
        </p:nvSpPr>
        <p:spPr bwMode="auto">
          <a:xfrm>
            <a:off x="5105404" y="63500"/>
            <a:ext cx="752129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Title </a:t>
            </a:r>
            <a:r>
              <a:rPr lang="ko-KR" altLang="en-US" sz="900" b="1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태그</a:t>
            </a:r>
          </a:p>
        </p:txBody>
      </p:sp>
      <p:sp>
        <p:nvSpPr>
          <p:cNvPr id="4" name="Line 76"/>
          <p:cNvSpPr>
            <a:spLocks noChangeShapeType="1"/>
          </p:cNvSpPr>
          <p:nvPr/>
        </p:nvSpPr>
        <p:spPr bwMode="auto">
          <a:xfrm>
            <a:off x="5140325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3" name="Text Box 77"/>
          <p:cNvSpPr txBox="1">
            <a:spLocks noChangeArrowheads="1"/>
          </p:cNvSpPr>
          <p:nvPr/>
        </p:nvSpPr>
        <p:spPr bwMode="auto">
          <a:xfrm>
            <a:off x="3384550" y="76200"/>
            <a:ext cx="1415772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화면설계서 </a:t>
            </a:r>
            <a:r>
              <a:rPr lang="en-US" altLang="ko-KR" dirty="0" smtClean="0">
                <a:solidFill>
                  <a:srgbClr val="000000"/>
                </a:solidFill>
                <a:latin typeface="Times New Roman" pitchFamily="18" charset="0"/>
                <a:ea typeface="굴림체" pitchFamily="49" charset="-127"/>
              </a:rPr>
              <a:t>–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FMS_Project</a:t>
            </a:r>
            <a:endParaRPr lang="ko-KR" altLang="en-US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5" name="Line 78"/>
          <p:cNvSpPr>
            <a:spLocks noChangeShapeType="1"/>
          </p:cNvSpPr>
          <p:nvPr/>
        </p:nvSpPr>
        <p:spPr bwMode="auto">
          <a:xfrm>
            <a:off x="7912100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5" name="Line 80"/>
          <p:cNvSpPr>
            <a:spLocks noChangeShapeType="1"/>
          </p:cNvSpPr>
          <p:nvPr/>
        </p:nvSpPr>
        <p:spPr bwMode="auto">
          <a:xfrm>
            <a:off x="5864225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6" name="Line 81"/>
          <p:cNvSpPr>
            <a:spLocks noChangeShapeType="1"/>
          </p:cNvSpPr>
          <p:nvPr/>
        </p:nvSpPr>
        <p:spPr bwMode="auto">
          <a:xfrm>
            <a:off x="2863850" y="63502"/>
            <a:ext cx="0" cy="19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8" name="Text Box 82"/>
          <p:cNvSpPr txBox="1">
            <a:spLocks noChangeArrowheads="1"/>
          </p:cNvSpPr>
          <p:nvPr/>
        </p:nvSpPr>
        <p:spPr bwMode="auto">
          <a:xfrm>
            <a:off x="2819404" y="44450"/>
            <a:ext cx="639919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Doc </a:t>
            </a: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분류</a:t>
            </a:r>
          </a:p>
        </p:txBody>
      </p:sp>
      <p:sp>
        <p:nvSpPr>
          <p:cNvPr id="6" name="Line 83"/>
          <p:cNvSpPr>
            <a:spLocks noChangeShapeType="1"/>
          </p:cNvSpPr>
          <p:nvPr/>
        </p:nvSpPr>
        <p:spPr bwMode="auto">
          <a:xfrm>
            <a:off x="3414713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50" name="Text Box 87"/>
          <p:cNvSpPr txBox="1">
            <a:spLocks noChangeArrowheads="1"/>
          </p:cNvSpPr>
          <p:nvPr/>
        </p:nvSpPr>
        <p:spPr bwMode="auto">
          <a:xfrm>
            <a:off x="3360737" y="260350"/>
            <a:ext cx="690563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화면</a:t>
            </a:r>
            <a:r>
              <a:rPr lang="en-US" altLang="ko-KR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CODE</a:t>
            </a:r>
          </a:p>
        </p:txBody>
      </p:sp>
      <p:sp>
        <p:nvSpPr>
          <p:cNvPr id="7" name="Line 88"/>
          <p:cNvSpPr>
            <a:spLocks noChangeShapeType="1"/>
          </p:cNvSpPr>
          <p:nvPr/>
        </p:nvSpPr>
        <p:spPr bwMode="auto">
          <a:xfrm>
            <a:off x="3962400" y="2603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52" name="Text Box 89"/>
          <p:cNvSpPr txBox="1">
            <a:spLocks noChangeArrowheads="1"/>
          </p:cNvSpPr>
          <p:nvPr/>
        </p:nvSpPr>
        <p:spPr bwMode="auto">
          <a:xfrm>
            <a:off x="9034463" y="260351"/>
            <a:ext cx="838200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latinLnBrk="0">
              <a:defRPr/>
            </a:pPr>
            <a:r>
              <a:rPr kumimoji="0" lang="en-US" altLang="ko-KR" dirty="0" smtClean="0">
                <a:latin typeface="굴림체" pitchFamily="49" charset="-127"/>
                <a:ea typeface="굴림체" pitchFamily="49" charset="-127"/>
              </a:rPr>
              <a:t>2020/04/09</a:t>
            </a:r>
            <a:endParaRPr kumimoji="0" lang="en-US" altLang="ko-KR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054" name="Text Box 92"/>
          <p:cNvSpPr txBox="1">
            <a:spLocks noChangeArrowheads="1"/>
          </p:cNvSpPr>
          <p:nvPr/>
        </p:nvSpPr>
        <p:spPr bwMode="auto">
          <a:xfrm>
            <a:off x="7691437" y="500063"/>
            <a:ext cx="2011363" cy="159462"/>
          </a:xfrm>
          <a:prstGeom prst="rect">
            <a:avLst/>
          </a:prstGeom>
          <a:noFill/>
          <a:ln>
            <a:noFill/>
          </a:ln>
          <a:extLst/>
        </p:spPr>
        <p:txBody>
          <a:bodyPr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 dirty="0" smtClean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Description (</a:t>
            </a:r>
            <a:r>
              <a:rPr lang="ko-KR" altLang="en-US" b="1" dirty="0" smtClean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화면설명</a:t>
            </a:r>
            <a:r>
              <a:rPr lang="en-US" altLang="ko-KR" b="1" dirty="0" smtClean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)</a:t>
            </a:r>
          </a:p>
        </p:txBody>
      </p:sp>
      <p:sp>
        <p:nvSpPr>
          <p:cNvPr id="1056" name="Text Box 94"/>
          <p:cNvSpPr txBox="1">
            <a:spLocks noChangeArrowheads="1"/>
          </p:cNvSpPr>
          <p:nvPr/>
        </p:nvSpPr>
        <p:spPr bwMode="auto">
          <a:xfrm>
            <a:off x="9027313" y="6597651"/>
            <a:ext cx="714375" cy="159462"/>
          </a:xfrm>
          <a:prstGeom prst="rect">
            <a:avLst/>
          </a:prstGeom>
          <a:noFill/>
          <a:ln>
            <a:noFill/>
          </a:ln>
          <a:extLst/>
        </p:spPr>
        <p:txBody>
          <a:bodyPr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 smtClean="0">
                <a:solidFill>
                  <a:srgbClr val="000000"/>
                </a:solidFill>
                <a:latin typeface="돋움" pitchFamily="50" charset="-127"/>
              </a:rPr>
              <a:t>Page No :</a:t>
            </a:r>
          </a:p>
        </p:txBody>
      </p:sp>
      <p:sp>
        <p:nvSpPr>
          <p:cNvPr id="1057" name="Text Box 95"/>
          <p:cNvSpPr txBox="1">
            <a:spLocks noChangeArrowheads="1"/>
          </p:cNvSpPr>
          <p:nvPr/>
        </p:nvSpPr>
        <p:spPr bwMode="auto">
          <a:xfrm>
            <a:off x="9614685" y="6564313"/>
            <a:ext cx="354882" cy="23301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fld id="{D54402F3-F5D2-4362-A2CF-5B68B14495E9}" type="slidenum">
              <a:rPr lang="en-US" altLang="ko-KR" sz="900" smtClean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 eaLnBrk="1" hangingPunct="1">
                <a:defRPr/>
              </a:pPr>
              <a:t>‹#›</a:t>
            </a:fld>
            <a:endParaRPr lang="en-US" altLang="ko-KR" sz="900" dirty="0" smtClean="0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7428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21" r:id="rId1"/>
    <p:sldLayoutId id="2147484622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0"/>
          <p:cNvSpPr>
            <a:spLocks noChangeArrowheads="1"/>
          </p:cNvSpPr>
          <p:nvPr/>
        </p:nvSpPr>
        <p:spPr bwMode="auto">
          <a:xfrm>
            <a:off x="76204" y="76201"/>
            <a:ext cx="9917113" cy="67056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solidFill>
                <a:srgbClr val="000000"/>
              </a:solidFill>
              <a:ea typeface="돋움" pitchFamily="50" charset="-127"/>
            </a:endParaRPr>
          </a:p>
        </p:txBody>
      </p:sp>
      <p:sp>
        <p:nvSpPr>
          <p:cNvPr id="1027" name="Line 61"/>
          <p:cNvSpPr>
            <a:spLocks noChangeShapeType="1"/>
          </p:cNvSpPr>
          <p:nvPr/>
        </p:nvSpPr>
        <p:spPr bwMode="auto">
          <a:xfrm>
            <a:off x="76200" y="476250"/>
            <a:ext cx="991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28" name="Line 62"/>
          <p:cNvSpPr>
            <a:spLocks noChangeShapeType="1"/>
          </p:cNvSpPr>
          <p:nvPr/>
        </p:nvSpPr>
        <p:spPr bwMode="auto">
          <a:xfrm>
            <a:off x="990600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29" name="Text Box 63"/>
          <p:cNvSpPr txBox="1">
            <a:spLocks noChangeArrowheads="1"/>
          </p:cNvSpPr>
          <p:nvPr/>
        </p:nvSpPr>
        <p:spPr bwMode="auto">
          <a:xfrm>
            <a:off x="44450" y="296863"/>
            <a:ext cx="646331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화면유형</a:t>
            </a:r>
            <a:endParaRPr lang="en-US" altLang="ko-KR" sz="900" b="1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030" name="Text Box 64"/>
          <p:cNvSpPr txBox="1">
            <a:spLocks noChangeArrowheads="1"/>
          </p:cNvSpPr>
          <p:nvPr/>
        </p:nvSpPr>
        <p:spPr bwMode="auto">
          <a:xfrm>
            <a:off x="5140325" y="260350"/>
            <a:ext cx="800100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lang="en-US" altLang="ko-KR" sz="900" b="1" dirty="0" err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ory</a:t>
            </a:r>
            <a:endParaRPr lang="en-US" altLang="ko-KR" sz="900" b="1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031" name="Line 66"/>
          <p:cNvSpPr>
            <a:spLocks noChangeShapeType="1"/>
          </p:cNvSpPr>
          <p:nvPr/>
        </p:nvSpPr>
        <p:spPr bwMode="auto">
          <a:xfrm flipV="1">
            <a:off x="76203" y="260350"/>
            <a:ext cx="9915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33" name="Text Box 67"/>
          <p:cNvSpPr txBox="1">
            <a:spLocks noChangeArrowheads="1"/>
          </p:cNvSpPr>
          <p:nvPr/>
        </p:nvSpPr>
        <p:spPr bwMode="auto">
          <a:xfrm>
            <a:off x="44452" y="74612"/>
            <a:ext cx="857927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Project Name</a:t>
            </a:r>
          </a:p>
        </p:txBody>
      </p:sp>
      <p:sp>
        <p:nvSpPr>
          <p:cNvPr id="1034" name="Text Box 68"/>
          <p:cNvSpPr txBox="1">
            <a:spLocks noChangeArrowheads="1"/>
          </p:cNvSpPr>
          <p:nvPr/>
        </p:nvSpPr>
        <p:spPr bwMode="auto">
          <a:xfrm>
            <a:off x="990600" y="82551"/>
            <a:ext cx="1828800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dirty="0" err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FMS_Project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서비스</a:t>
            </a:r>
          </a:p>
        </p:txBody>
      </p:sp>
      <p:sp>
        <p:nvSpPr>
          <p:cNvPr id="2" name="Line 69"/>
          <p:cNvSpPr>
            <a:spLocks noChangeShapeType="1"/>
          </p:cNvSpPr>
          <p:nvPr/>
        </p:nvSpPr>
        <p:spPr bwMode="auto">
          <a:xfrm>
            <a:off x="8534400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36" name="Text Box 70"/>
          <p:cNvSpPr txBox="1">
            <a:spLocks noChangeArrowheads="1"/>
          </p:cNvSpPr>
          <p:nvPr/>
        </p:nvSpPr>
        <p:spPr bwMode="auto">
          <a:xfrm>
            <a:off x="7935915" y="71437"/>
            <a:ext cx="674688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작성자</a:t>
            </a:r>
          </a:p>
        </p:txBody>
      </p:sp>
      <p:sp>
        <p:nvSpPr>
          <p:cNvPr id="1037" name="Text Box 71"/>
          <p:cNvSpPr txBox="1">
            <a:spLocks noChangeArrowheads="1"/>
          </p:cNvSpPr>
          <p:nvPr/>
        </p:nvSpPr>
        <p:spPr bwMode="auto">
          <a:xfrm>
            <a:off x="9109075" y="71437"/>
            <a:ext cx="674688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수정일</a:t>
            </a:r>
          </a:p>
        </p:txBody>
      </p:sp>
      <p:sp>
        <p:nvSpPr>
          <p:cNvPr id="1038" name="Text Box 72"/>
          <p:cNvSpPr txBox="1">
            <a:spLocks noChangeArrowheads="1"/>
          </p:cNvSpPr>
          <p:nvPr/>
        </p:nvSpPr>
        <p:spPr bwMode="auto">
          <a:xfrm>
            <a:off x="8575678" y="74612"/>
            <a:ext cx="492125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확 인</a:t>
            </a:r>
          </a:p>
        </p:txBody>
      </p:sp>
      <p:sp>
        <p:nvSpPr>
          <p:cNvPr id="1039" name="Text Box 73"/>
          <p:cNvSpPr txBox="1">
            <a:spLocks noChangeArrowheads="1"/>
          </p:cNvSpPr>
          <p:nvPr/>
        </p:nvSpPr>
        <p:spPr bwMode="auto">
          <a:xfrm>
            <a:off x="7924800" y="260350"/>
            <a:ext cx="609600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허철원</a:t>
            </a:r>
            <a:endParaRPr lang="ko-KR" altLang="ko-KR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3" name="Line 74"/>
          <p:cNvSpPr>
            <a:spLocks noChangeShapeType="1"/>
          </p:cNvSpPr>
          <p:nvPr/>
        </p:nvSpPr>
        <p:spPr bwMode="auto">
          <a:xfrm>
            <a:off x="9067800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1" name="Text Box 75"/>
          <p:cNvSpPr txBox="1">
            <a:spLocks noChangeArrowheads="1"/>
          </p:cNvSpPr>
          <p:nvPr/>
        </p:nvSpPr>
        <p:spPr bwMode="auto">
          <a:xfrm>
            <a:off x="5105404" y="63500"/>
            <a:ext cx="752129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Title </a:t>
            </a:r>
            <a:r>
              <a:rPr lang="ko-KR" altLang="en-US" sz="900" b="1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태그</a:t>
            </a:r>
          </a:p>
        </p:txBody>
      </p:sp>
      <p:sp>
        <p:nvSpPr>
          <p:cNvPr id="4" name="Line 76"/>
          <p:cNvSpPr>
            <a:spLocks noChangeShapeType="1"/>
          </p:cNvSpPr>
          <p:nvPr/>
        </p:nvSpPr>
        <p:spPr bwMode="auto">
          <a:xfrm>
            <a:off x="5140325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3" name="Text Box 77"/>
          <p:cNvSpPr txBox="1">
            <a:spLocks noChangeArrowheads="1"/>
          </p:cNvSpPr>
          <p:nvPr/>
        </p:nvSpPr>
        <p:spPr bwMode="auto">
          <a:xfrm>
            <a:off x="3384550" y="76200"/>
            <a:ext cx="1415772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화면설계서 </a:t>
            </a:r>
            <a:r>
              <a:rPr lang="en-US" altLang="ko-KR" dirty="0" smtClean="0">
                <a:solidFill>
                  <a:srgbClr val="000000"/>
                </a:solidFill>
                <a:latin typeface="Times New Roman" pitchFamily="18" charset="0"/>
                <a:ea typeface="굴림체" pitchFamily="49" charset="-127"/>
              </a:rPr>
              <a:t>–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FMS_Project</a:t>
            </a:r>
            <a:endParaRPr lang="ko-KR" altLang="en-US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5" name="Line 78"/>
          <p:cNvSpPr>
            <a:spLocks noChangeShapeType="1"/>
          </p:cNvSpPr>
          <p:nvPr/>
        </p:nvSpPr>
        <p:spPr bwMode="auto">
          <a:xfrm>
            <a:off x="7912100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5" name="Line 80"/>
          <p:cNvSpPr>
            <a:spLocks noChangeShapeType="1"/>
          </p:cNvSpPr>
          <p:nvPr/>
        </p:nvSpPr>
        <p:spPr bwMode="auto">
          <a:xfrm>
            <a:off x="5864225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6" name="Line 81"/>
          <p:cNvSpPr>
            <a:spLocks noChangeShapeType="1"/>
          </p:cNvSpPr>
          <p:nvPr/>
        </p:nvSpPr>
        <p:spPr bwMode="auto">
          <a:xfrm>
            <a:off x="2863850" y="63502"/>
            <a:ext cx="0" cy="19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8" name="Text Box 82"/>
          <p:cNvSpPr txBox="1">
            <a:spLocks noChangeArrowheads="1"/>
          </p:cNvSpPr>
          <p:nvPr/>
        </p:nvSpPr>
        <p:spPr bwMode="auto">
          <a:xfrm>
            <a:off x="2819404" y="44450"/>
            <a:ext cx="639919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Doc </a:t>
            </a: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분류</a:t>
            </a:r>
          </a:p>
        </p:txBody>
      </p:sp>
      <p:sp>
        <p:nvSpPr>
          <p:cNvPr id="6" name="Line 83"/>
          <p:cNvSpPr>
            <a:spLocks noChangeShapeType="1"/>
          </p:cNvSpPr>
          <p:nvPr/>
        </p:nvSpPr>
        <p:spPr bwMode="auto">
          <a:xfrm>
            <a:off x="3414713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50" name="Text Box 87"/>
          <p:cNvSpPr txBox="1">
            <a:spLocks noChangeArrowheads="1"/>
          </p:cNvSpPr>
          <p:nvPr/>
        </p:nvSpPr>
        <p:spPr bwMode="auto">
          <a:xfrm>
            <a:off x="3360737" y="260350"/>
            <a:ext cx="690563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화면</a:t>
            </a:r>
            <a:r>
              <a:rPr lang="en-US" altLang="ko-KR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CODE</a:t>
            </a:r>
          </a:p>
        </p:txBody>
      </p:sp>
      <p:sp>
        <p:nvSpPr>
          <p:cNvPr id="7" name="Line 88"/>
          <p:cNvSpPr>
            <a:spLocks noChangeShapeType="1"/>
          </p:cNvSpPr>
          <p:nvPr/>
        </p:nvSpPr>
        <p:spPr bwMode="auto">
          <a:xfrm>
            <a:off x="3962400" y="2603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52" name="Text Box 89"/>
          <p:cNvSpPr txBox="1">
            <a:spLocks noChangeArrowheads="1"/>
          </p:cNvSpPr>
          <p:nvPr/>
        </p:nvSpPr>
        <p:spPr bwMode="auto">
          <a:xfrm>
            <a:off x="9034463" y="260351"/>
            <a:ext cx="838200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latinLnBrk="0">
              <a:defRPr/>
            </a:pPr>
            <a:r>
              <a:rPr kumimoji="0" lang="en-US" altLang="ko-KR" dirty="0" smtClean="0">
                <a:latin typeface="굴림체" pitchFamily="49" charset="-127"/>
                <a:ea typeface="굴림체" pitchFamily="49" charset="-127"/>
              </a:rPr>
              <a:t>2020/04/09</a:t>
            </a:r>
            <a:endParaRPr kumimoji="0" lang="en-US" altLang="ko-KR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054" name="Text Box 92"/>
          <p:cNvSpPr txBox="1">
            <a:spLocks noChangeArrowheads="1"/>
          </p:cNvSpPr>
          <p:nvPr/>
        </p:nvSpPr>
        <p:spPr bwMode="auto">
          <a:xfrm>
            <a:off x="7691437" y="500063"/>
            <a:ext cx="2011363" cy="159462"/>
          </a:xfrm>
          <a:prstGeom prst="rect">
            <a:avLst/>
          </a:prstGeom>
          <a:noFill/>
          <a:ln>
            <a:noFill/>
          </a:ln>
          <a:extLst/>
        </p:spPr>
        <p:txBody>
          <a:bodyPr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 dirty="0" smtClean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Description (</a:t>
            </a:r>
            <a:r>
              <a:rPr lang="ko-KR" altLang="en-US" b="1" dirty="0" smtClean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화면설명</a:t>
            </a:r>
            <a:r>
              <a:rPr lang="en-US" altLang="ko-KR" b="1" dirty="0" smtClean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)</a:t>
            </a:r>
          </a:p>
        </p:txBody>
      </p:sp>
      <p:sp>
        <p:nvSpPr>
          <p:cNvPr id="1056" name="Text Box 94"/>
          <p:cNvSpPr txBox="1">
            <a:spLocks noChangeArrowheads="1"/>
          </p:cNvSpPr>
          <p:nvPr/>
        </p:nvSpPr>
        <p:spPr bwMode="auto">
          <a:xfrm>
            <a:off x="9027313" y="6597651"/>
            <a:ext cx="714375" cy="159462"/>
          </a:xfrm>
          <a:prstGeom prst="rect">
            <a:avLst/>
          </a:prstGeom>
          <a:noFill/>
          <a:ln>
            <a:noFill/>
          </a:ln>
          <a:extLst/>
        </p:spPr>
        <p:txBody>
          <a:bodyPr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 smtClean="0">
                <a:solidFill>
                  <a:srgbClr val="000000"/>
                </a:solidFill>
                <a:latin typeface="돋움" pitchFamily="50" charset="-127"/>
              </a:rPr>
              <a:t>Page No :</a:t>
            </a:r>
          </a:p>
        </p:txBody>
      </p:sp>
      <p:sp>
        <p:nvSpPr>
          <p:cNvPr id="1057" name="Text Box 95"/>
          <p:cNvSpPr txBox="1">
            <a:spLocks noChangeArrowheads="1"/>
          </p:cNvSpPr>
          <p:nvPr/>
        </p:nvSpPr>
        <p:spPr bwMode="auto">
          <a:xfrm>
            <a:off x="9614685" y="6564313"/>
            <a:ext cx="354882" cy="23301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fld id="{D54402F3-F5D2-4362-A2CF-5B68B14495E9}" type="slidenum">
              <a:rPr lang="en-US" altLang="ko-KR" sz="900" smtClean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 eaLnBrk="1" hangingPunct="1">
                <a:defRPr/>
              </a:pPr>
              <a:t>‹#›</a:t>
            </a:fld>
            <a:endParaRPr lang="en-US" altLang="ko-KR" sz="900" dirty="0" smtClean="0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4667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24" r:id="rId1"/>
    <p:sldLayoutId id="2147484625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0"/>
          <p:cNvSpPr>
            <a:spLocks noChangeArrowheads="1"/>
          </p:cNvSpPr>
          <p:nvPr/>
        </p:nvSpPr>
        <p:spPr bwMode="auto">
          <a:xfrm>
            <a:off x="76204" y="76201"/>
            <a:ext cx="9917113" cy="67056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solidFill>
                <a:srgbClr val="000000"/>
              </a:solidFill>
              <a:ea typeface="돋움" pitchFamily="50" charset="-127"/>
            </a:endParaRPr>
          </a:p>
        </p:txBody>
      </p:sp>
      <p:sp>
        <p:nvSpPr>
          <p:cNvPr id="1027" name="Line 61"/>
          <p:cNvSpPr>
            <a:spLocks noChangeShapeType="1"/>
          </p:cNvSpPr>
          <p:nvPr/>
        </p:nvSpPr>
        <p:spPr bwMode="auto">
          <a:xfrm>
            <a:off x="76200" y="476250"/>
            <a:ext cx="991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28" name="Line 62"/>
          <p:cNvSpPr>
            <a:spLocks noChangeShapeType="1"/>
          </p:cNvSpPr>
          <p:nvPr/>
        </p:nvSpPr>
        <p:spPr bwMode="auto">
          <a:xfrm>
            <a:off x="990600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29" name="Text Box 63"/>
          <p:cNvSpPr txBox="1">
            <a:spLocks noChangeArrowheads="1"/>
          </p:cNvSpPr>
          <p:nvPr/>
        </p:nvSpPr>
        <p:spPr bwMode="auto">
          <a:xfrm>
            <a:off x="44450" y="296863"/>
            <a:ext cx="689612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Page Name</a:t>
            </a:r>
          </a:p>
        </p:txBody>
      </p:sp>
      <p:sp>
        <p:nvSpPr>
          <p:cNvPr id="1030" name="Text Box 64"/>
          <p:cNvSpPr txBox="1">
            <a:spLocks noChangeArrowheads="1"/>
          </p:cNvSpPr>
          <p:nvPr/>
        </p:nvSpPr>
        <p:spPr bwMode="auto">
          <a:xfrm>
            <a:off x="5140325" y="260350"/>
            <a:ext cx="800100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Directory</a:t>
            </a:r>
          </a:p>
        </p:txBody>
      </p:sp>
      <p:sp>
        <p:nvSpPr>
          <p:cNvPr id="1031" name="Line 66"/>
          <p:cNvSpPr>
            <a:spLocks noChangeShapeType="1"/>
          </p:cNvSpPr>
          <p:nvPr/>
        </p:nvSpPr>
        <p:spPr bwMode="auto">
          <a:xfrm flipV="1">
            <a:off x="76203" y="260350"/>
            <a:ext cx="9915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33" name="Text Box 67"/>
          <p:cNvSpPr txBox="1">
            <a:spLocks noChangeArrowheads="1"/>
          </p:cNvSpPr>
          <p:nvPr/>
        </p:nvSpPr>
        <p:spPr bwMode="auto">
          <a:xfrm>
            <a:off x="44452" y="74612"/>
            <a:ext cx="857927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Project Name</a:t>
            </a:r>
          </a:p>
        </p:txBody>
      </p:sp>
      <p:sp>
        <p:nvSpPr>
          <p:cNvPr id="1034" name="Text Box 68"/>
          <p:cNvSpPr txBox="1">
            <a:spLocks noChangeArrowheads="1"/>
          </p:cNvSpPr>
          <p:nvPr/>
        </p:nvSpPr>
        <p:spPr bwMode="auto">
          <a:xfrm>
            <a:off x="990600" y="82551"/>
            <a:ext cx="1828800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dirty="0" err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FMS_Project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서비스</a:t>
            </a:r>
          </a:p>
        </p:txBody>
      </p:sp>
      <p:sp>
        <p:nvSpPr>
          <p:cNvPr id="2" name="Line 69"/>
          <p:cNvSpPr>
            <a:spLocks noChangeShapeType="1"/>
          </p:cNvSpPr>
          <p:nvPr/>
        </p:nvSpPr>
        <p:spPr bwMode="auto">
          <a:xfrm>
            <a:off x="8534400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36" name="Text Box 70"/>
          <p:cNvSpPr txBox="1">
            <a:spLocks noChangeArrowheads="1"/>
          </p:cNvSpPr>
          <p:nvPr/>
        </p:nvSpPr>
        <p:spPr bwMode="auto">
          <a:xfrm>
            <a:off x="7935915" y="71437"/>
            <a:ext cx="674688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작성자</a:t>
            </a:r>
          </a:p>
        </p:txBody>
      </p:sp>
      <p:sp>
        <p:nvSpPr>
          <p:cNvPr id="1037" name="Text Box 71"/>
          <p:cNvSpPr txBox="1">
            <a:spLocks noChangeArrowheads="1"/>
          </p:cNvSpPr>
          <p:nvPr/>
        </p:nvSpPr>
        <p:spPr bwMode="auto">
          <a:xfrm>
            <a:off x="9109075" y="71437"/>
            <a:ext cx="674688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수정일</a:t>
            </a:r>
          </a:p>
        </p:txBody>
      </p:sp>
      <p:sp>
        <p:nvSpPr>
          <p:cNvPr id="1038" name="Text Box 72"/>
          <p:cNvSpPr txBox="1">
            <a:spLocks noChangeArrowheads="1"/>
          </p:cNvSpPr>
          <p:nvPr/>
        </p:nvSpPr>
        <p:spPr bwMode="auto">
          <a:xfrm>
            <a:off x="8575678" y="74612"/>
            <a:ext cx="492125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확 인</a:t>
            </a:r>
          </a:p>
        </p:txBody>
      </p:sp>
      <p:sp>
        <p:nvSpPr>
          <p:cNvPr id="1039" name="Text Box 73"/>
          <p:cNvSpPr txBox="1">
            <a:spLocks noChangeArrowheads="1"/>
          </p:cNvSpPr>
          <p:nvPr/>
        </p:nvSpPr>
        <p:spPr bwMode="auto">
          <a:xfrm>
            <a:off x="7924800" y="260350"/>
            <a:ext cx="609600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허철원</a:t>
            </a:r>
            <a:endParaRPr lang="ko-KR" altLang="ko-KR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3" name="Line 74"/>
          <p:cNvSpPr>
            <a:spLocks noChangeShapeType="1"/>
          </p:cNvSpPr>
          <p:nvPr/>
        </p:nvSpPr>
        <p:spPr bwMode="auto">
          <a:xfrm>
            <a:off x="9067800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1" name="Text Box 75"/>
          <p:cNvSpPr txBox="1">
            <a:spLocks noChangeArrowheads="1"/>
          </p:cNvSpPr>
          <p:nvPr/>
        </p:nvSpPr>
        <p:spPr bwMode="auto">
          <a:xfrm>
            <a:off x="5105404" y="63500"/>
            <a:ext cx="752129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Title </a:t>
            </a:r>
            <a:r>
              <a:rPr lang="ko-KR" altLang="en-US" sz="900" b="1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태그</a:t>
            </a:r>
          </a:p>
        </p:txBody>
      </p:sp>
      <p:sp>
        <p:nvSpPr>
          <p:cNvPr id="4" name="Line 76"/>
          <p:cNvSpPr>
            <a:spLocks noChangeShapeType="1"/>
          </p:cNvSpPr>
          <p:nvPr/>
        </p:nvSpPr>
        <p:spPr bwMode="auto">
          <a:xfrm>
            <a:off x="5140325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3" name="Text Box 77"/>
          <p:cNvSpPr txBox="1">
            <a:spLocks noChangeArrowheads="1"/>
          </p:cNvSpPr>
          <p:nvPr/>
        </p:nvSpPr>
        <p:spPr bwMode="auto">
          <a:xfrm>
            <a:off x="3384550" y="76200"/>
            <a:ext cx="1415772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화면설계서 </a:t>
            </a:r>
            <a:r>
              <a:rPr lang="en-US" altLang="ko-KR" dirty="0" smtClean="0">
                <a:solidFill>
                  <a:srgbClr val="000000"/>
                </a:solidFill>
                <a:latin typeface="Times New Roman" pitchFamily="18" charset="0"/>
                <a:ea typeface="굴림체" pitchFamily="49" charset="-127"/>
              </a:rPr>
              <a:t>–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FMS_Project</a:t>
            </a:r>
            <a:endParaRPr lang="ko-KR" altLang="en-US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5" name="Line 78"/>
          <p:cNvSpPr>
            <a:spLocks noChangeShapeType="1"/>
          </p:cNvSpPr>
          <p:nvPr/>
        </p:nvSpPr>
        <p:spPr bwMode="auto">
          <a:xfrm>
            <a:off x="7912100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5" name="Line 80"/>
          <p:cNvSpPr>
            <a:spLocks noChangeShapeType="1"/>
          </p:cNvSpPr>
          <p:nvPr/>
        </p:nvSpPr>
        <p:spPr bwMode="auto">
          <a:xfrm>
            <a:off x="5864225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6" name="Line 81"/>
          <p:cNvSpPr>
            <a:spLocks noChangeShapeType="1"/>
          </p:cNvSpPr>
          <p:nvPr/>
        </p:nvSpPr>
        <p:spPr bwMode="auto">
          <a:xfrm>
            <a:off x="2863850" y="63502"/>
            <a:ext cx="0" cy="19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8" name="Text Box 82"/>
          <p:cNvSpPr txBox="1">
            <a:spLocks noChangeArrowheads="1"/>
          </p:cNvSpPr>
          <p:nvPr/>
        </p:nvSpPr>
        <p:spPr bwMode="auto">
          <a:xfrm>
            <a:off x="2819404" y="44450"/>
            <a:ext cx="639919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Doc </a:t>
            </a: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분류</a:t>
            </a:r>
          </a:p>
        </p:txBody>
      </p:sp>
      <p:sp>
        <p:nvSpPr>
          <p:cNvPr id="6" name="Line 83"/>
          <p:cNvSpPr>
            <a:spLocks noChangeShapeType="1"/>
          </p:cNvSpPr>
          <p:nvPr/>
        </p:nvSpPr>
        <p:spPr bwMode="auto">
          <a:xfrm>
            <a:off x="3414713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50" name="Text Box 87"/>
          <p:cNvSpPr txBox="1">
            <a:spLocks noChangeArrowheads="1"/>
          </p:cNvSpPr>
          <p:nvPr/>
        </p:nvSpPr>
        <p:spPr bwMode="auto">
          <a:xfrm>
            <a:off x="3360737" y="260350"/>
            <a:ext cx="690563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화면</a:t>
            </a:r>
            <a:r>
              <a:rPr lang="en-US" altLang="ko-KR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CODE</a:t>
            </a:r>
          </a:p>
        </p:txBody>
      </p:sp>
      <p:sp>
        <p:nvSpPr>
          <p:cNvPr id="7" name="Line 88"/>
          <p:cNvSpPr>
            <a:spLocks noChangeShapeType="1"/>
          </p:cNvSpPr>
          <p:nvPr/>
        </p:nvSpPr>
        <p:spPr bwMode="auto">
          <a:xfrm>
            <a:off x="3962400" y="2603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52" name="Text Box 89"/>
          <p:cNvSpPr txBox="1">
            <a:spLocks noChangeArrowheads="1"/>
          </p:cNvSpPr>
          <p:nvPr/>
        </p:nvSpPr>
        <p:spPr bwMode="auto">
          <a:xfrm>
            <a:off x="9034463" y="260351"/>
            <a:ext cx="838200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latinLnBrk="0">
              <a:defRPr/>
            </a:pPr>
            <a:r>
              <a:rPr kumimoji="0" lang="en-US" altLang="ko-KR" dirty="0" smtClean="0">
                <a:latin typeface="굴림체" pitchFamily="49" charset="-127"/>
                <a:ea typeface="굴림체" pitchFamily="49" charset="-127"/>
              </a:rPr>
              <a:t>2020/04/09</a:t>
            </a:r>
            <a:endParaRPr kumimoji="0" lang="en-US" altLang="ko-KR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054" name="Text Box 92"/>
          <p:cNvSpPr txBox="1">
            <a:spLocks noChangeArrowheads="1"/>
          </p:cNvSpPr>
          <p:nvPr/>
        </p:nvSpPr>
        <p:spPr bwMode="auto">
          <a:xfrm>
            <a:off x="7691437" y="500063"/>
            <a:ext cx="2011363" cy="159462"/>
          </a:xfrm>
          <a:prstGeom prst="rect">
            <a:avLst/>
          </a:prstGeom>
          <a:noFill/>
          <a:ln>
            <a:noFill/>
          </a:ln>
          <a:extLst/>
        </p:spPr>
        <p:txBody>
          <a:bodyPr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 dirty="0" smtClean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Description (</a:t>
            </a:r>
            <a:r>
              <a:rPr lang="ko-KR" altLang="en-US" b="1" dirty="0" smtClean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화면설명</a:t>
            </a:r>
            <a:r>
              <a:rPr lang="en-US" altLang="ko-KR" b="1" dirty="0" smtClean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)</a:t>
            </a:r>
          </a:p>
        </p:txBody>
      </p:sp>
      <p:sp>
        <p:nvSpPr>
          <p:cNvPr id="1056" name="Text Box 94"/>
          <p:cNvSpPr txBox="1">
            <a:spLocks noChangeArrowheads="1"/>
          </p:cNvSpPr>
          <p:nvPr/>
        </p:nvSpPr>
        <p:spPr bwMode="auto">
          <a:xfrm>
            <a:off x="9027313" y="6597651"/>
            <a:ext cx="714375" cy="159462"/>
          </a:xfrm>
          <a:prstGeom prst="rect">
            <a:avLst/>
          </a:prstGeom>
          <a:noFill/>
          <a:ln>
            <a:noFill/>
          </a:ln>
          <a:extLst/>
        </p:spPr>
        <p:txBody>
          <a:bodyPr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 smtClean="0">
                <a:solidFill>
                  <a:srgbClr val="000000"/>
                </a:solidFill>
                <a:latin typeface="돋움" pitchFamily="50" charset="-127"/>
              </a:rPr>
              <a:t>Page No :</a:t>
            </a:r>
          </a:p>
        </p:txBody>
      </p:sp>
      <p:sp>
        <p:nvSpPr>
          <p:cNvPr id="1057" name="Text Box 95"/>
          <p:cNvSpPr txBox="1">
            <a:spLocks noChangeArrowheads="1"/>
          </p:cNvSpPr>
          <p:nvPr/>
        </p:nvSpPr>
        <p:spPr bwMode="auto">
          <a:xfrm>
            <a:off x="9614685" y="6564313"/>
            <a:ext cx="354882" cy="23301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fld id="{D54402F3-F5D2-4362-A2CF-5B68B14495E9}" type="slidenum">
              <a:rPr lang="en-US" altLang="ko-KR" sz="900" smtClean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 eaLnBrk="1" hangingPunct="1">
                <a:defRPr/>
              </a:pPr>
              <a:t>‹#›</a:t>
            </a:fld>
            <a:endParaRPr lang="en-US" altLang="ko-KR" sz="900" dirty="0" smtClean="0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4260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27" r:id="rId1"/>
    <p:sldLayoutId id="2147484628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0"/>
          <p:cNvSpPr>
            <a:spLocks noChangeArrowheads="1"/>
          </p:cNvSpPr>
          <p:nvPr/>
        </p:nvSpPr>
        <p:spPr bwMode="auto">
          <a:xfrm>
            <a:off x="76204" y="76201"/>
            <a:ext cx="9917113" cy="67056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solidFill>
                <a:srgbClr val="000000"/>
              </a:solidFill>
              <a:ea typeface="돋움" pitchFamily="50" charset="-127"/>
            </a:endParaRPr>
          </a:p>
        </p:txBody>
      </p:sp>
      <p:sp>
        <p:nvSpPr>
          <p:cNvPr id="1027" name="Line 61"/>
          <p:cNvSpPr>
            <a:spLocks noChangeShapeType="1"/>
          </p:cNvSpPr>
          <p:nvPr/>
        </p:nvSpPr>
        <p:spPr bwMode="auto">
          <a:xfrm>
            <a:off x="76200" y="476250"/>
            <a:ext cx="991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28" name="Line 62"/>
          <p:cNvSpPr>
            <a:spLocks noChangeShapeType="1"/>
          </p:cNvSpPr>
          <p:nvPr/>
        </p:nvSpPr>
        <p:spPr bwMode="auto">
          <a:xfrm>
            <a:off x="990600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29" name="Text Box 63"/>
          <p:cNvSpPr txBox="1">
            <a:spLocks noChangeArrowheads="1"/>
          </p:cNvSpPr>
          <p:nvPr/>
        </p:nvSpPr>
        <p:spPr bwMode="auto">
          <a:xfrm>
            <a:off x="44450" y="296863"/>
            <a:ext cx="689612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Page Name</a:t>
            </a:r>
          </a:p>
        </p:txBody>
      </p:sp>
      <p:sp>
        <p:nvSpPr>
          <p:cNvPr id="1030" name="Text Box 64"/>
          <p:cNvSpPr txBox="1">
            <a:spLocks noChangeArrowheads="1"/>
          </p:cNvSpPr>
          <p:nvPr/>
        </p:nvSpPr>
        <p:spPr bwMode="auto">
          <a:xfrm>
            <a:off x="5140325" y="260350"/>
            <a:ext cx="800100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Directory</a:t>
            </a:r>
          </a:p>
        </p:txBody>
      </p:sp>
      <p:sp>
        <p:nvSpPr>
          <p:cNvPr id="1031" name="Line 66"/>
          <p:cNvSpPr>
            <a:spLocks noChangeShapeType="1"/>
          </p:cNvSpPr>
          <p:nvPr/>
        </p:nvSpPr>
        <p:spPr bwMode="auto">
          <a:xfrm flipV="1">
            <a:off x="76203" y="260350"/>
            <a:ext cx="9915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33" name="Text Box 67"/>
          <p:cNvSpPr txBox="1">
            <a:spLocks noChangeArrowheads="1"/>
          </p:cNvSpPr>
          <p:nvPr/>
        </p:nvSpPr>
        <p:spPr bwMode="auto">
          <a:xfrm>
            <a:off x="44452" y="74612"/>
            <a:ext cx="857927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Project Name</a:t>
            </a:r>
          </a:p>
        </p:txBody>
      </p:sp>
      <p:sp>
        <p:nvSpPr>
          <p:cNvPr id="1034" name="Text Box 68"/>
          <p:cNvSpPr txBox="1">
            <a:spLocks noChangeArrowheads="1"/>
          </p:cNvSpPr>
          <p:nvPr/>
        </p:nvSpPr>
        <p:spPr bwMode="auto">
          <a:xfrm>
            <a:off x="990600" y="82551"/>
            <a:ext cx="1828800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dirty="0" err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FMS_Project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서비스</a:t>
            </a:r>
          </a:p>
        </p:txBody>
      </p:sp>
      <p:sp>
        <p:nvSpPr>
          <p:cNvPr id="2" name="Line 69"/>
          <p:cNvSpPr>
            <a:spLocks noChangeShapeType="1"/>
          </p:cNvSpPr>
          <p:nvPr/>
        </p:nvSpPr>
        <p:spPr bwMode="auto">
          <a:xfrm>
            <a:off x="8534400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36" name="Text Box 70"/>
          <p:cNvSpPr txBox="1">
            <a:spLocks noChangeArrowheads="1"/>
          </p:cNvSpPr>
          <p:nvPr/>
        </p:nvSpPr>
        <p:spPr bwMode="auto">
          <a:xfrm>
            <a:off x="7935915" y="71437"/>
            <a:ext cx="674688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작성자</a:t>
            </a:r>
          </a:p>
        </p:txBody>
      </p:sp>
      <p:sp>
        <p:nvSpPr>
          <p:cNvPr id="1037" name="Text Box 71"/>
          <p:cNvSpPr txBox="1">
            <a:spLocks noChangeArrowheads="1"/>
          </p:cNvSpPr>
          <p:nvPr/>
        </p:nvSpPr>
        <p:spPr bwMode="auto">
          <a:xfrm>
            <a:off x="9109075" y="71437"/>
            <a:ext cx="674688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수정일</a:t>
            </a:r>
          </a:p>
        </p:txBody>
      </p:sp>
      <p:sp>
        <p:nvSpPr>
          <p:cNvPr id="1038" name="Text Box 72"/>
          <p:cNvSpPr txBox="1">
            <a:spLocks noChangeArrowheads="1"/>
          </p:cNvSpPr>
          <p:nvPr/>
        </p:nvSpPr>
        <p:spPr bwMode="auto">
          <a:xfrm>
            <a:off x="8575678" y="74612"/>
            <a:ext cx="492125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확 인</a:t>
            </a:r>
          </a:p>
        </p:txBody>
      </p:sp>
      <p:sp>
        <p:nvSpPr>
          <p:cNvPr id="1039" name="Text Box 73"/>
          <p:cNvSpPr txBox="1">
            <a:spLocks noChangeArrowheads="1"/>
          </p:cNvSpPr>
          <p:nvPr/>
        </p:nvSpPr>
        <p:spPr bwMode="auto">
          <a:xfrm>
            <a:off x="7924800" y="260350"/>
            <a:ext cx="609600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허철원</a:t>
            </a:r>
            <a:endParaRPr lang="ko-KR" altLang="ko-KR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3" name="Line 74"/>
          <p:cNvSpPr>
            <a:spLocks noChangeShapeType="1"/>
          </p:cNvSpPr>
          <p:nvPr/>
        </p:nvSpPr>
        <p:spPr bwMode="auto">
          <a:xfrm>
            <a:off x="9067800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1" name="Text Box 75"/>
          <p:cNvSpPr txBox="1">
            <a:spLocks noChangeArrowheads="1"/>
          </p:cNvSpPr>
          <p:nvPr/>
        </p:nvSpPr>
        <p:spPr bwMode="auto">
          <a:xfrm>
            <a:off x="5105404" y="63500"/>
            <a:ext cx="752129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Title </a:t>
            </a:r>
            <a:r>
              <a:rPr lang="ko-KR" altLang="en-US" sz="900" b="1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태그</a:t>
            </a:r>
          </a:p>
        </p:txBody>
      </p:sp>
      <p:sp>
        <p:nvSpPr>
          <p:cNvPr id="4" name="Line 76"/>
          <p:cNvSpPr>
            <a:spLocks noChangeShapeType="1"/>
          </p:cNvSpPr>
          <p:nvPr/>
        </p:nvSpPr>
        <p:spPr bwMode="auto">
          <a:xfrm>
            <a:off x="5140325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3" name="Text Box 77"/>
          <p:cNvSpPr txBox="1">
            <a:spLocks noChangeArrowheads="1"/>
          </p:cNvSpPr>
          <p:nvPr/>
        </p:nvSpPr>
        <p:spPr bwMode="auto">
          <a:xfrm>
            <a:off x="3384550" y="76200"/>
            <a:ext cx="1415772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화면설계서 </a:t>
            </a:r>
            <a:r>
              <a:rPr lang="en-US" altLang="ko-KR" dirty="0" smtClean="0">
                <a:solidFill>
                  <a:srgbClr val="000000"/>
                </a:solidFill>
                <a:latin typeface="Times New Roman" pitchFamily="18" charset="0"/>
                <a:ea typeface="굴림체" pitchFamily="49" charset="-127"/>
              </a:rPr>
              <a:t>–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FMS_Project</a:t>
            </a:r>
            <a:endParaRPr lang="ko-KR" altLang="en-US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5" name="Line 78"/>
          <p:cNvSpPr>
            <a:spLocks noChangeShapeType="1"/>
          </p:cNvSpPr>
          <p:nvPr/>
        </p:nvSpPr>
        <p:spPr bwMode="auto">
          <a:xfrm>
            <a:off x="7912100" y="76200"/>
            <a:ext cx="0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5" name="Line 80"/>
          <p:cNvSpPr>
            <a:spLocks noChangeShapeType="1"/>
          </p:cNvSpPr>
          <p:nvPr/>
        </p:nvSpPr>
        <p:spPr bwMode="auto">
          <a:xfrm>
            <a:off x="5864225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6" name="Line 81"/>
          <p:cNvSpPr>
            <a:spLocks noChangeShapeType="1"/>
          </p:cNvSpPr>
          <p:nvPr/>
        </p:nvSpPr>
        <p:spPr bwMode="auto">
          <a:xfrm>
            <a:off x="2863850" y="63502"/>
            <a:ext cx="0" cy="19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48" name="Text Box 82"/>
          <p:cNvSpPr txBox="1">
            <a:spLocks noChangeArrowheads="1"/>
          </p:cNvSpPr>
          <p:nvPr/>
        </p:nvSpPr>
        <p:spPr bwMode="auto">
          <a:xfrm>
            <a:off x="2819404" y="44450"/>
            <a:ext cx="639919" cy="23083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Doc </a:t>
            </a: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분류</a:t>
            </a:r>
          </a:p>
        </p:txBody>
      </p:sp>
      <p:sp>
        <p:nvSpPr>
          <p:cNvPr id="6" name="Line 83"/>
          <p:cNvSpPr>
            <a:spLocks noChangeShapeType="1"/>
          </p:cNvSpPr>
          <p:nvPr/>
        </p:nvSpPr>
        <p:spPr bwMode="auto">
          <a:xfrm>
            <a:off x="3414713" y="63500"/>
            <a:ext cx="0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50" name="Text Box 87"/>
          <p:cNvSpPr txBox="1">
            <a:spLocks noChangeArrowheads="1"/>
          </p:cNvSpPr>
          <p:nvPr/>
        </p:nvSpPr>
        <p:spPr bwMode="auto">
          <a:xfrm>
            <a:off x="3360737" y="260350"/>
            <a:ext cx="690563" cy="2308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화면</a:t>
            </a:r>
            <a:r>
              <a:rPr lang="en-US" altLang="ko-KR" sz="900" b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CODE</a:t>
            </a:r>
          </a:p>
        </p:txBody>
      </p:sp>
      <p:sp>
        <p:nvSpPr>
          <p:cNvPr id="7" name="Line 88"/>
          <p:cNvSpPr>
            <a:spLocks noChangeShapeType="1"/>
          </p:cNvSpPr>
          <p:nvPr/>
        </p:nvSpPr>
        <p:spPr bwMode="auto">
          <a:xfrm>
            <a:off x="3962400" y="2603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</a:endParaRPr>
          </a:p>
        </p:txBody>
      </p:sp>
      <p:sp>
        <p:nvSpPr>
          <p:cNvPr id="1052" name="Text Box 89"/>
          <p:cNvSpPr txBox="1">
            <a:spLocks noChangeArrowheads="1"/>
          </p:cNvSpPr>
          <p:nvPr/>
        </p:nvSpPr>
        <p:spPr bwMode="auto">
          <a:xfrm>
            <a:off x="9034463" y="260351"/>
            <a:ext cx="838200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ctr" latinLnBrk="0">
              <a:defRPr/>
            </a:pPr>
            <a:r>
              <a:rPr kumimoji="0" lang="en-US" altLang="ko-KR" dirty="0" smtClean="0">
                <a:latin typeface="굴림체" pitchFamily="49" charset="-127"/>
                <a:ea typeface="굴림체" pitchFamily="49" charset="-127"/>
              </a:rPr>
              <a:t>2020/04/09</a:t>
            </a:r>
            <a:endParaRPr kumimoji="0" lang="en-US" altLang="ko-KR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054" name="Text Box 92"/>
          <p:cNvSpPr txBox="1">
            <a:spLocks noChangeArrowheads="1"/>
          </p:cNvSpPr>
          <p:nvPr/>
        </p:nvSpPr>
        <p:spPr bwMode="auto">
          <a:xfrm>
            <a:off x="7691437" y="500063"/>
            <a:ext cx="2011363" cy="159462"/>
          </a:xfrm>
          <a:prstGeom prst="rect">
            <a:avLst/>
          </a:prstGeom>
          <a:noFill/>
          <a:ln>
            <a:noFill/>
          </a:ln>
          <a:extLst/>
        </p:spPr>
        <p:txBody>
          <a:bodyPr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 dirty="0" smtClean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Description (</a:t>
            </a:r>
            <a:r>
              <a:rPr lang="ko-KR" altLang="en-US" b="1" dirty="0" smtClean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화면설명</a:t>
            </a:r>
            <a:r>
              <a:rPr lang="en-US" altLang="ko-KR" b="1" dirty="0" smtClean="0">
                <a:solidFill>
                  <a:srgbClr val="FFFFFF"/>
                </a:solidFill>
                <a:latin typeface="돋움" pitchFamily="50" charset="-127"/>
                <a:ea typeface="굴림" pitchFamily="50" charset="-127"/>
                <a:cs typeface="Times New Roman" pitchFamily="18" charset="0"/>
              </a:rPr>
              <a:t>)</a:t>
            </a:r>
          </a:p>
        </p:txBody>
      </p:sp>
      <p:sp>
        <p:nvSpPr>
          <p:cNvPr id="1056" name="Text Box 94"/>
          <p:cNvSpPr txBox="1">
            <a:spLocks noChangeArrowheads="1"/>
          </p:cNvSpPr>
          <p:nvPr/>
        </p:nvSpPr>
        <p:spPr bwMode="auto">
          <a:xfrm>
            <a:off x="9027313" y="6597651"/>
            <a:ext cx="714375" cy="159462"/>
          </a:xfrm>
          <a:prstGeom prst="rect">
            <a:avLst/>
          </a:prstGeom>
          <a:noFill/>
          <a:ln>
            <a:noFill/>
          </a:ln>
          <a:extLst/>
        </p:spPr>
        <p:txBody>
          <a:bodyPr tIns="18000" bIns="180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algn="just" eaLnBrk="1" hangingPunct="1">
              <a:spcBef>
                <a:spcPct val="50000"/>
              </a:spcBef>
              <a:defRPr/>
            </a:pPr>
            <a:r>
              <a:rPr lang="en-US" altLang="ko-KR" b="1" smtClean="0">
                <a:solidFill>
                  <a:srgbClr val="000000"/>
                </a:solidFill>
                <a:latin typeface="돋움" pitchFamily="50" charset="-127"/>
              </a:rPr>
              <a:t>Page No :</a:t>
            </a:r>
          </a:p>
        </p:txBody>
      </p:sp>
      <p:sp>
        <p:nvSpPr>
          <p:cNvPr id="1057" name="Text Box 95"/>
          <p:cNvSpPr txBox="1">
            <a:spLocks noChangeArrowheads="1"/>
          </p:cNvSpPr>
          <p:nvPr/>
        </p:nvSpPr>
        <p:spPr bwMode="auto">
          <a:xfrm>
            <a:off x="9614685" y="6564313"/>
            <a:ext cx="354882" cy="23301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Arial" charset="0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fld id="{D54402F3-F5D2-4362-A2CF-5B68B14495E9}" type="slidenum">
              <a:rPr lang="en-US" altLang="ko-KR" sz="900" smtClean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pPr eaLnBrk="1" hangingPunct="1">
                <a:defRPr/>
              </a:pPr>
              <a:t>‹#›</a:t>
            </a:fld>
            <a:endParaRPr lang="en-US" altLang="ko-KR" sz="900" dirty="0" smtClean="0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798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0" r:id="rId1"/>
    <p:sldLayoutId id="2147484631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8.jpe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직사각형 148"/>
          <p:cNvSpPr/>
          <p:nvPr/>
        </p:nvSpPr>
        <p:spPr>
          <a:xfrm>
            <a:off x="293622" y="1289363"/>
            <a:ext cx="4693731" cy="178913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chemeClr val="tx1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970440" y="260836"/>
            <a:ext cx="2291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600" b="1" dirty="0" smtClean="0"/>
              <a:t>항공수출</a:t>
            </a:r>
            <a:r>
              <a:rPr lang="en-US" altLang="ko-KR" sz="600" b="1" dirty="0" smtClean="0"/>
              <a:t>(AO) &gt; </a:t>
            </a:r>
            <a:r>
              <a:rPr lang="ko-KR" altLang="en-US" sz="600" b="1" dirty="0" err="1" smtClean="0"/>
              <a:t>적하목록</a:t>
            </a:r>
            <a:r>
              <a:rPr lang="ko-KR" altLang="en-US" sz="600" b="1" dirty="0" smtClean="0"/>
              <a:t> 정정신고 </a:t>
            </a:r>
            <a:r>
              <a:rPr lang="en-US" altLang="ko-KR" sz="600" b="1" dirty="0" smtClean="0"/>
              <a:t>&gt; House Air Way Bill(4) –</a:t>
            </a:r>
          </a:p>
          <a:p>
            <a:r>
              <a:rPr lang="en-US" altLang="ko-KR" sz="600" b="1" dirty="0" smtClean="0"/>
              <a:t> License</a:t>
            </a:r>
            <a:r>
              <a:rPr lang="ko-KR" altLang="en-US" sz="600" b="1" dirty="0" smtClean="0"/>
              <a:t>정정</a:t>
            </a:r>
          </a:p>
          <a:p>
            <a:r>
              <a:rPr lang="en-US" sz="600" b="1" dirty="0" smtClean="0"/>
              <a:t> </a:t>
            </a:r>
            <a:endParaRPr lang="ko-KR" altLang="en-US" sz="600" b="1" dirty="0"/>
          </a:p>
        </p:txBody>
      </p:sp>
      <p:grpSp>
        <p:nvGrpSpPr>
          <p:cNvPr id="9" name="그룹 148"/>
          <p:cNvGrpSpPr/>
          <p:nvPr/>
        </p:nvGrpSpPr>
        <p:grpSpPr>
          <a:xfrm>
            <a:off x="130682" y="6390187"/>
            <a:ext cx="9765552" cy="215444"/>
            <a:chOff x="130682" y="6555818"/>
            <a:chExt cx="7502055" cy="215444"/>
          </a:xfrm>
        </p:grpSpPr>
        <p:sp>
          <p:nvSpPr>
            <p:cNvPr id="100" name="직사각형 99"/>
            <p:cNvSpPr/>
            <p:nvPr/>
          </p:nvSpPr>
          <p:spPr>
            <a:xfrm>
              <a:off x="130682" y="6569471"/>
              <a:ext cx="7502055" cy="182566"/>
            </a:xfrm>
            <a:prstGeom prst="rect">
              <a:avLst/>
            </a:prstGeom>
            <a:solidFill>
              <a:schemeClr val="accent2"/>
            </a:solidFill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err="1" smtClean="0">
                <a:solidFill>
                  <a:schemeClr val="tx1"/>
                </a:solidFill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5770573" y="6555818"/>
              <a:ext cx="91282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solidFill>
                    <a:schemeClr val="bg1"/>
                  </a:solidFill>
                </a:rPr>
                <a:t>*New : 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549212" y="6555818"/>
              <a:ext cx="91282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solidFill>
                    <a:schemeClr val="bg1"/>
                  </a:solidFill>
                </a:rPr>
                <a:t>*Input : 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3640594" y="6555818"/>
              <a:ext cx="91282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>
                  <a:solidFill>
                    <a:schemeClr val="bg1"/>
                  </a:solidFill>
                </a:rPr>
                <a:t>*Modify : 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08" name="직사각형 307"/>
          <p:cNvSpPr/>
          <p:nvPr/>
        </p:nvSpPr>
        <p:spPr>
          <a:xfrm>
            <a:off x="141539" y="961285"/>
            <a:ext cx="9755002" cy="2286479"/>
          </a:xfrm>
          <a:prstGeom prst="rec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chemeClr val="tx1"/>
              </a:solidFill>
            </a:endParaRPr>
          </a:p>
        </p:txBody>
      </p:sp>
      <p:graphicFrame>
        <p:nvGraphicFramePr>
          <p:cNvPr id="140" name="표 139"/>
          <p:cNvGraphicFramePr>
            <a:graphicFrameLocks noGrp="1"/>
          </p:cNvGraphicFramePr>
          <p:nvPr/>
        </p:nvGraphicFramePr>
        <p:xfrm>
          <a:off x="293620" y="1289363"/>
          <a:ext cx="4693732" cy="606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6485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5852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5852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5852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7664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6646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82562"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chemeClr val="bg1"/>
                          </a:solidFill>
                        </a:rPr>
                        <a:t>정정항목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chemeClr val="bg1"/>
                          </a:solidFill>
                        </a:rPr>
                        <a:t>정정코드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chemeClr val="bg1"/>
                          </a:solidFill>
                        </a:rPr>
                        <a:t>정정사유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chemeClr val="bg1"/>
                          </a:solidFill>
                        </a:rPr>
                        <a:t>정정전내용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solidFill>
                            <a:schemeClr val="bg1"/>
                          </a:solidFill>
                        </a:rPr>
                        <a:t>정정후내용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04340"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04340"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5661033" y="1362389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화물구분</a:t>
            </a:r>
            <a:endParaRPr lang="ko-KR" altLang="en-US" dirty="0"/>
          </a:p>
        </p:txBody>
      </p:sp>
      <p:sp>
        <p:nvSpPr>
          <p:cNvPr id="144" name="직사각형 143"/>
          <p:cNvSpPr/>
          <p:nvPr/>
        </p:nvSpPr>
        <p:spPr bwMode="auto">
          <a:xfrm>
            <a:off x="6637856" y="1381493"/>
            <a:ext cx="762012" cy="17723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4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24520" y="1408199"/>
            <a:ext cx="123825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0" name="TextBox 149"/>
          <p:cNvSpPr txBox="1"/>
          <p:nvPr/>
        </p:nvSpPr>
        <p:spPr>
          <a:xfrm>
            <a:off x="5661033" y="1577833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정정구분</a:t>
            </a:r>
            <a:endParaRPr lang="ko-KR" altLang="en-US" dirty="0"/>
          </a:p>
        </p:txBody>
      </p:sp>
      <p:sp>
        <p:nvSpPr>
          <p:cNvPr id="151" name="직사각형 150"/>
          <p:cNvSpPr/>
          <p:nvPr/>
        </p:nvSpPr>
        <p:spPr bwMode="auto">
          <a:xfrm>
            <a:off x="6634231" y="1596937"/>
            <a:ext cx="634431" cy="17723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24520" y="1623643"/>
            <a:ext cx="123825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9" name="TextBox 158"/>
          <p:cNvSpPr txBox="1"/>
          <p:nvPr/>
        </p:nvSpPr>
        <p:spPr>
          <a:xfrm>
            <a:off x="5661033" y="2019623"/>
            <a:ext cx="9028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정정전신고번호</a:t>
            </a:r>
            <a:endParaRPr lang="ko-KR" altLang="en-US" dirty="0"/>
          </a:p>
        </p:txBody>
      </p:sp>
      <p:sp>
        <p:nvSpPr>
          <p:cNvPr id="164" name="직사각형 163"/>
          <p:cNvSpPr/>
          <p:nvPr/>
        </p:nvSpPr>
        <p:spPr bwMode="auto">
          <a:xfrm>
            <a:off x="6638174" y="2038727"/>
            <a:ext cx="2381208" cy="17723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6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24520" y="2065433"/>
            <a:ext cx="123825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6" name="TextBox 165"/>
          <p:cNvSpPr txBox="1"/>
          <p:nvPr/>
        </p:nvSpPr>
        <p:spPr>
          <a:xfrm>
            <a:off x="5661033" y="2238701"/>
            <a:ext cx="10631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신고번호</a:t>
            </a:r>
            <a:r>
              <a:rPr lang="en-US" altLang="ko-KR" dirty="0" smtClean="0"/>
              <a:t>/</a:t>
            </a:r>
            <a:r>
              <a:rPr lang="ko-KR" altLang="en-US" dirty="0" smtClean="0"/>
              <a:t>수량</a:t>
            </a:r>
            <a:r>
              <a:rPr lang="en-US" altLang="ko-KR" dirty="0" smtClean="0"/>
              <a:t>/</a:t>
            </a:r>
            <a:r>
              <a:rPr lang="ko-KR" altLang="en-US" dirty="0" smtClean="0"/>
              <a:t>중량</a:t>
            </a:r>
            <a:endParaRPr lang="ko-KR" altLang="en-US" dirty="0"/>
          </a:p>
        </p:txBody>
      </p:sp>
      <p:sp>
        <p:nvSpPr>
          <p:cNvPr id="167" name="직사각형 166"/>
          <p:cNvSpPr/>
          <p:nvPr/>
        </p:nvSpPr>
        <p:spPr bwMode="auto">
          <a:xfrm>
            <a:off x="6638174" y="2257805"/>
            <a:ext cx="823933" cy="17723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24520" y="2284511"/>
            <a:ext cx="123825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9" name="직사각형 168"/>
          <p:cNvSpPr/>
          <p:nvPr/>
        </p:nvSpPr>
        <p:spPr bwMode="auto">
          <a:xfrm>
            <a:off x="6638174" y="1805873"/>
            <a:ext cx="2381208" cy="17723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7135080" y="2813968"/>
            <a:ext cx="462594" cy="154993"/>
          </a:xfrm>
          <a:prstGeom prst="round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New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171" name="모서리가 둥근 직사각형 170"/>
          <p:cNvSpPr/>
          <p:nvPr/>
        </p:nvSpPr>
        <p:spPr>
          <a:xfrm>
            <a:off x="7641181" y="2813968"/>
            <a:ext cx="462594" cy="154993"/>
          </a:xfrm>
          <a:prstGeom prst="round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Del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8143887" y="2813968"/>
            <a:ext cx="462594" cy="154993"/>
          </a:xfrm>
          <a:prstGeom prst="round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Save</a:t>
            </a:r>
            <a:endParaRPr lang="ko-KR" altLang="en-US" dirty="0" smtClean="0">
              <a:solidFill>
                <a:schemeClr val="bg1"/>
              </a:solidFill>
            </a:endParaRPr>
          </a:p>
        </p:txBody>
      </p:sp>
      <p:pic>
        <p:nvPicPr>
          <p:cNvPr id="17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81132" y="1596937"/>
            <a:ext cx="180975" cy="18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4" name="직사각형 173"/>
          <p:cNvSpPr/>
          <p:nvPr/>
        </p:nvSpPr>
        <p:spPr bwMode="auto">
          <a:xfrm>
            <a:off x="7226683" y="1381493"/>
            <a:ext cx="173185" cy="17723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572991" y="1037407"/>
            <a:ext cx="8739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 smtClean="0"/>
              <a:t>License </a:t>
            </a:r>
            <a:r>
              <a:rPr lang="ko-KR" altLang="en-US" sz="900" b="1" dirty="0" smtClean="0"/>
              <a:t>정정</a:t>
            </a:r>
            <a:endParaRPr lang="ko-KR" altLang="en-US" sz="900" b="1" dirty="0"/>
          </a:p>
        </p:txBody>
      </p:sp>
      <p:sp>
        <p:nvSpPr>
          <p:cNvPr id="95" name="TextBox 94"/>
          <p:cNvSpPr txBox="1"/>
          <p:nvPr/>
        </p:nvSpPr>
        <p:spPr>
          <a:xfrm>
            <a:off x="7331231" y="1360288"/>
            <a:ext cx="110479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00" dirty="0" smtClean="0"/>
              <a:t>(E : </a:t>
            </a:r>
            <a:r>
              <a:rPr lang="ko-KR" altLang="en-US" sz="600" dirty="0" smtClean="0"/>
              <a:t>수출화물</a:t>
            </a:r>
            <a:r>
              <a:rPr lang="en-US" altLang="ko-KR" sz="600" dirty="0" smtClean="0"/>
              <a:t>, R: </a:t>
            </a:r>
            <a:r>
              <a:rPr lang="ko-KR" altLang="en-US" sz="600" dirty="0" err="1" smtClean="0"/>
              <a:t>환적화물</a:t>
            </a:r>
            <a:r>
              <a:rPr lang="en-US" altLang="ko-KR" sz="600" dirty="0" smtClean="0"/>
              <a:t>)</a:t>
            </a:r>
            <a:endParaRPr lang="ko-KR" altLang="en-US" sz="600" dirty="0"/>
          </a:p>
        </p:txBody>
      </p:sp>
      <p:sp>
        <p:nvSpPr>
          <p:cNvPr id="96" name="TextBox 95"/>
          <p:cNvSpPr txBox="1"/>
          <p:nvPr/>
        </p:nvSpPr>
        <p:spPr>
          <a:xfrm>
            <a:off x="5661033" y="1793277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정정사유</a:t>
            </a:r>
            <a:endParaRPr lang="ko-KR" altLang="en-US" dirty="0"/>
          </a:p>
        </p:txBody>
      </p:sp>
      <p:pic>
        <p:nvPicPr>
          <p:cNvPr id="97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24520" y="1839087"/>
            <a:ext cx="123825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34045" y="2469385"/>
            <a:ext cx="114300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3" name="직사각형 102"/>
          <p:cNvSpPr/>
          <p:nvPr/>
        </p:nvSpPr>
        <p:spPr bwMode="auto">
          <a:xfrm>
            <a:off x="7524648" y="2257805"/>
            <a:ext cx="314512" cy="17723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4" name="직사각형 103"/>
          <p:cNvSpPr/>
          <p:nvPr/>
        </p:nvSpPr>
        <p:spPr bwMode="auto">
          <a:xfrm>
            <a:off x="7881262" y="2257805"/>
            <a:ext cx="176976" cy="17723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0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32854" y="2257805"/>
            <a:ext cx="180975" cy="18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6" name="직사각형 105"/>
          <p:cNvSpPr/>
          <p:nvPr/>
        </p:nvSpPr>
        <p:spPr bwMode="auto">
          <a:xfrm>
            <a:off x="8347105" y="2257805"/>
            <a:ext cx="672277" cy="17723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5661033" y="2421266"/>
            <a:ext cx="10342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분할선적여부</a:t>
            </a:r>
            <a:r>
              <a:rPr lang="en-US" altLang="ko-KR" dirty="0" smtClean="0"/>
              <a:t>/</a:t>
            </a:r>
            <a:r>
              <a:rPr lang="ko-KR" altLang="en-US" dirty="0" smtClean="0"/>
              <a:t>차수</a:t>
            </a:r>
            <a:endParaRPr lang="ko-KR" altLang="en-US" dirty="0"/>
          </a:p>
        </p:txBody>
      </p:sp>
      <p:sp>
        <p:nvSpPr>
          <p:cNvPr id="108" name="직사각형 107"/>
          <p:cNvSpPr/>
          <p:nvPr/>
        </p:nvSpPr>
        <p:spPr bwMode="auto">
          <a:xfrm>
            <a:off x="6638175" y="2469385"/>
            <a:ext cx="395890" cy="17723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0" name="직사각형 109"/>
          <p:cNvSpPr/>
          <p:nvPr/>
        </p:nvSpPr>
        <p:spPr bwMode="auto">
          <a:xfrm>
            <a:off x="7059421" y="2469385"/>
            <a:ext cx="232044" cy="17723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29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49309" y="2469385"/>
            <a:ext cx="114300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0" name="TextBox 129"/>
          <p:cNvSpPr txBox="1"/>
          <p:nvPr/>
        </p:nvSpPr>
        <p:spPr>
          <a:xfrm>
            <a:off x="7376297" y="2421266"/>
            <a:ext cx="10342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동시포장부호</a:t>
            </a:r>
            <a:r>
              <a:rPr lang="en-US" altLang="ko-KR" dirty="0" smtClean="0"/>
              <a:t>/</a:t>
            </a:r>
            <a:r>
              <a:rPr lang="ko-KR" altLang="en-US" dirty="0" smtClean="0"/>
              <a:t>개수</a:t>
            </a:r>
            <a:endParaRPr lang="ko-KR" altLang="en-US" dirty="0"/>
          </a:p>
        </p:txBody>
      </p:sp>
      <p:sp>
        <p:nvSpPr>
          <p:cNvPr id="131" name="직사각형 130"/>
          <p:cNvSpPr/>
          <p:nvPr/>
        </p:nvSpPr>
        <p:spPr bwMode="auto">
          <a:xfrm>
            <a:off x="8366092" y="2469385"/>
            <a:ext cx="395890" cy="17723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2" name="직사각형 131"/>
          <p:cNvSpPr/>
          <p:nvPr/>
        </p:nvSpPr>
        <p:spPr bwMode="auto">
          <a:xfrm>
            <a:off x="8787338" y="2469385"/>
            <a:ext cx="232044" cy="17723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7336222" y="1577833"/>
            <a:ext cx="190308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00" dirty="0" smtClean="0"/>
              <a:t>(I : AWB</a:t>
            </a:r>
            <a:r>
              <a:rPr lang="ko-KR" altLang="en-US" sz="600" dirty="0" smtClean="0"/>
              <a:t>추가</a:t>
            </a:r>
            <a:r>
              <a:rPr lang="en-US" altLang="ko-KR" sz="600" dirty="0" smtClean="0"/>
              <a:t>, A: </a:t>
            </a:r>
            <a:r>
              <a:rPr lang="ko-KR" altLang="en-US" sz="600" dirty="0" smtClean="0"/>
              <a:t>추가</a:t>
            </a:r>
            <a:r>
              <a:rPr lang="en-US" altLang="ko-KR" sz="600" dirty="0" smtClean="0"/>
              <a:t>, U:</a:t>
            </a:r>
            <a:r>
              <a:rPr lang="ko-KR" altLang="en-US" sz="600" dirty="0" smtClean="0"/>
              <a:t>정정</a:t>
            </a:r>
            <a:r>
              <a:rPr lang="en-US" altLang="ko-KR" sz="600" dirty="0" smtClean="0"/>
              <a:t>, D:</a:t>
            </a:r>
            <a:r>
              <a:rPr lang="ko-KR" altLang="en-US" sz="600" dirty="0" smtClean="0"/>
              <a:t>삭제</a:t>
            </a:r>
            <a:r>
              <a:rPr lang="en-US" altLang="ko-KR" sz="600" dirty="0" smtClean="0"/>
              <a:t>, X:</a:t>
            </a:r>
            <a:r>
              <a:rPr lang="ko-KR" altLang="en-US" sz="600" dirty="0" smtClean="0"/>
              <a:t>번호변경</a:t>
            </a:r>
            <a:r>
              <a:rPr lang="en-US" altLang="ko-KR" sz="600" dirty="0" smtClean="0"/>
              <a:t>)</a:t>
            </a:r>
            <a:endParaRPr lang="ko-KR" altLang="en-US" sz="600" dirty="0"/>
          </a:p>
        </p:txBody>
      </p:sp>
      <p:sp>
        <p:nvSpPr>
          <p:cNvPr id="122" name="직사각형 121"/>
          <p:cNvSpPr/>
          <p:nvPr/>
        </p:nvSpPr>
        <p:spPr>
          <a:xfrm>
            <a:off x="196275" y="1033773"/>
            <a:ext cx="9600978" cy="2117754"/>
          </a:xfrm>
          <a:prstGeom prst="rec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chemeClr val="tx1"/>
              </a:solidFill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140677" y="727038"/>
            <a:ext cx="9771673" cy="219078"/>
          </a:xfrm>
          <a:prstGeom prst="rect">
            <a:avLst/>
          </a:prstGeom>
          <a:solidFill>
            <a:srgbClr val="00339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License </a:t>
            </a:r>
            <a:r>
              <a:rPr lang="ko-KR" altLang="en-US" dirty="0" smtClean="0">
                <a:solidFill>
                  <a:schemeClr val="bg1"/>
                </a:solidFill>
              </a:rPr>
              <a:t>정정</a:t>
            </a:r>
            <a:endParaRPr lang="en-US" altLang="ko-KR" dirty="0" smtClean="0">
              <a:solidFill>
                <a:schemeClr val="bg1"/>
              </a:solidFill>
            </a:endParaRPr>
          </a:p>
        </p:txBody>
      </p:sp>
      <p:sp>
        <p:nvSpPr>
          <p:cNvPr id="138" name="타원 137"/>
          <p:cNvSpPr/>
          <p:nvPr/>
        </p:nvSpPr>
        <p:spPr>
          <a:xfrm>
            <a:off x="5463838" y="1360288"/>
            <a:ext cx="209894" cy="94048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600" b="1" dirty="0" smtClean="0">
                <a:solidFill>
                  <a:schemeClr val="bg1"/>
                </a:solidFill>
              </a:rPr>
              <a:t>2-1</a:t>
            </a:r>
            <a:endParaRPr lang="ko-KR" altLang="en-US" sz="600" b="1" dirty="0" err="1" smtClean="0">
              <a:solidFill>
                <a:schemeClr val="bg1"/>
              </a:solidFill>
            </a:endParaRPr>
          </a:p>
        </p:txBody>
      </p:sp>
      <p:sp>
        <p:nvSpPr>
          <p:cNvPr id="139" name="타원 138"/>
          <p:cNvSpPr/>
          <p:nvPr/>
        </p:nvSpPr>
        <p:spPr>
          <a:xfrm>
            <a:off x="5456585" y="1577833"/>
            <a:ext cx="209894" cy="87423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600" b="1" dirty="0" smtClean="0">
                <a:solidFill>
                  <a:schemeClr val="bg1"/>
                </a:solidFill>
              </a:rPr>
              <a:t>2-2</a:t>
            </a:r>
            <a:endParaRPr lang="ko-KR" altLang="en-US" sz="600" b="1" dirty="0" err="1" smtClean="0">
              <a:solidFill>
                <a:schemeClr val="bg1"/>
              </a:solidFill>
            </a:endParaRPr>
          </a:p>
        </p:txBody>
      </p:sp>
      <p:sp>
        <p:nvSpPr>
          <p:cNvPr id="141" name="타원 140"/>
          <p:cNvSpPr/>
          <p:nvPr/>
        </p:nvSpPr>
        <p:spPr>
          <a:xfrm>
            <a:off x="5463838" y="1793277"/>
            <a:ext cx="209894" cy="97529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600" b="1" dirty="0" smtClean="0">
                <a:solidFill>
                  <a:schemeClr val="bg1"/>
                </a:solidFill>
              </a:rPr>
              <a:t>2-3</a:t>
            </a:r>
            <a:endParaRPr lang="ko-KR" altLang="en-US" sz="600" b="1" dirty="0" err="1" smtClean="0">
              <a:solidFill>
                <a:schemeClr val="bg1"/>
              </a:solidFill>
            </a:endParaRPr>
          </a:p>
        </p:txBody>
      </p:sp>
      <p:sp>
        <p:nvSpPr>
          <p:cNvPr id="153" name="타원 152"/>
          <p:cNvSpPr/>
          <p:nvPr/>
        </p:nvSpPr>
        <p:spPr>
          <a:xfrm>
            <a:off x="5463838" y="2019623"/>
            <a:ext cx="209894" cy="96733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600" b="1" dirty="0" smtClean="0">
                <a:solidFill>
                  <a:schemeClr val="bg1"/>
                </a:solidFill>
              </a:rPr>
              <a:t>2-4</a:t>
            </a:r>
            <a:endParaRPr lang="ko-KR" altLang="en-US" sz="600" b="1" dirty="0" err="1" smtClean="0">
              <a:solidFill>
                <a:schemeClr val="bg1"/>
              </a:solidFill>
            </a:endParaRPr>
          </a:p>
        </p:txBody>
      </p:sp>
      <p:sp>
        <p:nvSpPr>
          <p:cNvPr id="154" name="타원 153"/>
          <p:cNvSpPr/>
          <p:nvPr/>
        </p:nvSpPr>
        <p:spPr>
          <a:xfrm>
            <a:off x="5463838" y="2235067"/>
            <a:ext cx="209894" cy="92209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600" b="1" dirty="0" smtClean="0">
                <a:solidFill>
                  <a:schemeClr val="bg1"/>
                </a:solidFill>
              </a:rPr>
              <a:t>2-5</a:t>
            </a:r>
            <a:endParaRPr lang="ko-KR" altLang="en-US" sz="600" b="1" dirty="0" err="1" smtClean="0">
              <a:solidFill>
                <a:schemeClr val="bg1"/>
              </a:solidFill>
            </a:endParaRPr>
          </a:p>
        </p:txBody>
      </p:sp>
      <p:sp>
        <p:nvSpPr>
          <p:cNvPr id="155" name="타원 154"/>
          <p:cNvSpPr/>
          <p:nvPr/>
        </p:nvSpPr>
        <p:spPr>
          <a:xfrm>
            <a:off x="5456585" y="2421266"/>
            <a:ext cx="209894" cy="95095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600" b="1" dirty="0" smtClean="0">
                <a:solidFill>
                  <a:schemeClr val="bg1"/>
                </a:solidFill>
              </a:rPr>
              <a:t>2-7</a:t>
            </a:r>
            <a:endParaRPr lang="ko-KR" altLang="en-US" sz="600" b="1" dirty="0" err="1" smtClean="0">
              <a:solidFill>
                <a:schemeClr val="bg1"/>
              </a:solidFill>
            </a:endParaRPr>
          </a:p>
        </p:txBody>
      </p:sp>
      <p:sp>
        <p:nvSpPr>
          <p:cNvPr id="156" name="타원 155"/>
          <p:cNvSpPr/>
          <p:nvPr/>
        </p:nvSpPr>
        <p:spPr>
          <a:xfrm>
            <a:off x="6290938" y="2189258"/>
            <a:ext cx="209894" cy="9756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600" b="1" dirty="0" smtClean="0">
                <a:solidFill>
                  <a:schemeClr val="bg1"/>
                </a:solidFill>
              </a:rPr>
              <a:t>2-6</a:t>
            </a:r>
            <a:endParaRPr lang="ko-KR" altLang="en-US" sz="600" b="1" dirty="0" err="1" smtClean="0">
              <a:solidFill>
                <a:schemeClr val="bg1"/>
              </a:solidFill>
            </a:endParaRPr>
          </a:p>
        </p:txBody>
      </p:sp>
      <p:sp>
        <p:nvSpPr>
          <p:cNvPr id="157" name="타원 156"/>
          <p:cNvSpPr/>
          <p:nvPr/>
        </p:nvSpPr>
        <p:spPr>
          <a:xfrm>
            <a:off x="7172696" y="2408336"/>
            <a:ext cx="209894" cy="107839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600" b="1" dirty="0" smtClean="0">
                <a:solidFill>
                  <a:schemeClr val="bg1"/>
                </a:solidFill>
              </a:rPr>
              <a:t>2-8</a:t>
            </a:r>
            <a:endParaRPr lang="ko-KR" altLang="en-US" sz="600" b="1" dirty="0" err="1" smtClean="0">
              <a:solidFill>
                <a:schemeClr val="bg1"/>
              </a:solidFill>
            </a:endParaRPr>
          </a:p>
        </p:txBody>
      </p:sp>
      <p:sp>
        <p:nvSpPr>
          <p:cNvPr id="158" name="타원 157"/>
          <p:cNvSpPr/>
          <p:nvPr/>
        </p:nvSpPr>
        <p:spPr>
          <a:xfrm>
            <a:off x="6953618" y="2744330"/>
            <a:ext cx="209894" cy="107839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600" b="1" dirty="0" smtClean="0">
                <a:solidFill>
                  <a:schemeClr val="bg1"/>
                </a:solidFill>
              </a:rPr>
              <a:t>1-1</a:t>
            </a:r>
            <a:endParaRPr lang="ko-KR" altLang="en-US" sz="600" b="1" dirty="0" err="1" smtClean="0">
              <a:solidFill>
                <a:schemeClr val="bg1"/>
              </a:solidFill>
            </a:endParaRPr>
          </a:p>
        </p:txBody>
      </p:sp>
      <p:sp>
        <p:nvSpPr>
          <p:cNvPr id="160" name="타원 159"/>
          <p:cNvSpPr/>
          <p:nvPr/>
        </p:nvSpPr>
        <p:spPr>
          <a:xfrm>
            <a:off x="7466669" y="2742630"/>
            <a:ext cx="209894" cy="107839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600" b="1" dirty="0" smtClean="0">
                <a:solidFill>
                  <a:schemeClr val="bg1"/>
                </a:solidFill>
              </a:rPr>
              <a:t>1-2</a:t>
            </a:r>
            <a:endParaRPr lang="ko-KR" altLang="en-US" sz="600" b="1" dirty="0" err="1" smtClean="0">
              <a:solidFill>
                <a:schemeClr val="bg1"/>
              </a:solidFill>
            </a:endParaRPr>
          </a:p>
        </p:txBody>
      </p:sp>
      <p:sp>
        <p:nvSpPr>
          <p:cNvPr id="161" name="타원 160"/>
          <p:cNvSpPr/>
          <p:nvPr/>
        </p:nvSpPr>
        <p:spPr>
          <a:xfrm>
            <a:off x="7961352" y="2742630"/>
            <a:ext cx="209894" cy="107839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600" b="1" dirty="0" smtClean="0">
                <a:solidFill>
                  <a:schemeClr val="bg1"/>
                </a:solidFill>
              </a:rPr>
              <a:t>1-3</a:t>
            </a:r>
            <a:endParaRPr lang="ko-KR" altLang="en-US" sz="600" b="1" dirty="0" err="1" smtClean="0">
              <a:solidFill>
                <a:schemeClr val="bg1"/>
              </a:solidFill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3683829" y="517741"/>
            <a:ext cx="2257124" cy="21907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rgbClr val="FF0000"/>
                </a:solidFill>
              </a:rPr>
              <a:t>이전 화면에서 계속</a:t>
            </a:r>
          </a:p>
        </p:txBody>
      </p:sp>
      <p:sp>
        <p:nvSpPr>
          <p:cNvPr id="136" name="직사각형 135"/>
          <p:cNvSpPr/>
          <p:nvPr/>
        </p:nvSpPr>
        <p:spPr bwMode="auto">
          <a:xfrm>
            <a:off x="9733026" y="727038"/>
            <a:ext cx="169988" cy="252072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37" name="직사각형 136"/>
          <p:cNvSpPr/>
          <p:nvPr/>
        </p:nvSpPr>
        <p:spPr bwMode="auto">
          <a:xfrm>
            <a:off x="9736069" y="3090858"/>
            <a:ext cx="169997" cy="15557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600" dirty="0">
                <a:solidFill>
                  <a:schemeClr val="tx1"/>
                </a:solidFill>
              </a:rPr>
              <a:t>▼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200472" y="188640"/>
            <a:ext cx="9505056" cy="6480720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3" name="그림 62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86"/>
          <a:stretch/>
        </p:blipFill>
        <p:spPr>
          <a:xfrm>
            <a:off x="-1" y="5132"/>
            <a:ext cx="10080625" cy="6858000"/>
          </a:xfrm>
          <a:prstGeom prst="rect">
            <a:avLst/>
          </a:prstGeom>
        </p:spPr>
      </p:pic>
      <p:sp>
        <p:nvSpPr>
          <p:cNvPr id="64" name="직사각형 63"/>
          <p:cNvSpPr/>
          <p:nvPr/>
        </p:nvSpPr>
        <p:spPr>
          <a:xfrm>
            <a:off x="-15551" y="5301208"/>
            <a:ext cx="9937103" cy="155679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70000">
                <a:schemeClr val="bg1">
                  <a:alpha val="80000"/>
                </a:schemeClr>
              </a:gs>
              <a:gs pos="93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Rectangle 6"/>
          <p:cNvSpPr>
            <a:spLocks noChangeArrowheads="1"/>
          </p:cNvSpPr>
          <p:nvPr/>
        </p:nvSpPr>
        <p:spPr bwMode="auto">
          <a:xfrm>
            <a:off x="502074" y="448950"/>
            <a:ext cx="8582112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>
            <a:spAutoFit/>
          </a:bodyPr>
          <a:lstStyle/>
          <a:p>
            <a:pPr algn="r"/>
            <a:r>
              <a:rPr lang="en-US" altLang="ko-KR" sz="2400" b="1" i="1" dirty="0" smtClean="0">
                <a:solidFill>
                  <a:schemeClr val="bg2"/>
                </a:solidFill>
                <a:latin typeface="Tahoma" pitchFamily="34" charset="0"/>
                <a:ea typeface="돋움체" pitchFamily="49" charset="-127"/>
              </a:rPr>
              <a:t>FMS Project</a:t>
            </a:r>
            <a:r>
              <a:rPr lang="ko-KR" altLang="en-US" sz="2400" b="1" i="1" dirty="0" smtClean="0">
                <a:solidFill>
                  <a:schemeClr val="bg2"/>
                </a:solidFill>
                <a:latin typeface="Tahoma" pitchFamily="34" charset="0"/>
                <a:ea typeface="돋움체" pitchFamily="49" charset="-127"/>
              </a:rPr>
              <a:t> </a:t>
            </a:r>
            <a:r>
              <a:rPr lang="en-US" altLang="ko-KR" sz="2400" b="1" i="1" dirty="0" smtClean="0">
                <a:solidFill>
                  <a:schemeClr val="bg2"/>
                </a:solidFill>
                <a:latin typeface="Tahoma" pitchFamily="34" charset="0"/>
                <a:ea typeface="돋움체" pitchFamily="49" charset="-127"/>
              </a:rPr>
              <a:t>_</a:t>
            </a:r>
            <a:r>
              <a:rPr lang="ko-KR" altLang="en-US" sz="2400" b="1" i="1" dirty="0" err="1" smtClean="0">
                <a:solidFill>
                  <a:schemeClr val="bg2"/>
                </a:solidFill>
                <a:latin typeface="Tahoma" pitchFamily="34" charset="0"/>
                <a:ea typeface="돋움체" pitchFamily="49" charset="-127"/>
              </a:rPr>
              <a:t>통관정산</a:t>
            </a:r>
            <a:r>
              <a:rPr lang="en-US" altLang="ko-KR" sz="2400" b="1" i="1" dirty="0" smtClean="0">
                <a:solidFill>
                  <a:schemeClr val="bg2"/>
                </a:solidFill>
                <a:latin typeface="Tahoma" pitchFamily="34" charset="0"/>
                <a:ea typeface="돋움체" pitchFamily="49" charset="-127"/>
              </a:rPr>
              <a:t>_</a:t>
            </a:r>
            <a:r>
              <a:rPr lang="ko-KR" altLang="en-US" sz="2400" b="1" i="1" dirty="0" smtClean="0">
                <a:solidFill>
                  <a:schemeClr val="bg2"/>
                </a:solidFill>
                <a:latin typeface="Tahoma" pitchFamily="34" charset="0"/>
                <a:ea typeface="돋움체" pitchFamily="49" charset="-127"/>
              </a:rPr>
              <a:t>통관정산업무</a:t>
            </a:r>
            <a:r>
              <a:rPr lang="en-US" altLang="ko-KR" sz="2400" b="1" i="1" dirty="0" smtClean="0">
                <a:solidFill>
                  <a:schemeClr val="bg2"/>
                </a:solidFill>
                <a:latin typeface="Tahoma" pitchFamily="34" charset="0"/>
                <a:ea typeface="돋움체" pitchFamily="49" charset="-127"/>
              </a:rPr>
              <a:t>_</a:t>
            </a:r>
            <a:r>
              <a:rPr lang="ko-KR" altLang="en-US" sz="2400" b="1" dirty="0" smtClean="0">
                <a:solidFill>
                  <a:schemeClr val="bg2"/>
                </a:solidFill>
                <a:latin typeface="Tahoma" pitchFamily="34" charset="0"/>
                <a:ea typeface="돋움체" pitchFamily="49" charset="-127"/>
              </a:rPr>
              <a:t>화면설계서</a:t>
            </a:r>
            <a:endParaRPr lang="ko-KR" altLang="en-US" sz="2400" b="1" dirty="0">
              <a:solidFill>
                <a:schemeClr val="bg2"/>
              </a:solidFill>
              <a:latin typeface="돋움" pitchFamily="50" charset="-127"/>
            </a:endParaRPr>
          </a:p>
        </p:txBody>
      </p:sp>
      <p:sp>
        <p:nvSpPr>
          <p:cNvPr id="66" name="Rectangle 7"/>
          <p:cNvSpPr>
            <a:spLocks noChangeArrowheads="1"/>
          </p:cNvSpPr>
          <p:nvPr/>
        </p:nvSpPr>
        <p:spPr bwMode="auto">
          <a:xfrm>
            <a:off x="747018" y="1266614"/>
            <a:ext cx="8503524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8" tIns="44450" rIns="90488" bIns="4445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ko-KR" sz="1800" b="1" dirty="0">
                <a:solidFill>
                  <a:schemeClr val="bg2"/>
                </a:solidFill>
                <a:latin typeface="Tahoma" pitchFamily="34" charset="0"/>
                <a:ea typeface="돋움체" pitchFamily="49" charset="-127"/>
              </a:rPr>
              <a:t>Version </a:t>
            </a:r>
            <a:r>
              <a:rPr lang="en-US" altLang="ko-KR" sz="1800" b="1" dirty="0" smtClean="0">
                <a:solidFill>
                  <a:schemeClr val="bg2"/>
                </a:solidFill>
                <a:latin typeface="Tahoma" pitchFamily="34" charset="0"/>
                <a:ea typeface="돋움체" pitchFamily="49" charset="-127"/>
              </a:rPr>
              <a:t>0.7                                                         </a:t>
            </a:r>
            <a:r>
              <a:rPr lang="en-US" altLang="ko-KR" sz="1800" b="1" dirty="0">
                <a:solidFill>
                  <a:schemeClr val="bg2"/>
                </a:solidFill>
                <a:latin typeface="Tahoma" pitchFamily="34" charset="0"/>
                <a:ea typeface="돋움체" pitchFamily="49" charset="-127"/>
              </a:rPr>
              <a:t>Last Updated </a:t>
            </a:r>
            <a:r>
              <a:rPr lang="en-US" altLang="ko-KR" sz="1800" b="1" dirty="0" smtClean="0">
                <a:solidFill>
                  <a:schemeClr val="bg2"/>
                </a:solidFill>
                <a:latin typeface="Tahoma" pitchFamily="34" charset="0"/>
                <a:ea typeface="돋움체" pitchFamily="49" charset="-127"/>
              </a:rPr>
              <a:t> </a:t>
            </a:r>
            <a:r>
              <a:rPr lang="en-US" altLang="ko-KR" sz="1800" b="1" dirty="0" smtClean="0">
                <a:solidFill>
                  <a:schemeClr val="bg2"/>
                </a:solidFill>
                <a:latin typeface="Tahoma" pitchFamily="34" charset="0"/>
                <a:ea typeface="돋움체" pitchFamily="49" charset="-127"/>
              </a:rPr>
              <a:t>2020.04.09</a:t>
            </a:r>
            <a:endParaRPr lang="en-US" altLang="ko-KR" sz="1800" b="1" dirty="0">
              <a:solidFill>
                <a:schemeClr val="bg2"/>
              </a:solidFill>
              <a:latin typeface="Tahoma" pitchFamily="34" charset="0"/>
              <a:ea typeface="돋움체" pitchFamily="49" charset="-127"/>
            </a:endParaRPr>
          </a:p>
        </p:txBody>
      </p:sp>
      <p:sp>
        <p:nvSpPr>
          <p:cNvPr id="67" name="Line 8"/>
          <p:cNvSpPr>
            <a:spLocks noChangeShapeType="1"/>
          </p:cNvSpPr>
          <p:nvPr/>
        </p:nvSpPr>
        <p:spPr bwMode="auto">
          <a:xfrm>
            <a:off x="763650" y="1088813"/>
            <a:ext cx="8597142" cy="0"/>
          </a:xfrm>
          <a:prstGeom prst="line">
            <a:avLst/>
          </a:prstGeom>
          <a:noFill/>
          <a:ln w="57150" cmpd="thinThick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/>
          </a:p>
        </p:txBody>
      </p:sp>
      <p:graphicFrame>
        <p:nvGraphicFramePr>
          <p:cNvPr id="68" name="Group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970257"/>
              </p:ext>
            </p:extLst>
          </p:nvPr>
        </p:nvGraphicFramePr>
        <p:xfrm>
          <a:off x="745506" y="1988840"/>
          <a:ext cx="8615288" cy="995680"/>
        </p:xfrm>
        <a:graphic>
          <a:graphicData uri="http://schemas.openxmlformats.org/drawingml/2006/table">
            <a:tbl>
              <a:tblPr/>
              <a:tblGrid>
                <a:gridCol w="215382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5382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15382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15382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작성자</a:t>
                      </a:r>
                    </a:p>
                  </a:txBody>
                  <a:tcPr marL="87091" marR="87091" marT="85344" marB="8534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화면용도</a:t>
                      </a:r>
                    </a:p>
                  </a:txBody>
                  <a:tcPr marL="87091" marR="87091" marT="85344" marB="8534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개발팀 </a:t>
                      </a:r>
                      <a:r>
                        <a:rPr kumimoji="1" lang="ko-KR" altLang="en-US" sz="17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확인자</a:t>
                      </a:r>
                      <a:endParaRPr kumimoji="1" lang="ko-KR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87091" marR="87091" marT="85344" marB="8534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디자인팀 확인자</a:t>
                      </a:r>
                    </a:p>
                  </a:txBody>
                  <a:tcPr marL="87091" marR="87091" marT="85344" marB="8534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허철원</a:t>
                      </a:r>
                    </a:p>
                  </a:txBody>
                  <a:tcPr marL="87091" marR="87091" marT="85344" marB="8534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화면 설계서</a:t>
                      </a:r>
                    </a:p>
                  </a:txBody>
                  <a:tcPr marL="87091" marR="87091" marT="85344" marB="8534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허철원</a:t>
                      </a:r>
                      <a:endParaRPr kumimoji="1" lang="ko-KR" altLang="ko-KR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굴림" charset="-127"/>
                        <a:ea typeface="굴림" charset="-127"/>
                      </a:endParaRPr>
                    </a:p>
                  </a:txBody>
                  <a:tcPr marL="87091" marR="87091" marT="85344" marB="8534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굴림" charset="-127"/>
                          <a:ea typeface="굴림" charset="-127"/>
                        </a:rPr>
                        <a:t> </a:t>
                      </a:r>
                    </a:p>
                  </a:txBody>
                  <a:tcPr marL="87091" marR="87091" marT="85344" marB="85344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9" name="Group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648717"/>
              </p:ext>
            </p:extLst>
          </p:nvPr>
        </p:nvGraphicFramePr>
        <p:xfrm>
          <a:off x="745506" y="3645024"/>
          <a:ext cx="2664296" cy="2260888"/>
        </p:xfrm>
        <a:graphic>
          <a:graphicData uri="http://schemas.openxmlformats.org/drawingml/2006/table">
            <a:tbl>
              <a:tblPr/>
              <a:tblGrid>
                <a:gridCol w="75154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5154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6120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43027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문서관리</a:t>
                      </a:r>
                    </a:p>
                  </a:txBody>
                  <a:tcPr marL="87081" marR="87081" marT="85292" marB="85292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변경일</a:t>
                      </a:r>
                    </a:p>
                  </a:txBody>
                  <a:tcPr marL="87081" marR="87081" marT="85292" marB="85292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버 전</a:t>
                      </a: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작성</a:t>
                      </a: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20.04.09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0.7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허철원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0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0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0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7081" marR="87081" marT="85292" marB="852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86"/>
          <a:stretch/>
        </p:blipFill>
        <p:spPr>
          <a:xfrm>
            <a:off x="-1" y="0"/>
            <a:ext cx="10080625" cy="6858000"/>
          </a:xfrm>
          <a:prstGeom prst="rect">
            <a:avLst/>
          </a:prstGeom>
        </p:spPr>
      </p:pic>
      <p:sp>
        <p:nvSpPr>
          <p:cNvPr id="5122" name="Rectangle 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42498" y="1688877"/>
            <a:ext cx="3413519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946" tIns="45693" rIns="89946" bIns="45693" anchor="ctr"/>
          <a:lstStyle>
            <a:lvl1pPr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en-US" sz="1800" b="1" dirty="0" smtClean="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목 차</a:t>
            </a:r>
          </a:p>
        </p:txBody>
      </p:sp>
      <p:sp>
        <p:nvSpPr>
          <p:cNvPr id="5123" name="Rectangle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47824" y="3027735"/>
            <a:ext cx="6042736" cy="10493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1" tIns="45693" rIns="91381" bIns="45693" anchor="ctr"/>
          <a:lstStyle>
            <a:lvl1pPr marL="442913" indent="-342900" eaLnBrk="0" hangingPunct="0">
              <a:tabLst>
                <a:tab pos="979488" algn="l"/>
              </a:tabLs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979488" algn="l"/>
              </a:tabLs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979488" algn="l"/>
              </a:tabLs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979488" algn="l"/>
              </a:tabLs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979488" algn="l"/>
              </a:tabLs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79488" algn="l"/>
              </a:tabLs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79488" algn="l"/>
              </a:tabLs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79488" algn="l"/>
              </a:tabLs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79488" algn="l"/>
              </a:tabLs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AutoNum type="arabicPeriod"/>
            </a:pPr>
            <a:r>
              <a:rPr lang="ko-KR" altLang="en-US" sz="1600" b="1" dirty="0" err="1" smtClean="0"/>
              <a:t>통관정산</a:t>
            </a:r>
            <a:r>
              <a:rPr lang="en-US" altLang="ko-KR" sz="1600" b="1" dirty="0" smtClean="0"/>
              <a:t>(1) – MAIN</a:t>
            </a:r>
          </a:p>
          <a:p>
            <a:pPr eaLnBrk="1" hangingPunct="1">
              <a:lnSpc>
                <a:spcPct val="130000"/>
              </a:lnSpc>
              <a:buFontTx/>
              <a:buAutoNum type="arabicPeriod"/>
            </a:pPr>
            <a:r>
              <a:rPr lang="ko-KR" altLang="en-US" sz="1600" b="1" dirty="0" err="1" smtClean="0"/>
              <a:t>통관정산</a:t>
            </a:r>
            <a:r>
              <a:rPr lang="en-US" altLang="ko-KR" sz="1600" b="1" dirty="0" smtClean="0"/>
              <a:t>(2) – </a:t>
            </a:r>
            <a:r>
              <a:rPr lang="ko-KR" altLang="en-US" sz="1600" b="1" dirty="0" smtClean="0"/>
              <a:t>통관정산 청구</a:t>
            </a:r>
            <a:endParaRPr lang="en-US" altLang="ko-KR" sz="1600" b="1" dirty="0" smtClean="0"/>
          </a:p>
          <a:p>
            <a:pPr eaLnBrk="1" hangingPunct="1">
              <a:lnSpc>
                <a:spcPct val="130000"/>
              </a:lnSpc>
              <a:buFontTx/>
              <a:buAutoNum type="arabicPeriod"/>
            </a:pPr>
            <a:r>
              <a:rPr lang="ko-KR" altLang="en-US" sz="1600" b="1" dirty="0" err="1" smtClean="0"/>
              <a:t>통관정산</a:t>
            </a:r>
            <a:r>
              <a:rPr lang="en-US" altLang="ko-KR" sz="1600" b="1" dirty="0" smtClean="0"/>
              <a:t>(3) – </a:t>
            </a:r>
            <a:r>
              <a:rPr lang="ko-KR" altLang="en-US" sz="1600" b="1" dirty="0" smtClean="0"/>
              <a:t>통관정산 지출</a:t>
            </a:r>
            <a:endParaRPr lang="en-US" altLang="ko-KR" sz="1600" b="1" dirty="0" smtClean="0"/>
          </a:p>
          <a:p>
            <a:pPr eaLnBrk="1" hangingPunct="1">
              <a:lnSpc>
                <a:spcPct val="130000"/>
              </a:lnSpc>
              <a:buFontTx/>
              <a:buAutoNum type="arabicPeriod"/>
            </a:pPr>
            <a:r>
              <a:rPr lang="ko-KR" altLang="en-US" sz="1600" b="1" dirty="0" err="1" smtClean="0"/>
              <a:t>통관정산</a:t>
            </a:r>
            <a:r>
              <a:rPr lang="ko-KR" altLang="en-US" sz="1600" b="1" dirty="0" smtClean="0"/>
              <a:t> 실적</a:t>
            </a:r>
            <a:endParaRPr lang="ko-KR" altLang="en-US" sz="1600" b="1" dirty="0"/>
          </a:p>
          <a:p>
            <a:pPr eaLnBrk="1" hangingPunct="1">
              <a:lnSpc>
                <a:spcPct val="130000"/>
              </a:lnSpc>
              <a:buFontTx/>
              <a:buAutoNum type="arabicPeriod"/>
            </a:pPr>
            <a:endParaRPr lang="en-US" altLang="ko-KR" sz="1600" b="1" dirty="0" smtClean="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  <a:p>
            <a:pPr eaLnBrk="1" hangingPunct="1">
              <a:lnSpc>
                <a:spcPct val="130000"/>
              </a:lnSpc>
              <a:buFontTx/>
              <a:buAutoNum type="arabicPeriod"/>
            </a:pPr>
            <a:endParaRPr lang="en-US" altLang="ko-KR" sz="1600" b="1" dirty="0" smtClean="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  <a:p>
            <a:pPr marL="100013" indent="0" eaLnBrk="1" hangingPunct="1">
              <a:lnSpc>
                <a:spcPct val="130000"/>
              </a:lnSpc>
            </a:pPr>
            <a:endParaRPr lang="en-US" altLang="ko-KR" sz="1600" b="1" dirty="0" smtClean="0">
              <a:solidFill>
                <a:srgbClr val="00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5127" name="Line 7"/>
          <p:cNvSpPr>
            <a:spLocks noChangeShapeType="1"/>
          </p:cNvSpPr>
          <p:nvPr/>
        </p:nvSpPr>
        <p:spPr bwMode="auto">
          <a:xfrm>
            <a:off x="1536342" y="2058764"/>
            <a:ext cx="10258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1700" smtClean="0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344033" y="478067"/>
            <a:ext cx="588600" cy="3385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 algn="ctr">
              <a:defRPr/>
            </a:pPr>
            <a:r>
              <a:rPr lang="ko-KR" altLang="en-US" sz="1600" b="1" dirty="0" err="1" smtClean="0">
                <a:solidFill>
                  <a:srgbClr val="FFFFFF">
                    <a:lumMod val="75000"/>
                  </a:srgbClr>
                </a:solidFill>
                <a:latin typeface="Trebuchet MS" pitchFamily="34" charset="0"/>
              </a:rPr>
              <a:t>엔컴</a:t>
            </a:r>
            <a:endParaRPr lang="ko-KR" altLang="en-US" sz="1600" b="1" dirty="0">
              <a:solidFill>
                <a:srgbClr val="FFFFFF">
                  <a:lumMod val="75000"/>
                </a:srgbClr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278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65628" y="526101"/>
            <a:ext cx="9699219" cy="1845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23723" y="568500"/>
            <a:ext cx="1621197" cy="191235"/>
          </a:xfrm>
          <a:prstGeom prst="rect">
            <a:avLst/>
          </a:prstGeom>
          <a:solidFill>
            <a:srgbClr val="FFCC66"/>
          </a:solidFill>
          <a:ln w="3175"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rgbClr val="000000"/>
                </a:solidFill>
              </a:rPr>
              <a:t>통관정산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155097" y="806828"/>
            <a:ext cx="9720279" cy="403044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182428" y="1342044"/>
            <a:ext cx="9754428" cy="5209953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300" name="직사각형 299"/>
          <p:cNvSpPr/>
          <p:nvPr/>
        </p:nvSpPr>
        <p:spPr>
          <a:xfrm>
            <a:off x="-3452982" y="1178905"/>
            <a:ext cx="3344719" cy="917948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rgbClr val="000000"/>
                </a:solidFill>
              </a:rPr>
              <a:t>1-1 </a:t>
            </a:r>
            <a:r>
              <a:rPr lang="ko-KR" altLang="en-US" sz="700" dirty="0" smtClean="0">
                <a:solidFill>
                  <a:srgbClr val="000000"/>
                </a:solidFill>
              </a:rPr>
              <a:t>데이터 검색 기능 버튼</a:t>
            </a:r>
            <a:endParaRPr lang="en-US" altLang="ko-KR" sz="700" dirty="0" smtClean="0">
              <a:solidFill>
                <a:srgbClr val="000000"/>
              </a:solidFill>
            </a:endParaRPr>
          </a:p>
          <a:p>
            <a:r>
              <a:rPr lang="en-US" altLang="ko-KR" sz="700" dirty="0" smtClean="0">
                <a:solidFill>
                  <a:srgbClr val="000000"/>
                </a:solidFill>
              </a:rPr>
              <a:t>1-2 </a:t>
            </a:r>
            <a:r>
              <a:rPr lang="ko-KR" altLang="en-US" sz="700" dirty="0" smtClean="0">
                <a:solidFill>
                  <a:srgbClr val="000000"/>
                </a:solidFill>
              </a:rPr>
              <a:t>신규 </a:t>
            </a:r>
            <a:r>
              <a:rPr lang="ko-KR" altLang="en-US" sz="700" dirty="0" err="1" smtClean="0">
                <a:solidFill>
                  <a:srgbClr val="000000"/>
                </a:solidFill>
              </a:rPr>
              <a:t>입력시</a:t>
            </a:r>
            <a:r>
              <a:rPr lang="ko-KR" altLang="en-US" sz="700" dirty="0" smtClean="0">
                <a:solidFill>
                  <a:srgbClr val="000000"/>
                </a:solidFill>
              </a:rPr>
              <a:t> 통관정산 </a:t>
            </a:r>
            <a:r>
              <a:rPr lang="en-US" altLang="ko-KR" sz="700" dirty="0" smtClean="0">
                <a:solidFill>
                  <a:srgbClr val="000000"/>
                </a:solidFill>
              </a:rPr>
              <a:t>JOB NO </a:t>
            </a:r>
            <a:r>
              <a:rPr lang="ko-KR" altLang="en-US" sz="700" dirty="0" smtClean="0">
                <a:solidFill>
                  <a:srgbClr val="000000"/>
                </a:solidFill>
              </a:rPr>
              <a:t>시스템 규칙에 </a:t>
            </a:r>
            <a:r>
              <a:rPr lang="ko-KR" altLang="en-US" sz="700" dirty="0" err="1" smtClean="0">
                <a:solidFill>
                  <a:srgbClr val="000000"/>
                </a:solidFill>
              </a:rPr>
              <a:t>따라자동</a:t>
            </a:r>
            <a:r>
              <a:rPr lang="ko-KR" altLang="en-US" sz="700" dirty="0" smtClean="0">
                <a:solidFill>
                  <a:srgbClr val="000000"/>
                </a:solidFill>
              </a:rPr>
              <a:t> 생성</a:t>
            </a:r>
            <a:endParaRPr lang="en-US" altLang="ko-KR" sz="700" dirty="0" smtClean="0">
              <a:solidFill>
                <a:srgbClr val="000000"/>
              </a:solidFill>
            </a:endParaRPr>
          </a:p>
          <a:p>
            <a:r>
              <a:rPr lang="en-US" altLang="ko-KR" sz="700" dirty="0" smtClean="0">
                <a:solidFill>
                  <a:srgbClr val="000000"/>
                </a:solidFill>
              </a:rPr>
              <a:t>1-3 </a:t>
            </a:r>
            <a:r>
              <a:rPr lang="ko-KR" altLang="en-US" sz="700" dirty="0" smtClean="0">
                <a:solidFill>
                  <a:srgbClr val="000000"/>
                </a:solidFill>
              </a:rPr>
              <a:t>데이터 저장 처리</a:t>
            </a:r>
            <a:endParaRPr lang="en-US" altLang="ko-KR" sz="700" dirty="0" smtClean="0">
              <a:solidFill>
                <a:srgbClr val="000000"/>
              </a:solidFill>
            </a:endParaRPr>
          </a:p>
          <a:p>
            <a:endParaRPr lang="en-US" altLang="ko-KR" sz="700" dirty="0" smtClean="0">
              <a:solidFill>
                <a:srgbClr val="00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1-4 </a:t>
            </a:r>
            <a:r>
              <a:rPr lang="ko-KR" altLang="en-US" b="1" dirty="0" smtClean="0">
                <a:solidFill>
                  <a:srgbClr val="FF0000"/>
                </a:solidFill>
              </a:rPr>
              <a:t>삭제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기능시</a:t>
            </a:r>
            <a:r>
              <a:rPr lang="ko-KR" altLang="en-US" b="1" dirty="0" smtClean="0">
                <a:solidFill>
                  <a:srgbClr val="FF0000"/>
                </a:solidFill>
              </a:rPr>
              <a:t> 통관정산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등록 자료만 삭제 처리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1-5 </a:t>
            </a:r>
            <a:r>
              <a:rPr lang="ko-KR" altLang="en-US" b="1" dirty="0" smtClean="0">
                <a:solidFill>
                  <a:srgbClr val="FF0000"/>
                </a:solidFill>
              </a:rPr>
              <a:t>입력 취소 처리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0066FF"/>
                </a:solidFill>
              </a:rPr>
              <a:t>1-6 </a:t>
            </a:r>
            <a:r>
              <a:rPr lang="ko-KR" altLang="en-US" b="1" dirty="0" smtClean="0">
                <a:solidFill>
                  <a:srgbClr val="0066FF"/>
                </a:solidFill>
              </a:rPr>
              <a:t>통관정산 자료 </a:t>
            </a:r>
            <a:r>
              <a:rPr lang="ko-KR" altLang="en-US" b="1" dirty="0" err="1" smtClean="0">
                <a:solidFill>
                  <a:srgbClr val="0066FF"/>
                </a:solidFill>
              </a:rPr>
              <a:t>등록후</a:t>
            </a:r>
            <a:r>
              <a:rPr lang="ko-KR" altLang="en-US" b="1" dirty="0" smtClean="0">
                <a:solidFill>
                  <a:srgbClr val="0066FF"/>
                </a:solidFill>
              </a:rPr>
              <a:t> 새로운 통관정산 신규 입력 상태 처리</a:t>
            </a:r>
            <a:endParaRPr lang="en-US" altLang="ko-KR" dirty="0" smtClean="0">
              <a:solidFill>
                <a:srgbClr val="0066FF"/>
              </a:solidFill>
            </a:endParaRPr>
          </a:p>
          <a:p>
            <a:endParaRPr lang="en-US" altLang="ko-KR" sz="700" dirty="0" smtClean="0">
              <a:solidFill>
                <a:srgbClr val="000000"/>
              </a:solidFill>
            </a:endParaRPr>
          </a:p>
        </p:txBody>
      </p:sp>
      <p:sp>
        <p:nvSpPr>
          <p:cNvPr id="22" name="제목 21"/>
          <p:cNvSpPr>
            <a:spLocks noGrp="1"/>
          </p:cNvSpPr>
          <p:nvPr>
            <p:ph type="title" idx="4294967295"/>
          </p:nvPr>
        </p:nvSpPr>
        <p:spPr>
          <a:xfrm>
            <a:off x="5875324" y="45189"/>
            <a:ext cx="2060048" cy="251463"/>
          </a:xfrm>
          <a:prstGeom prst="rect">
            <a:avLst/>
          </a:prstGeom>
        </p:spPr>
        <p:txBody>
          <a:bodyPr anchor="ctr"/>
          <a:lstStyle/>
          <a:p>
            <a:r>
              <a:rPr lang="ko-KR" altLang="en-US" sz="1100" baseline="0" dirty="0" smtClean="0"/>
              <a:t>통관정산</a:t>
            </a:r>
            <a:r>
              <a:rPr lang="en-US" altLang="ko-KR" sz="1100" baseline="0" dirty="0" smtClean="0"/>
              <a:t> </a:t>
            </a:r>
            <a:r>
              <a:rPr lang="ko-KR" altLang="en-US" sz="1100" baseline="0" dirty="0" err="1" smtClean="0"/>
              <a:t>메인화면</a:t>
            </a:r>
            <a:r>
              <a:rPr lang="en-US" altLang="ko-KR" sz="1100" baseline="0" dirty="0" smtClean="0"/>
              <a:t>(1/2)</a:t>
            </a:r>
            <a:endParaRPr lang="ko-KR" altLang="en-US" sz="1100" dirty="0"/>
          </a:p>
        </p:txBody>
      </p:sp>
      <p:sp>
        <p:nvSpPr>
          <p:cNvPr id="188" name="제목 21"/>
          <p:cNvSpPr txBox="1">
            <a:spLocks/>
          </p:cNvSpPr>
          <p:nvPr/>
        </p:nvSpPr>
        <p:spPr>
          <a:xfrm>
            <a:off x="1027167" y="261213"/>
            <a:ext cx="2060048" cy="251463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1000" dirty="0">
                <a:solidFill>
                  <a:srgbClr val="000000"/>
                </a:solidFill>
              </a:rPr>
              <a:t>입력</a:t>
            </a:r>
            <a:r>
              <a:rPr lang="en-US" altLang="ko-KR" sz="1000" dirty="0">
                <a:solidFill>
                  <a:srgbClr val="000000"/>
                </a:solidFill>
              </a:rPr>
              <a:t>/</a:t>
            </a:r>
            <a:r>
              <a:rPr lang="ko-KR" altLang="en-US" sz="1000" dirty="0">
                <a:solidFill>
                  <a:srgbClr val="000000"/>
                </a:solidFill>
              </a:rPr>
              <a:t>조회</a:t>
            </a:r>
            <a:r>
              <a:rPr lang="en-US" altLang="ko-KR" sz="1000" dirty="0">
                <a:solidFill>
                  <a:srgbClr val="000000"/>
                </a:solidFill>
              </a:rPr>
              <a:t>/</a:t>
            </a:r>
            <a:r>
              <a:rPr lang="ko-KR" altLang="en-US" sz="1000" dirty="0">
                <a:solidFill>
                  <a:srgbClr val="000000"/>
                </a:solidFill>
              </a:rPr>
              <a:t>삭제</a:t>
            </a:r>
            <a:r>
              <a:rPr lang="en-US" altLang="ko-KR" sz="1000" dirty="0">
                <a:solidFill>
                  <a:srgbClr val="000000"/>
                </a:solidFill>
              </a:rPr>
              <a:t>/</a:t>
            </a:r>
            <a:r>
              <a:rPr lang="ko-KR" altLang="en-US" sz="1000" dirty="0">
                <a:solidFill>
                  <a:srgbClr val="000000"/>
                </a:solidFill>
              </a:rPr>
              <a:t>수정</a:t>
            </a:r>
            <a:endParaRPr lang="ko-KR" altLang="en-US" sz="1000" kern="0" dirty="0">
              <a:solidFill>
                <a:srgbClr val="000000"/>
              </a:solidFill>
            </a:endParaRPr>
          </a:p>
        </p:txBody>
      </p:sp>
      <p:sp>
        <p:nvSpPr>
          <p:cNvPr id="232" name="직사각형 231"/>
          <p:cNvSpPr/>
          <p:nvPr/>
        </p:nvSpPr>
        <p:spPr bwMode="auto">
          <a:xfrm>
            <a:off x="1101233" y="862235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FFFFFF"/>
                </a:solidFill>
              </a:rPr>
              <a:t>신규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233" name="직사각형 232"/>
          <p:cNvSpPr/>
          <p:nvPr/>
        </p:nvSpPr>
        <p:spPr bwMode="auto">
          <a:xfrm>
            <a:off x="1855783" y="861042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FFFFFF"/>
                </a:solidFill>
              </a:rPr>
              <a:t>저장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235" name="직사각형 234"/>
          <p:cNvSpPr/>
          <p:nvPr/>
        </p:nvSpPr>
        <p:spPr bwMode="auto">
          <a:xfrm>
            <a:off x="2610333" y="863429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FFFFFF"/>
                </a:solidFill>
              </a:rPr>
              <a:t>삭제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237" name="직사각형 236"/>
          <p:cNvSpPr/>
          <p:nvPr/>
        </p:nvSpPr>
        <p:spPr bwMode="auto">
          <a:xfrm>
            <a:off x="3364883" y="865816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FFFFFF"/>
                </a:solidFill>
              </a:rPr>
              <a:t>취소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238" name="직사각형 237"/>
          <p:cNvSpPr/>
          <p:nvPr/>
        </p:nvSpPr>
        <p:spPr bwMode="auto">
          <a:xfrm>
            <a:off x="4119433" y="867010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700" dirty="0" smtClean="0">
                <a:solidFill>
                  <a:srgbClr val="FFFFFF"/>
                </a:solidFill>
              </a:rPr>
              <a:t>저장 후 신규</a:t>
            </a:r>
            <a:endParaRPr lang="ko-KR" altLang="en-US" sz="700" dirty="0">
              <a:solidFill>
                <a:srgbClr val="FFFFFF"/>
              </a:solidFill>
            </a:endParaRPr>
          </a:p>
        </p:txBody>
      </p:sp>
      <p:sp>
        <p:nvSpPr>
          <p:cNvPr id="239" name="직사각형 238"/>
          <p:cNvSpPr/>
          <p:nvPr/>
        </p:nvSpPr>
        <p:spPr bwMode="auto">
          <a:xfrm>
            <a:off x="4873983" y="868203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FFFFFF"/>
                </a:solidFill>
              </a:rPr>
              <a:t>출력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258" name="타원 257"/>
          <p:cNvSpPr/>
          <p:nvPr/>
        </p:nvSpPr>
        <p:spPr>
          <a:xfrm>
            <a:off x="1090566" y="723073"/>
            <a:ext cx="241334" cy="14155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600" b="1" dirty="0" smtClean="0">
                <a:solidFill>
                  <a:srgbClr val="FFFFFF"/>
                </a:solidFill>
              </a:rPr>
              <a:t>1-2</a:t>
            </a:r>
          </a:p>
        </p:txBody>
      </p:sp>
      <p:sp>
        <p:nvSpPr>
          <p:cNvPr id="266" name="타원 265"/>
          <p:cNvSpPr/>
          <p:nvPr/>
        </p:nvSpPr>
        <p:spPr>
          <a:xfrm>
            <a:off x="1603366" y="710185"/>
            <a:ext cx="241334" cy="14155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600" b="1" dirty="0" smtClean="0">
                <a:solidFill>
                  <a:srgbClr val="FFFFFF"/>
                </a:solidFill>
              </a:rPr>
              <a:t>1-3</a:t>
            </a:r>
          </a:p>
        </p:txBody>
      </p:sp>
      <p:sp>
        <p:nvSpPr>
          <p:cNvPr id="280" name="타원 279"/>
          <p:cNvSpPr/>
          <p:nvPr/>
        </p:nvSpPr>
        <p:spPr>
          <a:xfrm>
            <a:off x="2494722" y="690991"/>
            <a:ext cx="241334" cy="14155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600" b="1" dirty="0" smtClean="0">
                <a:solidFill>
                  <a:srgbClr val="FFFFFF"/>
                </a:solidFill>
              </a:rPr>
              <a:t>1-4</a:t>
            </a:r>
          </a:p>
        </p:txBody>
      </p:sp>
      <p:sp>
        <p:nvSpPr>
          <p:cNvPr id="326" name="타원 325"/>
          <p:cNvSpPr/>
          <p:nvPr/>
        </p:nvSpPr>
        <p:spPr>
          <a:xfrm>
            <a:off x="3286810" y="697887"/>
            <a:ext cx="241334" cy="14155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600" b="1" dirty="0" smtClean="0">
                <a:solidFill>
                  <a:srgbClr val="FFFFFF"/>
                </a:solidFill>
              </a:rPr>
              <a:t>1-5</a:t>
            </a:r>
          </a:p>
        </p:txBody>
      </p:sp>
      <p:sp>
        <p:nvSpPr>
          <p:cNvPr id="330" name="타원 329"/>
          <p:cNvSpPr/>
          <p:nvPr/>
        </p:nvSpPr>
        <p:spPr>
          <a:xfrm>
            <a:off x="4042894" y="712623"/>
            <a:ext cx="241334" cy="14155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600" b="1" dirty="0" smtClean="0">
                <a:solidFill>
                  <a:srgbClr val="FFFFFF"/>
                </a:solidFill>
              </a:rPr>
              <a:t>1-6</a:t>
            </a:r>
          </a:p>
        </p:txBody>
      </p:sp>
      <p:sp>
        <p:nvSpPr>
          <p:cNvPr id="331" name="직사각형 330"/>
          <p:cNvSpPr/>
          <p:nvPr/>
        </p:nvSpPr>
        <p:spPr bwMode="auto">
          <a:xfrm>
            <a:off x="313053" y="857476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FFFFFF"/>
                </a:solidFill>
              </a:rPr>
              <a:t>조</a:t>
            </a:r>
            <a:r>
              <a:rPr lang="ko-KR" altLang="en-US" sz="800" dirty="0">
                <a:solidFill>
                  <a:srgbClr val="FFFFFF"/>
                </a:solidFill>
              </a:rPr>
              <a:t>회</a:t>
            </a:r>
          </a:p>
        </p:txBody>
      </p:sp>
      <p:sp>
        <p:nvSpPr>
          <p:cNvPr id="200" name="직사각형 199"/>
          <p:cNvSpPr/>
          <p:nvPr/>
        </p:nvSpPr>
        <p:spPr>
          <a:xfrm>
            <a:off x="8744064" y="1383678"/>
            <a:ext cx="1130010" cy="226363"/>
          </a:xfrm>
          <a:prstGeom prst="rect">
            <a:avLst/>
          </a:prstGeom>
          <a:solidFill>
            <a:schemeClr val="accent1">
              <a:lumMod val="9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rgbClr val="000000"/>
                </a:solidFill>
              </a:rPr>
              <a:t>HOUSE B/L </a:t>
            </a:r>
            <a:r>
              <a:rPr lang="en-US" altLang="ko-KR" sz="700" b="1" dirty="0">
                <a:solidFill>
                  <a:srgbClr val="000000"/>
                </a:solidFill>
              </a:rPr>
              <a:t> 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SEARCH</a:t>
            </a:r>
            <a:endParaRPr lang="en-US" altLang="ko-KR" sz="700" b="1" dirty="0">
              <a:solidFill>
                <a:srgbClr val="000000"/>
              </a:solidFill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-3452982" y="3149344"/>
            <a:ext cx="3344721" cy="2246981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b="1" dirty="0" smtClean="0">
                <a:solidFill>
                  <a:schemeClr val="tx1"/>
                </a:solidFill>
              </a:rPr>
              <a:t>3. HOUSE B/L  </a:t>
            </a:r>
            <a:r>
              <a:rPr lang="ko-KR" altLang="en-US" b="1" dirty="0" smtClean="0">
                <a:solidFill>
                  <a:schemeClr val="tx1"/>
                </a:solidFill>
              </a:rPr>
              <a:t>동일항목 적용 처리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endParaRPr lang="en-US" altLang="ko-KR" b="1" dirty="0" smtClean="0">
              <a:solidFill>
                <a:schemeClr val="tx1"/>
              </a:solidFill>
            </a:endParaRPr>
          </a:p>
          <a:p>
            <a:r>
              <a:rPr lang="en-US" altLang="ko-KR" b="1" dirty="0" smtClean="0">
                <a:solidFill>
                  <a:schemeClr val="tx1"/>
                </a:solidFill>
              </a:rPr>
              <a:t>3-1 </a:t>
            </a:r>
            <a:r>
              <a:rPr lang="en-US" altLang="ko-KR" b="1" dirty="0" err="1" smtClean="0">
                <a:solidFill>
                  <a:schemeClr val="tx1"/>
                </a:solidFill>
              </a:rPr>
              <a:t>Pakages</a:t>
            </a:r>
            <a:r>
              <a:rPr lang="en-US" altLang="ko-KR" b="1" dirty="0" smtClean="0">
                <a:solidFill>
                  <a:schemeClr val="tx1"/>
                </a:solidFill>
              </a:rPr>
              <a:t> : </a:t>
            </a:r>
            <a:r>
              <a:rPr lang="ko-KR" altLang="en-US" b="1" dirty="0" smtClean="0">
                <a:solidFill>
                  <a:schemeClr val="tx1"/>
                </a:solidFill>
              </a:rPr>
              <a:t>검색 팝업 </a:t>
            </a:r>
            <a:r>
              <a:rPr lang="ko-KR" altLang="en-US" b="1" dirty="0" err="1" smtClean="0">
                <a:solidFill>
                  <a:schemeClr val="tx1"/>
                </a:solidFill>
              </a:rPr>
              <a:t>클릭시</a:t>
            </a:r>
            <a:r>
              <a:rPr lang="ko-KR" altLang="en-US" b="1" dirty="0" smtClean="0">
                <a:solidFill>
                  <a:schemeClr val="tx1"/>
                </a:solidFill>
              </a:rPr>
              <a:t> 포장코드 검색팝업 처리</a:t>
            </a:r>
            <a:endParaRPr lang="en-US" altLang="ko-KR" dirty="0" smtClean="0">
              <a:solidFill>
                <a:srgbClr val="0000FF"/>
              </a:solidFill>
              <a:latin typeface="Rix고딕 M"/>
              <a:ea typeface="Rix고딕 M"/>
            </a:endParaRPr>
          </a:p>
          <a:p>
            <a:r>
              <a:rPr lang="ko-KR" altLang="en-US" dirty="0" smtClean="0">
                <a:solidFill>
                  <a:srgbClr val="0000FF"/>
                </a:solidFill>
              </a:rPr>
              <a:t>앞에 텍스트 박스는 숫자만 입력 가능 처리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r>
              <a:rPr lang="ko-KR" altLang="en-US" dirty="0" err="1" smtClean="0">
                <a:solidFill>
                  <a:srgbClr val="0000FF"/>
                </a:solidFill>
              </a:rPr>
              <a:t>뒷에</a:t>
            </a:r>
            <a:r>
              <a:rPr lang="ko-KR" altLang="en-US" dirty="0" smtClean="0">
                <a:solidFill>
                  <a:srgbClr val="0000FF"/>
                </a:solidFill>
              </a:rPr>
              <a:t> 텍스트 박스는 선택된 포장 코드 적용 처리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endParaRPr lang="en-US" altLang="ko-KR" dirty="0">
              <a:solidFill>
                <a:srgbClr val="0000FF"/>
              </a:solidFill>
            </a:endParaRPr>
          </a:p>
          <a:p>
            <a:r>
              <a:rPr lang="en-US" altLang="ko-KR" b="1" dirty="0" smtClean="0">
                <a:solidFill>
                  <a:schemeClr val="tx1"/>
                </a:solidFill>
              </a:rPr>
              <a:t>3-2 Weight </a:t>
            </a:r>
            <a:r>
              <a:rPr lang="en-US" altLang="ko-KR" b="1" dirty="0">
                <a:solidFill>
                  <a:schemeClr val="tx1"/>
                </a:solidFill>
              </a:rPr>
              <a:t>: </a:t>
            </a:r>
            <a:r>
              <a:rPr lang="ko-KR" altLang="en-US" b="1" dirty="0">
                <a:solidFill>
                  <a:schemeClr val="tx1"/>
                </a:solidFill>
              </a:rPr>
              <a:t>검색 팝업 </a:t>
            </a:r>
            <a:r>
              <a:rPr lang="ko-KR" altLang="en-US" b="1" dirty="0" err="1">
                <a:solidFill>
                  <a:schemeClr val="tx1"/>
                </a:solidFill>
              </a:rPr>
              <a:t>클릭시</a:t>
            </a:r>
            <a:r>
              <a:rPr lang="ko-KR" altLang="en-US" b="1" dirty="0">
                <a:solidFill>
                  <a:schemeClr val="tx1"/>
                </a:solidFill>
              </a:rPr>
              <a:t> </a:t>
            </a:r>
            <a:r>
              <a:rPr lang="ko-KR" altLang="en-US" b="1" dirty="0" smtClean="0">
                <a:solidFill>
                  <a:schemeClr val="tx1"/>
                </a:solidFill>
              </a:rPr>
              <a:t>중</a:t>
            </a:r>
            <a:r>
              <a:rPr lang="ko-KR" altLang="en-US" b="1" dirty="0">
                <a:solidFill>
                  <a:schemeClr val="tx1"/>
                </a:solidFill>
              </a:rPr>
              <a:t>량</a:t>
            </a:r>
            <a:r>
              <a:rPr lang="ko-KR" altLang="en-US" b="1" dirty="0" smtClean="0">
                <a:solidFill>
                  <a:schemeClr val="tx1"/>
                </a:solidFill>
              </a:rPr>
              <a:t>코드 </a:t>
            </a:r>
            <a:r>
              <a:rPr lang="ko-KR" altLang="en-US" b="1" dirty="0">
                <a:solidFill>
                  <a:schemeClr val="tx1"/>
                </a:solidFill>
              </a:rPr>
              <a:t>검색팝업 처리</a:t>
            </a:r>
            <a:endParaRPr lang="en-US" altLang="ko-KR" dirty="0">
              <a:solidFill>
                <a:srgbClr val="0000FF"/>
              </a:solidFill>
              <a:latin typeface="Rix고딕 M"/>
              <a:ea typeface="Rix고딕 M"/>
            </a:endParaRPr>
          </a:p>
          <a:p>
            <a:r>
              <a:rPr lang="ko-KR" altLang="en-US" dirty="0">
                <a:solidFill>
                  <a:srgbClr val="0000FF"/>
                </a:solidFill>
              </a:rPr>
              <a:t>앞에 텍스트 박스는 숫자만 입력 가능 처리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 err="1">
                <a:solidFill>
                  <a:srgbClr val="0000FF"/>
                </a:solidFill>
              </a:rPr>
              <a:t>뒷에</a:t>
            </a:r>
            <a:r>
              <a:rPr lang="ko-KR" altLang="en-US" dirty="0">
                <a:solidFill>
                  <a:srgbClr val="0000FF"/>
                </a:solidFill>
              </a:rPr>
              <a:t> 텍스트 박스는 선택된 </a:t>
            </a:r>
            <a:r>
              <a:rPr lang="ko-KR" altLang="en-US" dirty="0" smtClean="0">
                <a:solidFill>
                  <a:srgbClr val="0000FF"/>
                </a:solidFill>
              </a:rPr>
              <a:t>중량 </a:t>
            </a:r>
            <a:r>
              <a:rPr lang="ko-KR" altLang="en-US" dirty="0">
                <a:solidFill>
                  <a:srgbClr val="0000FF"/>
                </a:solidFill>
              </a:rPr>
              <a:t>코드 적용 처리</a:t>
            </a:r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 smtClean="0">
              <a:solidFill>
                <a:srgbClr val="0000FF"/>
              </a:solidFill>
            </a:endParaRPr>
          </a:p>
          <a:p>
            <a:r>
              <a:rPr lang="en-US" altLang="ko-KR" dirty="0" smtClean="0">
                <a:solidFill>
                  <a:srgbClr val="0000FF"/>
                </a:solidFill>
              </a:rPr>
              <a:t>3-3 CBM : </a:t>
            </a:r>
            <a:r>
              <a:rPr lang="ko-KR" altLang="en-US" dirty="0" smtClean="0">
                <a:solidFill>
                  <a:srgbClr val="0000FF"/>
                </a:solidFill>
              </a:rPr>
              <a:t>숫자 입력 및 소수점 </a:t>
            </a:r>
            <a:r>
              <a:rPr lang="en-US" altLang="ko-KR" dirty="0" smtClean="0">
                <a:solidFill>
                  <a:srgbClr val="0000FF"/>
                </a:solidFill>
              </a:rPr>
              <a:t>3</a:t>
            </a:r>
            <a:r>
              <a:rPr lang="ko-KR" altLang="en-US" dirty="0" smtClean="0">
                <a:solidFill>
                  <a:srgbClr val="0000FF"/>
                </a:solidFill>
              </a:rPr>
              <a:t>째 자리까지 입력 허용처리</a:t>
            </a:r>
            <a:r>
              <a:rPr lang="en-US" altLang="ko-KR" dirty="0" smtClean="0">
                <a:solidFill>
                  <a:srgbClr val="0000FF"/>
                </a:solidFill>
              </a:rPr>
              <a:t>, CBM </a:t>
            </a:r>
            <a:r>
              <a:rPr lang="ko-KR" altLang="en-US" dirty="0" smtClean="0">
                <a:solidFill>
                  <a:srgbClr val="0000FF"/>
                </a:solidFill>
              </a:rPr>
              <a:t>표시 텍스트 박스 </a:t>
            </a:r>
            <a:r>
              <a:rPr lang="en-US" altLang="ko-KR" dirty="0" smtClean="0">
                <a:solidFill>
                  <a:srgbClr val="0000FF"/>
                </a:solidFill>
              </a:rPr>
              <a:t>(</a:t>
            </a:r>
            <a:r>
              <a:rPr lang="ko-KR" altLang="en-US" dirty="0" smtClean="0">
                <a:solidFill>
                  <a:srgbClr val="0000FF"/>
                </a:solidFill>
              </a:rPr>
              <a:t>비활성처리</a:t>
            </a:r>
            <a:r>
              <a:rPr lang="en-US" altLang="ko-KR" dirty="0" smtClean="0">
                <a:solidFill>
                  <a:srgbClr val="0000FF"/>
                </a:solidFill>
              </a:rPr>
              <a:t>)</a:t>
            </a:r>
          </a:p>
          <a:p>
            <a:endParaRPr lang="en-US" altLang="ko-KR" dirty="0">
              <a:solidFill>
                <a:srgbClr val="0000FF"/>
              </a:solidFill>
            </a:endParaRPr>
          </a:p>
          <a:p>
            <a:r>
              <a:rPr lang="en-US" altLang="ko-KR" dirty="0" smtClean="0">
                <a:solidFill>
                  <a:srgbClr val="0000FF"/>
                </a:solidFill>
              </a:rPr>
              <a:t>3-4 </a:t>
            </a:r>
            <a:r>
              <a:rPr lang="ko-KR" altLang="en-US" dirty="0" smtClean="0">
                <a:solidFill>
                  <a:srgbClr val="0000FF"/>
                </a:solidFill>
              </a:rPr>
              <a:t>입출항일자 </a:t>
            </a:r>
            <a:r>
              <a:rPr lang="en-US" altLang="ko-KR" dirty="0" smtClean="0">
                <a:solidFill>
                  <a:srgbClr val="0000FF"/>
                </a:solidFill>
              </a:rPr>
              <a:t>: HOUSE B/L </a:t>
            </a:r>
            <a:r>
              <a:rPr lang="ko-KR" altLang="en-US" dirty="0" smtClean="0">
                <a:solidFill>
                  <a:srgbClr val="0000FF"/>
                </a:solidFill>
              </a:rPr>
              <a:t>적용 처리시 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r>
              <a:rPr lang="ko-KR" altLang="en-US" dirty="0" smtClean="0">
                <a:solidFill>
                  <a:srgbClr val="0000FF"/>
                </a:solidFill>
              </a:rPr>
              <a:t>항공수입 </a:t>
            </a:r>
            <a:r>
              <a:rPr lang="en-US" altLang="ko-KR" dirty="0" smtClean="0">
                <a:solidFill>
                  <a:srgbClr val="0000FF"/>
                </a:solidFill>
              </a:rPr>
              <a:t>-&gt; HOUSE AWB </a:t>
            </a:r>
            <a:r>
              <a:rPr lang="en-US" altLang="ko-KR" b="1" dirty="0" smtClean="0">
                <a:solidFill>
                  <a:srgbClr val="FF0000"/>
                </a:solidFill>
              </a:rPr>
              <a:t>ARRIVAL DATE </a:t>
            </a:r>
            <a:r>
              <a:rPr lang="ko-KR" altLang="en-US" dirty="0" smtClean="0">
                <a:solidFill>
                  <a:srgbClr val="0000FF"/>
                </a:solidFill>
              </a:rPr>
              <a:t>항목 적용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r>
              <a:rPr lang="ko-KR" altLang="en-US" dirty="0" smtClean="0">
                <a:solidFill>
                  <a:srgbClr val="0000FF"/>
                </a:solidFill>
              </a:rPr>
              <a:t>항공수출 </a:t>
            </a:r>
            <a:r>
              <a:rPr lang="en-US" altLang="ko-KR" dirty="0" smtClean="0">
                <a:solidFill>
                  <a:srgbClr val="0000FF"/>
                </a:solidFill>
              </a:rPr>
              <a:t>-&gt; </a:t>
            </a:r>
            <a:r>
              <a:rPr lang="en-US" altLang="ko-KR" dirty="0">
                <a:solidFill>
                  <a:srgbClr val="0000FF"/>
                </a:solidFill>
              </a:rPr>
              <a:t>HOUSE AWB </a:t>
            </a:r>
            <a:r>
              <a:rPr lang="en-US" altLang="ko-KR" b="1" dirty="0" smtClean="0">
                <a:solidFill>
                  <a:srgbClr val="FF0000"/>
                </a:solidFill>
              </a:rPr>
              <a:t>DEPARTURE </a:t>
            </a:r>
            <a:r>
              <a:rPr lang="en-US" altLang="ko-KR" b="1" dirty="0">
                <a:solidFill>
                  <a:srgbClr val="FF0000"/>
                </a:solidFill>
              </a:rPr>
              <a:t>DATE</a:t>
            </a:r>
            <a:r>
              <a:rPr lang="en-US" altLang="ko-KR" dirty="0">
                <a:solidFill>
                  <a:srgbClr val="0000FF"/>
                </a:solidFill>
              </a:rPr>
              <a:t> </a:t>
            </a:r>
            <a:r>
              <a:rPr lang="ko-KR" altLang="en-US" dirty="0">
                <a:solidFill>
                  <a:srgbClr val="0000FF"/>
                </a:solidFill>
              </a:rPr>
              <a:t>항목 </a:t>
            </a:r>
            <a:r>
              <a:rPr lang="ko-KR" altLang="en-US" dirty="0" smtClean="0">
                <a:solidFill>
                  <a:srgbClr val="0000FF"/>
                </a:solidFill>
              </a:rPr>
              <a:t>적용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r>
              <a:rPr lang="ko-KR" altLang="en-US" dirty="0" smtClean="0">
                <a:solidFill>
                  <a:srgbClr val="0000FF"/>
                </a:solidFill>
              </a:rPr>
              <a:t>해상수출</a:t>
            </a:r>
            <a:r>
              <a:rPr lang="en-US" altLang="ko-KR" dirty="0" smtClean="0">
                <a:solidFill>
                  <a:srgbClr val="0000FF"/>
                </a:solidFill>
              </a:rPr>
              <a:t>,</a:t>
            </a:r>
            <a:r>
              <a:rPr lang="ko-KR" altLang="en-US" dirty="0" smtClean="0">
                <a:solidFill>
                  <a:srgbClr val="0000FF"/>
                </a:solidFill>
              </a:rPr>
              <a:t>해상수입 </a:t>
            </a:r>
            <a:r>
              <a:rPr lang="en-US" altLang="ko-KR" dirty="0" smtClean="0">
                <a:solidFill>
                  <a:srgbClr val="0000FF"/>
                </a:solidFill>
              </a:rPr>
              <a:t>-&gt; </a:t>
            </a:r>
            <a:r>
              <a:rPr lang="en-US" altLang="ko-KR" b="1" dirty="0" smtClean="0">
                <a:solidFill>
                  <a:srgbClr val="FF0000"/>
                </a:solidFill>
              </a:rPr>
              <a:t>HOUSE B/L ONBOARD DATE </a:t>
            </a:r>
            <a:r>
              <a:rPr lang="ko-KR" altLang="en-US" dirty="0" smtClean="0">
                <a:solidFill>
                  <a:srgbClr val="0000FF"/>
                </a:solidFill>
              </a:rPr>
              <a:t>항목 적용 처리</a:t>
            </a:r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dirty="0" smtClean="0">
              <a:solidFill>
                <a:srgbClr val="0000FF"/>
              </a:solidFill>
            </a:endParaRPr>
          </a:p>
          <a:p>
            <a:endParaRPr lang="en-US" altLang="ko-KR" sz="700" dirty="0" smtClean="0">
              <a:solidFill>
                <a:srgbClr val="FF0000"/>
              </a:solidFill>
              <a:latin typeface="Rix고딕 M"/>
              <a:ea typeface="Rix고딕 M"/>
            </a:endParaRPr>
          </a:p>
        </p:txBody>
      </p:sp>
      <p:sp>
        <p:nvSpPr>
          <p:cNvPr id="194" name="타원 193"/>
          <p:cNvSpPr/>
          <p:nvPr/>
        </p:nvSpPr>
        <p:spPr>
          <a:xfrm>
            <a:off x="-3816677" y="3403578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3-1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99" name="직사각형 198"/>
          <p:cNvSpPr/>
          <p:nvPr/>
        </p:nvSpPr>
        <p:spPr>
          <a:xfrm>
            <a:off x="10555372" y="80627"/>
            <a:ext cx="3593952" cy="6045794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b="1" dirty="0" smtClean="0">
                <a:solidFill>
                  <a:srgbClr val="000000"/>
                </a:solidFill>
              </a:rPr>
              <a:t>2. HOUSE B/L SEARCH 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버튼 기능 설명 </a:t>
            </a:r>
            <a:endParaRPr lang="en-US" altLang="ko-KR" sz="700" b="1" dirty="0" smtClean="0">
              <a:solidFill>
                <a:srgbClr val="000000"/>
              </a:solidFill>
            </a:endParaRPr>
          </a:p>
          <a:p>
            <a:endParaRPr lang="en-US" altLang="ko-KR" sz="700" b="1" dirty="0" smtClean="0">
              <a:solidFill>
                <a:srgbClr val="000000"/>
              </a:solidFill>
            </a:endParaRPr>
          </a:p>
          <a:p>
            <a:r>
              <a:rPr lang="ko-KR" altLang="en-US" sz="700" b="1" dirty="0" smtClean="0">
                <a:solidFill>
                  <a:srgbClr val="000000"/>
                </a:solidFill>
              </a:rPr>
              <a:t>신규입력 시  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: </a:t>
            </a:r>
          </a:p>
          <a:p>
            <a:r>
              <a:rPr lang="en-US" altLang="ko-KR" sz="700" b="1" dirty="0">
                <a:solidFill>
                  <a:srgbClr val="000000"/>
                </a:solidFill>
              </a:rPr>
              <a:t> 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버튼 </a:t>
            </a:r>
            <a:r>
              <a:rPr lang="ko-KR" altLang="en-US" sz="700" b="1" dirty="0" err="1" smtClean="0">
                <a:solidFill>
                  <a:srgbClr val="000000"/>
                </a:solidFill>
              </a:rPr>
              <a:t>클릭시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 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2-2  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선택된 업무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BOUND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에 해당하는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HOUSE B/L 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검색 팝업 호출</a:t>
            </a:r>
            <a:r>
              <a:rPr lang="en-US" altLang="ko-KR" sz="700" b="1" dirty="0">
                <a:solidFill>
                  <a:srgbClr val="000000"/>
                </a:solidFill>
              </a:rPr>
              <a:t> 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 </a:t>
            </a:r>
          </a:p>
          <a:p>
            <a:r>
              <a:rPr lang="en-US" altLang="ko-KR" sz="700" b="1" dirty="0">
                <a:solidFill>
                  <a:srgbClr val="FF0000"/>
                </a:solidFill>
              </a:rPr>
              <a:t>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HOUSE B/L 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검색 팝업 옵션으로 업무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BOUND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를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선택할수있는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기능을 제공하며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선택된 업무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BOUND 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유형이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2-2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유형과 </a:t>
            </a:r>
            <a:r>
              <a:rPr lang="ko-KR" altLang="en-US" sz="700" b="1" dirty="0" err="1" smtClean="0">
                <a:solidFill>
                  <a:srgbClr val="0000FF"/>
                </a:solidFill>
              </a:rPr>
              <a:t>불일치시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 검색 팝업에 옵션으로 제공된 업무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BOUND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로 변경처리</a:t>
            </a:r>
            <a:endParaRPr lang="en-US" altLang="ko-KR" sz="700" b="1" dirty="0" smtClean="0">
              <a:solidFill>
                <a:srgbClr val="0000FF"/>
              </a:solidFill>
            </a:endParaRPr>
          </a:p>
          <a:p>
            <a:r>
              <a:rPr lang="en-US" altLang="ko-KR" sz="700" b="1" dirty="0" smtClean="0">
                <a:solidFill>
                  <a:srgbClr val="FF0000"/>
                </a:solidFill>
                <a:latin typeface="Rix고딕 M"/>
                <a:ea typeface="Rix고딕 M"/>
              </a:rPr>
              <a:t>※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MASTER </a:t>
            </a:r>
            <a:r>
              <a:rPr lang="en-US" altLang="ko-KR" sz="700" b="1" dirty="0">
                <a:solidFill>
                  <a:srgbClr val="FF0000"/>
                </a:solidFill>
              </a:rPr>
              <a:t>B/L </a:t>
            </a:r>
            <a:r>
              <a:rPr lang="ko-KR" altLang="en-US" sz="700" b="1" dirty="0">
                <a:solidFill>
                  <a:srgbClr val="FF0000"/>
                </a:solidFill>
              </a:rPr>
              <a:t>없어도 </a:t>
            </a:r>
            <a:r>
              <a:rPr lang="en-US" altLang="ko-KR" sz="700" b="1" dirty="0">
                <a:solidFill>
                  <a:srgbClr val="FF0000"/>
                </a:solidFill>
              </a:rPr>
              <a:t>HOUSE B/L </a:t>
            </a:r>
            <a:r>
              <a:rPr lang="ko-KR" altLang="en-US" sz="700" b="1" dirty="0">
                <a:solidFill>
                  <a:srgbClr val="FF0000"/>
                </a:solidFill>
              </a:rPr>
              <a:t>만 존재해도 호출 처리 가능</a:t>
            </a:r>
            <a:endParaRPr lang="en-US" altLang="ko-KR" sz="700" b="1" dirty="0">
              <a:solidFill>
                <a:srgbClr val="FF0000"/>
              </a:solidFill>
            </a:endParaRPr>
          </a:p>
          <a:p>
            <a:endParaRPr lang="en-US" altLang="ko-KR" sz="700" b="1" dirty="0">
              <a:solidFill>
                <a:srgbClr val="0000FF"/>
              </a:solidFill>
            </a:endParaRPr>
          </a:p>
          <a:p>
            <a:r>
              <a:rPr lang="ko-KR" altLang="en-US" sz="700" b="1" dirty="0" smtClean="0">
                <a:solidFill>
                  <a:srgbClr val="0000FF"/>
                </a:solidFill>
              </a:rPr>
              <a:t>수정 </a:t>
            </a:r>
            <a:r>
              <a:rPr lang="ko-KR" altLang="en-US" sz="700" b="1" dirty="0" err="1" smtClean="0">
                <a:solidFill>
                  <a:srgbClr val="0000FF"/>
                </a:solidFill>
              </a:rPr>
              <a:t>입력시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: </a:t>
            </a:r>
          </a:p>
          <a:p>
            <a:r>
              <a:rPr lang="en-US" altLang="ko-KR" sz="700" b="1" dirty="0" smtClean="0">
                <a:solidFill>
                  <a:srgbClr val="FF0000"/>
                </a:solidFill>
              </a:rPr>
              <a:t>HOUSE B/L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검색팝업 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호출후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사용자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House B/L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선택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적용시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메시지저장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처리후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신규입력 또는 취소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)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출력후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계속진행시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선택시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새로운 통관정산 신규 화면 처리</a:t>
            </a:r>
            <a:endParaRPr lang="en-US" altLang="ko-KR" sz="700" b="1" dirty="0" smtClean="0">
              <a:solidFill>
                <a:srgbClr val="FF0000"/>
              </a:solidFill>
            </a:endParaRPr>
          </a:p>
          <a:p>
            <a:endParaRPr lang="en-US" altLang="ko-KR" sz="700" b="1" dirty="0" smtClean="0">
              <a:solidFill>
                <a:srgbClr val="FF0000"/>
              </a:solidFill>
            </a:endParaRPr>
          </a:p>
          <a:p>
            <a:r>
              <a:rPr lang="en-US" altLang="ko-KR" sz="700" b="1" dirty="0" smtClean="0">
                <a:solidFill>
                  <a:srgbClr val="FF0000"/>
                </a:solidFill>
                <a:latin typeface="Rix고딕 M"/>
                <a:ea typeface="Rix고딕 M"/>
              </a:rPr>
              <a:t>※ Master Direct  </a:t>
            </a:r>
            <a:r>
              <a:rPr lang="ko-KR" altLang="en-US" sz="700" b="1" dirty="0" smtClean="0">
                <a:solidFill>
                  <a:srgbClr val="FF0000"/>
                </a:solidFill>
                <a:latin typeface="Rix고딕 M"/>
                <a:ea typeface="Rix고딕 M"/>
              </a:rPr>
              <a:t>건 인 경우</a:t>
            </a:r>
            <a:endParaRPr lang="en-US" altLang="ko-KR" sz="700" b="1" dirty="0" smtClean="0">
              <a:solidFill>
                <a:srgbClr val="FF0000"/>
              </a:solidFill>
              <a:latin typeface="Rix고딕 M"/>
              <a:ea typeface="Rix고딕 M"/>
            </a:endParaRPr>
          </a:p>
          <a:p>
            <a:r>
              <a:rPr lang="en-US" altLang="ko-KR" sz="700" b="1" dirty="0" smtClean="0">
                <a:solidFill>
                  <a:srgbClr val="FF0000"/>
                </a:solidFill>
                <a:latin typeface="Rix고딕 M"/>
                <a:ea typeface="Rix고딕 M"/>
              </a:rPr>
              <a:t>House B/L </a:t>
            </a:r>
            <a:r>
              <a:rPr lang="ko-KR" altLang="en-US" sz="700" b="1" dirty="0" smtClean="0">
                <a:solidFill>
                  <a:srgbClr val="FF0000"/>
                </a:solidFill>
                <a:latin typeface="Rix고딕 M"/>
                <a:ea typeface="Rix고딕 M"/>
              </a:rPr>
              <a:t>검색 팝업  옵션에 </a:t>
            </a:r>
            <a:r>
              <a:rPr lang="en-US" altLang="ko-KR" sz="700" b="1" dirty="0" smtClean="0">
                <a:solidFill>
                  <a:srgbClr val="FF0000"/>
                </a:solidFill>
                <a:latin typeface="Rix고딕 M"/>
                <a:ea typeface="Rix고딕 M"/>
              </a:rPr>
              <a:t>Master B/L </a:t>
            </a:r>
            <a:r>
              <a:rPr lang="ko-KR" altLang="en-US" sz="700" b="1" dirty="0" smtClean="0">
                <a:solidFill>
                  <a:srgbClr val="FF0000"/>
                </a:solidFill>
                <a:latin typeface="Rix고딕 M"/>
                <a:ea typeface="Rix고딕 M"/>
              </a:rPr>
              <a:t>선택 옵션 제공 처리</a:t>
            </a:r>
            <a:endParaRPr lang="en-US" altLang="ko-KR" sz="700" b="1" dirty="0" smtClean="0">
              <a:solidFill>
                <a:srgbClr val="FF0000"/>
              </a:solidFill>
              <a:latin typeface="Rix고딕 M"/>
              <a:ea typeface="Rix고딕 M"/>
            </a:endParaRPr>
          </a:p>
          <a:p>
            <a:endParaRPr lang="en-US" altLang="ko-KR" sz="700" b="1" dirty="0">
              <a:solidFill>
                <a:srgbClr val="FF0000"/>
              </a:solidFill>
              <a:latin typeface="Rix고딕 M"/>
              <a:ea typeface="Rix고딕 M"/>
            </a:endParaRPr>
          </a:p>
          <a:p>
            <a:r>
              <a:rPr lang="en-US" altLang="ko-KR" sz="700" b="1" dirty="0" smtClean="0">
                <a:solidFill>
                  <a:schemeClr val="tx1"/>
                </a:solidFill>
              </a:rPr>
              <a:t>2-6 </a:t>
            </a:r>
            <a:r>
              <a:rPr lang="ko-KR" altLang="en-US" sz="700" b="1" dirty="0">
                <a:solidFill>
                  <a:schemeClr val="tx1"/>
                </a:solidFill>
              </a:rPr>
              <a:t> </a:t>
            </a:r>
            <a:r>
              <a:rPr lang="en-US" altLang="ko-KR" sz="700" b="1" dirty="0" smtClean="0">
                <a:solidFill>
                  <a:schemeClr val="tx1"/>
                </a:solidFill>
              </a:rPr>
              <a:t>MASTER  B/L NO  </a:t>
            </a:r>
            <a:r>
              <a:rPr lang="ko-KR" altLang="en-US" sz="700" b="1" dirty="0" smtClean="0">
                <a:solidFill>
                  <a:schemeClr val="tx1"/>
                </a:solidFill>
              </a:rPr>
              <a:t>사용자 입력 가능 처리</a:t>
            </a:r>
            <a:endParaRPr lang="en-US" altLang="ko-KR" sz="700" b="1" dirty="0" smtClean="0">
              <a:solidFill>
                <a:schemeClr val="tx1"/>
              </a:solidFill>
            </a:endParaRPr>
          </a:p>
          <a:p>
            <a:r>
              <a:rPr lang="ko-KR" altLang="en-US" sz="700" b="1" dirty="0" smtClean="0">
                <a:solidFill>
                  <a:srgbClr val="0000FF"/>
                </a:solidFill>
              </a:rPr>
              <a:t>사용자 </a:t>
            </a:r>
            <a:r>
              <a:rPr lang="ko-KR" altLang="en-US" sz="700" b="1" dirty="0" err="1" smtClean="0">
                <a:solidFill>
                  <a:srgbClr val="0000FF"/>
                </a:solidFill>
              </a:rPr>
              <a:t>입력시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2-2 </a:t>
            </a:r>
            <a:r>
              <a:rPr lang="ko-KR" altLang="en-US" sz="700" b="1" dirty="0">
                <a:solidFill>
                  <a:srgbClr val="0000FF"/>
                </a:solidFill>
              </a:rPr>
              <a:t>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항목과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JOIN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해서 등록되어있는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MASTER B/L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을 검색하며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,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검색된 내용과  </a:t>
            </a:r>
            <a:r>
              <a:rPr lang="ko-KR" altLang="en-US" sz="700" b="1" dirty="0" err="1" smtClean="0">
                <a:solidFill>
                  <a:srgbClr val="0000FF"/>
                </a:solidFill>
              </a:rPr>
              <a:t>불일치시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  메시지 출력 처리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, </a:t>
            </a:r>
          </a:p>
          <a:p>
            <a:r>
              <a:rPr lang="ko-KR" altLang="en-US" sz="700" b="1" dirty="0" smtClean="0">
                <a:solidFill>
                  <a:srgbClr val="0000FF"/>
                </a:solidFill>
              </a:rPr>
              <a:t>검색 </a:t>
            </a:r>
            <a:r>
              <a:rPr lang="ko-KR" altLang="en-US" sz="700" b="1" dirty="0" err="1" smtClean="0">
                <a:solidFill>
                  <a:srgbClr val="0000FF"/>
                </a:solidFill>
              </a:rPr>
              <a:t>일치시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 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MASTER DIRECT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건 인 경우 해당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MASTER B/L 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호출 처리 </a:t>
            </a:r>
            <a:endParaRPr lang="en-US" altLang="ko-KR" sz="700" b="1" dirty="0" smtClean="0">
              <a:solidFill>
                <a:srgbClr val="0000FF"/>
              </a:solidFill>
            </a:endParaRPr>
          </a:p>
          <a:p>
            <a:r>
              <a:rPr lang="en-US" altLang="ko-KR" sz="700" b="1" dirty="0" smtClean="0">
                <a:solidFill>
                  <a:srgbClr val="0000FF"/>
                </a:solidFill>
              </a:rPr>
              <a:t>CONSOLE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건 경우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HOUSE B/L 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목록을 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VIEW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처리하며 사용자 선택 처리 </a:t>
            </a:r>
            <a:endParaRPr lang="en-US" altLang="ko-KR" sz="700" b="1" dirty="0" smtClean="0">
              <a:solidFill>
                <a:srgbClr val="0000FF"/>
              </a:solidFill>
            </a:endParaRPr>
          </a:p>
          <a:p>
            <a:r>
              <a:rPr lang="en-US" altLang="ko-KR" sz="700" b="1" dirty="0" smtClean="0">
                <a:solidFill>
                  <a:srgbClr val="FF0000"/>
                </a:solidFill>
                <a:latin typeface="Rix고딕 M"/>
                <a:ea typeface="Rix고딕 M"/>
              </a:rPr>
              <a:t>※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LIKE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검색 기능 제공</a:t>
            </a:r>
            <a:endParaRPr lang="en-US" altLang="ko-KR" sz="700" b="1" dirty="0" smtClean="0">
              <a:solidFill>
                <a:srgbClr val="FF0000"/>
              </a:solidFill>
            </a:endParaRPr>
          </a:p>
          <a:p>
            <a:endParaRPr lang="en-US" altLang="ko-KR" sz="700" b="1" dirty="0">
              <a:solidFill>
                <a:srgbClr val="FF0000"/>
              </a:solidFill>
            </a:endParaRPr>
          </a:p>
          <a:p>
            <a:r>
              <a:rPr lang="en-US" altLang="ko-KR" sz="700" b="1" dirty="0" smtClean="0">
                <a:solidFill>
                  <a:schemeClr val="tx1"/>
                </a:solidFill>
              </a:rPr>
              <a:t>2-7 </a:t>
            </a:r>
            <a:r>
              <a:rPr lang="ko-KR" altLang="en-US" sz="700" b="1" dirty="0" smtClean="0">
                <a:solidFill>
                  <a:schemeClr val="tx1"/>
                </a:solidFill>
              </a:rPr>
              <a:t> </a:t>
            </a:r>
            <a:r>
              <a:rPr lang="en-US" altLang="ko-KR" sz="700" b="1" dirty="0" smtClean="0">
                <a:solidFill>
                  <a:schemeClr val="tx1"/>
                </a:solidFill>
              </a:rPr>
              <a:t>HOUSE  </a:t>
            </a:r>
            <a:r>
              <a:rPr lang="en-US" altLang="ko-KR" sz="700" b="1" dirty="0">
                <a:solidFill>
                  <a:schemeClr val="tx1"/>
                </a:solidFill>
              </a:rPr>
              <a:t>B/L NO  </a:t>
            </a:r>
            <a:r>
              <a:rPr lang="ko-KR" altLang="en-US" sz="700" b="1" dirty="0">
                <a:solidFill>
                  <a:schemeClr val="tx1"/>
                </a:solidFill>
              </a:rPr>
              <a:t>사용자 입력 가능 처리</a:t>
            </a:r>
            <a:endParaRPr lang="en-US" altLang="ko-KR" sz="700" b="1" dirty="0">
              <a:solidFill>
                <a:schemeClr val="tx1"/>
              </a:solidFill>
            </a:endParaRPr>
          </a:p>
          <a:p>
            <a:r>
              <a:rPr lang="ko-KR" altLang="en-US" sz="700" b="1" dirty="0">
                <a:solidFill>
                  <a:srgbClr val="0000FF"/>
                </a:solidFill>
              </a:rPr>
              <a:t>사용자 </a:t>
            </a:r>
            <a:r>
              <a:rPr lang="ko-KR" altLang="en-US" sz="700" b="1" dirty="0" err="1">
                <a:solidFill>
                  <a:srgbClr val="0000FF"/>
                </a:solidFill>
              </a:rPr>
              <a:t>입력시</a:t>
            </a:r>
            <a:r>
              <a:rPr lang="ko-KR" altLang="en-US" sz="700" b="1" dirty="0">
                <a:solidFill>
                  <a:srgbClr val="0000FF"/>
                </a:solidFill>
              </a:rPr>
              <a:t> </a:t>
            </a:r>
            <a:r>
              <a:rPr lang="en-US" altLang="ko-KR" sz="700" b="1" dirty="0">
                <a:solidFill>
                  <a:srgbClr val="0000FF"/>
                </a:solidFill>
              </a:rPr>
              <a:t>2-2 </a:t>
            </a:r>
            <a:r>
              <a:rPr lang="ko-KR" altLang="en-US" sz="700" b="1" dirty="0">
                <a:solidFill>
                  <a:srgbClr val="0000FF"/>
                </a:solidFill>
              </a:rPr>
              <a:t> 항목과 </a:t>
            </a:r>
            <a:r>
              <a:rPr lang="en-US" altLang="ko-KR" sz="700" b="1" dirty="0">
                <a:solidFill>
                  <a:srgbClr val="0000FF"/>
                </a:solidFill>
              </a:rPr>
              <a:t>JOIN </a:t>
            </a:r>
            <a:r>
              <a:rPr lang="ko-KR" altLang="en-US" sz="700" b="1" dirty="0">
                <a:solidFill>
                  <a:srgbClr val="0000FF"/>
                </a:solidFill>
              </a:rPr>
              <a:t>해서 등록되어있는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HOUSE B/L </a:t>
            </a:r>
            <a:r>
              <a:rPr lang="ko-KR" altLang="en-US" sz="700" b="1" dirty="0">
                <a:solidFill>
                  <a:srgbClr val="0000FF"/>
                </a:solidFill>
              </a:rPr>
              <a:t>을 검색하며</a:t>
            </a:r>
            <a:r>
              <a:rPr lang="en-US" altLang="ko-KR" sz="700" b="1" dirty="0">
                <a:solidFill>
                  <a:srgbClr val="0000FF"/>
                </a:solidFill>
              </a:rPr>
              <a:t>,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검색된 내용과  </a:t>
            </a:r>
            <a:r>
              <a:rPr lang="ko-KR" altLang="en-US" sz="700" b="1" dirty="0" err="1">
                <a:solidFill>
                  <a:srgbClr val="0000FF"/>
                </a:solidFill>
              </a:rPr>
              <a:t>불일치시</a:t>
            </a:r>
            <a:r>
              <a:rPr lang="ko-KR" altLang="en-US" sz="700" b="1" dirty="0">
                <a:solidFill>
                  <a:srgbClr val="0000FF"/>
                </a:solidFill>
              </a:rPr>
              <a:t>  메시지 출력 처리</a:t>
            </a:r>
            <a:r>
              <a:rPr lang="en-US" altLang="ko-KR" sz="700" b="1" dirty="0">
                <a:solidFill>
                  <a:srgbClr val="0000FF"/>
                </a:solidFill>
              </a:rPr>
              <a:t>, </a:t>
            </a:r>
            <a:endParaRPr lang="en-US" altLang="ko-KR" sz="700" b="1" dirty="0" smtClean="0">
              <a:solidFill>
                <a:srgbClr val="0000FF"/>
              </a:solidFill>
            </a:endParaRPr>
          </a:p>
          <a:p>
            <a:r>
              <a:rPr lang="en-US" altLang="ko-KR" sz="700" b="1" dirty="0" smtClean="0">
                <a:solidFill>
                  <a:srgbClr val="FF0000"/>
                </a:solidFill>
                <a:latin typeface="Rix고딕 M"/>
                <a:ea typeface="Rix고딕 M"/>
              </a:rPr>
              <a:t>※</a:t>
            </a:r>
            <a:r>
              <a:rPr lang="en-US" altLang="ko-KR" sz="700" b="1" dirty="0">
                <a:solidFill>
                  <a:srgbClr val="FF0000"/>
                </a:solidFill>
              </a:rPr>
              <a:t>LIKE </a:t>
            </a:r>
            <a:r>
              <a:rPr lang="ko-KR" altLang="en-US" sz="700" b="1" dirty="0">
                <a:solidFill>
                  <a:srgbClr val="FF0000"/>
                </a:solidFill>
              </a:rPr>
              <a:t>검색 기능 제공</a:t>
            </a:r>
            <a:endParaRPr lang="en-US" altLang="ko-KR" sz="700" b="1" dirty="0">
              <a:solidFill>
                <a:srgbClr val="FF0000"/>
              </a:solidFill>
            </a:endParaRPr>
          </a:p>
          <a:p>
            <a:endParaRPr lang="en-US" altLang="ko-KR" sz="700" b="1" dirty="0" smtClean="0">
              <a:solidFill>
                <a:srgbClr val="FF0000"/>
              </a:solidFill>
            </a:endParaRPr>
          </a:p>
          <a:p>
            <a:r>
              <a:rPr lang="en-US" altLang="ko-KR" sz="700" b="1" dirty="0" smtClean="0">
                <a:solidFill>
                  <a:schemeClr val="tx1"/>
                </a:solidFill>
              </a:rPr>
              <a:t>2-8 </a:t>
            </a:r>
            <a:r>
              <a:rPr lang="ko-KR" altLang="en-US" sz="700" b="1" dirty="0" smtClean="0">
                <a:solidFill>
                  <a:schemeClr val="tx1"/>
                </a:solidFill>
              </a:rPr>
              <a:t> </a:t>
            </a:r>
            <a:r>
              <a:rPr lang="en-US" altLang="ko-KR" sz="700" b="1" dirty="0" smtClean="0">
                <a:solidFill>
                  <a:schemeClr val="tx1"/>
                </a:solidFill>
              </a:rPr>
              <a:t>CASEQ NO (</a:t>
            </a:r>
            <a:r>
              <a:rPr lang="ko-KR" altLang="en-US" sz="700" b="1" dirty="0" smtClean="0">
                <a:solidFill>
                  <a:schemeClr val="tx1"/>
                </a:solidFill>
              </a:rPr>
              <a:t>통관정산 일련번호</a:t>
            </a:r>
            <a:r>
              <a:rPr lang="en-US" altLang="ko-KR" sz="700" b="1" dirty="0" smtClean="0">
                <a:solidFill>
                  <a:schemeClr val="tx1"/>
                </a:solidFill>
              </a:rPr>
              <a:t>)</a:t>
            </a:r>
          </a:p>
          <a:p>
            <a:r>
              <a:rPr lang="ko-KR" altLang="en-US" sz="700" b="1" dirty="0" smtClean="0">
                <a:solidFill>
                  <a:srgbClr val="0000FF"/>
                </a:solidFill>
              </a:rPr>
              <a:t>설명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: </a:t>
            </a:r>
            <a:r>
              <a:rPr lang="ko-KR" altLang="en-US" sz="700" b="1" dirty="0">
                <a:solidFill>
                  <a:srgbClr val="0000FF"/>
                </a:solidFill>
              </a:rPr>
              <a:t>수출인 경우 </a:t>
            </a:r>
            <a:r>
              <a:rPr lang="en-US" altLang="ko-KR" sz="700" b="1" dirty="0">
                <a:solidFill>
                  <a:srgbClr val="0000FF"/>
                </a:solidFill>
              </a:rPr>
              <a:t>SHIPPER, </a:t>
            </a:r>
            <a:r>
              <a:rPr lang="ko-KR" altLang="en-US" sz="700" b="1" dirty="0">
                <a:solidFill>
                  <a:srgbClr val="0000FF"/>
                </a:solidFill>
              </a:rPr>
              <a:t>수입인 경우 </a:t>
            </a:r>
            <a:r>
              <a:rPr lang="en-US" altLang="ko-KR" sz="700" b="1" dirty="0">
                <a:solidFill>
                  <a:srgbClr val="0000FF"/>
                </a:solidFill>
              </a:rPr>
              <a:t>CONSIGNEE  </a:t>
            </a:r>
            <a:r>
              <a:rPr lang="ko-KR" altLang="en-US" sz="700" b="1" dirty="0">
                <a:solidFill>
                  <a:srgbClr val="0000FF"/>
                </a:solidFill>
              </a:rPr>
              <a:t>화주 코드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와 연계하여 시스템 규칙에 따라 자동 부여 처리</a:t>
            </a:r>
            <a:endParaRPr lang="en-US" altLang="ko-KR" sz="700" b="1" dirty="0" smtClean="0">
              <a:solidFill>
                <a:srgbClr val="0000FF"/>
              </a:solidFill>
            </a:endParaRPr>
          </a:p>
          <a:p>
            <a:r>
              <a:rPr lang="ko-KR" altLang="en-US" sz="700" b="1" dirty="0" smtClean="0">
                <a:solidFill>
                  <a:srgbClr val="0000FF"/>
                </a:solidFill>
              </a:rPr>
              <a:t>수출인 경우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SHIPPER,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수입인 경우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CONSIGNEE 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화주 코드 와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JOIN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하여</a:t>
            </a:r>
            <a:endParaRPr lang="en-US" altLang="ko-KR" sz="700" b="1" dirty="0" smtClean="0">
              <a:solidFill>
                <a:srgbClr val="0000FF"/>
              </a:solidFill>
            </a:endParaRPr>
          </a:p>
          <a:p>
            <a:r>
              <a:rPr lang="ko-KR" altLang="en-US" sz="700" b="1" dirty="0" smtClean="0">
                <a:solidFill>
                  <a:srgbClr val="0000FF"/>
                </a:solidFill>
              </a:rPr>
              <a:t>마지막 등록된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CASEQNO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을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COUNT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하여 생성처리</a:t>
            </a:r>
            <a:endParaRPr lang="en-US" altLang="ko-KR" sz="700" b="1" dirty="0" smtClean="0">
              <a:solidFill>
                <a:srgbClr val="0000FF"/>
              </a:solidFill>
            </a:endParaRPr>
          </a:p>
          <a:p>
            <a:endParaRPr lang="en-US" altLang="ko-KR" sz="700" b="1" dirty="0">
              <a:solidFill>
                <a:srgbClr val="FF0000"/>
              </a:solidFill>
            </a:endParaRPr>
          </a:p>
          <a:p>
            <a:r>
              <a:rPr lang="en-US" altLang="ko-KR" sz="700" b="1" dirty="0" smtClean="0">
                <a:solidFill>
                  <a:srgbClr val="FF0000"/>
                </a:solidFill>
                <a:latin typeface="Rix고딕 M"/>
                <a:ea typeface="Rix고딕 M"/>
              </a:rPr>
              <a:t>※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통관장산 자료는  화주와의 연속성 있는 정산처리가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되야되는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이유로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“</a:t>
            </a:r>
            <a:r>
              <a:rPr lang="ko-KR" altLang="en-US" b="1" dirty="0" smtClean="0">
                <a:solidFill>
                  <a:srgbClr val="0000FF"/>
                </a:solidFill>
              </a:rPr>
              <a:t>이월 개념</a:t>
            </a:r>
            <a:r>
              <a:rPr lang="en-US" altLang="ko-KR" b="1" dirty="0" smtClean="0">
                <a:solidFill>
                  <a:srgbClr val="0000FF"/>
                </a:solidFill>
              </a:rPr>
              <a:t>”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이  있으며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연속성인  데이터로 인식 및 처리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.</a:t>
            </a:r>
          </a:p>
          <a:p>
            <a:endParaRPr lang="en-US" altLang="ko-KR" sz="700" b="1" dirty="0">
              <a:solidFill>
                <a:srgbClr val="FF0000"/>
              </a:solidFill>
            </a:endParaRPr>
          </a:p>
          <a:p>
            <a:r>
              <a:rPr lang="en-US" altLang="ko-KR" sz="700" b="1" dirty="0" smtClean="0">
                <a:solidFill>
                  <a:schemeClr val="tx1"/>
                </a:solidFill>
              </a:rPr>
              <a:t>2-9 </a:t>
            </a:r>
            <a:r>
              <a:rPr lang="ko-KR" altLang="en-US" sz="700" b="1" dirty="0" smtClean="0">
                <a:solidFill>
                  <a:schemeClr val="tx1"/>
                </a:solidFill>
              </a:rPr>
              <a:t> 정산화주</a:t>
            </a:r>
            <a:endParaRPr lang="en-US" altLang="ko-KR" sz="700" b="1" dirty="0" smtClean="0">
              <a:solidFill>
                <a:schemeClr val="tx1"/>
              </a:solidFill>
            </a:endParaRPr>
          </a:p>
          <a:p>
            <a:r>
              <a:rPr lang="ko-KR" altLang="en-US" sz="700" b="1" dirty="0" smtClean="0">
                <a:solidFill>
                  <a:schemeClr val="tx1"/>
                </a:solidFill>
              </a:rPr>
              <a:t>설명 </a:t>
            </a:r>
            <a:r>
              <a:rPr lang="en-US" altLang="ko-KR" sz="700" b="1" dirty="0" smtClean="0">
                <a:solidFill>
                  <a:schemeClr val="tx1"/>
                </a:solidFill>
              </a:rPr>
              <a:t>: </a:t>
            </a:r>
          </a:p>
          <a:p>
            <a:r>
              <a:rPr lang="en-US" altLang="ko-KR" sz="700" b="1" dirty="0" smtClean="0">
                <a:solidFill>
                  <a:schemeClr val="tx1"/>
                </a:solidFill>
              </a:rPr>
              <a:t>MASTER DIRECT </a:t>
            </a:r>
            <a:r>
              <a:rPr lang="ko-KR" altLang="en-US" sz="700" b="1" dirty="0" smtClean="0">
                <a:solidFill>
                  <a:schemeClr val="tx1"/>
                </a:solidFill>
              </a:rPr>
              <a:t>건 경우 </a:t>
            </a:r>
            <a:r>
              <a:rPr lang="en-US" altLang="ko-KR" sz="700" b="1" dirty="0" smtClean="0">
                <a:solidFill>
                  <a:schemeClr val="tx1"/>
                </a:solidFill>
              </a:rPr>
              <a:t>: </a:t>
            </a:r>
          </a:p>
          <a:p>
            <a:r>
              <a:rPr lang="ko-KR" altLang="en-US" sz="700" b="1" dirty="0" err="1" smtClean="0">
                <a:solidFill>
                  <a:srgbClr val="0000FF"/>
                </a:solidFill>
              </a:rPr>
              <a:t>청구등록텝에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ACCOUNT INFORMATION “ACCTOUNT “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항목에 등록되어있는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ACCOUNT CODE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항목을 정산화주 항목에 적용처리</a:t>
            </a:r>
            <a:endParaRPr lang="en-US" altLang="ko-KR" sz="700" b="1" dirty="0" smtClean="0">
              <a:solidFill>
                <a:srgbClr val="0000FF"/>
              </a:solidFill>
            </a:endParaRPr>
          </a:p>
          <a:p>
            <a:endParaRPr lang="en-US" altLang="ko-KR" sz="700" b="1" dirty="0">
              <a:solidFill>
                <a:srgbClr val="0000FF"/>
              </a:solidFill>
            </a:endParaRPr>
          </a:p>
          <a:p>
            <a:r>
              <a:rPr lang="en-US" altLang="ko-KR" sz="700" b="1" dirty="0" smtClean="0">
                <a:solidFill>
                  <a:schemeClr val="tx1"/>
                </a:solidFill>
              </a:rPr>
              <a:t>CONSOLE  </a:t>
            </a:r>
            <a:r>
              <a:rPr lang="ko-KR" altLang="en-US" sz="700" b="1" dirty="0">
                <a:solidFill>
                  <a:schemeClr val="tx1"/>
                </a:solidFill>
              </a:rPr>
              <a:t>건 경우 </a:t>
            </a:r>
            <a:r>
              <a:rPr lang="en-US" altLang="ko-KR" sz="700" b="1" dirty="0">
                <a:solidFill>
                  <a:schemeClr val="tx1"/>
                </a:solidFill>
              </a:rPr>
              <a:t>: </a:t>
            </a:r>
          </a:p>
          <a:p>
            <a:r>
              <a:rPr lang="ko-KR" altLang="en-US" sz="700" b="1" dirty="0" err="1">
                <a:solidFill>
                  <a:srgbClr val="0000FF"/>
                </a:solidFill>
              </a:rPr>
              <a:t>청구등록텝에</a:t>
            </a:r>
            <a:r>
              <a:rPr lang="ko-KR" altLang="en-US" sz="700" b="1" dirty="0">
                <a:solidFill>
                  <a:srgbClr val="0000FF"/>
                </a:solidFill>
              </a:rPr>
              <a:t> </a:t>
            </a:r>
            <a:r>
              <a:rPr lang="en-US" altLang="ko-KR" sz="700" b="1" dirty="0">
                <a:solidFill>
                  <a:srgbClr val="0000FF"/>
                </a:solidFill>
              </a:rPr>
              <a:t>ACCOUNT INFORMATION “ACCTOUNT “ </a:t>
            </a:r>
            <a:r>
              <a:rPr lang="ko-KR" altLang="en-US" sz="700" b="1" dirty="0">
                <a:solidFill>
                  <a:srgbClr val="0000FF"/>
                </a:solidFill>
              </a:rPr>
              <a:t>항목에 등록되어있는 </a:t>
            </a:r>
            <a:r>
              <a:rPr lang="en-US" altLang="ko-KR" sz="700" b="1" dirty="0">
                <a:solidFill>
                  <a:srgbClr val="0000FF"/>
                </a:solidFill>
              </a:rPr>
              <a:t>ACCOUNT CODE </a:t>
            </a:r>
            <a:r>
              <a:rPr lang="ko-KR" altLang="en-US" sz="700" b="1" dirty="0">
                <a:solidFill>
                  <a:srgbClr val="0000FF"/>
                </a:solidFill>
              </a:rPr>
              <a:t>항목을 정산화주 항목에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적용처리</a:t>
            </a:r>
            <a:endParaRPr lang="en-US" altLang="ko-KR" sz="700" b="1" dirty="0" smtClean="0">
              <a:solidFill>
                <a:srgbClr val="0000FF"/>
              </a:solidFill>
            </a:endParaRPr>
          </a:p>
          <a:p>
            <a:endParaRPr lang="en-US" altLang="ko-KR" sz="700" b="1" dirty="0">
              <a:solidFill>
                <a:srgbClr val="0000FF"/>
              </a:solidFill>
            </a:endParaRPr>
          </a:p>
          <a:p>
            <a:r>
              <a:rPr lang="en-US" altLang="ko-KR" sz="700" b="1" dirty="0" smtClean="0">
                <a:solidFill>
                  <a:srgbClr val="0000FF"/>
                </a:solidFill>
              </a:rPr>
              <a:t>SHIPPER, CONSIIGNEE  : </a:t>
            </a:r>
          </a:p>
          <a:p>
            <a:r>
              <a:rPr lang="en-US" altLang="ko-KR" sz="700" b="1" dirty="0" smtClean="0">
                <a:solidFill>
                  <a:srgbClr val="0000FF"/>
                </a:solidFill>
              </a:rPr>
              <a:t>HOUSE B/L 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항목과 일치 처리</a:t>
            </a:r>
            <a:endParaRPr lang="en-US" altLang="ko-KR" sz="700" b="1" dirty="0" smtClean="0">
              <a:solidFill>
                <a:srgbClr val="0000FF"/>
              </a:solidFill>
            </a:endParaRPr>
          </a:p>
          <a:p>
            <a:r>
              <a:rPr lang="en-US" altLang="ko-KR" sz="700" b="1" dirty="0" smtClean="0">
                <a:solidFill>
                  <a:srgbClr val="0000FF"/>
                </a:solidFill>
              </a:rPr>
              <a:t>MASTER DIRECT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인 경우</a:t>
            </a:r>
            <a:endParaRPr lang="en-US" altLang="ko-KR" sz="700" b="1" dirty="0" smtClean="0">
              <a:solidFill>
                <a:srgbClr val="0000FF"/>
              </a:solidFill>
            </a:endParaRPr>
          </a:p>
          <a:p>
            <a:r>
              <a:rPr lang="ko-KR" altLang="en-US" sz="700" b="1" dirty="0" err="1" smtClean="0">
                <a:solidFill>
                  <a:srgbClr val="0000FF"/>
                </a:solidFill>
              </a:rPr>
              <a:t>수입인경우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: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정산화주에 와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CONSIGNEE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항목 동일 적용 처리</a:t>
            </a:r>
            <a:endParaRPr lang="en-US" altLang="ko-KR" sz="700" b="1" dirty="0" smtClean="0">
              <a:solidFill>
                <a:srgbClr val="0000FF"/>
              </a:solidFill>
            </a:endParaRPr>
          </a:p>
          <a:p>
            <a:r>
              <a:rPr lang="en-US" altLang="ko-KR" sz="700" b="1" dirty="0">
                <a:solidFill>
                  <a:srgbClr val="0000FF"/>
                </a:solidFill>
              </a:rPr>
              <a:t>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                SHIPPER </a:t>
            </a:r>
            <a:r>
              <a:rPr lang="ko-KR" altLang="en-US" sz="700" b="1" dirty="0">
                <a:solidFill>
                  <a:srgbClr val="0000FF"/>
                </a:solidFill>
              </a:rPr>
              <a:t>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항목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: MASTER B/L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항목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SHIPPER(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화주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)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항목 적용 처리</a:t>
            </a:r>
            <a:endParaRPr lang="en-US" altLang="ko-KR" sz="700" b="1" dirty="0" smtClean="0">
              <a:solidFill>
                <a:srgbClr val="0000FF"/>
              </a:solidFill>
            </a:endParaRPr>
          </a:p>
          <a:p>
            <a:r>
              <a:rPr lang="ko-KR" altLang="en-US" sz="700" b="1" dirty="0" err="1" smtClean="0">
                <a:solidFill>
                  <a:srgbClr val="0000FF"/>
                </a:solidFill>
              </a:rPr>
              <a:t>수</a:t>
            </a:r>
            <a:r>
              <a:rPr lang="ko-KR" altLang="en-US" sz="700" b="1" dirty="0" err="1">
                <a:solidFill>
                  <a:srgbClr val="0000FF"/>
                </a:solidFill>
              </a:rPr>
              <a:t>출</a:t>
            </a:r>
            <a:r>
              <a:rPr lang="ko-KR" altLang="en-US" sz="700" b="1" dirty="0" err="1" smtClean="0">
                <a:solidFill>
                  <a:srgbClr val="0000FF"/>
                </a:solidFill>
              </a:rPr>
              <a:t>인경우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: </a:t>
            </a:r>
            <a:r>
              <a:rPr lang="ko-KR" altLang="en-US" sz="700" b="1" dirty="0">
                <a:solidFill>
                  <a:srgbClr val="0000FF"/>
                </a:solidFill>
              </a:rPr>
              <a:t>정산화주에 와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SHIPPER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항목 </a:t>
            </a:r>
            <a:r>
              <a:rPr lang="ko-KR" altLang="en-US" sz="700" b="1" dirty="0">
                <a:solidFill>
                  <a:srgbClr val="0000FF"/>
                </a:solidFill>
              </a:rPr>
              <a:t>동일 적용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처리</a:t>
            </a:r>
            <a:endParaRPr lang="en-US" altLang="ko-KR" sz="700" b="1" dirty="0" smtClean="0">
              <a:solidFill>
                <a:srgbClr val="0000FF"/>
              </a:solidFill>
            </a:endParaRPr>
          </a:p>
          <a:p>
            <a:r>
              <a:rPr lang="en-US" altLang="ko-KR" sz="700" b="1" dirty="0" smtClean="0">
                <a:solidFill>
                  <a:srgbClr val="0000FF"/>
                </a:solidFill>
              </a:rPr>
              <a:t>                 CONSIGNEE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 </a:t>
            </a:r>
            <a:r>
              <a:rPr lang="ko-KR" altLang="en-US" sz="700" b="1" dirty="0">
                <a:solidFill>
                  <a:srgbClr val="0000FF"/>
                </a:solidFill>
              </a:rPr>
              <a:t>항목 </a:t>
            </a:r>
            <a:r>
              <a:rPr lang="en-US" altLang="ko-KR" sz="700" b="1" dirty="0">
                <a:solidFill>
                  <a:srgbClr val="0000FF"/>
                </a:solidFill>
              </a:rPr>
              <a:t>: MASTER B/L </a:t>
            </a:r>
            <a:r>
              <a:rPr lang="ko-KR" altLang="en-US" sz="700" b="1" dirty="0">
                <a:solidFill>
                  <a:srgbClr val="0000FF"/>
                </a:solidFill>
              </a:rPr>
              <a:t>항목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CONSIGNEE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화주</a:t>
            </a:r>
            <a:r>
              <a:rPr lang="en-US" altLang="ko-KR" sz="700" b="1" dirty="0">
                <a:solidFill>
                  <a:srgbClr val="0000FF"/>
                </a:solidFill>
              </a:rPr>
              <a:t>) </a:t>
            </a:r>
            <a:r>
              <a:rPr lang="ko-KR" altLang="en-US" sz="700" b="1" dirty="0">
                <a:solidFill>
                  <a:srgbClr val="0000FF"/>
                </a:solidFill>
              </a:rPr>
              <a:t>항목 적용 처리</a:t>
            </a:r>
            <a:endParaRPr lang="en-US" altLang="ko-KR" sz="700" b="1" dirty="0">
              <a:solidFill>
                <a:srgbClr val="0000FF"/>
              </a:solidFill>
            </a:endParaRPr>
          </a:p>
          <a:p>
            <a:endParaRPr lang="en-US" altLang="ko-KR" sz="700" b="1" dirty="0">
              <a:solidFill>
                <a:srgbClr val="0000FF"/>
              </a:solidFill>
            </a:endParaRPr>
          </a:p>
          <a:p>
            <a:endParaRPr lang="en-US" altLang="ko-KR" sz="700" b="1" dirty="0">
              <a:solidFill>
                <a:srgbClr val="0000FF"/>
              </a:solidFill>
            </a:endParaRPr>
          </a:p>
          <a:p>
            <a:endParaRPr lang="en-US" altLang="ko-KR" sz="700" b="1" dirty="0">
              <a:solidFill>
                <a:srgbClr val="0000FF"/>
              </a:solidFill>
            </a:endParaRPr>
          </a:p>
        </p:txBody>
      </p:sp>
      <p:sp>
        <p:nvSpPr>
          <p:cNvPr id="226" name="타원 225"/>
          <p:cNvSpPr/>
          <p:nvPr/>
        </p:nvSpPr>
        <p:spPr>
          <a:xfrm>
            <a:off x="10202792" y="8620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 smtClean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27" name="타원 226"/>
          <p:cNvSpPr/>
          <p:nvPr/>
        </p:nvSpPr>
        <p:spPr>
          <a:xfrm>
            <a:off x="-33372" y="673270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 smtClean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29" name="타원 228"/>
          <p:cNvSpPr/>
          <p:nvPr/>
        </p:nvSpPr>
        <p:spPr>
          <a:xfrm>
            <a:off x="-3803057" y="980728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 smtClean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43" name="타원 242"/>
          <p:cNvSpPr/>
          <p:nvPr/>
        </p:nvSpPr>
        <p:spPr>
          <a:xfrm>
            <a:off x="10231426" y="1628800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2-6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46" name="직사각형 245"/>
          <p:cNvSpPr/>
          <p:nvPr/>
        </p:nvSpPr>
        <p:spPr>
          <a:xfrm>
            <a:off x="-3456631" y="5957300"/>
            <a:ext cx="3344726" cy="568044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b="1" dirty="0" smtClean="0">
                <a:solidFill>
                  <a:srgbClr val="FF0000"/>
                </a:solidFill>
                <a:latin typeface="Rix고딕 M"/>
                <a:ea typeface="Rix고딕 M"/>
              </a:rPr>
              <a:t>※</a:t>
            </a:r>
            <a:r>
              <a:rPr lang="ko-KR" altLang="en-US" b="1" dirty="0" smtClean="0">
                <a:solidFill>
                  <a:srgbClr val="FF0000"/>
                </a:solidFill>
              </a:rPr>
              <a:t>컨테이너 목록 </a:t>
            </a:r>
            <a:r>
              <a:rPr lang="en-US" altLang="ko-KR" b="1" dirty="0" smtClean="0">
                <a:solidFill>
                  <a:srgbClr val="FF0000"/>
                </a:solidFill>
              </a:rPr>
              <a:t>: HOUSE B/L 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컨테이너 목록 적용처리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err="1" smtClean="0">
                <a:solidFill>
                  <a:srgbClr val="0000FF"/>
                </a:solidFill>
              </a:rPr>
              <a:t>콤보</a:t>
            </a:r>
            <a:r>
              <a:rPr lang="ko-KR" altLang="en-US" b="1" dirty="0" smtClean="0">
                <a:solidFill>
                  <a:srgbClr val="0000FF"/>
                </a:solidFill>
              </a:rPr>
              <a:t> 박스 클릭 시  업무 컨테이너 코드 목록 표기 처리</a:t>
            </a:r>
            <a:endParaRPr lang="en-US" altLang="ko-KR" b="1" dirty="0">
              <a:solidFill>
                <a:srgbClr val="0000FF"/>
              </a:solidFill>
            </a:endParaRPr>
          </a:p>
        </p:txBody>
      </p:sp>
      <p:sp>
        <p:nvSpPr>
          <p:cNvPr id="248" name="타원 247"/>
          <p:cNvSpPr/>
          <p:nvPr/>
        </p:nvSpPr>
        <p:spPr>
          <a:xfrm>
            <a:off x="-3816672" y="5811140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rgbClr val="000000"/>
                </a:solidFill>
              </a:rPr>
              <a:t>4</a:t>
            </a:r>
            <a:endParaRPr lang="en-US" altLang="ko-KR" sz="1000" b="1" dirty="0" smtClean="0">
              <a:solidFill>
                <a:srgbClr val="000000"/>
              </a:solidFill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-3456632" y="116632"/>
            <a:ext cx="3344719" cy="997385"/>
          </a:xfrm>
          <a:prstGeom prst="rect">
            <a:avLst/>
          </a:prstGeom>
          <a:solidFill>
            <a:srgbClr val="99CCFF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 dirty="0" smtClean="0">
                <a:solidFill>
                  <a:srgbClr val="000000"/>
                </a:solidFill>
                <a:latin typeface="Rix고딕 M"/>
                <a:ea typeface="Rix고딕 M"/>
              </a:rPr>
              <a:t>※</a:t>
            </a:r>
            <a:r>
              <a:rPr lang="ko-KR" altLang="en-US" sz="900" dirty="0" smtClean="0">
                <a:solidFill>
                  <a:srgbClr val="000000"/>
                </a:solidFill>
              </a:rPr>
              <a:t>해상수출입 및 항공수출입  적용 처리</a:t>
            </a:r>
            <a:endParaRPr lang="en-US" altLang="ko-KR" sz="900" dirty="0">
              <a:solidFill>
                <a:srgbClr val="000000"/>
              </a:solidFill>
            </a:endParaRPr>
          </a:p>
          <a:p>
            <a:r>
              <a:rPr lang="ko-KR" altLang="en-US" sz="700" b="1" dirty="0" smtClean="0">
                <a:solidFill>
                  <a:srgbClr val="FF0000"/>
                </a:solidFill>
              </a:rPr>
              <a:t>설명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: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통관정산  입력방식은  </a:t>
            </a:r>
            <a:endParaRPr lang="en-US" altLang="ko-KR" sz="700" b="1" dirty="0" smtClean="0">
              <a:solidFill>
                <a:srgbClr val="FF0000"/>
              </a:solidFill>
            </a:endParaRPr>
          </a:p>
          <a:p>
            <a:r>
              <a:rPr lang="en-US" altLang="ko-KR" sz="700" b="1" dirty="0" smtClean="0">
                <a:solidFill>
                  <a:srgbClr val="FF0000"/>
                </a:solidFill>
              </a:rPr>
              <a:t>1.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신규 입력  </a:t>
            </a:r>
            <a:endParaRPr lang="en-US" altLang="ko-KR" sz="700" b="1" dirty="0">
              <a:solidFill>
                <a:srgbClr val="FF0000"/>
              </a:solidFill>
            </a:endParaRPr>
          </a:p>
          <a:p>
            <a:r>
              <a:rPr lang="en-US" altLang="ko-KR" sz="700" b="1" dirty="0" smtClean="0">
                <a:solidFill>
                  <a:srgbClr val="FF0000"/>
                </a:solidFill>
              </a:rPr>
              <a:t>2. HOUSE B/L 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호출 적용처리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두가지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 입력 방식 으로 구성</a:t>
            </a:r>
            <a:endParaRPr lang="en-US" altLang="ko-KR" sz="700" b="1" dirty="0" smtClean="0">
              <a:solidFill>
                <a:srgbClr val="FF0000"/>
              </a:solidFill>
            </a:endParaRPr>
          </a:p>
          <a:p>
            <a:r>
              <a:rPr lang="ko-KR" altLang="en-US" sz="700" b="1" dirty="0" smtClean="0">
                <a:solidFill>
                  <a:srgbClr val="0066FF"/>
                </a:solidFill>
              </a:rPr>
              <a:t>삭제 처리시 통관정산 자료 만 삭제되고 호출된 </a:t>
            </a:r>
            <a:r>
              <a:rPr lang="en-US" altLang="ko-KR" sz="700" b="1" dirty="0" smtClean="0">
                <a:solidFill>
                  <a:srgbClr val="0066FF"/>
                </a:solidFill>
              </a:rPr>
              <a:t>HOUSE B/L </a:t>
            </a:r>
            <a:r>
              <a:rPr lang="ko-KR" altLang="en-US" sz="700" b="1" dirty="0" smtClean="0">
                <a:solidFill>
                  <a:srgbClr val="0066FF"/>
                </a:solidFill>
              </a:rPr>
              <a:t>자료와 연계 </a:t>
            </a:r>
            <a:r>
              <a:rPr lang="ko-KR" altLang="en-US" sz="700" b="1" dirty="0" err="1" smtClean="0">
                <a:solidFill>
                  <a:srgbClr val="0066FF"/>
                </a:solidFill>
              </a:rPr>
              <a:t>없슴</a:t>
            </a:r>
            <a:r>
              <a:rPr lang="en-US" altLang="ko-KR" sz="700" b="1" dirty="0" smtClean="0">
                <a:solidFill>
                  <a:srgbClr val="0066FF"/>
                </a:solidFill>
              </a:rPr>
              <a:t>.</a:t>
            </a:r>
          </a:p>
          <a:p>
            <a:r>
              <a:rPr lang="ko-KR" altLang="en-US" sz="700" b="1" dirty="0" smtClean="0">
                <a:solidFill>
                  <a:srgbClr val="0066FF"/>
                </a:solidFill>
              </a:rPr>
              <a:t>새로운 통관정산 자료 생성시  이미 다른 통관정산 자료에 사용된 </a:t>
            </a:r>
            <a:r>
              <a:rPr lang="en-US" altLang="ko-KR" sz="700" b="1" dirty="0" smtClean="0">
                <a:solidFill>
                  <a:srgbClr val="0066FF"/>
                </a:solidFill>
              </a:rPr>
              <a:t>HOUSE B/L </a:t>
            </a:r>
            <a:r>
              <a:rPr lang="ko-KR" altLang="en-US" sz="700" b="1" dirty="0" smtClean="0">
                <a:solidFill>
                  <a:srgbClr val="0066FF"/>
                </a:solidFill>
              </a:rPr>
              <a:t>일지라도 중복 사용이 가능 처리</a:t>
            </a:r>
            <a:endParaRPr lang="en-US" altLang="ko-KR" sz="700" b="1" dirty="0" smtClean="0">
              <a:solidFill>
                <a:srgbClr val="0066FF"/>
              </a:solidFill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4320232" y="1224401"/>
            <a:ext cx="3528572" cy="318555"/>
          </a:xfrm>
          <a:prstGeom prst="rect">
            <a:avLst/>
          </a:prstGeom>
          <a:solidFill>
            <a:schemeClr val="bg1"/>
          </a:solidFill>
          <a:ln w="31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err="1" smtClean="0">
                <a:solidFill>
                  <a:srgbClr val="0000FF"/>
                </a:solidFill>
              </a:rPr>
              <a:t>신규입력시</a:t>
            </a:r>
            <a:r>
              <a:rPr lang="ko-KR" altLang="en-US" dirty="0" smtClean="0">
                <a:solidFill>
                  <a:srgbClr val="0000FF"/>
                </a:solidFill>
              </a:rPr>
              <a:t> 기본값 </a:t>
            </a:r>
            <a:r>
              <a:rPr lang="en-US" altLang="ko-KR" dirty="0" smtClean="0">
                <a:solidFill>
                  <a:srgbClr val="0000FF"/>
                </a:solidFill>
              </a:rPr>
              <a:t>: </a:t>
            </a:r>
            <a:r>
              <a:rPr lang="ko-KR" altLang="en-US" dirty="0" smtClean="0">
                <a:solidFill>
                  <a:srgbClr val="0000FF"/>
                </a:solidFill>
              </a:rPr>
              <a:t>항공수</a:t>
            </a:r>
            <a:r>
              <a:rPr lang="ko-KR" altLang="en-US" dirty="0">
                <a:solidFill>
                  <a:srgbClr val="0000FF"/>
                </a:solidFill>
              </a:rPr>
              <a:t>입</a:t>
            </a:r>
            <a:r>
              <a:rPr lang="en-US" altLang="ko-KR" dirty="0" smtClean="0">
                <a:solidFill>
                  <a:srgbClr val="0000FF"/>
                </a:solidFill>
              </a:rPr>
              <a:t>, </a:t>
            </a:r>
            <a:r>
              <a:rPr lang="ko-KR" altLang="en-US" dirty="0" smtClean="0">
                <a:solidFill>
                  <a:srgbClr val="0000FF"/>
                </a:solidFill>
              </a:rPr>
              <a:t>통관</a:t>
            </a:r>
            <a:r>
              <a:rPr lang="en-US" altLang="ko-KR" dirty="0" smtClean="0">
                <a:solidFill>
                  <a:srgbClr val="0000FF"/>
                </a:solidFill>
              </a:rPr>
              <a:t>B/L , CFR , </a:t>
            </a:r>
            <a:r>
              <a:rPr lang="ko-KR" altLang="en-US" dirty="0" smtClean="0">
                <a:solidFill>
                  <a:srgbClr val="0000FF"/>
                </a:solidFill>
              </a:rPr>
              <a:t>로그인 사원 소속</a:t>
            </a:r>
          </a:p>
        </p:txBody>
      </p:sp>
      <p:sp>
        <p:nvSpPr>
          <p:cNvPr id="129" name="모서리가 둥근 직사각형 128"/>
          <p:cNvSpPr/>
          <p:nvPr/>
        </p:nvSpPr>
        <p:spPr>
          <a:xfrm>
            <a:off x="182428" y="1450056"/>
            <a:ext cx="9682419" cy="5209953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grpSp>
        <p:nvGrpSpPr>
          <p:cNvPr id="130" name="그룹 129"/>
          <p:cNvGrpSpPr/>
          <p:nvPr/>
        </p:nvGrpSpPr>
        <p:grpSpPr>
          <a:xfrm>
            <a:off x="165627" y="1346172"/>
            <a:ext cx="1870649" cy="230946"/>
            <a:chOff x="920300" y="3392022"/>
            <a:chExt cx="796099" cy="237083"/>
          </a:xfrm>
        </p:grpSpPr>
        <p:sp>
          <p:nvSpPr>
            <p:cNvPr id="131" name="한쪽 모서리가 둥근 사각형 130"/>
            <p:cNvSpPr/>
            <p:nvPr/>
          </p:nvSpPr>
          <p:spPr bwMode="auto">
            <a:xfrm flipH="1">
              <a:off x="920300" y="3392022"/>
              <a:ext cx="796099" cy="236513"/>
            </a:xfrm>
            <a:prstGeom prst="round1Rect">
              <a:avLst>
                <a:gd name="adj" fmla="val 31877"/>
              </a:avLst>
            </a:prstGeom>
            <a:solidFill>
              <a:srgbClr val="004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32" name="TextBox 53"/>
            <p:cNvSpPr txBox="1"/>
            <p:nvPr/>
          </p:nvSpPr>
          <p:spPr>
            <a:xfrm>
              <a:off x="1115876" y="3429000"/>
              <a:ext cx="426968" cy="20010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509544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10190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528632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2038176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547721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3057265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566810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4076354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lnSpc>
                  <a:spcPts val="800"/>
                </a:lnSpc>
              </a:pPr>
              <a:r>
                <a:rPr lang="en-US" altLang="ko-KR" dirty="0" smtClean="0">
                  <a:solidFill>
                    <a:srgbClr val="FFFFFF"/>
                  </a:solidFill>
                  <a:latin typeface="Rix모던고딕 B" pitchFamily="18" charset="-127"/>
                  <a:ea typeface="Rix모던고딕 B" pitchFamily="18" charset="-127"/>
                </a:rPr>
                <a:t>Main Information</a:t>
              </a:r>
              <a:endParaRPr lang="ko-KR" altLang="en-US" dirty="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</p:grpSp>
      <p:graphicFrame>
        <p:nvGraphicFramePr>
          <p:cNvPr id="133" name="표 1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323135"/>
              </p:ext>
            </p:extLst>
          </p:nvPr>
        </p:nvGraphicFramePr>
        <p:xfrm>
          <a:off x="230404" y="1641725"/>
          <a:ext cx="9634781" cy="18925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6986"/>
                <a:gridCol w="1972210"/>
                <a:gridCol w="808301"/>
                <a:gridCol w="917382"/>
                <a:gridCol w="563061"/>
                <a:gridCol w="684076"/>
                <a:gridCol w="944191"/>
                <a:gridCol w="639985"/>
                <a:gridCol w="2268589"/>
              </a:tblGrid>
              <a:tr h="4071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JOB NO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BOUND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업무유형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/>
                        <a:t>무역조건 </a:t>
                      </a:r>
                      <a:r>
                        <a:rPr lang="en-US" altLang="ko-KR" sz="700" dirty="0" smtClean="0"/>
                        <a:t>/</a:t>
                      </a:r>
                    </a:p>
                    <a:p>
                      <a:pPr latinLnBrk="1"/>
                      <a:r>
                        <a:rPr lang="ko-KR" altLang="en-US" sz="700" baseline="0" dirty="0" err="1" smtClean="0"/>
                        <a:t>본지사</a:t>
                      </a:r>
                      <a:r>
                        <a:rPr lang="en-US" altLang="ko-KR" sz="700" baseline="0" dirty="0" smtClean="0"/>
                        <a:t> 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/>
                    </a:p>
                  </a:txBody>
                  <a:tcPr anchor="ctr"/>
                </a:tc>
              </a:tr>
              <a:tr h="5880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M</a:t>
                      </a:r>
                      <a:r>
                        <a:rPr lang="en-US" altLang="ko-KR" sz="700" baseline="0" dirty="0" smtClean="0"/>
                        <a:t> </a:t>
                      </a:r>
                      <a:r>
                        <a:rPr lang="en-US" altLang="ko-KR" sz="700" dirty="0" smtClean="0"/>
                        <a:t>BL</a:t>
                      </a:r>
                      <a:r>
                        <a:rPr lang="en-US" altLang="ko-KR" sz="700" baseline="0" dirty="0" smtClean="0"/>
                        <a:t> NO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HBL NO</a:t>
                      </a:r>
                      <a:endParaRPr lang="ko-KR" altLang="en-US" sz="7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CASEQ</a:t>
                      </a:r>
                      <a:r>
                        <a:rPr lang="en-US" altLang="ko-KR" sz="700" baseline="0" dirty="0" smtClean="0"/>
                        <a:t> NO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/>
                        <a:t>실적일자</a:t>
                      </a:r>
                      <a:r>
                        <a:rPr lang="en-US" altLang="ko-KR" sz="700" dirty="0" smtClean="0"/>
                        <a:t>/</a:t>
                      </a:r>
                      <a:r>
                        <a:rPr lang="ko-KR" altLang="en-US" sz="700" dirty="0" smtClean="0"/>
                        <a:t>실적금액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700" b="0" dirty="0" smtClean="0"/>
                    </a:p>
                  </a:txBody>
                  <a:tcPr anchor="ctr"/>
                </a:tc>
              </a:tr>
              <a:tr h="8973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Account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SHIPPER</a:t>
                      </a:r>
                      <a:endParaRPr lang="ko-KR" altLang="en-US" sz="700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CONSIGNEE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34" name="직사각형 133"/>
          <p:cNvSpPr/>
          <p:nvPr/>
        </p:nvSpPr>
        <p:spPr bwMode="auto">
          <a:xfrm>
            <a:off x="1147339" y="1752600"/>
            <a:ext cx="1846941" cy="1683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700" dirty="0" smtClean="0">
                <a:solidFill>
                  <a:srgbClr val="000000"/>
                </a:solidFill>
              </a:rPr>
              <a:t>FDAOJ0B0809</a:t>
            </a:r>
            <a:endParaRPr lang="ko-KR" altLang="en-US" sz="700" dirty="0">
              <a:solidFill>
                <a:srgbClr val="000000"/>
              </a:solidFill>
            </a:endParaRPr>
          </a:p>
        </p:txBody>
      </p:sp>
      <p:grpSp>
        <p:nvGrpSpPr>
          <p:cNvPr id="135" name="그룹 134"/>
          <p:cNvGrpSpPr/>
          <p:nvPr/>
        </p:nvGrpSpPr>
        <p:grpSpPr>
          <a:xfrm>
            <a:off x="3977785" y="1731287"/>
            <a:ext cx="744688" cy="185289"/>
            <a:chOff x="10744662" y="4915712"/>
            <a:chExt cx="744688" cy="185289"/>
          </a:xfrm>
        </p:grpSpPr>
        <p:sp>
          <p:nvSpPr>
            <p:cNvPr id="136" name="직사각형 135"/>
            <p:cNvSpPr/>
            <p:nvPr/>
          </p:nvSpPr>
          <p:spPr bwMode="auto">
            <a:xfrm>
              <a:off x="10744662" y="4915712"/>
              <a:ext cx="740384" cy="18528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ko-KR" altLang="en-US" sz="600" dirty="0" smtClean="0">
                  <a:solidFill>
                    <a:srgbClr val="000000"/>
                  </a:solidFill>
                </a:rPr>
                <a:t>항공수입</a:t>
              </a:r>
              <a:endParaRPr lang="ko-KR" altLang="en-US" sz="600" dirty="0">
                <a:solidFill>
                  <a:srgbClr val="000000"/>
                </a:solidFill>
              </a:endParaRPr>
            </a:p>
          </p:txBody>
        </p:sp>
        <p:sp>
          <p:nvSpPr>
            <p:cNvPr id="137" name="직사각형 136"/>
            <p:cNvSpPr/>
            <p:nvPr/>
          </p:nvSpPr>
          <p:spPr bwMode="auto">
            <a:xfrm>
              <a:off x="11373696" y="4915712"/>
              <a:ext cx="115654" cy="185289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600" dirty="0">
                  <a:solidFill>
                    <a:srgbClr val="000000"/>
                  </a:solidFill>
                </a:rPr>
                <a:t>▼</a:t>
              </a:r>
              <a:endParaRPr lang="ko-KR" altLang="en-US" sz="6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38" name="직사각형 137"/>
          <p:cNvSpPr/>
          <p:nvPr/>
        </p:nvSpPr>
        <p:spPr bwMode="auto">
          <a:xfrm>
            <a:off x="1115876" y="2265444"/>
            <a:ext cx="1144924" cy="19823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700" dirty="0" smtClean="0">
                <a:solidFill>
                  <a:srgbClr val="000000"/>
                </a:solidFill>
              </a:rPr>
              <a:t>MASTERE001</a:t>
            </a:r>
            <a:endParaRPr lang="ko-KR" altLang="en-US" sz="700" dirty="0">
              <a:solidFill>
                <a:srgbClr val="000000"/>
              </a:solidFill>
            </a:endParaRPr>
          </a:p>
        </p:txBody>
      </p:sp>
      <p:pic>
        <p:nvPicPr>
          <p:cNvPr id="141" name="그림 1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907" y="2739930"/>
            <a:ext cx="177132" cy="169080"/>
          </a:xfrm>
          <a:prstGeom prst="rect">
            <a:avLst/>
          </a:prstGeom>
        </p:spPr>
      </p:pic>
      <p:sp>
        <p:nvSpPr>
          <p:cNvPr id="142" name="직사각형 141"/>
          <p:cNvSpPr/>
          <p:nvPr/>
        </p:nvSpPr>
        <p:spPr bwMode="auto">
          <a:xfrm>
            <a:off x="1125390" y="2702168"/>
            <a:ext cx="729725" cy="24460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700" dirty="0" smtClean="0">
                <a:solidFill>
                  <a:srgbClr val="000000"/>
                </a:solidFill>
              </a:rPr>
              <a:t>화주</a:t>
            </a:r>
            <a:r>
              <a:rPr lang="ko-KR" altLang="en-US" sz="700" dirty="0">
                <a:solidFill>
                  <a:srgbClr val="000000"/>
                </a:solidFill>
              </a:rPr>
              <a:t>코</a:t>
            </a:r>
            <a:r>
              <a:rPr lang="ko-KR" altLang="en-US" sz="700" dirty="0" smtClean="0">
                <a:solidFill>
                  <a:srgbClr val="000000"/>
                </a:solidFill>
              </a:rPr>
              <a:t>드</a:t>
            </a:r>
            <a:endParaRPr lang="ko-KR" altLang="en-US" sz="700" dirty="0">
              <a:solidFill>
                <a:srgbClr val="000000"/>
              </a:solidFill>
            </a:endParaRPr>
          </a:p>
        </p:txBody>
      </p:sp>
      <p:sp>
        <p:nvSpPr>
          <p:cNvPr id="143" name="직사각형 142"/>
          <p:cNvSpPr/>
          <p:nvPr/>
        </p:nvSpPr>
        <p:spPr bwMode="auto">
          <a:xfrm>
            <a:off x="2143148" y="2715768"/>
            <a:ext cx="851133" cy="23100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700" dirty="0" smtClean="0">
                <a:solidFill>
                  <a:srgbClr val="000000"/>
                </a:solidFill>
              </a:rPr>
              <a:t>영문상호</a:t>
            </a:r>
            <a:r>
              <a:rPr lang="en-US" altLang="ko-KR" sz="700" dirty="0" smtClean="0">
                <a:solidFill>
                  <a:srgbClr val="000000"/>
                </a:solidFill>
              </a:rPr>
              <a:t>(</a:t>
            </a:r>
            <a:r>
              <a:rPr lang="ko-KR" altLang="en-US" sz="700" dirty="0" smtClean="0">
                <a:solidFill>
                  <a:srgbClr val="000000"/>
                </a:solidFill>
              </a:rPr>
              <a:t>화주상호</a:t>
            </a:r>
            <a:r>
              <a:rPr lang="en-US" altLang="ko-KR" sz="700" dirty="0" smtClean="0">
                <a:solidFill>
                  <a:srgbClr val="000000"/>
                </a:solidFill>
              </a:rPr>
              <a:t>)</a:t>
            </a:r>
            <a:endParaRPr lang="ko-KR" altLang="en-US" sz="700" dirty="0">
              <a:solidFill>
                <a:srgbClr val="000000"/>
              </a:solidFill>
            </a:endParaRPr>
          </a:p>
        </p:txBody>
      </p:sp>
      <p:sp>
        <p:nvSpPr>
          <p:cNvPr id="144" name="직사각형 143"/>
          <p:cNvSpPr/>
          <p:nvPr/>
        </p:nvSpPr>
        <p:spPr bwMode="auto">
          <a:xfrm>
            <a:off x="1147340" y="2996741"/>
            <a:ext cx="1846941" cy="32535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700" dirty="0" smtClean="0">
                <a:solidFill>
                  <a:srgbClr val="000000"/>
                </a:solidFill>
              </a:rPr>
              <a:t>영문주소</a:t>
            </a:r>
            <a:r>
              <a:rPr lang="en-US" altLang="ko-KR" sz="700" dirty="0" smtClean="0">
                <a:solidFill>
                  <a:srgbClr val="000000"/>
                </a:solidFill>
              </a:rPr>
              <a:t>(</a:t>
            </a:r>
            <a:r>
              <a:rPr lang="ko-KR" altLang="en-US" sz="700" dirty="0" smtClean="0">
                <a:solidFill>
                  <a:srgbClr val="000000"/>
                </a:solidFill>
              </a:rPr>
              <a:t>화주주소</a:t>
            </a:r>
            <a:r>
              <a:rPr lang="en-US" altLang="ko-KR" sz="700" dirty="0" smtClean="0">
                <a:solidFill>
                  <a:srgbClr val="000000"/>
                </a:solidFill>
              </a:rPr>
              <a:t>)</a:t>
            </a:r>
            <a:endParaRPr lang="ko-KR" altLang="en-US" sz="700" dirty="0">
              <a:solidFill>
                <a:srgbClr val="000000"/>
              </a:solidFill>
            </a:endParaRPr>
          </a:p>
        </p:txBody>
      </p:sp>
      <p:pic>
        <p:nvPicPr>
          <p:cNvPr id="145" name="그림 1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222" y="2717890"/>
            <a:ext cx="222089" cy="169080"/>
          </a:xfrm>
          <a:prstGeom prst="rect">
            <a:avLst/>
          </a:prstGeom>
        </p:spPr>
      </p:pic>
      <p:sp>
        <p:nvSpPr>
          <p:cNvPr id="146" name="직사각형 145"/>
          <p:cNvSpPr/>
          <p:nvPr/>
        </p:nvSpPr>
        <p:spPr bwMode="auto">
          <a:xfrm>
            <a:off x="3948851" y="2695367"/>
            <a:ext cx="729725" cy="24460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700" dirty="0" smtClean="0">
                <a:solidFill>
                  <a:srgbClr val="000000"/>
                </a:solidFill>
              </a:rPr>
              <a:t>화주코드</a:t>
            </a:r>
            <a:endParaRPr lang="ko-KR" altLang="en-US" sz="700" dirty="0">
              <a:solidFill>
                <a:srgbClr val="000000"/>
              </a:solidFill>
            </a:endParaRPr>
          </a:p>
        </p:txBody>
      </p:sp>
      <p:sp>
        <p:nvSpPr>
          <p:cNvPr id="147" name="직사각형 146"/>
          <p:cNvSpPr/>
          <p:nvPr/>
        </p:nvSpPr>
        <p:spPr bwMode="auto">
          <a:xfrm>
            <a:off x="4987464" y="2693728"/>
            <a:ext cx="1067157" cy="23100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700" dirty="0" smtClean="0">
                <a:solidFill>
                  <a:srgbClr val="000000"/>
                </a:solidFill>
              </a:rPr>
              <a:t>화주상호</a:t>
            </a:r>
            <a:r>
              <a:rPr lang="en-US" altLang="ko-KR" sz="700" dirty="0" smtClean="0">
                <a:solidFill>
                  <a:srgbClr val="000000"/>
                </a:solidFill>
              </a:rPr>
              <a:t>(</a:t>
            </a:r>
            <a:r>
              <a:rPr lang="ko-KR" altLang="en-US" sz="700" dirty="0" smtClean="0">
                <a:solidFill>
                  <a:srgbClr val="000000"/>
                </a:solidFill>
              </a:rPr>
              <a:t>화주상호</a:t>
            </a:r>
            <a:r>
              <a:rPr lang="en-US" altLang="ko-KR" sz="700" dirty="0">
                <a:solidFill>
                  <a:srgbClr val="000000"/>
                </a:solidFill>
              </a:rPr>
              <a:t>)</a:t>
            </a:r>
            <a:endParaRPr lang="ko-KR" altLang="en-US" sz="700" dirty="0">
              <a:solidFill>
                <a:srgbClr val="000000"/>
              </a:solidFill>
            </a:endParaRPr>
          </a:p>
        </p:txBody>
      </p:sp>
      <p:pic>
        <p:nvPicPr>
          <p:cNvPr id="148" name="그림 1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121" y="2862117"/>
            <a:ext cx="177132" cy="169080"/>
          </a:xfrm>
          <a:prstGeom prst="rect">
            <a:avLst/>
          </a:prstGeom>
        </p:spPr>
      </p:pic>
      <p:sp>
        <p:nvSpPr>
          <p:cNvPr id="149" name="직사각형 148"/>
          <p:cNvSpPr/>
          <p:nvPr/>
        </p:nvSpPr>
        <p:spPr bwMode="auto">
          <a:xfrm>
            <a:off x="7668604" y="2824355"/>
            <a:ext cx="729725" cy="24460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700" dirty="0">
                <a:solidFill>
                  <a:srgbClr val="000000"/>
                </a:solidFill>
              </a:rPr>
              <a:t>화주코드</a:t>
            </a:r>
          </a:p>
        </p:txBody>
      </p:sp>
      <p:sp>
        <p:nvSpPr>
          <p:cNvPr id="150" name="직사각형 149"/>
          <p:cNvSpPr/>
          <p:nvPr/>
        </p:nvSpPr>
        <p:spPr bwMode="auto">
          <a:xfrm>
            <a:off x="8686362" y="2837955"/>
            <a:ext cx="1124625" cy="23100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700" dirty="0">
                <a:solidFill>
                  <a:srgbClr val="000000"/>
                </a:solidFill>
              </a:rPr>
              <a:t>화주상호</a:t>
            </a:r>
            <a:r>
              <a:rPr lang="en-US" altLang="ko-KR" sz="700" dirty="0">
                <a:solidFill>
                  <a:srgbClr val="000000"/>
                </a:solidFill>
              </a:rPr>
              <a:t>(</a:t>
            </a:r>
            <a:r>
              <a:rPr lang="ko-KR" altLang="en-US" sz="700" dirty="0">
                <a:solidFill>
                  <a:srgbClr val="000000"/>
                </a:solidFill>
              </a:rPr>
              <a:t>화주상호</a:t>
            </a:r>
            <a:r>
              <a:rPr lang="en-US" altLang="ko-KR" sz="700" dirty="0">
                <a:solidFill>
                  <a:srgbClr val="000000"/>
                </a:solidFill>
              </a:rPr>
              <a:t>)</a:t>
            </a:r>
            <a:endParaRPr lang="ko-KR" altLang="en-US" sz="700" dirty="0">
              <a:solidFill>
                <a:srgbClr val="000000"/>
              </a:solidFill>
            </a:endParaRPr>
          </a:p>
        </p:txBody>
      </p:sp>
      <p:sp>
        <p:nvSpPr>
          <p:cNvPr id="151" name="직사각형 150"/>
          <p:cNvSpPr/>
          <p:nvPr/>
        </p:nvSpPr>
        <p:spPr bwMode="auto">
          <a:xfrm>
            <a:off x="3941795" y="2996741"/>
            <a:ext cx="2112826" cy="32535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700" dirty="0" smtClean="0">
                <a:solidFill>
                  <a:srgbClr val="000000"/>
                </a:solidFill>
              </a:rPr>
              <a:t>화주영문주소</a:t>
            </a:r>
            <a:r>
              <a:rPr lang="en-US" altLang="ko-KR" sz="700" dirty="0" smtClean="0">
                <a:solidFill>
                  <a:srgbClr val="000000"/>
                </a:solidFill>
              </a:rPr>
              <a:t>(</a:t>
            </a:r>
            <a:r>
              <a:rPr lang="ko-KR" altLang="en-US" sz="700" dirty="0" smtClean="0">
                <a:solidFill>
                  <a:srgbClr val="000000"/>
                </a:solidFill>
              </a:rPr>
              <a:t>화주주소</a:t>
            </a:r>
            <a:r>
              <a:rPr lang="en-US" altLang="ko-KR" sz="700" dirty="0">
                <a:solidFill>
                  <a:srgbClr val="000000"/>
                </a:solidFill>
              </a:rPr>
              <a:t>)</a:t>
            </a:r>
            <a:endParaRPr lang="ko-KR" altLang="en-US" sz="700" dirty="0">
              <a:solidFill>
                <a:srgbClr val="000000"/>
              </a:solidFill>
            </a:endParaRPr>
          </a:p>
        </p:txBody>
      </p:sp>
      <p:sp>
        <p:nvSpPr>
          <p:cNvPr id="152" name="직사각형 151"/>
          <p:cNvSpPr/>
          <p:nvPr/>
        </p:nvSpPr>
        <p:spPr bwMode="auto">
          <a:xfrm>
            <a:off x="7677142" y="3103646"/>
            <a:ext cx="2133845" cy="32535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700" dirty="0">
                <a:solidFill>
                  <a:srgbClr val="000000"/>
                </a:solidFill>
              </a:rPr>
              <a:t>화주영문주소</a:t>
            </a:r>
            <a:r>
              <a:rPr lang="en-US" altLang="ko-KR" sz="700" dirty="0">
                <a:solidFill>
                  <a:srgbClr val="000000"/>
                </a:solidFill>
              </a:rPr>
              <a:t>(</a:t>
            </a:r>
            <a:r>
              <a:rPr lang="ko-KR" altLang="en-US" sz="700" dirty="0">
                <a:solidFill>
                  <a:srgbClr val="000000"/>
                </a:solidFill>
              </a:rPr>
              <a:t>화주주소</a:t>
            </a:r>
            <a:r>
              <a:rPr lang="en-US" altLang="ko-KR" sz="700" dirty="0">
                <a:solidFill>
                  <a:srgbClr val="000000"/>
                </a:solidFill>
              </a:rPr>
              <a:t>)</a:t>
            </a:r>
            <a:endParaRPr lang="ko-KR" altLang="en-US" sz="700" dirty="0">
              <a:solidFill>
                <a:srgbClr val="000000"/>
              </a:solidFill>
            </a:endParaRPr>
          </a:p>
        </p:txBody>
      </p:sp>
      <p:grpSp>
        <p:nvGrpSpPr>
          <p:cNvPr id="156" name="그룹 155"/>
          <p:cNvGrpSpPr/>
          <p:nvPr/>
        </p:nvGrpSpPr>
        <p:grpSpPr>
          <a:xfrm>
            <a:off x="5538171" y="1728865"/>
            <a:ext cx="942301" cy="185289"/>
            <a:chOff x="10744662" y="4915712"/>
            <a:chExt cx="744688" cy="185289"/>
          </a:xfrm>
          <a:solidFill>
            <a:schemeClr val="bg1"/>
          </a:solidFill>
        </p:grpSpPr>
        <p:sp>
          <p:nvSpPr>
            <p:cNvPr id="157" name="직사각형 156"/>
            <p:cNvSpPr/>
            <p:nvPr/>
          </p:nvSpPr>
          <p:spPr bwMode="auto">
            <a:xfrm>
              <a:off x="10744662" y="4915712"/>
              <a:ext cx="740384" cy="185289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ko-KR" altLang="en-US" sz="700" dirty="0" smtClean="0">
                  <a:solidFill>
                    <a:srgbClr val="000000"/>
                  </a:solidFill>
                </a:rPr>
                <a:t>통관</a:t>
              </a:r>
              <a:r>
                <a:rPr lang="en-US" altLang="ko-KR" sz="700" dirty="0" smtClean="0">
                  <a:solidFill>
                    <a:srgbClr val="000000"/>
                  </a:solidFill>
                </a:rPr>
                <a:t>B/L</a:t>
              </a:r>
              <a:endParaRPr lang="ko-KR" altLang="en-US" sz="700" dirty="0">
                <a:solidFill>
                  <a:srgbClr val="000000"/>
                </a:solidFill>
              </a:endParaRPr>
            </a:p>
          </p:txBody>
        </p:sp>
        <p:sp>
          <p:nvSpPr>
            <p:cNvPr id="158" name="직사각형 157"/>
            <p:cNvSpPr/>
            <p:nvPr/>
          </p:nvSpPr>
          <p:spPr bwMode="auto">
            <a:xfrm>
              <a:off x="11373696" y="4915712"/>
              <a:ext cx="115654" cy="185289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600" dirty="0">
                  <a:solidFill>
                    <a:srgbClr val="000000"/>
                  </a:solidFill>
                </a:rPr>
                <a:t>▼</a:t>
              </a:r>
              <a:endParaRPr lang="ko-KR" altLang="en-US" sz="6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65" name="직사각형 164"/>
          <p:cNvSpPr/>
          <p:nvPr/>
        </p:nvSpPr>
        <p:spPr bwMode="auto">
          <a:xfrm>
            <a:off x="7740612" y="2134894"/>
            <a:ext cx="573969" cy="18073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sz="500" dirty="0" smtClean="0">
                <a:solidFill>
                  <a:srgbClr val="000000"/>
                </a:solidFill>
              </a:rPr>
              <a:t>2017-06-19</a:t>
            </a:r>
            <a:endParaRPr lang="ko-KR" altLang="en-US" sz="500" dirty="0">
              <a:solidFill>
                <a:srgbClr val="000000"/>
              </a:solidFill>
            </a:endParaRPr>
          </a:p>
        </p:txBody>
      </p:sp>
      <p:pic>
        <p:nvPicPr>
          <p:cNvPr id="168" name="Picture 12"/>
          <p:cNvPicPr>
            <a:picLocks noChangeAspect="1" noChangeArrowheads="1"/>
          </p:cNvPicPr>
          <p:nvPr/>
        </p:nvPicPr>
        <p:blipFill>
          <a:blip r:embed="rId4" cstate="print"/>
          <a:srcRect l="75599"/>
          <a:stretch>
            <a:fillRect/>
          </a:stretch>
        </p:blipFill>
        <p:spPr bwMode="auto">
          <a:xfrm>
            <a:off x="8354920" y="2132856"/>
            <a:ext cx="213784" cy="192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73" name="그룹 172"/>
          <p:cNvGrpSpPr/>
          <p:nvPr/>
        </p:nvGrpSpPr>
        <p:grpSpPr>
          <a:xfrm>
            <a:off x="7740612" y="1739163"/>
            <a:ext cx="544384" cy="167371"/>
            <a:chOff x="10744662" y="4915712"/>
            <a:chExt cx="744688" cy="185289"/>
          </a:xfrm>
          <a:solidFill>
            <a:schemeClr val="bg1"/>
          </a:solidFill>
        </p:grpSpPr>
        <p:sp>
          <p:nvSpPr>
            <p:cNvPr id="179" name="직사각형 178"/>
            <p:cNvSpPr/>
            <p:nvPr/>
          </p:nvSpPr>
          <p:spPr bwMode="auto">
            <a:xfrm>
              <a:off x="10744662" y="4915712"/>
              <a:ext cx="740384" cy="185289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altLang="ko-KR" sz="600" dirty="0" smtClean="0">
                  <a:solidFill>
                    <a:srgbClr val="000000"/>
                  </a:solidFill>
                </a:rPr>
                <a:t>CFR</a:t>
              </a:r>
              <a:endParaRPr lang="ko-KR" altLang="en-US" sz="600" dirty="0">
                <a:solidFill>
                  <a:srgbClr val="000000"/>
                </a:solidFill>
              </a:endParaRPr>
            </a:p>
          </p:txBody>
        </p:sp>
        <p:sp>
          <p:nvSpPr>
            <p:cNvPr id="180" name="직사각형 179"/>
            <p:cNvSpPr/>
            <p:nvPr/>
          </p:nvSpPr>
          <p:spPr bwMode="auto">
            <a:xfrm>
              <a:off x="11373696" y="4915712"/>
              <a:ext cx="115654" cy="185289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600" dirty="0">
                  <a:solidFill>
                    <a:srgbClr val="000000"/>
                  </a:solidFill>
                </a:rPr>
                <a:t>▼</a:t>
              </a:r>
              <a:endParaRPr lang="ko-KR" altLang="en-US" sz="6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81" name="직사각형 180"/>
          <p:cNvSpPr/>
          <p:nvPr/>
        </p:nvSpPr>
        <p:spPr bwMode="auto">
          <a:xfrm>
            <a:off x="7740286" y="2413822"/>
            <a:ext cx="1602076" cy="1870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\ 150,000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83" name="타원 182"/>
          <p:cNvSpPr/>
          <p:nvPr/>
        </p:nvSpPr>
        <p:spPr>
          <a:xfrm>
            <a:off x="6202449" y="1476753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2-3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85" name="타원 184"/>
          <p:cNvSpPr/>
          <p:nvPr/>
        </p:nvSpPr>
        <p:spPr>
          <a:xfrm>
            <a:off x="887197" y="158803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2-1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86" name="타원 185"/>
          <p:cNvSpPr/>
          <p:nvPr/>
        </p:nvSpPr>
        <p:spPr>
          <a:xfrm>
            <a:off x="7993572" y="149632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2-4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92" name="타원 191"/>
          <p:cNvSpPr/>
          <p:nvPr/>
        </p:nvSpPr>
        <p:spPr>
          <a:xfrm>
            <a:off x="9180344" y="173955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2-5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grpSp>
        <p:nvGrpSpPr>
          <p:cNvPr id="208" name="그룹 207"/>
          <p:cNvGrpSpPr/>
          <p:nvPr/>
        </p:nvGrpSpPr>
        <p:grpSpPr>
          <a:xfrm>
            <a:off x="179772" y="3645024"/>
            <a:ext cx="2115027" cy="236513"/>
            <a:chOff x="920300" y="3392022"/>
            <a:chExt cx="900100" cy="236513"/>
          </a:xfrm>
        </p:grpSpPr>
        <p:sp>
          <p:nvSpPr>
            <p:cNvPr id="209" name="한쪽 모서리가 둥근 사각형 208"/>
            <p:cNvSpPr/>
            <p:nvPr/>
          </p:nvSpPr>
          <p:spPr bwMode="auto">
            <a:xfrm flipH="1">
              <a:off x="920300" y="3392022"/>
              <a:ext cx="796099" cy="236513"/>
            </a:xfrm>
            <a:prstGeom prst="round1Rect">
              <a:avLst>
                <a:gd name="adj" fmla="val 31877"/>
              </a:avLst>
            </a:prstGeom>
            <a:solidFill>
              <a:srgbClr val="004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210" name="TextBox 53"/>
            <p:cNvSpPr txBox="1"/>
            <p:nvPr/>
          </p:nvSpPr>
          <p:spPr>
            <a:xfrm>
              <a:off x="1055245" y="3429000"/>
              <a:ext cx="765155" cy="19723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509544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10190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528632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2038176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547721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3057265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566810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4076354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lnSpc>
                  <a:spcPts val="800"/>
                </a:lnSpc>
              </a:pPr>
              <a:r>
                <a:rPr lang="en-US" altLang="ko-KR" dirty="0" smtClean="0">
                  <a:solidFill>
                    <a:srgbClr val="FFFFFF"/>
                  </a:solidFill>
                  <a:latin typeface="Rix모던고딕 B" pitchFamily="18" charset="-127"/>
                  <a:ea typeface="Rix모던고딕 B" pitchFamily="18" charset="-127"/>
                </a:rPr>
                <a:t>Cargo Information</a:t>
              </a:r>
              <a:endParaRPr lang="ko-KR" altLang="en-US" dirty="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</p:grpSp>
      <p:grpSp>
        <p:nvGrpSpPr>
          <p:cNvPr id="221" name="그룹 220"/>
          <p:cNvGrpSpPr/>
          <p:nvPr/>
        </p:nvGrpSpPr>
        <p:grpSpPr>
          <a:xfrm>
            <a:off x="8908151" y="5137037"/>
            <a:ext cx="544384" cy="167371"/>
            <a:chOff x="10744662" y="4915712"/>
            <a:chExt cx="744688" cy="185289"/>
          </a:xfrm>
          <a:solidFill>
            <a:schemeClr val="bg1"/>
          </a:solidFill>
        </p:grpSpPr>
        <p:sp>
          <p:nvSpPr>
            <p:cNvPr id="222" name="직사각형 221"/>
            <p:cNvSpPr/>
            <p:nvPr/>
          </p:nvSpPr>
          <p:spPr bwMode="auto">
            <a:xfrm>
              <a:off x="10744662" y="4915712"/>
              <a:ext cx="740384" cy="185289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ko-KR" altLang="en-US" sz="600" dirty="0" smtClean="0">
                  <a:solidFill>
                    <a:srgbClr val="000000"/>
                  </a:solidFill>
                </a:rPr>
                <a:t>김철수</a:t>
              </a:r>
              <a:endParaRPr lang="ko-KR" altLang="en-US" sz="600" dirty="0">
                <a:solidFill>
                  <a:srgbClr val="000000"/>
                </a:solidFill>
              </a:endParaRPr>
            </a:p>
          </p:txBody>
        </p:sp>
        <p:sp>
          <p:nvSpPr>
            <p:cNvPr id="224" name="직사각형 223"/>
            <p:cNvSpPr/>
            <p:nvPr/>
          </p:nvSpPr>
          <p:spPr bwMode="auto">
            <a:xfrm>
              <a:off x="11373696" y="4915712"/>
              <a:ext cx="115654" cy="185289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600" dirty="0">
                  <a:solidFill>
                    <a:srgbClr val="000000"/>
                  </a:solidFill>
                </a:rPr>
                <a:t>▼</a:t>
              </a:r>
              <a:endParaRPr lang="ko-KR" altLang="en-US" sz="600" dirty="0">
                <a:solidFill>
                  <a:srgbClr val="000000"/>
                </a:solidFill>
              </a:endParaRPr>
            </a:p>
          </p:txBody>
        </p:sp>
      </p:grpSp>
      <p:sp>
        <p:nvSpPr>
          <p:cNvPr id="234" name="직사각형 233"/>
          <p:cNvSpPr/>
          <p:nvPr/>
        </p:nvSpPr>
        <p:spPr>
          <a:xfrm>
            <a:off x="1562046" y="1296480"/>
            <a:ext cx="2326137" cy="456751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b="1" dirty="0" smtClean="0">
                <a:solidFill>
                  <a:srgbClr val="FF0000"/>
                </a:solidFill>
                <a:latin typeface="Rix고딕 M"/>
                <a:ea typeface="Rix고딕 M"/>
              </a:rPr>
              <a:t>※ </a:t>
            </a:r>
            <a:r>
              <a:rPr lang="ko-KR" altLang="en-US" sz="700" b="1" dirty="0">
                <a:solidFill>
                  <a:srgbClr val="FF0000"/>
                </a:solidFill>
              </a:rPr>
              <a:t>복사 </a:t>
            </a:r>
            <a:r>
              <a:rPr lang="en-US" altLang="ko-KR" sz="700" b="1" dirty="0">
                <a:solidFill>
                  <a:srgbClr val="FF0000"/>
                </a:solidFill>
              </a:rPr>
              <a:t>: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통관정산 등록 데이터 검색 팝업 제공 후 사용자 데이터 선택  </a:t>
            </a:r>
            <a:r>
              <a:rPr lang="ko-KR" altLang="en-US" sz="700" b="1" dirty="0">
                <a:solidFill>
                  <a:srgbClr val="FF0000"/>
                </a:solidFill>
              </a:rPr>
              <a:t>조회 후 복사 버튼 </a:t>
            </a:r>
            <a:r>
              <a:rPr lang="ko-KR" altLang="en-US" sz="700" b="1" dirty="0" err="1">
                <a:solidFill>
                  <a:srgbClr val="FF0000"/>
                </a:solidFill>
              </a:rPr>
              <a:t>클릭시</a:t>
            </a:r>
            <a:r>
              <a:rPr lang="ko-KR" altLang="en-US" sz="700" b="1" dirty="0">
                <a:solidFill>
                  <a:srgbClr val="FF0000"/>
                </a:solidFill>
              </a:rPr>
              <a:t> 모든 항목은 상태 유지 </a:t>
            </a:r>
            <a:r>
              <a:rPr lang="en-US" altLang="ko-KR" sz="700" b="1" dirty="0">
                <a:solidFill>
                  <a:srgbClr val="FF0000"/>
                </a:solidFill>
              </a:rPr>
              <a:t>,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JOB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번호 </a:t>
            </a:r>
            <a:r>
              <a:rPr lang="ko-KR" altLang="en-US" sz="700" b="1" dirty="0">
                <a:solidFill>
                  <a:srgbClr val="FF0000"/>
                </a:solidFill>
              </a:rPr>
              <a:t>항목만 </a:t>
            </a:r>
            <a:r>
              <a:rPr lang="ko-KR" altLang="en-US" sz="700" b="1" dirty="0" err="1">
                <a:solidFill>
                  <a:srgbClr val="FF0000"/>
                </a:solidFill>
              </a:rPr>
              <a:t>클리어상태</a:t>
            </a:r>
            <a:r>
              <a:rPr lang="ko-KR" altLang="en-US" sz="700" b="1" dirty="0">
                <a:solidFill>
                  <a:srgbClr val="FF0000"/>
                </a:solidFill>
              </a:rPr>
              <a:t>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유지</a:t>
            </a:r>
          </a:p>
        </p:txBody>
      </p:sp>
      <p:sp>
        <p:nvSpPr>
          <p:cNvPr id="236" name="직사각형 235"/>
          <p:cNvSpPr/>
          <p:nvPr/>
        </p:nvSpPr>
        <p:spPr>
          <a:xfrm>
            <a:off x="849659" y="1951036"/>
            <a:ext cx="2404547" cy="199428"/>
          </a:xfrm>
          <a:prstGeom prst="rect">
            <a:avLst/>
          </a:prstGeom>
          <a:solidFill>
            <a:schemeClr val="bg1"/>
          </a:solidFill>
          <a:ln w="31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0000FF"/>
                </a:solidFill>
              </a:rPr>
              <a:t>JOB NO </a:t>
            </a:r>
            <a:r>
              <a:rPr lang="ko-KR" altLang="en-US" dirty="0" smtClean="0">
                <a:solidFill>
                  <a:srgbClr val="0000FF"/>
                </a:solidFill>
              </a:rPr>
              <a:t>시스템 번호생성 규칙에 따라 자동생성</a:t>
            </a:r>
          </a:p>
        </p:txBody>
      </p:sp>
      <p:sp>
        <p:nvSpPr>
          <p:cNvPr id="240" name="직사각형 239"/>
          <p:cNvSpPr/>
          <p:nvPr/>
        </p:nvSpPr>
        <p:spPr>
          <a:xfrm>
            <a:off x="670814" y="3266804"/>
            <a:ext cx="1944575" cy="285845"/>
          </a:xfrm>
          <a:prstGeom prst="rect">
            <a:avLst/>
          </a:prstGeom>
          <a:solidFill>
            <a:schemeClr val="bg1"/>
          </a:solidFill>
          <a:ln w="31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rgbClr val="0000FF"/>
                </a:solidFill>
              </a:rPr>
              <a:t>거래처 코드 </a:t>
            </a:r>
            <a:r>
              <a:rPr lang="ko-KR" altLang="en-US" dirty="0" err="1" smtClean="0">
                <a:solidFill>
                  <a:srgbClr val="0000FF"/>
                </a:solidFill>
              </a:rPr>
              <a:t>조회시</a:t>
            </a:r>
            <a:r>
              <a:rPr lang="ko-KR" altLang="en-US" dirty="0" smtClean="0">
                <a:solidFill>
                  <a:srgbClr val="0000FF"/>
                </a:solidFill>
              </a:rPr>
              <a:t> 화주  기본조회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r>
              <a:rPr lang="ko-KR" altLang="en-US" dirty="0" smtClean="0">
                <a:solidFill>
                  <a:srgbClr val="0000FF"/>
                </a:solidFill>
              </a:rPr>
              <a:t>화주코드</a:t>
            </a:r>
            <a:r>
              <a:rPr lang="en-US" altLang="ko-KR" dirty="0" smtClean="0">
                <a:solidFill>
                  <a:srgbClr val="0000FF"/>
                </a:solidFill>
              </a:rPr>
              <a:t>, </a:t>
            </a:r>
            <a:r>
              <a:rPr lang="ko-KR" altLang="en-US" dirty="0" smtClean="0">
                <a:solidFill>
                  <a:srgbClr val="0000FF"/>
                </a:solidFill>
              </a:rPr>
              <a:t>영문 상호 조회</a:t>
            </a:r>
          </a:p>
        </p:txBody>
      </p:sp>
      <p:cxnSp>
        <p:nvCxnSpPr>
          <p:cNvPr id="241" name="직선 화살표 연결선 240"/>
          <p:cNvCxnSpPr/>
          <p:nvPr/>
        </p:nvCxnSpPr>
        <p:spPr>
          <a:xfrm flipH="1" flipV="1">
            <a:off x="4910917" y="2861661"/>
            <a:ext cx="476752" cy="20247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타원 303"/>
          <p:cNvSpPr/>
          <p:nvPr/>
        </p:nvSpPr>
        <p:spPr>
          <a:xfrm>
            <a:off x="-3816677" y="2935526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 smtClean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337" name="직사각형 336"/>
          <p:cNvSpPr/>
          <p:nvPr/>
        </p:nvSpPr>
        <p:spPr>
          <a:xfrm>
            <a:off x="5003475" y="3074139"/>
            <a:ext cx="1944575" cy="285845"/>
          </a:xfrm>
          <a:prstGeom prst="rect">
            <a:avLst/>
          </a:prstGeom>
          <a:solidFill>
            <a:schemeClr val="bg1"/>
          </a:solidFill>
          <a:ln w="31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rgbClr val="0000FF"/>
                </a:solidFill>
              </a:rPr>
              <a:t>거래처 코드 </a:t>
            </a:r>
            <a:r>
              <a:rPr lang="ko-KR" altLang="en-US" dirty="0" err="1" smtClean="0">
                <a:solidFill>
                  <a:srgbClr val="0000FF"/>
                </a:solidFill>
              </a:rPr>
              <a:t>조회시</a:t>
            </a:r>
            <a:r>
              <a:rPr lang="ko-KR" altLang="en-US" dirty="0" smtClean="0">
                <a:solidFill>
                  <a:srgbClr val="0000FF"/>
                </a:solidFill>
              </a:rPr>
              <a:t> 화주  기본조회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r>
              <a:rPr lang="ko-KR" altLang="en-US" dirty="0" smtClean="0">
                <a:solidFill>
                  <a:srgbClr val="0000FF"/>
                </a:solidFill>
              </a:rPr>
              <a:t>화주코드</a:t>
            </a:r>
            <a:r>
              <a:rPr lang="en-US" altLang="ko-KR" dirty="0" smtClean="0">
                <a:solidFill>
                  <a:srgbClr val="0000FF"/>
                </a:solidFill>
              </a:rPr>
              <a:t>, </a:t>
            </a:r>
            <a:r>
              <a:rPr lang="ko-KR" altLang="en-US" dirty="0" smtClean="0">
                <a:solidFill>
                  <a:srgbClr val="0000FF"/>
                </a:solidFill>
              </a:rPr>
              <a:t>영문 상호 조회</a:t>
            </a:r>
          </a:p>
        </p:txBody>
      </p:sp>
      <p:sp>
        <p:nvSpPr>
          <p:cNvPr id="182" name="타원 181"/>
          <p:cNvSpPr/>
          <p:nvPr/>
        </p:nvSpPr>
        <p:spPr>
          <a:xfrm>
            <a:off x="3924188" y="1467431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2-2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57" name="타원 256"/>
          <p:cNvSpPr/>
          <p:nvPr/>
        </p:nvSpPr>
        <p:spPr>
          <a:xfrm>
            <a:off x="406490" y="738391"/>
            <a:ext cx="241334" cy="14155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600" b="1" dirty="0" smtClean="0">
                <a:solidFill>
                  <a:srgbClr val="FFFFFF"/>
                </a:solidFill>
              </a:rPr>
              <a:t>1-1</a:t>
            </a:r>
          </a:p>
        </p:txBody>
      </p:sp>
      <p:sp>
        <p:nvSpPr>
          <p:cNvPr id="160" name="타원 159"/>
          <p:cNvSpPr/>
          <p:nvPr/>
        </p:nvSpPr>
        <p:spPr>
          <a:xfrm>
            <a:off x="8491502" y="1063459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 smtClean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62" name="직사각형 161"/>
          <p:cNvSpPr/>
          <p:nvPr/>
        </p:nvSpPr>
        <p:spPr bwMode="auto">
          <a:xfrm>
            <a:off x="3941795" y="2222650"/>
            <a:ext cx="1144924" cy="19823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700" dirty="0" smtClean="0">
                <a:solidFill>
                  <a:srgbClr val="000000"/>
                </a:solidFill>
              </a:rPr>
              <a:t>HOUSE0001</a:t>
            </a:r>
            <a:endParaRPr lang="ko-KR" altLang="en-US" sz="700" dirty="0">
              <a:solidFill>
                <a:srgbClr val="000000"/>
              </a:solidFill>
            </a:endParaRPr>
          </a:p>
        </p:txBody>
      </p:sp>
      <p:sp>
        <p:nvSpPr>
          <p:cNvPr id="155" name="직사각형 154"/>
          <p:cNvSpPr/>
          <p:nvPr/>
        </p:nvSpPr>
        <p:spPr bwMode="auto">
          <a:xfrm>
            <a:off x="6048424" y="2222650"/>
            <a:ext cx="866079" cy="19823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700" dirty="0" smtClean="0">
                <a:solidFill>
                  <a:srgbClr val="000000"/>
                </a:solidFill>
              </a:rPr>
              <a:t>CA20180001</a:t>
            </a:r>
            <a:endParaRPr lang="ko-KR" altLang="en-US" sz="700" dirty="0">
              <a:solidFill>
                <a:srgbClr val="000000"/>
              </a:solidFill>
            </a:endParaRPr>
          </a:p>
        </p:txBody>
      </p:sp>
      <p:sp>
        <p:nvSpPr>
          <p:cNvPr id="159" name="타원 158"/>
          <p:cNvSpPr/>
          <p:nvPr/>
        </p:nvSpPr>
        <p:spPr>
          <a:xfrm>
            <a:off x="823303" y="217333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2-6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61" name="타원 160"/>
          <p:cNvSpPr/>
          <p:nvPr/>
        </p:nvSpPr>
        <p:spPr>
          <a:xfrm>
            <a:off x="3679649" y="2054989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2-7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63" name="타원 162"/>
          <p:cNvSpPr/>
          <p:nvPr/>
        </p:nvSpPr>
        <p:spPr>
          <a:xfrm>
            <a:off x="5808554" y="203947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2-8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64" name="타원 163"/>
          <p:cNvSpPr/>
          <p:nvPr/>
        </p:nvSpPr>
        <p:spPr>
          <a:xfrm>
            <a:off x="10231426" y="243242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2-7</a:t>
            </a:r>
          </a:p>
        </p:txBody>
      </p:sp>
      <p:sp>
        <p:nvSpPr>
          <p:cNvPr id="167" name="타원 166"/>
          <p:cNvSpPr/>
          <p:nvPr/>
        </p:nvSpPr>
        <p:spPr>
          <a:xfrm>
            <a:off x="10231426" y="297248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2-8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69" name="직사각형 168"/>
          <p:cNvSpPr/>
          <p:nvPr/>
        </p:nvSpPr>
        <p:spPr>
          <a:xfrm>
            <a:off x="8640149" y="2096852"/>
            <a:ext cx="1296707" cy="265127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 smtClean="0">
                <a:solidFill>
                  <a:srgbClr val="FF0066"/>
                </a:solidFill>
              </a:rPr>
              <a:t>기본값 </a:t>
            </a:r>
            <a:r>
              <a:rPr lang="en-US" altLang="ko-KR" sz="700" dirty="0" smtClean="0">
                <a:solidFill>
                  <a:srgbClr val="FF0066"/>
                </a:solidFill>
              </a:rPr>
              <a:t>: </a:t>
            </a:r>
            <a:r>
              <a:rPr lang="ko-KR" altLang="en-US" sz="700" dirty="0" smtClean="0">
                <a:solidFill>
                  <a:srgbClr val="FF0066"/>
                </a:solidFill>
              </a:rPr>
              <a:t>시스템 일자  적용</a:t>
            </a:r>
          </a:p>
        </p:txBody>
      </p:sp>
      <p:sp>
        <p:nvSpPr>
          <p:cNvPr id="170" name="타원 169"/>
          <p:cNvSpPr/>
          <p:nvPr/>
        </p:nvSpPr>
        <p:spPr>
          <a:xfrm>
            <a:off x="537660" y="2766725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2-9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72" name="타원 171"/>
          <p:cNvSpPr/>
          <p:nvPr/>
        </p:nvSpPr>
        <p:spPr>
          <a:xfrm>
            <a:off x="3360396" y="2760744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2-9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74" name="타원 173"/>
          <p:cNvSpPr/>
          <p:nvPr/>
        </p:nvSpPr>
        <p:spPr>
          <a:xfrm>
            <a:off x="7278895" y="269948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2-9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75" name="직사각형 174"/>
          <p:cNvSpPr/>
          <p:nvPr/>
        </p:nvSpPr>
        <p:spPr>
          <a:xfrm>
            <a:off x="7898715" y="3405653"/>
            <a:ext cx="1944575" cy="285845"/>
          </a:xfrm>
          <a:prstGeom prst="rect">
            <a:avLst/>
          </a:prstGeom>
          <a:solidFill>
            <a:schemeClr val="bg1"/>
          </a:solidFill>
          <a:ln w="31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rgbClr val="0000FF"/>
                </a:solidFill>
              </a:rPr>
              <a:t>거래처 코드 </a:t>
            </a:r>
            <a:r>
              <a:rPr lang="ko-KR" altLang="en-US" dirty="0" err="1" smtClean="0">
                <a:solidFill>
                  <a:srgbClr val="0000FF"/>
                </a:solidFill>
              </a:rPr>
              <a:t>조회시</a:t>
            </a:r>
            <a:r>
              <a:rPr lang="ko-KR" altLang="en-US" dirty="0" smtClean="0">
                <a:solidFill>
                  <a:srgbClr val="0000FF"/>
                </a:solidFill>
              </a:rPr>
              <a:t> 화주  기본조회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r>
              <a:rPr lang="ko-KR" altLang="en-US" dirty="0" smtClean="0">
                <a:solidFill>
                  <a:srgbClr val="0000FF"/>
                </a:solidFill>
              </a:rPr>
              <a:t>화주코드</a:t>
            </a:r>
            <a:r>
              <a:rPr lang="en-US" altLang="ko-KR" dirty="0" smtClean="0">
                <a:solidFill>
                  <a:srgbClr val="0000FF"/>
                </a:solidFill>
              </a:rPr>
              <a:t>, </a:t>
            </a:r>
            <a:r>
              <a:rPr lang="ko-KR" altLang="en-US" dirty="0" smtClean="0">
                <a:solidFill>
                  <a:srgbClr val="0000FF"/>
                </a:solidFill>
              </a:rPr>
              <a:t>영문 상호 조회</a:t>
            </a:r>
          </a:p>
        </p:txBody>
      </p:sp>
      <p:graphicFrame>
        <p:nvGraphicFramePr>
          <p:cNvPr id="256" name="표 2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318072"/>
              </p:ext>
            </p:extLst>
          </p:nvPr>
        </p:nvGraphicFramePr>
        <p:xfrm>
          <a:off x="195738" y="3916509"/>
          <a:ext cx="9647551" cy="18887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7051"/>
                <a:gridCol w="1414734"/>
                <a:gridCol w="1308629"/>
                <a:gridCol w="1538176"/>
                <a:gridCol w="1080120"/>
                <a:gridCol w="1095381"/>
                <a:gridCol w="1241730"/>
                <a:gridCol w="1241730"/>
              </a:tblGrid>
              <a:tr h="61737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altLang="ko-KR" sz="800" dirty="0" err="1" smtClean="0">
                          <a:solidFill>
                            <a:srgbClr val="000000"/>
                          </a:solidFill>
                        </a:rPr>
                        <a:t>Pakages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/>
                        <a:t>Weight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solidFill>
                            <a:srgbClr val="000000"/>
                          </a:solidFill>
                        </a:rPr>
                        <a:t>CBM</a:t>
                      </a:r>
                      <a:endParaRPr lang="ko-KR" altLang="en-US" sz="8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입력일자</a:t>
                      </a:r>
                      <a:r>
                        <a:rPr lang="en-US" altLang="ko-KR" sz="800" dirty="0" smtClean="0"/>
                        <a:t>/</a:t>
                      </a:r>
                      <a:r>
                        <a:rPr lang="en-US" altLang="ko-KR" sz="800" baseline="0" dirty="0" smtClean="0"/>
                        <a:t> </a:t>
                      </a:r>
                      <a:r>
                        <a:rPr lang="ko-KR" altLang="en-US" sz="800" baseline="0" dirty="0" smtClean="0"/>
                        <a:t>입출항일자</a:t>
                      </a:r>
                      <a:endParaRPr lang="en-US" altLang="ko-KR" sz="8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</a:tr>
              <a:tr h="540060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solidFill>
                            <a:srgbClr val="000000"/>
                          </a:solidFill>
                        </a:rPr>
                        <a:t>Flight</a:t>
                      </a:r>
                      <a:r>
                        <a:rPr lang="en-US" altLang="ko-KR" sz="800" baseline="0" dirty="0" smtClean="0">
                          <a:solidFill>
                            <a:srgbClr val="000000"/>
                          </a:solidFill>
                        </a:rPr>
                        <a:t> No</a:t>
                      </a:r>
                      <a:endParaRPr lang="ko-KR" altLang="en-US" sz="8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/>
                        <a:t>Vessel Name 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aseline="0" dirty="0" smtClean="0"/>
                        <a:t>Voyage No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컨테이너 유형</a:t>
                      </a:r>
                      <a:r>
                        <a:rPr lang="en-US" altLang="ko-KR" sz="800" dirty="0" smtClean="0"/>
                        <a:t>/</a:t>
                      </a:r>
                    </a:p>
                    <a:p>
                      <a:pPr latinLnBrk="1"/>
                      <a:r>
                        <a:rPr lang="en-US" altLang="ko-KR" sz="800" dirty="0" smtClean="0"/>
                        <a:t>Call</a:t>
                      </a:r>
                      <a:r>
                        <a:rPr lang="en-US" altLang="ko-KR" sz="800" baseline="0" dirty="0" smtClean="0"/>
                        <a:t> Sign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</a:tr>
              <a:tr h="4432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rgbClr val="000000"/>
                          </a:solidFill>
                        </a:rPr>
                        <a:t>P.O.L</a:t>
                      </a:r>
                      <a:endParaRPr lang="ko-KR" altLang="en-US" sz="800" dirty="0" smtClean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/>
                        <a:t>P.O.D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영업사원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수정등록사원</a:t>
                      </a:r>
                      <a:endParaRPr lang="en-US" altLang="ko-KR" sz="800" dirty="0" smtClean="0"/>
                    </a:p>
                    <a:p>
                      <a:pPr latinLnBrk="1"/>
                      <a:r>
                        <a:rPr lang="ko-KR" altLang="en-US" sz="800" dirty="0" smtClean="0"/>
                        <a:t>수정일자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</a:tr>
              <a:tr h="2880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rgbClr val="000000"/>
                          </a:solidFill>
                        </a:rPr>
                        <a:t>L/C</a:t>
                      </a:r>
                      <a:r>
                        <a:rPr lang="en-US" altLang="ko-KR" sz="800" baseline="0" dirty="0" smtClean="0">
                          <a:solidFill>
                            <a:srgbClr val="000000"/>
                          </a:solidFill>
                        </a:rPr>
                        <a:t> NO</a:t>
                      </a:r>
                      <a:endParaRPr lang="ko-KR" altLang="en-US" sz="800" dirty="0" smtClean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solidFill>
                            <a:srgbClr val="000000"/>
                          </a:solidFill>
                        </a:rPr>
                        <a:t>INV NO.</a:t>
                      </a:r>
                      <a:endParaRPr lang="ko-KR" altLang="en-US" sz="8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/>
                        <a:t>P/O NO</a:t>
                      </a:r>
                      <a:endParaRPr lang="ko-KR" altLang="en-US" sz="8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/>
                        <a:t>ITEM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61" name="직사각형 260"/>
          <p:cNvSpPr/>
          <p:nvPr/>
        </p:nvSpPr>
        <p:spPr bwMode="auto">
          <a:xfrm>
            <a:off x="8893359" y="3976094"/>
            <a:ext cx="573969" cy="18073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sz="500" dirty="0" smtClean="0">
                <a:solidFill>
                  <a:srgbClr val="000000"/>
                </a:solidFill>
              </a:rPr>
              <a:t>2017-06-19</a:t>
            </a:r>
            <a:endParaRPr lang="ko-KR" altLang="en-US" sz="500" dirty="0">
              <a:solidFill>
                <a:srgbClr val="000000"/>
              </a:solidFill>
            </a:endParaRPr>
          </a:p>
        </p:txBody>
      </p:sp>
      <p:pic>
        <p:nvPicPr>
          <p:cNvPr id="262" name="Picture 12"/>
          <p:cNvPicPr>
            <a:picLocks noChangeAspect="1" noChangeArrowheads="1"/>
          </p:cNvPicPr>
          <p:nvPr/>
        </p:nvPicPr>
        <p:blipFill>
          <a:blip r:embed="rId4" cstate="print"/>
          <a:srcRect l="75599"/>
          <a:stretch>
            <a:fillRect/>
          </a:stretch>
        </p:blipFill>
        <p:spPr bwMode="auto">
          <a:xfrm>
            <a:off x="9507667" y="3974056"/>
            <a:ext cx="213784" cy="192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4" name="직사각형 263"/>
          <p:cNvSpPr/>
          <p:nvPr/>
        </p:nvSpPr>
        <p:spPr bwMode="auto">
          <a:xfrm>
            <a:off x="8893359" y="4271723"/>
            <a:ext cx="573969" cy="18073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sz="500" dirty="0" smtClean="0">
                <a:solidFill>
                  <a:srgbClr val="000000"/>
                </a:solidFill>
              </a:rPr>
              <a:t>2017-06-19</a:t>
            </a:r>
            <a:endParaRPr lang="ko-KR" altLang="en-US" sz="500" dirty="0">
              <a:solidFill>
                <a:srgbClr val="000000"/>
              </a:solidFill>
            </a:endParaRPr>
          </a:p>
        </p:txBody>
      </p:sp>
      <p:pic>
        <p:nvPicPr>
          <p:cNvPr id="268" name="Picture 12"/>
          <p:cNvPicPr>
            <a:picLocks noChangeAspect="1" noChangeArrowheads="1"/>
          </p:cNvPicPr>
          <p:nvPr/>
        </p:nvPicPr>
        <p:blipFill>
          <a:blip r:embed="rId4" cstate="print"/>
          <a:srcRect l="75599"/>
          <a:stretch>
            <a:fillRect/>
          </a:stretch>
        </p:blipFill>
        <p:spPr bwMode="auto">
          <a:xfrm>
            <a:off x="9507667" y="4269685"/>
            <a:ext cx="213784" cy="192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8" name="표 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824375"/>
              </p:ext>
            </p:extLst>
          </p:nvPr>
        </p:nvGraphicFramePr>
        <p:xfrm>
          <a:off x="179384" y="5924764"/>
          <a:ext cx="9685464" cy="6005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14244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1614244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1614244"/>
                <a:gridCol w="1614244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1614244">
                  <a:extLst>
                    <a:ext uri="{9D8B030D-6E8A-4147-A177-3AD203B41FA5}">
                      <a16:colId xmlns="" xmlns:a16="http://schemas.microsoft.com/office/drawing/2014/main" val="1217368376"/>
                    </a:ext>
                  </a:extLst>
                </a:gridCol>
                <a:gridCol w="1614244">
                  <a:extLst>
                    <a:ext uri="{9D8B030D-6E8A-4147-A177-3AD203B41FA5}">
                      <a16:colId xmlns="" xmlns:a16="http://schemas.microsoft.com/office/drawing/2014/main" val="4133577188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</a:rPr>
                        <a:t>Container 20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</a:rPr>
                        <a:t>Container 40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</a:rPr>
                        <a:t>20 DR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</a:rPr>
                        <a:t>20 HC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</a:rPr>
                        <a:t>20 RF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</a:rPr>
                        <a:t>40 DR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</a:rPr>
                        <a:t>40 HC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</a:rPr>
                        <a:t>40 RF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55027449"/>
                  </a:ext>
                </a:extLst>
              </a:tr>
              <a:tr h="20434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 smtClean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 smtClean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 smtClean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 smtClean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 smtClean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 smtClean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9" name="직사각형 108"/>
          <p:cNvSpPr/>
          <p:nvPr/>
        </p:nvSpPr>
        <p:spPr bwMode="auto">
          <a:xfrm>
            <a:off x="1568688" y="6133168"/>
            <a:ext cx="221737" cy="16946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0" name="직사각형 109"/>
          <p:cNvSpPr/>
          <p:nvPr/>
        </p:nvSpPr>
        <p:spPr bwMode="auto">
          <a:xfrm>
            <a:off x="3175825" y="6133168"/>
            <a:ext cx="221737" cy="16946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1" name="직사각형 110"/>
          <p:cNvSpPr/>
          <p:nvPr/>
        </p:nvSpPr>
        <p:spPr bwMode="auto">
          <a:xfrm>
            <a:off x="4797137" y="6133168"/>
            <a:ext cx="221737" cy="16946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2" name="직사각형 111"/>
          <p:cNvSpPr/>
          <p:nvPr/>
        </p:nvSpPr>
        <p:spPr bwMode="auto">
          <a:xfrm>
            <a:off x="6415177" y="6133168"/>
            <a:ext cx="221737" cy="16946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3" name="직사각형 112"/>
          <p:cNvSpPr/>
          <p:nvPr/>
        </p:nvSpPr>
        <p:spPr bwMode="auto">
          <a:xfrm>
            <a:off x="8018029" y="6133168"/>
            <a:ext cx="221737" cy="16946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4" name="직사각형 113"/>
          <p:cNvSpPr/>
          <p:nvPr/>
        </p:nvSpPr>
        <p:spPr bwMode="auto">
          <a:xfrm>
            <a:off x="9635491" y="6133168"/>
            <a:ext cx="221737" cy="16946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1475916" y="6051994"/>
            <a:ext cx="423400" cy="304820"/>
          </a:xfrm>
          <a:prstGeom prst="rect">
            <a:avLst/>
          </a:prstGeom>
          <a:noFill/>
          <a:ln w="317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116" name="타원 115"/>
          <p:cNvSpPr/>
          <p:nvPr/>
        </p:nvSpPr>
        <p:spPr>
          <a:xfrm>
            <a:off x="10213986" y="393305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2-9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152154" y="5842598"/>
            <a:ext cx="9758822" cy="653758"/>
          </a:xfrm>
          <a:prstGeom prst="rect">
            <a:avLst/>
          </a:prstGeom>
          <a:noFill/>
          <a:ln w="31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9" name="직사각형 118"/>
          <p:cNvSpPr/>
          <p:nvPr/>
        </p:nvSpPr>
        <p:spPr bwMode="auto">
          <a:xfrm>
            <a:off x="1007864" y="4166080"/>
            <a:ext cx="593536" cy="1870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35</a:t>
            </a:r>
            <a:endParaRPr lang="ko-KR" altLang="en-US" dirty="0">
              <a:solidFill>
                <a:srgbClr val="000000"/>
              </a:solidFill>
            </a:endParaRPr>
          </a:p>
        </p:txBody>
      </p:sp>
      <p:pic>
        <p:nvPicPr>
          <p:cNvPr id="120" name="그림 1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534" y="4193012"/>
            <a:ext cx="177132" cy="169080"/>
          </a:xfrm>
          <a:prstGeom prst="rect">
            <a:avLst/>
          </a:prstGeom>
        </p:spPr>
      </p:pic>
      <p:sp>
        <p:nvSpPr>
          <p:cNvPr id="121" name="직사각형 120"/>
          <p:cNvSpPr/>
          <p:nvPr/>
        </p:nvSpPr>
        <p:spPr bwMode="auto">
          <a:xfrm>
            <a:off x="1855115" y="4156833"/>
            <a:ext cx="405685" cy="1870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CT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22" name="직사각형 121"/>
          <p:cNvSpPr/>
          <p:nvPr/>
        </p:nvSpPr>
        <p:spPr bwMode="auto">
          <a:xfrm>
            <a:off x="3720299" y="4193256"/>
            <a:ext cx="593536" cy="1870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000000"/>
              </a:solidFill>
            </a:endParaRPr>
          </a:p>
        </p:txBody>
      </p:sp>
      <p:pic>
        <p:nvPicPr>
          <p:cNvPr id="123" name="그림 1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969" y="4220188"/>
            <a:ext cx="177132" cy="169080"/>
          </a:xfrm>
          <a:prstGeom prst="rect">
            <a:avLst/>
          </a:prstGeom>
        </p:spPr>
      </p:pic>
      <p:sp>
        <p:nvSpPr>
          <p:cNvPr id="124" name="직사각형 123"/>
          <p:cNvSpPr/>
          <p:nvPr/>
        </p:nvSpPr>
        <p:spPr bwMode="auto">
          <a:xfrm>
            <a:off x="4567550" y="4184009"/>
            <a:ext cx="405685" cy="1870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25" name="직사각형 124"/>
          <p:cNvSpPr/>
          <p:nvPr/>
        </p:nvSpPr>
        <p:spPr bwMode="auto">
          <a:xfrm>
            <a:off x="6336456" y="4176358"/>
            <a:ext cx="440041" cy="16756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26" name="직사각형 125"/>
          <p:cNvSpPr/>
          <p:nvPr/>
        </p:nvSpPr>
        <p:spPr bwMode="auto">
          <a:xfrm>
            <a:off x="6841549" y="4167112"/>
            <a:ext cx="475008" cy="17680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CBM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39" name="직사각형 138"/>
          <p:cNvSpPr/>
          <p:nvPr/>
        </p:nvSpPr>
        <p:spPr bwMode="auto">
          <a:xfrm>
            <a:off x="1007864" y="4737901"/>
            <a:ext cx="1244184" cy="20696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40" name="직사각형 139"/>
          <p:cNvSpPr/>
          <p:nvPr/>
        </p:nvSpPr>
        <p:spPr bwMode="auto">
          <a:xfrm>
            <a:off x="3729051" y="4742837"/>
            <a:ext cx="1244184" cy="20696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3" name="직사각형 152"/>
          <p:cNvSpPr/>
          <p:nvPr/>
        </p:nvSpPr>
        <p:spPr bwMode="auto">
          <a:xfrm>
            <a:off x="6336456" y="4742838"/>
            <a:ext cx="593536" cy="1870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71" name="직사각형 170"/>
          <p:cNvSpPr/>
          <p:nvPr/>
        </p:nvSpPr>
        <p:spPr bwMode="auto">
          <a:xfrm>
            <a:off x="1018653" y="5597755"/>
            <a:ext cx="1291187" cy="17150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78" name="직사각형 177"/>
          <p:cNvSpPr/>
          <p:nvPr/>
        </p:nvSpPr>
        <p:spPr bwMode="auto">
          <a:xfrm>
            <a:off x="3740378" y="5597755"/>
            <a:ext cx="1291187" cy="17150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91" name="직사각형 190"/>
          <p:cNvSpPr/>
          <p:nvPr/>
        </p:nvSpPr>
        <p:spPr bwMode="auto">
          <a:xfrm>
            <a:off x="6365841" y="5589240"/>
            <a:ext cx="913053" cy="1800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96" name="직사각형 195"/>
          <p:cNvSpPr/>
          <p:nvPr/>
        </p:nvSpPr>
        <p:spPr bwMode="auto">
          <a:xfrm>
            <a:off x="8752784" y="5582174"/>
            <a:ext cx="993575" cy="1870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000000"/>
              </a:solidFill>
            </a:endParaRPr>
          </a:p>
        </p:txBody>
      </p:sp>
      <p:grpSp>
        <p:nvGrpSpPr>
          <p:cNvPr id="197" name="그룹 196"/>
          <p:cNvGrpSpPr/>
          <p:nvPr/>
        </p:nvGrpSpPr>
        <p:grpSpPr>
          <a:xfrm>
            <a:off x="8752784" y="1889212"/>
            <a:ext cx="544384" cy="167371"/>
            <a:chOff x="10744662" y="4915712"/>
            <a:chExt cx="744688" cy="185289"/>
          </a:xfrm>
          <a:solidFill>
            <a:schemeClr val="bg1"/>
          </a:solidFill>
        </p:grpSpPr>
        <p:sp>
          <p:nvSpPr>
            <p:cNvPr id="198" name="직사각형 197"/>
            <p:cNvSpPr/>
            <p:nvPr/>
          </p:nvSpPr>
          <p:spPr bwMode="auto">
            <a:xfrm>
              <a:off x="10744662" y="4915712"/>
              <a:ext cx="740384" cy="185289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ko-KR" altLang="en-US" sz="600" dirty="0" smtClean="0">
                  <a:solidFill>
                    <a:srgbClr val="000000"/>
                  </a:solidFill>
                </a:rPr>
                <a:t>본사</a:t>
              </a:r>
              <a:endParaRPr lang="ko-KR" altLang="en-US" sz="600" dirty="0">
                <a:solidFill>
                  <a:srgbClr val="000000"/>
                </a:solidFill>
              </a:endParaRPr>
            </a:p>
          </p:txBody>
        </p:sp>
        <p:sp>
          <p:nvSpPr>
            <p:cNvPr id="201" name="직사각형 200"/>
            <p:cNvSpPr/>
            <p:nvPr/>
          </p:nvSpPr>
          <p:spPr bwMode="auto">
            <a:xfrm>
              <a:off x="11373696" y="4915712"/>
              <a:ext cx="115654" cy="185289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600" dirty="0">
                  <a:solidFill>
                    <a:srgbClr val="000000"/>
                  </a:solidFill>
                </a:rPr>
                <a:t>▼</a:t>
              </a:r>
              <a:endParaRPr lang="ko-KR" altLang="en-US" sz="6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02" name="그룹 201"/>
          <p:cNvGrpSpPr/>
          <p:nvPr/>
        </p:nvGrpSpPr>
        <p:grpSpPr>
          <a:xfrm>
            <a:off x="6361032" y="5192267"/>
            <a:ext cx="544384" cy="167371"/>
            <a:chOff x="10744662" y="4915712"/>
            <a:chExt cx="744688" cy="185289"/>
          </a:xfrm>
          <a:solidFill>
            <a:schemeClr val="bg1"/>
          </a:solidFill>
        </p:grpSpPr>
        <p:sp>
          <p:nvSpPr>
            <p:cNvPr id="204" name="직사각형 203"/>
            <p:cNvSpPr/>
            <p:nvPr/>
          </p:nvSpPr>
          <p:spPr bwMode="auto">
            <a:xfrm>
              <a:off x="10744662" y="4915712"/>
              <a:ext cx="740384" cy="185289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ko-KR" altLang="en-US" sz="600" dirty="0" smtClean="0">
                  <a:solidFill>
                    <a:srgbClr val="000000"/>
                  </a:solidFill>
                </a:rPr>
                <a:t>홍길</a:t>
              </a:r>
              <a:r>
                <a:rPr lang="ko-KR" altLang="en-US" sz="600" dirty="0">
                  <a:solidFill>
                    <a:srgbClr val="000000"/>
                  </a:solidFill>
                </a:rPr>
                <a:t>동</a:t>
              </a:r>
            </a:p>
          </p:txBody>
        </p:sp>
        <p:sp>
          <p:nvSpPr>
            <p:cNvPr id="205" name="직사각형 204"/>
            <p:cNvSpPr/>
            <p:nvPr/>
          </p:nvSpPr>
          <p:spPr bwMode="auto">
            <a:xfrm>
              <a:off x="11373696" y="4915712"/>
              <a:ext cx="115654" cy="185289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600" dirty="0">
                  <a:solidFill>
                    <a:srgbClr val="000000"/>
                  </a:solidFill>
                </a:rPr>
                <a:t>▼</a:t>
              </a:r>
              <a:endParaRPr lang="ko-KR" altLang="en-US" sz="600" dirty="0">
                <a:solidFill>
                  <a:srgbClr val="000000"/>
                </a:solidFill>
              </a:endParaRPr>
            </a:p>
          </p:txBody>
        </p:sp>
      </p:grpSp>
      <p:sp>
        <p:nvSpPr>
          <p:cNvPr id="206" name="직사각형 205"/>
          <p:cNvSpPr/>
          <p:nvPr/>
        </p:nvSpPr>
        <p:spPr bwMode="auto">
          <a:xfrm>
            <a:off x="1007864" y="5213208"/>
            <a:ext cx="593536" cy="1870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000000"/>
              </a:solidFill>
            </a:endParaRPr>
          </a:p>
        </p:txBody>
      </p:sp>
      <p:pic>
        <p:nvPicPr>
          <p:cNvPr id="207" name="그림 2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534" y="5240140"/>
            <a:ext cx="177132" cy="169080"/>
          </a:xfrm>
          <a:prstGeom prst="rect">
            <a:avLst/>
          </a:prstGeom>
        </p:spPr>
      </p:pic>
      <p:sp>
        <p:nvSpPr>
          <p:cNvPr id="211" name="직사각형 210"/>
          <p:cNvSpPr/>
          <p:nvPr/>
        </p:nvSpPr>
        <p:spPr bwMode="auto">
          <a:xfrm>
            <a:off x="1855115" y="5203961"/>
            <a:ext cx="405685" cy="1870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12" name="직사각형 211"/>
          <p:cNvSpPr/>
          <p:nvPr/>
        </p:nvSpPr>
        <p:spPr bwMode="auto">
          <a:xfrm>
            <a:off x="3751372" y="5213208"/>
            <a:ext cx="593536" cy="1870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000000"/>
              </a:solidFill>
            </a:endParaRPr>
          </a:p>
        </p:txBody>
      </p:sp>
      <p:pic>
        <p:nvPicPr>
          <p:cNvPr id="213" name="그림 2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042" y="5240140"/>
            <a:ext cx="177132" cy="169080"/>
          </a:xfrm>
          <a:prstGeom prst="rect">
            <a:avLst/>
          </a:prstGeom>
        </p:spPr>
      </p:pic>
      <p:sp>
        <p:nvSpPr>
          <p:cNvPr id="214" name="직사각형 213"/>
          <p:cNvSpPr/>
          <p:nvPr/>
        </p:nvSpPr>
        <p:spPr bwMode="auto">
          <a:xfrm>
            <a:off x="4598623" y="5203961"/>
            <a:ext cx="405685" cy="1870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15" name="타원 214"/>
          <p:cNvSpPr/>
          <p:nvPr/>
        </p:nvSpPr>
        <p:spPr>
          <a:xfrm>
            <a:off x="44880" y="3818073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 smtClean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16" name="타원 215"/>
          <p:cNvSpPr/>
          <p:nvPr/>
        </p:nvSpPr>
        <p:spPr>
          <a:xfrm>
            <a:off x="1348395" y="389977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3-1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17" name="타원 216"/>
          <p:cNvSpPr/>
          <p:nvPr/>
        </p:nvSpPr>
        <p:spPr>
          <a:xfrm>
            <a:off x="2851789" y="3976094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3-2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18" name="직사각형 217"/>
          <p:cNvSpPr/>
          <p:nvPr/>
        </p:nvSpPr>
        <p:spPr>
          <a:xfrm>
            <a:off x="2144374" y="3746681"/>
            <a:ext cx="1606998" cy="265127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 smtClean="0">
                <a:solidFill>
                  <a:srgbClr val="FF0066"/>
                </a:solidFill>
              </a:rPr>
              <a:t>기본값 </a:t>
            </a:r>
            <a:r>
              <a:rPr lang="en-US" altLang="ko-KR" sz="700" dirty="0">
                <a:solidFill>
                  <a:srgbClr val="FF0066"/>
                </a:solidFill>
              </a:rPr>
              <a:t> </a:t>
            </a:r>
            <a:r>
              <a:rPr lang="en-US" altLang="ko-KR" sz="700" dirty="0" smtClean="0">
                <a:solidFill>
                  <a:srgbClr val="FF0066"/>
                </a:solidFill>
              </a:rPr>
              <a:t>: CT , KG, CBM  </a:t>
            </a:r>
            <a:r>
              <a:rPr lang="ko-KR" altLang="en-US" sz="700" dirty="0" smtClean="0">
                <a:solidFill>
                  <a:srgbClr val="FF0066"/>
                </a:solidFill>
              </a:rPr>
              <a:t>적용처리</a:t>
            </a:r>
          </a:p>
        </p:txBody>
      </p:sp>
      <p:sp>
        <p:nvSpPr>
          <p:cNvPr id="219" name="직사각형 218"/>
          <p:cNvSpPr/>
          <p:nvPr/>
        </p:nvSpPr>
        <p:spPr>
          <a:xfrm>
            <a:off x="7352091" y="3767208"/>
            <a:ext cx="2015898" cy="265127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 smtClean="0">
                <a:solidFill>
                  <a:srgbClr val="FF0066"/>
                </a:solidFill>
              </a:rPr>
              <a:t>기본값 </a:t>
            </a:r>
            <a:r>
              <a:rPr lang="en-US" altLang="ko-KR" sz="700" dirty="0">
                <a:solidFill>
                  <a:srgbClr val="FF0066"/>
                </a:solidFill>
              </a:rPr>
              <a:t> </a:t>
            </a:r>
            <a:r>
              <a:rPr lang="en-US" altLang="ko-KR" sz="700" dirty="0" smtClean="0">
                <a:solidFill>
                  <a:srgbClr val="FF0066"/>
                </a:solidFill>
              </a:rPr>
              <a:t>: </a:t>
            </a:r>
            <a:r>
              <a:rPr lang="ko-KR" altLang="en-US" sz="700" dirty="0" smtClean="0">
                <a:solidFill>
                  <a:srgbClr val="FF0066"/>
                </a:solidFill>
              </a:rPr>
              <a:t>입력일자 시스템 일자 적용처리</a:t>
            </a:r>
          </a:p>
        </p:txBody>
      </p:sp>
      <p:sp>
        <p:nvSpPr>
          <p:cNvPr id="220" name="타원 219"/>
          <p:cNvSpPr/>
          <p:nvPr/>
        </p:nvSpPr>
        <p:spPr>
          <a:xfrm>
            <a:off x="5613494" y="4045008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3-3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23" name="타원 222"/>
          <p:cNvSpPr/>
          <p:nvPr/>
        </p:nvSpPr>
        <p:spPr>
          <a:xfrm>
            <a:off x="8086491" y="4329394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3-4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25" name="직사각형 224"/>
          <p:cNvSpPr/>
          <p:nvPr/>
        </p:nvSpPr>
        <p:spPr bwMode="auto">
          <a:xfrm>
            <a:off x="8892740" y="4821912"/>
            <a:ext cx="593536" cy="1870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000000"/>
              </a:solidFill>
            </a:endParaRPr>
          </a:p>
        </p:txBody>
      </p:sp>
      <p:grpSp>
        <p:nvGrpSpPr>
          <p:cNvPr id="228" name="그룹 227"/>
          <p:cNvGrpSpPr/>
          <p:nvPr/>
        </p:nvGrpSpPr>
        <p:grpSpPr>
          <a:xfrm>
            <a:off x="8892740" y="4605888"/>
            <a:ext cx="544384" cy="167371"/>
            <a:chOff x="10744662" y="4915712"/>
            <a:chExt cx="744688" cy="185289"/>
          </a:xfrm>
          <a:solidFill>
            <a:schemeClr val="bg1"/>
          </a:solidFill>
        </p:grpSpPr>
        <p:sp>
          <p:nvSpPr>
            <p:cNvPr id="230" name="직사각형 229"/>
            <p:cNvSpPr/>
            <p:nvPr/>
          </p:nvSpPr>
          <p:spPr bwMode="auto">
            <a:xfrm>
              <a:off x="10744662" y="4915712"/>
              <a:ext cx="740384" cy="185289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altLang="ko-KR" sz="600" dirty="0" smtClean="0">
                  <a:solidFill>
                    <a:srgbClr val="000000"/>
                  </a:solidFill>
                </a:rPr>
                <a:t>LCL</a:t>
              </a:r>
              <a:endParaRPr lang="ko-KR" altLang="en-US" sz="600" dirty="0">
                <a:solidFill>
                  <a:srgbClr val="000000"/>
                </a:solidFill>
              </a:endParaRPr>
            </a:p>
          </p:txBody>
        </p:sp>
        <p:sp>
          <p:nvSpPr>
            <p:cNvPr id="231" name="직사각형 230"/>
            <p:cNvSpPr/>
            <p:nvPr/>
          </p:nvSpPr>
          <p:spPr bwMode="auto">
            <a:xfrm>
              <a:off x="11373696" y="4915712"/>
              <a:ext cx="115654" cy="185289"/>
            </a:xfrm>
            <a:prstGeom prst="rect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600" dirty="0">
                  <a:solidFill>
                    <a:srgbClr val="000000"/>
                  </a:solidFill>
                </a:rPr>
                <a:t>▼</a:t>
              </a:r>
              <a:endParaRPr lang="ko-KR" altLang="en-US" sz="600" dirty="0">
                <a:solidFill>
                  <a:srgbClr val="000000"/>
                </a:solidFill>
              </a:endParaRPr>
            </a:p>
          </p:txBody>
        </p:sp>
      </p:grpSp>
      <p:sp>
        <p:nvSpPr>
          <p:cNvPr id="242" name="직사각형 241"/>
          <p:cNvSpPr/>
          <p:nvPr/>
        </p:nvSpPr>
        <p:spPr>
          <a:xfrm>
            <a:off x="8033466" y="4966590"/>
            <a:ext cx="877430" cy="265127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 smtClean="0">
                <a:solidFill>
                  <a:srgbClr val="FF0066"/>
                </a:solidFill>
              </a:rPr>
              <a:t>기본값 </a:t>
            </a:r>
            <a:r>
              <a:rPr lang="en-US" altLang="ko-KR" sz="700" dirty="0">
                <a:solidFill>
                  <a:srgbClr val="FF0066"/>
                </a:solidFill>
              </a:rPr>
              <a:t> </a:t>
            </a:r>
            <a:r>
              <a:rPr lang="en-US" altLang="ko-KR" sz="700" dirty="0" smtClean="0">
                <a:solidFill>
                  <a:srgbClr val="FF0066"/>
                </a:solidFill>
              </a:rPr>
              <a:t>: </a:t>
            </a:r>
            <a:r>
              <a:rPr lang="ko-KR" altLang="en-US" sz="700" dirty="0" smtClean="0">
                <a:solidFill>
                  <a:srgbClr val="FF0066"/>
                </a:solidFill>
              </a:rPr>
              <a:t>로그인 사용자 적용 처리</a:t>
            </a:r>
          </a:p>
        </p:txBody>
      </p:sp>
      <p:sp>
        <p:nvSpPr>
          <p:cNvPr id="244" name="타원 243"/>
          <p:cNvSpPr/>
          <p:nvPr/>
        </p:nvSpPr>
        <p:spPr>
          <a:xfrm>
            <a:off x="-3816672" y="395517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3-2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45" name="타원 244"/>
          <p:cNvSpPr/>
          <p:nvPr/>
        </p:nvSpPr>
        <p:spPr>
          <a:xfrm>
            <a:off x="-3816672" y="4387224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3-3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47" name="타원 246"/>
          <p:cNvSpPr/>
          <p:nvPr/>
        </p:nvSpPr>
        <p:spPr>
          <a:xfrm>
            <a:off x="-3816672" y="4783268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3-4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49" name="타원 248"/>
          <p:cNvSpPr/>
          <p:nvPr/>
        </p:nvSpPr>
        <p:spPr>
          <a:xfrm>
            <a:off x="185562" y="5810379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rgbClr val="000000"/>
                </a:solidFill>
              </a:rPr>
              <a:t>4</a:t>
            </a:r>
            <a:endParaRPr lang="en-US" altLang="ko-KR" sz="1000" b="1" dirty="0" smtClean="0">
              <a:solidFill>
                <a:srgbClr val="000000"/>
              </a:solidFill>
            </a:endParaRPr>
          </a:p>
        </p:txBody>
      </p:sp>
      <p:sp>
        <p:nvSpPr>
          <p:cNvPr id="253" name="직사각형 252"/>
          <p:cNvSpPr/>
          <p:nvPr/>
        </p:nvSpPr>
        <p:spPr bwMode="auto">
          <a:xfrm>
            <a:off x="8892740" y="5339250"/>
            <a:ext cx="573969" cy="18073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sz="500" dirty="0" smtClean="0">
                <a:solidFill>
                  <a:srgbClr val="000000"/>
                </a:solidFill>
              </a:rPr>
              <a:t>2017-06-19</a:t>
            </a:r>
            <a:endParaRPr lang="ko-KR" altLang="en-US" sz="500" dirty="0">
              <a:solidFill>
                <a:srgbClr val="000000"/>
              </a:solidFill>
            </a:endParaRPr>
          </a:p>
        </p:txBody>
      </p:sp>
      <p:pic>
        <p:nvPicPr>
          <p:cNvPr id="254" name="Picture 12"/>
          <p:cNvPicPr>
            <a:picLocks noChangeAspect="1" noChangeArrowheads="1"/>
          </p:cNvPicPr>
          <p:nvPr/>
        </p:nvPicPr>
        <p:blipFill>
          <a:blip r:embed="rId4" cstate="print"/>
          <a:srcRect l="75599"/>
          <a:stretch>
            <a:fillRect/>
          </a:stretch>
        </p:blipFill>
        <p:spPr bwMode="auto">
          <a:xfrm>
            <a:off x="9507048" y="5337212"/>
            <a:ext cx="213784" cy="192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5" name="직사각형 254"/>
          <p:cNvSpPr/>
          <p:nvPr/>
        </p:nvSpPr>
        <p:spPr>
          <a:xfrm>
            <a:off x="-3456632" y="5527814"/>
            <a:ext cx="3344726" cy="385462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b="1" dirty="0" smtClean="0">
                <a:solidFill>
                  <a:srgbClr val="0000FF"/>
                </a:solidFill>
                <a:latin typeface="Rix고딕 M"/>
                <a:ea typeface="Rix고딕 M"/>
              </a:rPr>
              <a:t>수정등록사원 </a:t>
            </a:r>
            <a:r>
              <a:rPr lang="en-US" altLang="ko-KR" b="1" dirty="0" smtClean="0">
                <a:solidFill>
                  <a:srgbClr val="0000FF"/>
                </a:solidFill>
                <a:latin typeface="Rix고딕 M"/>
                <a:ea typeface="Rix고딕 M"/>
              </a:rPr>
              <a:t>:  </a:t>
            </a:r>
            <a:r>
              <a:rPr lang="ko-KR" altLang="en-US" b="1" dirty="0" smtClean="0">
                <a:solidFill>
                  <a:srgbClr val="0000FF"/>
                </a:solidFill>
                <a:latin typeface="Rix고딕 M"/>
                <a:ea typeface="Rix고딕 M"/>
              </a:rPr>
              <a:t>로그인 사용자 기본값 적용처리</a:t>
            </a:r>
            <a:endParaRPr lang="en-US" altLang="ko-KR" b="1" dirty="0" smtClean="0">
              <a:solidFill>
                <a:srgbClr val="0000FF"/>
              </a:solidFill>
              <a:latin typeface="Rix고딕 M"/>
              <a:ea typeface="Rix고딕 M"/>
            </a:endParaRPr>
          </a:p>
          <a:p>
            <a:r>
              <a:rPr lang="ko-KR" altLang="en-US" b="1" dirty="0" smtClean="0">
                <a:solidFill>
                  <a:srgbClr val="0000FF"/>
                </a:solidFill>
                <a:latin typeface="Rix고딕 M"/>
                <a:ea typeface="Rix고딕 M"/>
              </a:rPr>
              <a:t>수정일자        </a:t>
            </a:r>
            <a:r>
              <a:rPr lang="en-US" altLang="ko-KR" b="1" dirty="0" smtClean="0">
                <a:solidFill>
                  <a:srgbClr val="0000FF"/>
                </a:solidFill>
                <a:latin typeface="Rix고딕 M"/>
                <a:ea typeface="Rix고딕 M"/>
              </a:rPr>
              <a:t>: </a:t>
            </a:r>
            <a:r>
              <a:rPr lang="ko-KR" altLang="en-US" b="1" dirty="0" smtClean="0">
                <a:solidFill>
                  <a:srgbClr val="0000FF"/>
                </a:solidFill>
                <a:latin typeface="Rix고딕 M"/>
                <a:ea typeface="Rix고딕 M"/>
              </a:rPr>
              <a:t>시스템 일자 적용처리</a:t>
            </a:r>
            <a:endParaRPr lang="en-US" altLang="ko-KR" b="1" dirty="0">
              <a:solidFill>
                <a:srgbClr val="0000FF"/>
              </a:solidFill>
            </a:endParaRPr>
          </a:p>
        </p:txBody>
      </p:sp>
      <p:sp>
        <p:nvSpPr>
          <p:cNvPr id="259" name="타원 258"/>
          <p:cNvSpPr/>
          <p:nvPr/>
        </p:nvSpPr>
        <p:spPr>
          <a:xfrm>
            <a:off x="-3816672" y="5431340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3-5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60" name="직사각형 259"/>
          <p:cNvSpPr/>
          <p:nvPr/>
        </p:nvSpPr>
        <p:spPr>
          <a:xfrm>
            <a:off x="5784981" y="800708"/>
            <a:ext cx="3469914" cy="321515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 smtClean="0">
                <a:solidFill>
                  <a:srgbClr val="0000FF"/>
                </a:solidFill>
                <a:latin typeface="Rix고딕 M"/>
                <a:ea typeface="Rix고딕 M"/>
              </a:rPr>
              <a:t>※</a:t>
            </a:r>
            <a:r>
              <a:rPr lang="ko-KR" altLang="en-US" b="1" dirty="0" smtClean="0">
                <a:solidFill>
                  <a:srgbClr val="0000FF"/>
                </a:solidFill>
              </a:rPr>
              <a:t>수기입력  가능 및 </a:t>
            </a:r>
            <a:r>
              <a:rPr lang="en-US" altLang="ko-KR" b="1" dirty="0" smtClean="0">
                <a:solidFill>
                  <a:srgbClr val="0000FF"/>
                </a:solidFill>
              </a:rPr>
              <a:t>B/L </a:t>
            </a:r>
            <a:r>
              <a:rPr lang="ko-KR" altLang="en-US" b="1" dirty="0" smtClean="0">
                <a:solidFill>
                  <a:srgbClr val="0000FF"/>
                </a:solidFill>
              </a:rPr>
              <a:t>번호 교체 기능 필요</a:t>
            </a:r>
            <a:r>
              <a:rPr lang="en-US" altLang="ko-KR" b="1" dirty="0" smtClean="0">
                <a:solidFill>
                  <a:srgbClr val="0000FF"/>
                </a:solidFill>
              </a:rPr>
              <a:t>. </a:t>
            </a:r>
          </a:p>
          <a:p>
            <a:r>
              <a:rPr lang="ko-KR" altLang="en-US" b="1" dirty="0" smtClean="0">
                <a:solidFill>
                  <a:srgbClr val="0000FF"/>
                </a:solidFill>
              </a:rPr>
              <a:t>수기입력인 경우 </a:t>
            </a:r>
            <a:r>
              <a:rPr lang="en-US" altLang="ko-KR" b="1" dirty="0" smtClean="0">
                <a:solidFill>
                  <a:srgbClr val="0000FF"/>
                </a:solidFill>
              </a:rPr>
              <a:t>MASTER ,HOUSE  B/L </a:t>
            </a:r>
            <a:r>
              <a:rPr lang="ko-KR" altLang="en-US" b="1" dirty="0" smtClean="0">
                <a:solidFill>
                  <a:srgbClr val="0000FF"/>
                </a:solidFill>
              </a:rPr>
              <a:t>번호를 </a:t>
            </a:r>
            <a:r>
              <a:rPr lang="ko-KR" altLang="en-US" b="1" dirty="0" err="1" smtClean="0">
                <a:solidFill>
                  <a:srgbClr val="0000FF"/>
                </a:solidFill>
              </a:rPr>
              <a:t>제어하지않음</a:t>
            </a:r>
            <a:r>
              <a:rPr lang="ko-KR" altLang="en-US" b="1" dirty="0" smtClean="0">
                <a:solidFill>
                  <a:srgbClr val="0000FF"/>
                </a:solidFill>
              </a:rPr>
              <a:t> 처리</a:t>
            </a:r>
          </a:p>
        </p:txBody>
      </p:sp>
      <p:sp>
        <p:nvSpPr>
          <p:cNvPr id="263" name="타원 262"/>
          <p:cNvSpPr/>
          <p:nvPr/>
        </p:nvSpPr>
        <p:spPr>
          <a:xfrm>
            <a:off x="8137776" y="527080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3-5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66" name="타원 165"/>
          <p:cNvSpPr/>
          <p:nvPr/>
        </p:nvSpPr>
        <p:spPr>
          <a:xfrm>
            <a:off x="8428748" y="236702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2-10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76" name="직사각형 175"/>
          <p:cNvSpPr/>
          <p:nvPr/>
        </p:nvSpPr>
        <p:spPr>
          <a:xfrm>
            <a:off x="10555462" y="6201308"/>
            <a:ext cx="3593862" cy="458701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rgbClr val="000000"/>
                </a:solidFill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</a:rPr>
              <a:t>실적금액 </a:t>
            </a:r>
            <a:r>
              <a:rPr lang="en-US" altLang="ko-KR" sz="700" dirty="0" smtClean="0">
                <a:solidFill>
                  <a:srgbClr val="000000"/>
                </a:solidFill>
              </a:rPr>
              <a:t>: </a:t>
            </a:r>
          </a:p>
          <a:p>
            <a:r>
              <a:rPr lang="ko-KR" altLang="en-US" sz="700" dirty="0" smtClean="0">
                <a:solidFill>
                  <a:srgbClr val="000000"/>
                </a:solidFill>
              </a:rPr>
              <a:t>사용자가 통관정산 자료 </a:t>
            </a:r>
            <a:r>
              <a:rPr lang="ko-KR" altLang="en-US" sz="700" dirty="0" err="1" smtClean="0">
                <a:solidFill>
                  <a:srgbClr val="000000"/>
                </a:solidFill>
              </a:rPr>
              <a:t>저장시</a:t>
            </a:r>
            <a:r>
              <a:rPr lang="ko-KR" altLang="en-US" sz="700" dirty="0" smtClean="0">
                <a:solidFill>
                  <a:srgbClr val="000000"/>
                </a:solidFill>
              </a:rPr>
              <a:t> 실적금액 </a:t>
            </a:r>
            <a:r>
              <a:rPr lang="ko-KR" altLang="en-US" sz="700" dirty="0" err="1" smtClean="0">
                <a:solidFill>
                  <a:srgbClr val="000000"/>
                </a:solidFill>
              </a:rPr>
              <a:t>계산후</a:t>
            </a:r>
            <a:r>
              <a:rPr lang="ko-KR" altLang="en-US" sz="700" dirty="0" smtClean="0">
                <a:solidFill>
                  <a:srgbClr val="000000"/>
                </a:solidFill>
              </a:rPr>
              <a:t> 텍스트 박스에 계산 금액 표시</a:t>
            </a:r>
            <a:endParaRPr lang="en-US" altLang="ko-KR" sz="700" dirty="0" smtClean="0">
              <a:solidFill>
                <a:srgbClr val="000000"/>
              </a:solidFill>
            </a:endParaRPr>
          </a:p>
          <a:p>
            <a:r>
              <a:rPr lang="ko-KR" altLang="en-US" sz="700" b="1" dirty="0" smtClean="0">
                <a:solidFill>
                  <a:srgbClr val="FF0000"/>
                </a:solidFill>
              </a:rPr>
              <a:t>계산 공식 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: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통관정산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청구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– </a:t>
            </a:r>
            <a:r>
              <a:rPr lang="ko-KR" altLang="en-US" sz="700" b="1" dirty="0">
                <a:solidFill>
                  <a:srgbClr val="FF0000"/>
                </a:solidFill>
              </a:rPr>
              <a:t>통관정산</a:t>
            </a:r>
            <a:r>
              <a:rPr lang="en-US" altLang="ko-KR" sz="700" b="1" dirty="0">
                <a:solidFill>
                  <a:srgbClr val="FF0000"/>
                </a:solidFill>
              </a:rPr>
              <a:t>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지출</a:t>
            </a:r>
            <a:endParaRPr lang="en-US" altLang="ko-KR" sz="700" b="1" dirty="0" smtClean="0">
              <a:solidFill>
                <a:srgbClr val="FF0000"/>
              </a:solidFill>
            </a:endParaRPr>
          </a:p>
        </p:txBody>
      </p:sp>
      <p:sp>
        <p:nvSpPr>
          <p:cNvPr id="177" name="타원 176"/>
          <p:cNvSpPr/>
          <p:nvPr/>
        </p:nvSpPr>
        <p:spPr>
          <a:xfrm>
            <a:off x="10238620" y="6084159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2-10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52" name="직사각형 251"/>
          <p:cNvSpPr/>
          <p:nvPr/>
        </p:nvSpPr>
        <p:spPr bwMode="auto">
          <a:xfrm>
            <a:off x="-3448203" y="2168954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통관</a:t>
            </a:r>
            <a:r>
              <a:rPr lang="en-US" altLang="ko-KR" dirty="0" smtClean="0">
                <a:solidFill>
                  <a:srgbClr val="000000"/>
                </a:solidFill>
              </a:rPr>
              <a:t>B/L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65" name="직사각형 264"/>
          <p:cNvSpPr/>
          <p:nvPr/>
        </p:nvSpPr>
        <p:spPr bwMode="auto">
          <a:xfrm>
            <a:off x="-2641033" y="2168955"/>
            <a:ext cx="117717" cy="1754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67" name="직사각형 266"/>
          <p:cNvSpPr/>
          <p:nvPr/>
        </p:nvSpPr>
        <p:spPr bwMode="auto">
          <a:xfrm>
            <a:off x="-3448202" y="2337825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통관</a:t>
            </a:r>
            <a:r>
              <a:rPr lang="en-US" altLang="ko-KR" dirty="0" smtClean="0">
                <a:solidFill>
                  <a:srgbClr val="000000"/>
                </a:solidFill>
              </a:rPr>
              <a:t>B/L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69" name="직사각형 268"/>
          <p:cNvSpPr/>
          <p:nvPr/>
        </p:nvSpPr>
        <p:spPr bwMode="auto">
          <a:xfrm>
            <a:off x="-3448202" y="2492727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운송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70" name="직사각형 269"/>
          <p:cNvSpPr/>
          <p:nvPr/>
        </p:nvSpPr>
        <p:spPr bwMode="auto">
          <a:xfrm>
            <a:off x="-3448202" y="2662313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창고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71" name="직사각형 270"/>
          <p:cNvSpPr/>
          <p:nvPr/>
        </p:nvSpPr>
        <p:spPr bwMode="auto">
          <a:xfrm>
            <a:off x="-3445415" y="2842333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기</a:t>
            </a:r>
            <a:r>
              <a:rPr lang="ko-KR" altLang="en-US" dirty="0">
                <a:solidFill>
                  <a:srgbClr val="000000"/>
                </a:solidFill>
              </a:rPr>
              <a:t>타</a:t>
            </a:r>
          </a:p>
        </p:txBody>
      </p:sp>
      <p:sp>
        <p:nvSpPr>
          <p:cNvPr id="272" name="타원 271"/>
          <p:cNvSpPr/>
          <p:nvPr/>
        </p:nvSpPr>
        <p:spPr>
          <a:xfrm>
            <a:off x="-3825139" y="2168860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2-3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73" name="직사각형 272"/>
          <p:cNvSpPr/>
          <p:nvPr/>
        </p:nvSpPr>
        <p:spPr>
          <a:xfrm>
            <a:off x="7619266" y="1916832"/>
            <a:ext cx="877430" cy="159975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err="1" smtClean="0">
                <a:solidFill>
                  <a:srgbClr val="FF0066"/>
                </a:solidFill>
              </a:rPr>
              <a:t>다음장</a:t>
            </a:r>
            <a:r>
              <a:rPr lang="ko-KR" altLang="en-US" sz="700" dirty="0" smtClean="0">
                <a:solidFill>
                  <a:srgbClr val="FF0066"/>
                </a:solidFill>
              </a:rPr>
              <a:t> 참조</a:t>
            </a:r>
          </a:p>
        </p:txBody>
      </p:sp>
      <p:sp>
        <p:nvSpPr>
          <p:cNvPr id="184" name="직사각형 183"/>
          <p:cNvSpPr/>
          <p:nvPr/>
        </p:nvSpPr>
        <p:spPr>
          <a:xfrm>
            <a:off x="5449031" y="2425285"/>
            <a:ext cx="1371839" cy="222397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 smtClean="0">
                <a:solidFill>
                  <a:srgbClr val="FF0000"/>
                </a:solidFill>
                <a:latin typeface="Rix고딕 M"/>
                <a:ea typeface="Rix고딕 M"/>
              </a:rPr>
              <a:t>※</a:t>
            </a:r>
            <a:r>
              <a:rPr lang="ko-KR" altLang="en-US" b="1" dirty="0" smtClean="0">
                <a:solidFill>
                  <a:srgbClr val="FF0000"/>
                </a:solidFill>
                <a:latin typeface="Rix고딕 M"/>
                <a:ea typeface="Rix고딕 M"/>
              </a:rPr>
              <a:t>통관 </a:t>
            </a:r>
            <a:r>
              <a:rPr lang="en-US" altLang="ko-KR" b="1" dirty="0" smtClean="0">
                <a:solidFill>
                  <a:srgbClr val="FF0000"/>
                </a:solidFill>
                <a:latin typeface="Rix고딕 M"/>
                <a:ea typeface="Rix고딕 M"/>
              </a:rPr>
              <a:t>JOB No </a:t>
            </a:r>
            <a:r>
              <a:rPr lang="ko-KR" altLang="en-US" b="1" dirty="0" smtClean="0">
                <a:solidFill>
                  <a:srgbClr val="FF0000"/>
                </a:solidFill>
                <a:latin typeface="Rix고딕 M"/>
                <a:ea typeface="Rix고딕 M"/>
              </a:rPr>
              <a:t>대체 가능 </a:t>
            </a:r>
            <a:endParaRPr lang="ko-KR" altLang="en-US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640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65628" y="526101"/>
            <a:ext cx="9699219" cy="1845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182428" y="936302"/>
            <a:ext cx="9682419" cy="561569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22" name="제목 21"/>
          <p:cNvSpPr>
            <a:spLocks noGrp="1"/>
          </p:cNvSpPr>
          <p:nvPr>
            <p:ph type="title" idx="4294967295"/>
          </p:nvPr>
        </p:nvSpPr>
        <p:spPr>
          <a:xfrm>
            <a:off x="5875324" y="22329"/>
            <a:ext cx="2060048" cy="251463"/>
          </a:xfrm>
          <a:prstGeom prst="rect">
            <a:avLst/>
          </a:prstGeom>
        </p:spPr>
        <p:txBody>
          <a:bodyPr/>
          <a:lstStyle/>
          <a:p>
            <a:r>
              <a:rPr lang="en-US" altLang="ko-KR" sz="1200" dirty="0" smtClean="0"/>
              <a:t>HBL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err="1" smtClean="0"/>
              <a:t>메인화면</a:t>
            </a:r>
            <a:r>
              <a:rPr lang="en-US" altLang="ko-KR" sz="1200" baseline="0" dirty="0" smtClean="0"/>
              <a:t>(1/3)</a:t>
            </a:r>
            <a:endParaRPr lang="ko-KR" altLang="en-US" sz="1200" dirty="0"/>
          </a:p>
        </p:txBody>
      </p:sp>
      <p:grpSp>
        <p:nvGrpSpPr>
          <p:cNvPr id="255" name="그룹 254"/>
          <p:cNvGrpSpPr/>
          <p:nvPr/>
        </p:nvGrpSpPr>
        <p:grpSpPr>
          <a:xfrm>
            <a:off x="188322" y="800708"/>
            <a:ext cx="2115027" cy="236513"/>
            <a:chOff x="920300" y="3392022"/>
            <a:chExt cx="900100" cy="236513"/>
          </a:xfrm>
        </p:grpSpPr>
        <p:sp>
          <p:nvSpPr>
            <p:cNvPr id="261" name="한쪽 모서리가 둥근 사각형 260"/>
            <p:cNvSpPr/>
            <p:nvPr/>
          </p:nvSpPr>
          <p:spPr bwMode="auto">
            <a:xfrm flipH="1">
              <a:off x="920300" y="3392022"/>
              <a:ext cx="796099" cy="236513"/>
            </a:xfrm>
            <a:prstGeom prst="round1Rect">
              <a:avLst>
                <a:gd name="adj" fmla="val 31877"/>
              </a:avLst>
            </a:prstGeom>
            <a:solidFill>
              <a:srgbClr val="004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262" name="TextBox 53"/>
            <p:cNvSpPr txBox="1"/>
            <p:nvPr/>
          </p:nvSpPr>
          <p:spPr>
            <a:xfrm>
              <a:off x="1055245" y="3429000"/>
              <a:ext cx="765155" cy="19723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509544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10190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528632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2038176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547721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3057265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566810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4076354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lnSpc>
                  <a:spcPts val="800"/>
                </a:lnSpc>
              </a:pPr>
              <a:r>
                <a:rPr lang="en-US" altLang="ko-KR" dirty="0" smtClean="0">
                  <a:solidFill>
                    <a:srgbClr val="FFFFFF"/>
                  </a:solidFill>
                  <a:latin typeface="Rix모던고딕 B" pitchFamily="18" charset="-127"/>
                  <a:ea typeface="Rix모던고딕 B" pitchFamily="18" charset="-127"/>
                </a:rPr>
                <a:t>Clearance  Information</a:t>
              </a:r>
              <a:endParaRPr lang="ko-KR" altLang="en-US" dirty="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</p:grpSp>
      <p:sp>
        <p:nvSpPr>
          <p:cNvPr id="188" name="제목 21"/>
          <p:cNvSpPr txBox="1">
            <a:spLocks/>
          </p:cNvSpPr>
          <p:nvPr/>
        </p:nvSpPr>
        <p:spPr>
          <a:xfrm>
            <a:off x="1027167" y="261213"/>
            <a:ext cx="2060048" cy="251463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1000" dirty="0">
                <a:solidFill>
                  <a:srgbClr val="000000"/>
                </a:solidFill>
              </a:rPr>
              <a:t>입력</a:t>
            </a:r>
            <a:r>
              <a:rPr lang="en-US" altLang="ko-KR" sz="1000" dirty="0">
                <a:solidFill>
                  <a:srgbClr val="000000"/>
                </a:solidFill>
              </a:rPr>
              <a:t>/</a:t>
            </a:r>
            <a:r>
              <a:rPr lang="ko-KR" altLang="en-US" sz="1000" dirty="0">
                <a:solidFill>
                  <a:srgbClr val="000000"/>
                </a:solidFill>
              </a:rPr>
              <a:t>조회</a:t>
            </a:r>
            <a:r>
              <a:rPr lang="en-US" altLang="ko-KR" sz="1000" dirty="0">
                <a:solidFill>
                  <a:srgbClr val="000000"/>
                </a:solidFill>
              </a:rPr>
              <a:t>/</a:t>
            </a:r>
            <a:r>
              <a:rPr lang="ko-KR" altLang="en-US" sz="1000" dirty="0">
                <a:solidFill>
                  <a:srgbClr val="000000"/>
                </a:solidFill>
              </a:rPr>
              <a:t>삭제</a:t>
            </a:r>
            <a:r>
              <a:rPr lang="en-US" altLang="ko-KR" sz="1000" dirty="0">
                <a:solidFill>
                  <a:srgbClr val="000000"/>
                </a:solidFill>
              </a:rPr>
              <a:t>/</a:t>
            </a:r>
            <a:r>
              <a:rPr lang="ko-KR" altLang="en-US" sz="1000" dirty="0">
                <a:solidFill>
                  <a:srgbClr val="000000"/>
                </a:solidFill>
              </a:rPr>
              <a:t>수정</a:t>
            </a:r>
            <a:endParaRPr lang="ko-KR" altLang="en-US" sz="1000" kern="0" dirty="0">
              <a:solidFill>
                <a:srgbClr val="000000"/>
              </a:solidFill>
            </a:endParaRPr>
          </a:p>
        </p:txBody>
      </p:sp>
      <p:graphicFrame>
        <p:nvGraphicFramePr>
          <p:cNvPr id="365" name="표 3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095798"/>
              </p:ext>
            </p:extLst>
          </p:nvPr>
        </p:nvGraphicFramePr>
        <p:xfrm>
          <a:off x="195738" y="1202037"/>
          <a:ext cx="9817424" cy="26231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126"/>
                <a:gridCol w="1152128"/>
                <a:gridCol w="864096"/>
                <a:gridCol w="1692189"/>
                <a:gridCol w="709301"/>
                <a:gridCol w="1774975"/>
                <a:gridCol w="864096"/>
                <a:gridCol w="1948513"/>
              </a:tblGrid>
              <a:tr h="48222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통관수리일자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 smtClean="0"/>
                        <a:t>신고필증번호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관세사</a:t>
                      </a:r>
                      <a:endParaRPr lang="ko-KR" altLang="en-US" sz="8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관할지 세관</a:t>
                      </a:r>
                      <a:endParaRPr lang="en-US" altLang="ko-KR" sz="8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</a:tr>
              <a:tr h="406829"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운송일자</a:t>
                      </a:r>
                      <a:endParaRPr lang="ko-KR" altLang="en-US" sz="8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보세창고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통관유형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세관 과</a:t>
                      </a:r>
                      <a:endParaRPr lang="en-US" altLang="ko-KR" sz="8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</a:tr>
              <a:tr h="32546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 smtClean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2546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신고가격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과세</a:t>
                      </a:r>
                      <a:endParaRPr lang="ko-KR" altLang="en-US" sz="8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</a:tr>
              <a:tr h="32546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과세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ko-KR" altLang="en-US" sz="8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관세</a:t>
                      </a:r>
                      <a:endParaRPr lang="ko-KR" altLang="en-US" sz="8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</a:tr>
              <a:tr h="37885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과세 </a:t>
                      </a:r>
                      <a:r>
                        <a:rPr lang="en-US" altLang="ko-KR" sz="800" dirty="0" smtClean="0">
                          <a:solidFill>
                            <a:srgbClr val="000000"/>
                          </a:solidFill>
                        </a:rPr>
                        <a:t>+ </a:t>
                      </a:r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운임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ko-KR" altLang="en-US" sz="8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부가세</a:t>
                      </a:r>
                      <a:endParaRPr lang="ko-KR" altLang="en-US" sz="8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</a:tr>
              <a:tr h="37885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비고</a:t>
                      </a:r>
                    </a:p>
                  </a:txBody>
                  <a:tcPr anchor="ctr"/>
                </a:tc>
                <a:tc gridSpan="7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6" name="직사각형 365"/>
          <p:cNvSpPr/>
          <p:nvPr/>
        </p:nvSpPr>
        <p:spPr bwMode="auto">
          <a:xfrm>
            <a:off x="1115876" y="1330802"/>
            <a:ext cx="573969" cy="18073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sz="500" dirty="0" smtClean="0">
                <a:solidFill>
                  <a:srgbClr val="000000"/>
                </a:solidFill>
              </a:rPr>
              <a:t>2017-06-19</a:t>
            </a:r>
            <a:endParaRPr lang="ko-KR" altLang="en-US" sz="500" dirty="0">
              <a:solidFill>
                <a:srgbClr val="000000"/>
              </a:solidFill>
            </a:endParaRPr>
          </a:p>
        </p:txBody>
      </p:sp>
      <p:pic>
        <p:nvPicPr>
          <p:cNvPr id="367" name="Picture 12"/>
          <p:cNvPicPr>
            <a:picLocks noChangeAspect="1" noChangeArrowheads="1"/>
          </p:cNvPicPr>
          <p:nvPr/>
        </p:nvPicPr>
        <p:blipFill>
          <a:blip r:embed="rId3" cstate="print"/>
          <a:srcRect l="75599"/>
          <a:stretch>
            <a:fillRect/>
          </a:stretch>
        </p:blipFill>
        <p:spPr bwMode="auto">
          <a:xfrm>
            <a:off x="1730184" y="1328764"/>
            <a:ext cx="213784" cy="192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" name="직사각형 367"/>
          <p:cNvSpPr/>
          <p:nvPr/>
        </p:nvSpPr>
        <p:spPr bwMode="auto">
          <a:xfrm>
            <a:off x="1117395" y="1774854"/>
            <a:ext cx="573969" cy="18073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sz="500" dirty="0" smtClean="0">
                <a:solidFill>
                  <a:srgbClr val="000000"/>
                </a:solidFill>
              </a:rPr>
              <a:t>2017-06-19</a:t>
            </a:r>
            <a:endParaRPr lang="ko-KR" altLang="en-US" sz="500" dirty="0">
              <a:solidFill>
                <a:srgbClr val="000000"/>
              </a:solidFill>
            </a:endParaRPr>
          </a:p>
        </p:txBody>
      </p:sp>
      <p:pic>
        <p:nvPicPr>
          <p:cNvPr id="371" name="Picture 12"/>
          <p:cNvPicPr>
            <a:picLocks noChangeAspect="1" noChangeArrowheads="1"/>
          </p:cNvPicPr>
          <p:nvPr/>
        </p:nvPicPr>
        <p:blipFill>
          <a:blip r:embed="rId3" cstate="print"/>
          <a:srcRect l="75599"/>
          <a:stretch>
            <a:fillRect/>
          </a:stretch>
        </p:blipFill>
        <p:spPr bwMode="auto">
          <a:xfrm>
            <a:off x="1731703" y="1772816"/>
            <a:ext cx="213784" cy="192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6" name="직사각형 385"/>
          <p:cNvSpPr/>
          <p:nvPr/>
        </p:nvSpPr>
        <p:spPr bwMode="auto">
          <a:xfrm>
            <a:off x="3135407" y="1326100"/>
            <a:ext cx="1174273" cy="19147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000000"/>
              </a:solidFill>
            </a:endParaRPr>
          </a:p>
        </p:txBody>
      </p:sp>
      <p:pic>
        <p:nvPicPr>
          <p:cNvPr id="387" name="그림 3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598" y="1351708"/>
            <a:ext cx="177132" cy="169080"/>
          </a:xfrm>
          <a:prstGeom prst="rect">
            <a:avLst/>
          </a:prstGeom>
        </p:spPr>
      </p:pic>
      <p:sp>
        <p:nvSpPr>
          <p:cNvPr id="389" name="직사각형 388"/>
          <p:cNvSpPr/>
          <p:nvPr/>
        </p:nvSpPr>
        <p:spPr bwMode="auto">
          <a:xfrm>
            <a:off x="5508364" y="1351046"/>
            <a:ext cx="440041" cy="16756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JOK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90" name="직사각형 389"/>
          <p:cNvSpPr/>
          <p:nvPr/>
        </p:nvSpPr>
        <p:spPr bwMode="auto">
          <a:xfrm>
            <a:off x="6228444" y="1341800"/>
            <a:ext cx="756084" cy="16555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mtClean="0">
                <a:solidFill>
                  <a:srgbClr val="000000"/>
                </a:solidFill>
              </a:rPr>
              <a:t>조양관세사</a:t>
            </a:r>
            <a:endParaRPr lang="ko-KR" altLang="en-US" dirty="0">
              <a:solidFill>
                <a:srgbClr val="000000"/>
              </a:solidFill>
            </a:endParaRPr>
          </a:p>
        </p:txBody>
      </p:sp>
      <p:pic>
        <p:nvPicPr>
          <p:cNvPr id="418" name="그림 4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6906" y="1350676"/>
            <a:ext cx="177132" cy="169080"/>
          </a:xfrm>
          <a:prstGeom prst="rect">
            <a:avLst/>
          </a:prstGeom>
        </p:spPr>
      </p:pic>
      <p:sp>
        <p:nvSpPr>
          <p:cNvPr id="419" name="직사각형 418"/>
          <p:cNvSpPr/>
          <p:nvPr/>
        </p:nvSpPr>
        <p:spPr bwMode="auto">
          <a:xfrm>
            <a:off x="8280672" y="1350014"/>
            <a:ext cx="440041" cy="16756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030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20" name="직사각형 419"/>
          <p:cNvSpPr/>
          <p:nvPr/>
        </p:nvSpPr>
        <p:spPr bwMode="auto">
          <a:xfrm>
            <a:off x="9000752" y="1340768"/>
            <a:ext cx="756084" cy="16555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부산세</a:t>
            </a:r>
            <a:r>
              <a:rPr lang="ko-KR" altLang="en-US" dirty="0">
                <a:solidFill>
                  <a:srgbClr val="000000"/>
                </a:solidFill>
              </a:rPr>
              <a:t>관</a:t>
            </a:r>
          </a:p>
        </p:txBody>
      </p:sp>
      <p:pic>
        <p:nvPicPr>
          <p:cNvPr id="421" name="그림 4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334" y="1777418"/>
            <a:ext cx="177132" cy="169080"/>
          </a:xfrm>
          <a:prstGeom prst="rect">
            <a:avLst/>
          </a:prstGeom>
        </p:spPr>
      </p:pic>
      <p:sp>
        <p:nvSpPr>
          <p:cNvPr id="422" name="직사각형 421"/>
          <p:cNvSpPr/>
          <p:nvPr/>
        </p:nvSpPr>
        <p:spPr bwMode="auto">
          <a:xfrm>
            <a:off x="3132100" y="1776756"/>
            <a:ext cx="440041" cy="16756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0201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23" name="직사각형 422"/>
          <p:cNvSpPr/>
          <p:nvPr/>
        </p:nvSpPr>
        <p:spPr bwMode="auto">
          <a:xfrm>
            <a:off x="3852180" y="1767510"/>
            <a:ext cx="756084" cy="16555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삼원창고</a:t>
            </a:r>
            <a:endParaRPr lang="ko-KR" altLang="en-US" dirty="0">
              <a:solidFill>
                <a:srgbClr val="000000"/>
              </a:solidFill>
            </a:endParaRPr>
          </a:p>
        </p:txBody>
      </p:sp>
      <p:pic>
        <p:nvPicPr>
          <p:cNvPr id="424" name="그림 4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598" y="1777418"/>
            <a:ext cx="177132" cy="169080"/>
          </a:xfrm>
          <a:prstGeom prst="rect">
            <a:avLst/>
          </a:prstGeom>
        </p:spPr>
      </p:pic>
      <p:sp>
        <p:nvSpPr>
          <p:cNvPr id="425" name="직사각형 424"/>
          <p:cNvSpPr/>
          <p:nvPr/>
        </p:nvSpPr>
        <p:spPr bwMode="auto">
          <a:xfrm>
            <a:off x="5508364" y="1776756"/>
            <a:ext cx="440041" cy="16756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C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26" name="직사각형 425"/>
          <p:cNvSpPr/>
          <p:nvPr/>
        </p:nvSpPr>
        <p:spPr bwMode="auto">
          <a:xfrm>
            <a:off x="6228444" y="1767510"/>
            <a:ext cx="756084" cy="16555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부두직통관</a:t>
            </a:r>
            <a:endParaRPr lang="ko-KR" altLang="en-US" dirty="0">
              <a:solidFill>
                <a:srgbClr val="000000"/>
              </a:solidFill>
            </a:endParaRPr>
          </a:p>
        </p:txBody>
      </p:sp>
      <p:pic>
        <p:nvPicPr>
          <p:cNvPr id="427" name="그림 4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6906" y="1778450"/>
            <a:ext cx="177132" cy="169080"/>
          </a:xfrm>
          <a:prstGeom prst="rect">
            <a:avLst/>
          </a:prstGeom>
        </p:spPr>
      </p:pic>
      <p:sp>
        <p:nvSpPr>
          <p:cNvPr id="428" name="직사각형 427"/>
          <p:cNvSpPr/>
          <p:nvPr/>
        </p:nvSpPr>
        <p:spPr bwMode="auto">
          <a:xfrm>
            <a:off x="8280672" y="1777788"/>
            <a:ext cx="440041" cy="16756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51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29" name="직사각형 428"/>
          <p:cNvSpPr/>
          <p:nvPr/>
        </p:nvSpPr>
        <p:spPr bwMode="auto">
          <a:xfrm>
            <a:off x="9000752" y="1768542"/>
            <a:ext cx="756084" cy="16555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err="1" smtClean="0">
                <a:solidFill>
                  <a:srgbClr val="000000"/>
                </a:solidFill>
              </a:rPr>
              <a:t>감시과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33" name="직사각형 432"/>
          <p:cNvSpPr/>
          <p:nvPr/>
        </p:nvSpPr>
        <p:spPr bwMode="auto">
          <a:xfrm>
            <a:off x="1126030" y="2500407"/>
            <a:ext cx="1177319" cy="17259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700" dirty="0" smtClean="0">
                <a:solidFill>
                  <a:schemeClr val="tx1"/>
                </a:solidFill>
              </a:rPr>
              <a:t>숫자만 입력 가능처리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434" name="직사각형 433"/>
          <p:cNvSpPr/>
          <p:nvPr/>
        </p:nvSpPr>
        <p:spPr bwMode="auto">
          <a:xfrm>
            <a:off x="1126030" y="2829251"/>
            <a:ext cx="1043157" cy="19052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5" name="직사각형 434"/>
          <p:cNvSpPr/>
          <p:nvPr/>
        </p:nvSpPr>
        <p:spPr bwMode="auto">
          <a:xfrm>
            <a:off x="1115876" y="3162803"/>
            <a:ext cx="1187968" cy="1656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7" name="직사각형 436"/>
          <p:cNvSpPr/>
          <p:nvPr/>
        </p:nvSpPr>
        <p:spPr bwMode="auto">
          <a:xfrm>
            <a:off x="2375192" y="2503923"/>
            <a:ext cx="714112" cy="1690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chemeClr val="tx1"/>
                </a:solidFill>
              </a:rPr>
              <a:t>통화단위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8" name="직사각형 437"/>
          <p:cNvSpPr/>
          <p:nvPr/>
        </p:nvSpPr>
        <p:spPr bwMode="auto">
          <a:xfrm>
            <a:off x="2378355" y="2829251"/>
            <a:ext cx="932941" cy="1656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9" name="TextBox 438"/>
          <p:cNvSpPr txBox="1"/>
          <p:nvPr/>
        </p:nvSpPr>
        <p:spPr>
          <a:xfrm>
            <a:off x="3795514" y="2485307"/>
            <a:ext cx="5854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x     </a:t>
            </a:r>
            <a:r>
              <a:rPr lang="ko-KR" altLang="en-US" dirty="0" smtClean="0"/>
              <a:t>환율</a:t>
            </a:r>
            <a:endParaRPr lang="ko-KR" altLang="en-US" dirty="0"/>
          </a:p>
        </p:txBody>
      </p:sp>
      <p:sp>
        <p:nvSpPr>
          <p:cNvPr id="440" name="직사각형 439"/>
          <p:cNvSpPr/>
          <p:nvPr/>
        </p:nvSpPr>
        <p:spPr bwMode="auto">
          <a:xfrm>
            <a:off x="4443885" y="2503923"/>
            <a:ext cx="657702" cy="16208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41" name="TextBox 440"/>
          <p:cNvSpPr txBox="1"/>
          <p:nvPr/>
        </p:nvSpPr>
        <p:spPr>
          <a:xfrm>
            <a:off x="3795514" y="2812330"/>
            <a:ext cx="6014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</a:t>
            </a:r>
            <a:r>
              <a:rPr lang="en-US" altLang="ko-KR" dirty="0" smtClean="0"/>
              <a:t>  </a:t>
            </a:r>
            <a:r>
              <a:rPr lang="ko-KR" altLang="en-US" dirty="0" smtClean="0"/>
              <a:t>관세율</a:t>
            </a:r>
            <a:endParaRPr lang="ko-KR" altLang="en-US" dirty="0"/>
          </a:p>
        </p:txBody>
      </p:sp>
      <p:sp>
        <p:nvSpPr>
          <p:cNvPr id="442" name="직사각형 441"/>
          <p:cNvSpPr/>
          <p:nvPr/>
        </p:nvSpPr>
        <p:spPr bwMode="auto">
          <a:xfrm>
            <a:off x="4440972" y="2830946"/>
            <a:ext cx="657702" cy="16208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43" name="직사각형 442"/>
          <p:cNvSpPr/>
          <p:nvPr/>
        </p:nvSpPr>
        <p:spPr bwMode="auto">
          <a:xfrm>
            <a:off x="4400774" y="3162803"/>
            <a:ext cx="325728" cy="1656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44" name="TextBox 443"/>
          <p:cNvSpPr txBox="1"/>
          <p:nvPr/>
        </p:nvSpPr>
        <p:spPr>
          <a:xfrm>
            <a:off x="2555212" y="3144187"/>
            <a:ext cx="5068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  </a:t>
            </a:r>
            <a:r>
              <a:rPr lang="ko-KR" altLang="en-US" dirty="0" smtClean="0"/>
              <a:t>관세</a:t>
            </a:r>
            <a:endParaRPr lang="ko-KR" altLang="en-US" dirty="0"/>
          </a:p>
        </p:txBody>
      </p:sp>
      <p:sp>
        <p:nvSpPr>
          <p:cNvPr id="445" name="TextBox 444"/>
          <p:cNvSpPr txBox="1"/>
          <p:nvPr/>
        </p:nvSpPr>
        <p:spPr>
          <a:xfrm>
            <a:off x="4163086" y="3144187"/>
            <a:ext cx="2359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x</a:t>
            </a:r>
            <a:endParaRPr lang="ko-KR" altLang="en-US" dirty="0"/>
          </a:p>
        </p:txBody>
      </p:sp>
      <p:sp>
        <p:nvSpPr>
          <p:cNvPr id="446" name="TextBox 445"/>
          <p:cNvSpPr txBox="1"/>
          <p:nvPr/>
        </p:nvSpPr>
        <p:spPr>
          <a:xfrm>
            <a:off x="4726502" y="3144187"/>
            <a:ext cx="5485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세율</a:t>
            </a:r>
            <a:r>
              <a:rPr lang="en-US" altLang="ko-KR" dirty="0" smtClean="0"/>
              <a:t>(%)</a:t>
            </a:r>
            <a:endParaRPr lang="ko-KR" altLang="en-US" dirty="0"/>
          </a:p>
        </p:txBody>
      </p:sp>
      <p:sp>
        <p:nvSpPr>
          <p:cNvPr id="447" name="직사각형 446"/>
          <p:cNvSpPr/>
          <p:nvPr/>
        </p:nvSpPr>
        <p:spPr bwMode="auto">
          <a:xfrm>
            <a:off x="3062082" y="3162803"/>
            <a:ext cx="970118" cy="1656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466" name="그림 46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6783" y="2503923"/>
            <a:ext cx="177132" cy="169080"/>
          </a:xfrm>
          <a:prstGeom prst="rect">
            <a:avLst/>
          </a:prstGeom>
        </p:spPr>
      </p:pic>
      <p:sp>
        <p:nvSpPr>
          <p:cNvPr id="467" name="TextBox 466"/>
          <p:cNvSpPr txBox="1"/>
          <p:nvPr/>
        </p:nvSpPr>
        <p:spPr>
          <a:xfrm>
            <a:off x="3367911" y="2804329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운임</a:t>
            </a:r>
            <a:endParaRPr lang="ko-KR" altLang="en-US" dirty="0"/>
          </a:p>
        </p:txBody>
      </p:sp>
      <p:sp>
        <p:nvSpPr>
          <p:cNvPr id="468" name="직사각형 467"/>
          <p:cNvSpPr/>
          <p:nvPr/>
        </p:nvSpPr>
        <p:spPr bwMode="auto">
          <a:xfrm>
            <a:off x="7310554" y="2494998"/>
            <a:ext cx="970118" cy="1656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9" name="직사각형 468"/>
          <p:cNvSpPr/>
          <p:nvPr/>
        </p:nvSpPr>
        <p:spPr bwMode="auto">
          <a:xfrm>
            <a:off x="7310554" y="2813652"/>
            <a:ext cx="970118" cy="1656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70" name="직사각형 469"/>
          <p:cNvSpPr/>
          <p:nvPr/>
        </p:nvSpPr>
        <p:spPr bwMode="auto">
          <a:xfrm>
            <a:off x="7310554" y="3152931"/>
            <a:ext cx="970118" cy="1656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72" name="직사각형 471"/>
          <p:cNvSpPr/>
          <p:nvPr/>
        </p:nvSpPr>
        <p:spPr>
          <a:xfrm>
            <a:off x="-3452982" y="998885"/>
            <a:ext cx="3344719" cy="869944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 smtClean="0">
                <a:solidFill>
                  <a:srgbClr val="0000FF"/>
                </a:solidFill>
              </a:rPr>
              <a:t>5-1 </a:t>
            </a:r>
            <a:r>
              <a:rPr lang="ko-KR" altLang="en-US" dirty="0" err="1" smtClean="0">
                <a:solidFill>
                  <a:srgbClr val="0000FF"/>
                </a:solidFill>
              </a:rPr>
              <a:t>신고필증번호</a:t>
            </a:r>
            <a:r>
              <a:rPr lang="ko-KR" altLang="en-US" dirty="0" smtClean="0">
                <a:solidFill>
                  <a:srgbClr val="0000FF"/>
                </a:solidFill>
              </a:rPr>
              <a:t> </a:t>
            </a:r>
            <a:r>
              <a:rPr lang="en-US" altLang="ko-KR" dirty="0" smtClean="0">
                <a:solidFill>
                  <a:srgbClr val="0000FF"/>
                </a:solidFill>
              </a:rPr>
              <a:t>: </a:t>
            </a:r>
            <a:r>
              <a:rPr lang="ko-KR" altLang="en-US" dirty="0" smtClean="0">
                <a:solidFill>
                  <a:srgbClr val="0000FF"/>
                </a:solidFill>
              </a:rPr>
              <a:t>사용자 입력 텍스트 박스 처리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r>
              <a:rPr lang="en-US" altLang="ko-KR" dirty="0" smtClean="0">
                <a:solidFill>
                  <a:srgbClr val="0000FF"/>
                </a:solidFill>
              </a:rPr>
              <a:t>5-2 </a:t>
            </a:r>
            <a:r>
              <a:rPr lang="ko-KR" altLang="en-US" dirty="0" smtClean="0">
                <a:solidFill>
                  <a:srgbClr val="0000FF"/>
                </a:solidFill>
              </a:rPr>
              <a:t>관세사 코드 검색 팝업 처리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r>
              <a:rPr lang="en-US" altLang="ko-KR" dirty="0" smtClean="0">
                <a:solidFill>
                  <a:srgbClr val="0000FF"/>
                </a:solidFill>
              </a:rPr>
              <a:t>5-3 </a:t>
            </a:r>
            <a:r>
              <a:rPr lang="ko-KR" altLang="en-US" dirty="0" smtClean="0">
                <a:solidFill>
                  <a:srgbClr val="0000FF"/>
                </a:solidFill>
              </a:rPr>
              <a:t>검색 팝업 </a:t>
            </a:r>
            <a:r>
              <a:rPr lang="ko-KR" altLang="en-US" dirty="0" err="1" smtClean="0">
                <a:solidFill>
                  <a:srgbClr val="0000FF"/>
                </a:solidFill>
              </a:rPr>
              <a:t>클릭시</a:t>
            </a:r>
            <a:r>
              <a:rPr lang="ko-KR" altLang="en-US" dirty="0" smtClean="0">
                <a:solidFill>
                  <a:srgbClr val="0000FF"/>
                </a:solidFill>
              </a:rPr>
              <a:t> 기초코드 세관 코드 검색처리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r>
              <a:rPr lang="en-US" altLang="ko-KR" dirty="0" smtClean="0">
                <a:solidFill>
                  <a:srgbClr val="0000FF"/>
                </a:solidFill>
              </a:rPr>
              <a:t>5-4 </a:t>
            </a:r>
            <a:r>
              <a:rPr lang="ko-KR" altLang="en-US" dirty="0">
                <a:solidFill>
                  <a:srgbClr val="0000FF"/>
                </a:solidFill>
              </a:rPr>
              <a:t>검색 팝업 </a:t>
            </a:r>
            <a:r>
              <a:rPr lang="ko-KR" altLang="en-US" dirty="0" err="1">
                <a:solidFill>
                  <a:srgbClr val="0000FF"/>
                </a:solidFill>
              </a:rPr>
              <a:t>클릭시</a:t>
            </a:r>
            <a:r>
              <a:rPr lang="ko-KR" altLang="en-US" dirty="0">
                <a:solidFill>
                  <a:srgbClr val="0000FF"/>
                </a:solidFill>
              </a:rPr>
              <a:t> </a:t>
            </a:r>
            <a:r>
              <a:rPr lang="ko-KR" altLang="en-US" dirty="0" smtClean="0">
                <a:solidFill>
                  <a:srgbClr val="0000FF"/>
                </a:solidFill>
              </a:rPr>
              <a:t>기초코드 보세창고 </a:t>
            </a:r>
            <a:r>
              <a:rPr lang="ko-KR" altLang="en-US" dirty="0">
                <a:solidFill>
                  <a:srgbClr val="0000FF"/>
                </a:solidFill>
              </a:rPr>
              <a:t>코드 </a:t>
            </a:r>
            <a:r>
              <a:rPr lang="ko-KR" altLang="en-US" dirty="0" smtClean="0">
                <a:solidFill>
                  <a:srgbClr val="0000FF"/>
                </a:solidFill>
              </a:rPr>
              <a:t>검색처리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r>
              <a:rPr lang="en-US" altLang="ko-KR" dirty="0" smtClean="0">
                <a:solidFill>
                  <a:srgbClr val="0000FF"/>
                </a:solidFill>
              </a:rPr>
              <a:t>5-5 </a:t>
            </a:r>
            <a:r>
              <a:rPr lang="ko-KR" altLang="en-US" dirty="0">
                <a:solidFill>
                  <a:srgbClr val="0000FF"/>
                </a:solidFill>
              </a:rPr>
              <a:t>검색 팝업 </a:t>
            </a:r>
            <a:r>
              <a:rPr lang="ko-KR" altLang="en-US" dirty="0" err="1">
                <a:solidFill>
                  <a:srgbClr val="0000FF"/>
                </a:solidFill>
              </a:rPr>
              <a:t>클릭시</a:t>
            </a:r>
            <a:r>
              <a:rPr lang="ko-KR" altLang="en-US" dirty="0">
                <a:solidFill>
                  <a:srgbClr val="0000FF"/>
                </a:solidFill>
              </a:rPr>
              <a:t> 기초코드 </a:t>
            </a:r>
            <a:r>
              <a:rPr lang="ko-KR" altLang="en-US" dirty="0" smtClean="0">
                <a:solidFill>
                  <a:srgbClr val="0000FF"/>
                </a:solidFill>
              </a:rPr>
              <a:t>통관유형 </a:t>
            </a:r>
            <a:r>
              <a:rPr lang="ko-KR" altLang="en-US" dirty="0">
                <a:solidFill>
                  <a:srgbClr val="0000FF"/>
                </a:solidFill>
              </a:rPr>
              <a:t>코드 검색처리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en-US" altLang="ko-KR" dirty="0" smtClean="0">
                <a:solidFill>
                  <a:srgbClr val="0000FF"/>
                </a:solidFill>
              </a:rPr>
              <a:t>5-6 </a:t>
            </a:r>
            <a:r>
              <a:rPr lang="ko-KR" altLang="en-US" dirty="0">
                <a:solidFill>
                  <a:srgbClr val="0000FF"/>
                </a:solidFill>
              </a:rPr>
              <a:t>검색 팝업 </a:t>
            </a:r>
            <a:r>
              <a:rPr lang="ko-KR" altLang="en-US" dirty="0" err="1">
                <a:solidFill>
                  <a:srgbClr val="0000FF"/>
                </a:solidFill>
              </a:rPr>
              <a:t>클릭시</a:t>
            </a:r>
            <a:r>
              <a:rPr lang="ko-KR" altLang="en-US" dirty="0">
                <a:solidFill>
                  <a:srgbClr val="0000FF"/>
                </a:solidFill>
              </a:rPr>
              <a:t> 기초코드 </a:t>
            </a:r>
            <a:r>
              <a:rPr lang="ko-KR" altLang="en-US" dirty="0" smtClean="0">
                <a:solidFill>
                  <a:srgbClr val="0000FF"/>
                </a:solidFill>
              </a:rPr>
              <a:t>세관 과 </a:t>
            </a:r>
            <a:r>
              <a:rPr lang="ko-KR" altLang="en-US" dirty="0">
                <a:solidFill>
                  <a:srgbClr val="0000FF"/>
                </a:solidFill>
              </a:rPr>
              <a:t>코드 검색처리</a:t>
            </a:r>
            <a:endParaRPr lang="en-US" altLang="ko-KR" dirty="0">
              <a:solidFill>
                <a:srgbClr val="0000FF"/>
              </a:solidFill>
            </a:endParaRPr>
          </a:p>
          <a:p>
            <a:endParaRPr lang="en-US" altLang="ko-KR" sz="700" dirty="0">
              <a:solidFill>
                <a:srgbClr val="000000"/>
              </a:solidFill>
            </a:endParaRPr>
          </a:p>
        </p:txBody>
      </p:sp>
      <p:sp>
        <p:nvSpPr>
          <p:cNvPr id="473" name="타원 472"/>
          <p:cNvSpPr/>
          <p:nvPr/>
        </p:nvSpPr>
        <p:spPr>
          <a:xfrm>
            <a:off x="-3803057" y="800708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 smtClean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474" name="타원 473"/>
          <p:cNvSpPr/>
          <p:nvPr/>
        </p:nvSpPr>
        <p:spPr>
          <a:xfrm>
            <a:off x="22525" y="1037221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 smtClean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476" name="타원 475"/>
          <p:cNvSpPr/>
          <p:nvPr/>
        </p:nvSpPr>
        <p:spPr>
          <a:xfrm>
            <a:off x="2921573" y="1400543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5-1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478" name="직사각형 477"/>
          <p:cNvSpPr/>
          <p:nvPr/>
        </p:nvSpPr>
        <p:spPr>
          <a:xfrm>
            <a:off x="5300024" y="1009819"/>
            <a:ext cx="1944575" cy="285845"/>
          </a:xfrm>
          <a:prstGeom prst="rect">
            <a:avLst/>
          </a:prstGeom>
          <a:solidFill>
            <a:schemeClr val="bg1"/>
          </a:solidFill>
          <a:ln w="31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rgbClr val="0000FF"/>
                </a:solidFill>
              </a:rPr>
              <a:t>거래처 코드 </a:t>
            </a:r>
            <a:r>
              <a:rPr lang="ko-KR" altLang="en-US" dirty="0" err="1" smtClean="0">
                <a:solidFill>
                  <a:srgbClr val="0000FF"/>
                </a:solidFill>
              </a:rPr>
              <a:t>조회시</a:t>
            </a:r>
            <a:r>
              <a:rPr lang="ko-KR" altLang="en-US" dirty="0" smtClean="0">
                <a:solidFill>
                  <a:srgbClr val="0000FF"/>
                </a:solidFill>
              </a:rPr>
              <a:t> 관세사  기본조회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r>
              <a:rPr lang="ko-KR" altLang="en-US" dirty="0" smtClean="0">
                <a:solidFill>
                  <a:srgbClr val="0000FF"/>
                </a:solidFill>
              </a:rPr>
              <a:t>관세사코드</a:t>
            </a:r>
            <a:r>
              <a:rPr lang="en-US" altLang="ko-KR" dirty="0" smtClean="0">
                <a:solidFill>
                  <a:srgbClr val="0000FF"/>
                </a:solidFill>
              </a:rPr>
              <a:t>, </a:t>
            </a:r>
            <a:r>
              <a:rPr lang="ko-KR" altLang="en-US" dirty="0" smtClean="0">
                <a:solidFill>
                  <a:srgbClr val="0000FF"/>
                </a:solidFill>
              </a:rPr>
              <a:t>한글 상호 조회</a:t>
            </a:r>
          </a:p>
        </p:txBody>
      </p:sp>
      <p:sp>
        <p:nvSpPr>
          <p:cNvPr id="479" name="직사각형 478"/>
          <p:cNvSpPr/>
          <p:nvPr/>
        </p:nvSpPr>
        <p:spPr bwMode="auto">
          <a:xfrm>
            <a:off x="1115876" y="3548118"/>
            <a:ext cx="8640960" cy="1656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80" name="직사각형 479"/>
          <p:cNvSpPr/>
          <p:nvPr/>
        </p:nvSpPr>
        <p:spPr>
          <a:xfrm>
            <a:off x="638629" y="1640253"/>
            <a:ext cx="1521363" cy="132563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 smtClean="0">
                <a:solidFill>
                  <a:srgbClr val="FF0066"/>
                </a:solidFill>
              </a:rPr>
              <a:t>기본값 </a:t>
            </a:r>
            <a:r>
              <a:rPr lang="en-US" altLang="ko-KR" sz="700" dirty="0">
                <a:solidFill>
                  <a:srgbClr val="FF0066"/>
                </a:solidFill>
              </a:rPr>
              <a:t> </a:t>
            </a:r>
            <a:r>
              <a:rPr lang="en-US" altLang="ko-KR" sz="700" dirty="0" smtClean="0">
                <a:solidFill>
                  <a:srgbClr val="FF0066"/>
                </a:solidFill>
              </a:rPr>
              <a:t>: </a:t>
            </a:r>
            <a:r>
              <a:rPr lang="ko-KR" altLang="en-US" sz="700" dirty="0" smtClean="0">
                <a:solidFill>
                  <a:srgbClr val="FF0066"/>
                </a:solidFill>
              </a:rPr>
              <a:t> 시스템 일자 적용처리</a:t>
            </a:r>
          </a:p>
        </p:txBody>
      </p:sp>
      <p:sp>
        <p:nvSpPr>
          <p:cNvPr id="481" name="직사각형 480"/>
          <p:cNvSpPr/>
          <p:nvPr/>
        </p:nvSpPr>
        <p:spPr>
          <a:xfrm>
            <a:off x="647824" y="1136197"/>
            <a:ext cx="1521363" cy="132563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 smtClean="0">
                <a:solidFill>
                  <a:srgbClr val="FF0066"/>
                </a:solidFill>
              </a:rPr>
              <a:t>기본값 </a:t>
            </a:r>
            <a:r>
              <a:rPr lang="en-US" altLang="ko-KR" sz="700" dirty="0">
                <a:solidFill>
                  <a:srgbClr val="FF0066"/>
                </a:solidFill>
              </a:rPr>
              <a:t> </a:t>
            </a:r>
            <a:r>
              <a:rPr lang="en-US" altLang="ko-KR" sz="700" dirty="0" smtClean="0">
                <a:solidFill>
                  <a:srgbClr val="FF0066"/>
                </a:solidFill>
              </a:rPr>
              <a:t>: </a:t>
            </a:r>
            <a:r>
              <a:rPr lang="ko-KR" altLang="en-US" sz="700" dirty="0" smtClean="0">
                <a:solidFill>
                  <a:srgbClr val="FF0066"/>
                </a:solidFill>
              </a:rPr>
              <a:t> 시스템 일자 적용처리</a:t>
            </a:r>
          </a:p>
        </p:txBody>
      </p:sp>
      <p:sp>
        <p:nvSpPr>
          <p:cNvPr id="482" name="타원 481"/>
          <p:cNvSpPr/>
          <p:nvPr/>
        </p:nvSpPr>
        <p:spPr>
          <a:xfrm>
            <a:off x="5258747" y="142477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5-2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483" name="타원 482"/>
          <p:cNvSpPr/>
          <p:nvPr/>
        </p:nvSpPr>
        <p:spPr>
          <a:xfrm>
            <a:off x="7998289" y="1136197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5-3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484" name="타원 483"/>
          <p:cNvSpPr/>
          <p:nvPr/>
        </p:nvSpPr>
        <p:spPr>
          <a:xfrm>
            <a:off x="2811371" y="179697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5-4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485" name="타원 484"/>
          <p:cNvSpPr/>
          <p:nvPr/>
        </p:nvSpPr>
        <p:spPr>
          <a:xfrm>
            <a:off x="5291934" y="185540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5-5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486" name="타원 485"/>
          <p:cNvSpPr/>
          <p:nvPr/>
        </p:nvSpPr>
        <p:spPr>
          <a:xfrm>
            <a:off x="7998289" y="179697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5-6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487" name="직사각형 486"/>
          <p:cNvSpPr/>
          <p:nvPr/>
        </p:nvSpPr>
        <p:spPr>
          <a:xfrm>
            <a:off x="-3456632" y="2276871"/>
            <a:ext cx="3344719" cy="3131741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rgbClr val="000000"/>
                </a:solidFill>
              </a:rPr>
              <a:t>5-6 </a:t>
            </a:r>
            <a:r>
              <a:rPr lang="ko-KR" altLang="en-US" sz="700" dirty="0" err="1" smtClean="0">
                <a:solidFill>
                  <a:srgbClr val="000000"/>
                </a:solidFill>
              </a:rPr>
              <a:t>첫번째</a:t>
            </a:r>
            <a:r>
              <a:rPr lang="ko-KR" altLang="en-US" sz="700" dirty="0" smtClean="0">
                <a:solidFill>
                  <a:srgbClr val="000000"/>
                </a:solidFill>
              </a:rPr>
              <a:t> 텍스트 박스 </a:t>
            </a:r>
            <a:r>
              <a:rPr lang="en-US" altLang="ko-KR" sz="700" dirty="0" smtClean="0">
                <a:solidFill>
                  <a:srgbClr val="000000"/>
                </a:solidFill>
              </a:rPr>
              <a:t> : </a:t>
            </a:r>
            <a:r>
              <a:rPr lang="ko-KR" altLang="en-US" sz="700" dirty="0" smtClean="0">
                <a:solidFill>
                  <a:srgbClr val="000000"/>
                </a:solidFill>
              </a:rPr>
              <a:t>숫자만 입력 가능 처리</a:t>
            </a:r>
            <a:endParaRPr lang="en-US" altLang="ko-KR" sz="700" dirty="0" smtClean="0">
              <a:solidFill>
                <a:srgbClr val="000000"/>
              </a:solidFill>
            </a:endParaRPr>
          </a:p>
          <a:p>
            <a:endParaRPr lang="en-US" altLang="ko-KR" sz="700" dirty="0">
              <a:solidFill>
                <a:srgbClr val="000000"/>
              </a:solidFill>
            </a:endParaRPr>
          </a:p>
          <a:p>
            <a:r>
              <a:rPr lang="en-US" altLang="ko-KR" sz="700" dirty="0" smtClean="0">
                <a:solidFill>
                  <a:srgbClr val="000000"/>
                </a:solidFill>
              </a:rPr>
              <a:t>5-7 </a:t>
            </a:r>
            <a:r>
              <a:rPr lang="ko-KR" altLang="en-US" sz="700" dirty="0" smtClean="0">
                <a:solidFill>
                  <a:srgbClr val="000000"/>
                </a:solidFill>
              </a:rPr>
              <a:t>통화단위 검색 팝업 처리</a:t>
            </a:r>
            <a:endParaRPr lang="en-US" altLang="ko-KR" sz="700" dirty="0" smtClean="0">
              <a:solidFill>
                <a:srgbClr val="000000"/>
              </a:solidFill>
            </a:endParaRPr>
          </a:p>
          <a:p>
            <a:r>
              <a:rPr lang="ko-KR" altLang="en-US" sz="700" b="1" dirty="0" smtClean="0">
                <a:solidFill>
                  <a:srgbClr val="0000FF"/>
                </a:solidFill>
              </a:rPr>
              <a:t>사용자 </a:t>
            </a:r>
            <a:r>
              <a:rPr lang="ko-KR" altLang="en-US" sz="700" b="1" dirty="0" err="1" smtClean="0">
                <a:solidFill>
                  <a:srgbClr val="0000FF"/>
                </a:solidFill>
              </a:rPr>
              <a:t>입력시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 코드와 </a:t>
            </a:r>
            <a:r>
              <a:rPr lang="ko-KR" altLang="en-US" sz="700" b="1" dirty="0" err="1" smtClean="0">
                <a:solidFill>
                  <a:srgbClr val="0000FF"/>
                </a:solidFill>
              </a:rPr>
              <a:t>불일치시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 메시지 처리 등록되어있는 코드와 일치되어야만 사용 가능 처리</a:t>
            </a:r>
            <a:endParaRPr lang="en-US" altLang="ko-KR" sz="700" b="1" dirty="0" smtClean="0">
              <a:solidFill>
                <a:srgbClr val="0000FF"/>
              </a:solidFill>
            </a:endParaRPr>
          </a:p>
          <a:p>
            <a:r>
              <a:rPr lang="ko-KR" altLang="en-US" sz="700" dirty="0" smtClean="0">
                <a:solidFill>
                  <a:srgbClr val="000000"/>
                </a:solidFill>
              </a:rPr>
              <a:t>환율 텍스트 박스 </a:t>
            </a:r>
            <a:r>
              <a:rPr lang="en-US" altLang="ko-KR" sz="700" dirty="0" smtClean="0">
                <a:solidFill>
                  <a:srgbClr val="000000"/>
                </a:solidFill>
              </a:rPr>
              <a:t>: </a:t>
            </a:r>
            <a:r>
              <a:rPr lang="ko-KR" altLang="en-US" sz="700" dirty="0" smtClean="0">
                <a:solidFill>
                  <a:srgbClr val="000000"/>
                </a:solidFill>
              </a:rPr>
              <a:t>숫자만 입력 가능처리</a:t>
            </a:r>
            <a:endParaRPr lang="en-US" altLang="ko-KR" sz="700" dirty="0" smtClean="0">
              <a:solidFill>
                <a:srgbClr val="000000"/>
              </a:solidFill>
            </a:endParaRPr>
          </a:p>
          <a:p>
            <a:endParaRPr lang="en-US" altLang="ko-KR" sz="700" dirty="0">
              <a:solidFill>
                <a:srgbClr val="000000"/>
              </a:solidFill>
            </a:endParaRPr>
          </a:p>
          <a:p>
            <a:r>
              <a:rPr lang="en-US" altLang="ko-KR" sz="700" b="1" dirty="0" smtClean="0">
                <a:solidFill>
                  <a:srgbClr val="0000FF"/>
                </a:solidFill>
              </a:rPr>
              <a:t>5-6(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내용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) *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환율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=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과세가격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(5-8) 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계산 결과 표시 처리</a:t>
            </a:r>
            <a:endParaRPr lang="en-US" altLang="ko-KR" sz="700" b="1" dirty="0" smtClean="0">
              <a:solidFill>
                <a:srgbClr val="0000FF"/>
              </a:solidFill>
            </a:endParaRPr>
          </a:p>
          <a:p>
            <a:endParaRPr lang="en-US" altLang="ko-KR" sz="700" b="1" dirty="0">
              <a:solidFill>
                <a:srgbClr val="0000FF"/>
              </a:solidFill>
            </a:endParaRPr>
          </a:p>
          <a:p>
            <a:r>
              <a:rPr lang="en-US" altLang="ko-KR" sz="700" b="1" dirty="0" smtClean="0">
                <a:solidFill>
                  <a:srgbClr val="0000FF"/>
                </a:solidFill>
              </a:rPr>
              <a:t>5-9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과세가격 텍스트 박스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(5-8 )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결과 내용 적용처리</a:t>
            </a:r>
            <a:endParaRPr lang="en-US" altLang="ko-KR" sz="700" b="1" dirty="0" smtClean="0">
              <a:solidFill>
                <a:srgbClr val="0000FF"/>
              </a:solidFill>
            </a:endParaRPr>
          </a:p>
          <a:p>
            <a:endParaRPr lang="en-US" altLang="ko-KR" sz="700" b="1" dirty="0">
              <a:solidFill>
                <a:srgbClr val="0000FF"/>
              </a:solidFill>
            </a:endParaRPr>
          </a:p>
          <a:p>
            <a:r>
              <a:rPr lang="en-US" altLang="ko-KR" sz="700" b="1" dirty="0" smtClean="0">
                <a:solidFill>
                  <a:srgbClr val="0000FF"/>
                </a:solidFill>
              </a:rPr>
              <a:t>5-10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운임 텍스트 박스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: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사용자 입력 가능 처리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(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숫자만 입력 가능 처리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)</a:t>
            </a:r>
          </a:p>
          <a:p>
            <a:endParaRPr lang="en-US" altLang="ko-KR" sz="700" b="1" dirty="0">
              <a:solidFill>
                <a:srgbClr val="0000FF"/>
              </a:solidFill>
            </a:endParaRPr>
          </a:p>
          <a:p>
            <a:r>
              <a:rPr lang="en-US" altLang="ko-KR" sz="700" b="1" dirty="0" smtClean="0">
                <a:solidFill>
                  <a:srgbClr val="0000FF"/>
                </a:solidFill>
              </a:rPr>
              <a:t>5-11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관세율 텍스트 박스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: </a:t>
            </a:r>
            <a:r>
              <a:rPr lang="ko-KR" altLang="en-US" sz="700" b="1" dirty="0">
                <a:solidFill>
                  <a:srgbClr val="0000FF"/>
                </a:solidFill>
              </a:rPr>
              <a:t>사용자 입력 가능 처리</a:t>
            </a:r>
            <a:r>
              <a:rPr lang="en-US" altLang="ko-KR" sz="700" b="1" dirty="0">
                <a:solidFill>
                  <a:srgbClr val="0000FF"/>
                </a:solidFill>
              </a:rPr>
              <a:t>(</a:t>
            </a:r>
            <a:r>
              <a:rPr lang="ko-KR" altLang="en-US" sz="700" b="1" dirty="0">
                <a:solidFill>
                  <a:srgbClr val="0000FF"/>
                </a:solidFill>
              </a:rPr>
              <a:t>숫자만 입력 가능 처리</a:t>
            </a:r>
            <a:r>
              <a:rPr lang="en-US" altLang="ko-KR" sz="700" b="1" dirty="0">
                <a:solidFill>
                  <a:srgbClr val="0000FF"/>
                </a:solidFill>
              </a:rPr>
              <a:t>)</a:t>
            </a:r>
          </a:p>
          <a:p>
            <a:endParaRPr lang="en-US" altLang="ko-KR" sz="700" b="1" dirty="0" smtClean="0">
              <a:solidFill>
                <a:srgbClr val="0000FF"/>
              </a:solidFill>
            </a:endParaRPr>
          </a:p>
          <a:p>
            <a:r>
              <a:rPr lang="en-US" altLang="ko-KR" sz="700" b="1" dirty="0" smtClean="0">
                <a:solidFill>
                  <a:srgbClr val="0000FF"/>
                </a:solidFill>
              </a:rPr>
              <a:t>5-12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관세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:</a:t>
            </a:r>
          </a:p>
          <a:p>
            <a:r>
              <a:rPr lang="en-US" altLang="ko-KR" sz="700" b="1" dirty="0" smtClean="0">
                <a:solidFill>
                  <a:srgbClr val="0000FF"/>
                </a:solidFill>
              </a:rPr>
              <a:t>(5-9 + 5-10) * 5-11 = 5-12(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텍스트 박스 결과내용  적용 처리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)</a:t>
            </a:r>
          </a:p>
          <a:p>
            <a:endParaRPr lang="en-US" altLang="ko-KR" sz="700" b="1" dirty="0">
              <a:solidFill>
                <a:srgbClr val="0000FF"/>
              </a:solidFill>
            </a:endParaRPr>
          </a:p>
          <a:p>
            <a:r>
              <a:rPr lang="en-US" altLang="ko-KR" sz="700" b="1" dirty="0" smtClean="0">
                <a:solidFill>
                  <a:srgbClr val="0000FF"/>
                </a:solidFill>
              </a:rPr>
              <a:t>5-13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과세가격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+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운임 텍스트 박스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: 5-9 + 5+10 (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결과내용 적용처리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)</a:t>
            </a:r>
          </a:p>
          <a:p>
            <a:endParaRPr lang="en-US" altLang="ko-KR" sz="700" b="1" dirty="0">
              <a:solidFill>
                <a:srgbClr val="0000FF"/>
              </a:solidFill>
            </a:endParaRPr>
          </a:p>
          <a:p>
            <a:r>
              <a:rPr lang="en-US" altLang="ko-KR" sz="700" b="1" dirty="0" smtClean="0">
                <a:solidFill>
                  <a:srgbClr val="0000FF"/>
                </a:solidFill>
              </a:rPr>
              <a:t>5-14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관세 텍스트 박스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: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사용자 입력 가능처리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(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숫자만 입력 가능처리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)</a:t>
            </a:r>
          </a:p>
          <a:p>
            <a:endParaRPr lang="en-US" altLang="ko-KR" sz="700" b="1" dirty="0">
              <a:solidFill>
                <a:srgbClr val="0000FF"/>
              </a:solidFill>
            </a:endParaRPr>
          </a:p>
          <a:p>
            <a:r>
              <a:rPr lang="en-US" altLang="ko-KR" sz="700" b="1" dirty="0" smtClean="0">
                <a:solidFill>
                  <a:srgbClr val="0000FF"/>
                </a:solidFill>
              </a:rPr>
              <a:t>5-15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세율 텍스트 박스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: </a:t>
            </a:r>
            <a:r>
              <a:rPr lang="ko-KR" altLang="en-US" sz="700" b="1" dirty="0">
                <a:solidFill>
                  <a:srgbClr val="0000FF"/>
                </a:solidFill>
              </a:rPr>
              <a:t>사용자 입력 가능처리</a:t>
            </a:r>
            <a:r>
              <a:rPr lang="en-US" altLang="ko-KR" sz="700" b="1" dirty="0">
                <a:solidFill>
                  <a:srgbClr val="0000FF"/>
                </a:solidFill>
              </a:rPr>
              <a:t>(</a:t>
            </a:r>
            <a:r>
              <a:rPr lang="ko-KR" altLang="en-US" sz="700" b="1" dirty="0">
                <a:solidFill>
                  <a:srgbClr val="0000FF"/>
                </a:solidFill>
              </a:rPr>
              <a:t>숫자만 입력 가능처리</a:t>
            </a:r>
            <a:r>
              <a:rPr lang="en-US" altLang="ko-KR" sz="700" b="1" dirty="0">
                <a:solidFill>
                  <a:srgbClr val="0000FF"/>
                </a:solidFill>
              </a:rPr>
              <a:t>)</a:t>
            </a:r>
          </a:p>
          <a:p>
            <a:endParaRPr lang="en-US" altLang="ko-KR" sz="700" b="1" dirty="0">
              <a:solidFill>
                <a:srgbClr val="0000FF"/>
              </a:solidFill>
            </a:endParaRPr>
          </a:p>
          <a:p>
            <a:r>
              <a:rPr lang="en-US" altLang="ko-KR" sz="700" b="1" dirty="0" smtClean="0">
                <a:solidFill>
                  <a:srgbClr val="0000FF"/>
                </a:solidFill>
              </a:rPr>
              <a:t>5-16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부가세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: </a:t>
            </a:r>
          </a:p>
          <a:p>
            <a:r>
              <a:rPr lang="en-US" altLang="ko-KR" sz="700" b="1" dirty="0" smtClean="0">
                <a:solidFill>
                  <a:srgbClr val="0000FF"/>
                </a:solidFill>
              </a:rPr>
              <a:t>(5-13 + 5-14) * 5-15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= 5-16(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결과 내용 텍스트 박스 결과 적용 처리</a:t>
            </a:r>
            <a:endParaRPr lang="en-US" altLang="ko-KR" sz="700" b="1" dirty="0" smtClean="0">
              <a:solidFill>
                <a:srgbClr val="0000FF"/>
              </a:solidFill>
            </a:endParaRPr>
          </a:p>
          <a:p>
            <a:endParaRPr lang="en-US" altLang="ko-KR" sz="700" dirty="0" smtClean="0">
              <a:solidFill>
                <a:srgbClr val="000000"/>
              </a:solidFill>
            </a:endParaRPr>
          </a:p>
          <a:p>
            <a:endParaRPr lang="en-US" altLang="ko-KR" sz="700" dirty="0" smtClean="0">
              <a:solidFill>
                <a:srgbClr val="000000"/>
              </a:solidFill>
            </a:endParaRPr>
          </a:p>
          <a:p>
            <a:r>
              <a:rPr lang="en-US" altLang="ko-KR" sz="700" dirty="0" smtClean="0">
                <a:solidFill>
                  <a:srgbClr val="000000"/>
                </a:solidFill>
              </a:rPr>
              <a:t> </a:t>
            </a:r>
          </a:p>
          <a:p>
            <a:endParaRPr lang="en-US" altLang="ko-KR" sz="700" dirty="0">
              <a:solidFill>
                <a:srgbClr val="000000"/>
              </a:solidFill>
            </a:endParaRPr>
          </a:p>
        </p:txBody>
      </p:sp>
      <p:sp>
        <p:nvSpPr>
          <p:cNvPr id="489" name="타원 488"/>
          <p:cNvSpPr/>
          <p:nvPr/>
        </p:nvSpPr>
        <p:spPr>
          <a:xfrm>
            <a:off x="791840" y="2457553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5-6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491" name="타원 490"/>
          <p:cNvSpPr/>
          <p:nvPr/>
        </p:nvSpPr>
        <p:spPr>
          <a:xfrm>
            <a:off x="-3816677" y="213285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5-6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492" name="타원 491"/>
          <p:cNvSpPr/>
          <p:nvPr/>
        </p:nvSpPr>
        <p:spPr>
          <a:xfrm>
            <a:off x="3433725" y="248330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5-7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493" name="타원 492"/>
          <p:cNvSpPr/>
          <p:nvPr/>
        </p:nvSpPr>
        <p:spPr>
          <a:xfrm>
            <a:off x="4921710" y="2466460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5-7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494" name="타원 493"/>
          <p:cNvSpPr/>
          <p:nvPr/>
        </p:nvSpPr>
        <p:spPr>
          <a:xfrm>
            <a:off x="-3816672" y="2504434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5-7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495" name="타원 494"/>
          <p:cNvSpPr/>
          <p:nvPr/>
        </p:nvSpPr>
        <p:spPr>
          <a:xfrm>
            <a:off x="6019712" y="245689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5-8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496" name="타원 495"/>
          <p:cNvSpPr/>
          <p:nvPr/>
        </p:nvSpPr>
        <p:spPr>
          <a:xfrm>
            <a:off x="801994" y="2831109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5-9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497" name="타원 496"/>
          <p:cNvSpPr/>
          <p:nvPr/>
        </p:nvSpPr>
        <p:spPr>
          <a:xfrm>
            <a:off x="2976930" y="277199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5-10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498" name="타원 497"/>
          <p:cNvSpPr/>
          <p:nvPr/>
        </p:nvSpPr>
        <p:spPr>
          <a:xfrm>
            <a:off x="4921710" y="2797038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5-11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499" name="타원 498"/>
          <p:cNvSpPr/>
          <p:nvPr/>
        </p:nvSpPr>
        <p:spPr>
          <a:xfrm>
            <a:off x="6019712" y="2789747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5-12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500" name="타원 499"/>
          <p:cNvSpPr/>
          <p:nvPr/>
        </p:nvSpPr>
        <p:spPr>
          <a:xfrm>
            <a:off x="801994" y="319828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5-13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501" name="타원 500"/>
          <p:cNvSpPr/>
          <p:nvPr/>
        </p:nvSpPr>
        <p:spPr>
          <a:xfrm>
            <a:off x="3722543" y="3162803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5-14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502" name="타원 501"/>
          <p:cNvSpPr/>
          <p:nvPr/>
        </p:nvSpPr>
        <p:spPr>
          <a:xfrm>
            <a:off x="4861619" y="335068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5-15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503" name="타원 502"/>
          <p:cNvSpPr/>
          <p:nvPr/>
        </p:nvSpPr>
        <p:spPr>
          <a:xfrm>
            <a:off x="6048424" y="316469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5-16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77" name="직사각형 76"/>
          <p:cNvSpPr/>
          <p:nvPr/>
        </p:nvSpPr>
        <p:spPr bwMode="auto">
          <a:xfrm>
            <a:off x="10620932" y="1709855"/>
            <a:ext cx="822159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CFR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78" name="직사각형 77"/>
          <p:cNvSpPr/>
          <p:nvPr/>
        </p:nvSpPr>
        <p:spPr bwMode="auto">
          <a:xfrm>
            <a:off x="11338622" y="1709856"/>
            <a:ext cx="104469" cy="1754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10622292" y="1878726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CFR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80" name="직사각형 79"/>
          <p:cNvSpPr/>
          <p:nvPr/>
        </p:nvSpPr>
        <p:spPr bwMode="auto">
          <a:xfrm>
            <a:off x="10622292" y="2033628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CIF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81" name="직사각형 80"/>
          <p:cNvSpPr/>
          <p:nvPr/>
        </p:nvSpPr>
        <p:spPr bwMode="auto">
          <a:xfrm>
            <a:off x="10622292" y="2209090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CIP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82" name="직사각형 81"/>
          <p:cNvSpPr/>
          <p:nvPr/>
        </p:nvSpPr>
        <p:spPr bwMode="auto">
          <a:xfrm>
            <a:off x="10622292" y="2363992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CPT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10622292" y="2539454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DAF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10622292" y="2694356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DDP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10622292" y="2861332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DDU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10628880" y="3032695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DEQ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10628880" y="3187597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DES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88" name="직사각형 87"/>
          <p:cNvSpPr/>
          <p:nvPr/>
        </p:nvSpPr>
        <p:spPr bwMode="auto">
          <a:xfrm>
            <a:off x="10628880" y="3363059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EXW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89" name="직사각형 88"/>
          <p:cNvSpPr/>
          <p:nvPr/>
        </p:nvSpPr>
        <p:spPr bwMode="auto">
          <a:xfrm>
            <a:off x="10628880" y="3517961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FAX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90" name="직사각형 89"/>
          <p:cNvSpPr/>
          <p:nvPr/>
        </p:nvSpPr>
        <p:spPr bwMode="auto">
          <a:xfrm>
            <a:off x="10628880" y="3684937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FCA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91" name="직사각형 90"/>
          <p:cNvSpPr/>
          <p:nvPr/>
        </p:nvSpPr>
        <p:spPr bwMode="auto">
          <a:xfrm>
            <a:off x="10628880" y="3868019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FOB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92" name="타원 91"/>
          <p:cNvSpPr/>
          <p:nvPr/>
        </p:nvSpPr>
        <p:spPr>
          <a:xfrm>
            <a:off x="10304844" y="149632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2-4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93" name="모서리가 둥근 직사각형 92"/>
          <p:cNvSpPr/>
          <p:nvPr/>
        </p:nvSpPr>
        <p:spPr>
          <a:xfrm>
            <a:off x="224374" y="2204864"/>
            <a:ext cx="688805" cy="165621"/>
          </a:xfrm>
          <a:prstGeom prst="roundRect">
            <a:avLst/>
          </a:prstGeom>
          <a:solidFill>
            <a:srgbClr val="0066FF"/>
          </a:solidFill>
          <a:ln w="3175">
            <a:solidFill>
              <a:schemeClr val="bg2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FFFFFF"/>
                </a:solidFill>
              </a:rPr>
              <a:t>Ex-Rate</a:t>
            </a:r>
            <a:endParaRPr lang="ko-KR" altLang="en-US" b="1" dirty="0" err="1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427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65628" y="526101"/>
            <a:ext cx="9699219" cy="1845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23723" y="568500"/>
            <a:ext cx="1621197" cy="191235"/>
          </a:xfrm>
          <a:prstGeom prst="rect">
            <a:avLst/>
          </a:prstGeom>
          <a:solidFill>
            <a:srgbClr val="FFCC66"/>
          </a:solidFill>
          <a:ln w="3175"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rgbClr val="000000"/>
                </a:solidFill>
              </a:rPr>
              <a:t>통관정산</a:t>
            </a:r>
            <a:r>
              <a:rPr lang="en-US" altLang="ko-KR" b="1" dirty="0" smtClean="0">
                <a:solidFill>
                  <a:srgbClr val="000000"/>
                </a:solidFill>
              </a:rPr>
              <a:t>  </a:t>
            </a:r>
            <a:r>
              <a:rPr lang="ko-KR" altLang="en-US" b="1" dirty="0" smtClean="0">
                <a:solidFill>
                  <a:srgbClr val="000000"/>
                </a:solidFill>
              </a:rPr>
              <a:t>청구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215776" y="2580760"/>
            <a:ext cx="688805" cy="165621"/>
          </a:xfrm>
          <a:prstGeom prst="roundRect">
            <a:avLst/>
          </a:prstGeom>
          <a:solidFill>
            <a:srgbClr val="0066FF"/>
          </a:solidFill>
          <a:ln w="3175">
            <a:solidFill>
              <a:schemeClr val="bg2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FFFFFF"/>
                </a:solidFill>
              </a:rPr>
              <a:t>Ex-Rate</a:t>
            </a:r>
            <a:endParaRPr lang="ko-KR" altLang="en-US" b="1" dirty="0" err="1" smtClean="0">
              <a:solidFill>
                <a:srgbClr val="FFFFFF"/>
              </a:solidFill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1403908" y="2580760"/>
            <a:ext cx="865742" cy="16557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FFFFFF">
                    <a:lumMod val="50000"/>
                  </a:srgbClr>
                </a:solidFill>
              </a:rPr>
              <a:t>2017-01-01</a:t>
            </a: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2120096" y="2580760"/>
            <a:ext cx="149553" cy="16557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FFFFFF">
                    <a:lumMod val="50000"/>
                  </a:srgbClr>
                </a:solidFill>
              </a:rPr>
              <a:t>▼</a:t>
            </a: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2111612" y="3652911"/>
            <a:ext cx="1086359" cy="226069"/>
          </a:xfrm>
          <a:prstGeom prst="roundRect">
            <a:avLst/>
          </a:prstGeom>
          <a:solidFill>
            <a:srgbClr val="0066FF"/>
          </a:solidFill>
          <a:ln w="3175">
            <a:solidFill>
              <a:schemeClr val="bg2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FFFFFF"/>
                </a:solidFill>
              </a:rPr>
              <a:t> </a:t>
            </a:r>
            <a:r>
              <a:rPr lang="ko-KR" altLang="en-US" dirty="0" smtClean="0">
                <a:solidFill>
                  <a:srgbClr val="FFFFFF"/>
                </a:solidFill>
              </a:rPr>
              <a:t>청구 적용</a:t>
            </a:r>
          </a:p>
        </p:txBody>
      </p:sp>
      <p:sp>
        <p:nvSpPr>
          <p:cNvPr id="37" name="직사각형 36"/>
          <p:cNvSpPr/>
          <p:nvPr/>
        </p:nvSpPr>
        <p:spPr bwMode="auto">
          <a:xfrm>
            <a:off x="4104208" y="2911800"/>
            <a:ext cx="865742" cy="16557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FFFFFF">
                    <a:lumMod val="50000"/>
                  </a:srgbClr>
                </a:solidFill>
              </a:rPr>
              <a:t>홍길동 과장</a:t>
            </a: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0" name="직사각형 39"/>
          <p:cNvSpPr/>
          <p:nvPr/>
        </p:nvSpPr>
        <p:spPr bwMode="auto">
          <a:xfrm>
            <a:off x="6228242" y="2912563"/>
            <a:ext cx="1002408" cy="16557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FFFFFF">
                    <a:lumMod val="50000"/>
                  </a:srgbClr>
                </a:solidFill>
              </a:rPr>
              <a:t>+82-2-368-95</a:t>
            </a: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9" name="직사각형 48"/>
          <p:cNvSpPr/>
          <p:nvPr/>
        </p:nvSpPr>
        <p:spPr bwMode="auto">
          <a:xfrm>
            <a:off x="935856" y="1929976"/>
            <a:ext cx="1785193" cy="14714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FFFFFF">
                    <a:lumMod val="50000"/>
                  </a:srgbClr>
                </a:solidFill>
              </a:rPr>
              <a:t>FDA00S-12080004</a:t>
            </a: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2730544" y="1929976"/>
            <a:ext cx="149556" cy="14634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FFFFFF">
                    <a:lumMod val="50000"/>
                  </a:srgbClr>
                </a:solidFill>
              </a:rPr>
              <a:t>▼</a:t>
            </a: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grpSp>
        <p:nvGrpSpPr>
          <p:cNvPr id="53" name="그룹 52"/>
          <p:cNvGrpSpPr/>
          <p:nvPr/>
        </p:nvGrpSpPr>
        <p:grpSpPr>
          <a:xfrm>
            <a:off x="8280672" y="3699030"/>
            <a:ext cx="462396" cy="215444"/>
            <a:chOff x="4719504" y="3630808"/>
            <a:chExt cx="462396" cy="215444"/>
          </a:xfrm>
        </p:grpSpPr>
        <p:sp>
          <p:nvSpPr>
            <p:cNvPr id="57" name="TextBox 56"/>
            <p:cNvSpPr txBox="1"/>
            <p:nvPr/>
          </p:nvSpPr>
          <p:spPr>
            <a:xfrm>
              <a:off x="4792050" y="3630808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dirty="0" smtClean="0">
                  <a:solidFill>
                    <a:srgbClr val="000000"/>
                  </a:solidFill>
                </a:rPr>
                <a:t>추</a:t>
              </a:r>
              <a:r>
                <a:rPr lang="ko-KR" altLang="en-US" dirty="0">
                  <a:solidFill>
                    <a:srgbClr val="000000"/>
                  </a:solidFill>
                </a:rPr>
                <a:t>가</a:t>
              </a:r>
            </a:p>
          </p:txBody>
        </p:sp>
        <p:pic>
          <p:nvPicPr>
            <p:cNvPr id="58" name="그림 5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19504" y="3654597"/>
              <a:ext cx="142857" cy="133333"/>
            </a:xfrm>
            <a:prstGeom prst="rect">
              <a:avLst/>
            </a:prstGeom>
          </p:spPr>
        </p:pic>
      </p:grpSp>
      <p:grpSp>
        <p:nvGrpSpPr>
          <p:cNvPr id="54" name="그룹 53"/>
          <p:cNvGrpSpPr/>
          <p:nvPr/>
        </p:nvGrpSpPr>
        <p:grpSpPr>
          <a:xfrm>
            <a:off x="8714494" y="3699032"/>
            <a:ext cx="540060" cy="215444"/>
            <a:chOff x="5868404" y="4097745"/>
            <a:chExt cx="540060" cy="215444"/>
          </a:xfrm>
        </p:grpSpPr>
        <p:sp>
          <p:nvSpPr>
            <p:cNvPr id="55" name="TextBox 54"/>
            <p:cNvSpPr txBox="1"/>
            <p:nvPr/>
          </p:nvSpPr>
          <p:spPr>
            <a:xfrm>
              <a:off x="6018614" y="4097745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dirty="0" smtClean="0">
                  <a:solidFill>
                    <a:srgbClr val="000000"/>
                  </a:solidFill>
                </a:rPr>
                <a:t>삭제</a:t>
              </a:r>
              <a:endParaRPr lang="ko-KR" altLang="en-US" dirty="0">
                <a:solidFill>
                  <a:srgbClr val="000000"/>
                </a:solidFill>
              </a:endParaRPr>
            </a:p>
          </p:txBody>
        </p:sp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68404" y="4129109"/>
              <a:ext cx="142857" cy="123810"/>
            </a:xfrm>
            <a:prstGeom prst="rect">
              <a:avLst/>
            </a:prstGeom>
          </p:spPr>
        </p:pic>
      </p:grpSp>
      <p:sp>
        <p:nvSpPr>
          <p:cNvPr id="62" name="모서리가 둥근 직사각형 61"/>
          <p:cNvSpPr/>
          <p:nvPr/>
        </p:nvSpPr>
        <p:spPr>
          <a:xfrm>
            <a:off x="188322" y="4056853"/>
            <a:ext cx="9654665" cy="2108451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graphicFrame>
        <p:nvGraphicFramePr>
          <p:cNvPr id="63" name="표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185822"/>
              </p:ext>
            </p:extLst>
          </p:nvPr>
        </p:nvGraphicFramePr>
        <p:xfrm>
          <a:off x="251780" y="4236396"/>
          <a:ext cx="9327540" cy="12649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8819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702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3521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8809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3521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99898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99898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76442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673816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11777">
                  <a:extLst>
                    <a:ext uri="{9D8B030D-6E8A-4147-A177-3AD203B41FA5}">
                      <a16:colId xmlns:a16="http://schemas.microsoft.com/office/drawing/2014/main" xmlns="" val="1682856224"/>
                    </a:ext>
                  </a:extLst>
                </a:gridCol>
                <a:gridCol w="826953">
                  <a:extLst>
                    <a:ext uri="{9D8B030D-6E8A-4147-A177-3AD203B41FA5}">
                      <a16:colId xmlns:a16="http://schemas.microsoft.com/office/drawing/2014/main" xmlns="" val="276942146"/>
                    </a:ext>
                  </a:extLst>
                </a:gridCol>
                <a:gridCol w="969270">
                  <a:extLst>
                    <a:ext uri="{9D8B030D-6E8A-4147-A177-3AD203B41FA5}">
                      <a16:colId xmlns:a16="http://schemas.microsoft.com/office/drawing/2014/main" xmlns="" val="1522849287"/>
                    </a:ext>
                  </a:extLst>
                </a:gridCol>
                <a:gridCol w="624358">
                  <a:extLst>
                    <a:ext uri="{9D8B030D-6E8A-4147-A177-3AD203B41FA5}">
                      <a16:colId xmlns:a16="http://schemas.microsoft.com/office/drawing/2014/main" xmlns="" val="1178847013"/>
                    </a:ext>
                  </a:extLst>
                </a:gridCol>
                <a:gridCol w="1063408">
                  <a:extLst>
                    <a:ext uri="{9D8B030D-6E8A-4147-A177-3AD203B41FA5}">
                      <a16:colId xmlns:a16="http://schemas.microsoft.com/office/drawing/2014/main" xmlns="" val="1548411095"/>
                    </a:ext>
                  </a:extLst>
                </a:gridCol>
              </a:tblGrid>
              <a:tr h="196383"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CODE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CUR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Ex—Rate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smtClean="0">
                          <a:solidFill>
                            <a:schemeClr val="tx1"/>
                          </a:solidFill>
                        </a:rPr>
                        <a:t>부과유형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AMOUNT[CUR]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AMOUNT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VAT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TOTAL AMOUNT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ACCOUNT CODE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Y/N</a:t>
                      </a:r>
                    </a:p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(Vat)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smtClean="0">
                          <a:solidFill>
                            <a:schemeClr val="tx1"/>
                          </a:solidFill>
                        </a:rPr>
                        <a:t>청구번호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66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2"/>
                          </a:solidFill>
                        </a:rPr>
                        <a:t>AFC</a:t>
                      </a:r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 smtClean="0">
                          <a:solidFill>
                            <a:schemeClr val="tx2"/>
                          </a:solidFill>
                        </a:rPr>
                        <a:t>Freight Charge</a:t>
                      </a:r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2"/>
                          </a:solidFill>
                        </a:rPr>
                        <a:t>USD</a:t>
                      </a:r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2"/>
                          </a:solidFill>
                        </a:rPr>
                        <a:t>1150.5</a:t>
                      </a:r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2"/>
                          </a:solidFill>
                        </a:rPr>
                        <a:t>2250.00</a:t>
                      </a:r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2"/>
                          </a:solidFill>
                        </a:rPr>
                        <a:t>2,588,625</a:t>
                      </a:r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2"/>
                          </a:solidFill>
                        </a:rPr>
                        <a:t>2,588,625</a:t>
                      </a:r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2"/>
                          </a:solidFill>
                        </a:rPr>
                        <a:t>0121000201</a:t>
                      </a:r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2"/>
                          </a:solidFill>
                        </a:rPr>
                        <a:t>N</a:t>
                      </a:r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66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966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66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>
                          <a:solidFill>
                            <a:schemeClr val="tx2"/>
                          </a:solidFill>
                        </a:rPr>
                        <a:t>4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66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>
                          <a:solidFill>
                            <a:schemeClr val="tx2"/>
                          </a:solidFill>
                        </a:rPr>
                        <a:t>5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4" name="그림 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386" y="3701308"/>
            <a:ext cx="209944" cy="17635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5" name="직사각형 64"/>
          <p:cNvSpPr/>
          <p:nvPr/>
        </p:nvSpPr>
        <p:spPr bwMode="auto">
          <a:xfrm>
            <a:off x="2690191" y="4509700"/>
            <a:ext cx="145996" cy="20651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9579320" y="4226895"/>
            <a:ext cx="194596" cy="1434005"/>
            <a:chOff x="10426336" y="3937810"/>
            <a:chExt cx="194596" cy="1644228"/>
          </a:xfrm>
        </p:grpSpPr>
        <p:sp>
          <p:nvSpPr>
            <p:cNvPr id="67" name="직사각형 66"/>
            <p:cNvSpPr/>
            <p:nvPr/>
          </p:nvSpPr>
          <p:spPr bwMode="auto">
            <a:xfrm>
              <a:off x="10426336" y="4105968"/>
              <a:ext cx="194596" cy="13471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ko-KR" altLang="en-US" sz="600" dirty="0">
                <a:solidFill>
                  <a:srgbClr val="000000"/>
                </a:solidFill>
              </a:endParaRPr>
            </a:p>
          </p:txBody>
        </p:sp>
        <p:sp>
          <p:nvSpPr>
            <p:cNvPr id="68" name="직사각형 67"/>
            <p:cNvSpPr/>
            <p:nvPr/>
          </p:nvSpPr>
          <p:spPr bwMode="auto">
            <a:xfrm flipV="1">
              <a:off x="10426336" y="3937810"/>
              <a:ext cx="194596" cy="17277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ko-KR" sz="600" dirty="0">
                  <a:solidFill>
                    <a:srgbClr val="000000"/>
                  </a:solidFill>
                </a:rPr>
                <a:t>▼</a:t>
              </a:r>
              <a:endParaRPr lang="ko-KR" altLang="en-US" sz="600" dirty="0">
                <a:solidFill>
                  <a:srgbClr val="000000"/>
                </a:solidFill>
              </a:endParaRPr>
            </a:p>
          </p:txBody>
        </p:sp>
        <p:sp>
          <p:nvSpPr>
            <p:cNvPr id="69" name="직사각형 68"/>
            <p:cNvSpPr/>
            <p:nvPr/>
          </p:nvSpPr>
          <p:spPr bwMode="auto">
            <a:xfrm rot="10800000" flipV="1">
              <a:off x="10426336" y="5438332"/>
              <a:ext cx="194596" cy="14370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ko-KR" sz="600" dirty="0">
                  <a:solidFill>
                    <a:srgbClr val="000000"/>
                  </a:solidFill>
                </a:rPr>
                <a:t>▼</a:t>
              </a:r>
              <a:endParaRPr lang="ko-KR" altLang="en-US" sz="6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96" name="그룹 95"/>
          <p:cNvGrpSpPr/>
          <p:nvPr/>
        </p:nvGrpSpPr>
        <p:grpSpPr>
          <a:xfrm>
            <a:off x="249794" y="5505075"/>
            <a:ext cx="9311149" cy="155825"/>
            <a:chOff x="600589" y="5930188"/>
            <a:chExt cx="8867085" cy="155824"/>
          </a:xfrm>
        </p:grpSpPr>
        <p:sp>
          <p:nvSpPr>
            <p:cNvPr id="70" name="직사각형 69"/>
            <p:cNvSpPr/>
            <p:nvPr/>
          </p:nvSpPr>
          <p:spPr bwMode="auto">
            <a:xfrm rot="5400000">
              <a:off x="4923399" y="1716426"/>
              <a:ext cx="155703" cy="85834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ko-KR" altLang="en-US" sz="600" dirty="0">
                <a:solidFill>
                  <a:srgbClr val="000000"/>
                </a:solidFill>
              </a:endParaRPr>
            </a:p>
          </p:txBody>
        </p:sp>
        <p:sp>
          <p:nvSpPr>
            <p:cNvPr id="71" name="직사각형 70"/>
            <p:cNvSpPr/>
            <p:nvPr/>
          </p:nvSpPr>
          <p:spPr bwMode="auto">
            <a:xfrm rot="5400000" flipV="1">
              <a:off x="9302478" y="5920817"/>
              <a:ext cx="155703" cy="1746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ko-KR" sz="600" dirty="0">
                  <a:solidFill>
                    <a:srgbClr val="000000"/>
                  </a:solidFill>
                </a:rPr>
                <a:t>▼</a:t>
              </a:r>
              <a:endParaRPr lang="ko-KR" altLang="en-US" sz="600" dirty="0">
                <a:solidFill>
                  <a:srgbClr val="000000"/>
                </a:solidFill>
              </a:endParaRPr>
            </a:p>
          </p:txBody>
        </p:sp>
        <p:sp>
          <p:nvSpPr>
            <p:cNvPr id="72" name="직사각형 71"/>
            <p:cNvSpPr/>
            <p:nvPr/>
          </p:nvSpPr>
          <p:spPr bwMode="auto">
            <a:xfrm rot="16200000" flipV="1">
              <a:off x="594686" y="5936091"/>
              <a:ext cx="155824" cy="14401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ko-KR" sz="600" dirty="0">
                  <a:solidFill>
                    <a:srgbClr val="000000"/>
                  </a:solidFill>
                </a:rPr>
                <a:t>▼</a:t>
              </a:r>
              <a:endParaRPr lang="ko-KR" altLang="en-US" sz="6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73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8588" y="4540450"/>
            <a:ext cx="142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4" name="그룹 3"/>
          <p:cNvGrpSpPr/>
          <p:nvPr/>
        </p:nvGrpSpPr>
        <p:grpSpPr>
          <a:xfrm>
            <a:off x="8666893" y="2574104"/>
            <a:ext cx="873919" cy="215444"/>
            <a:chOff x="10828765" y="4473116"/>
            <a:chExt cx="873919" cy="215444"/>
          </a:xfrm>
        </p:grpSpPr>
        <p:sp>
          <p:nvSpPr>
            <p:cNvPr id="76" name="TextBox 75"/>
            <p:cNvSpPr txBox="1"/>
            <p:nvPr/>
          </p:nvSpPr>
          <p:spPr>
            <a:xfrm>
              <a:off x="10874935" y="4473116"/>
              <a:ext cx="40588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>
                  <a:solidFill>
                    <a:srgbClr val="000000"/>
                  </a:solidFill>
                </a:rPr>
                <a:t>CUR</a:t>
              </a:r>
              <a:endParaRPr lang="ko-KR" altLang="en-US" dirty="0">
                <a:solidFill>
                  <a:srgbClr val="000000"/>
                </a:solidFill>
              </a:endParaRPr>
            </a:p>
          </p:txBody>
        </p:sp>
        <p:grpSp>
          <p:nvGrpSpPr>
            <p:cNvPr id="77" name="그룹 76"/>
            <p:cNvGrpSpPr/>
            <p:nvPr/>
          </p:nvGrpSpPr>
          <p:grpSpPr>
            <a:xfrm>
              <a:off x="10828765" y="4521564"/>
              <a:ext cx="104128" cy="90640"/>
              <a:chOff x="1235509" y="5387162"/>
              <a:chExt cx="104128" cy="104128"/>
            </a:xfrm>
          </p:grpSpPr>
          <p:sp>
            <p:nvSpPr>
              <p:cNvPr id="78" name="타원 77"/>
              <p:cNvSpPr/>
              <p:nvPr/>
            </p:nvSpPr>
            <p:spPr>
              <a:xfrm>
                <a:off x="1235509" y="5387162"/>
                <a:ext cx="104128" cy="10412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3">
                      <a:lumMod val="89000"/>
                    </a:schemeClr>
                  </a:gs>
                  <a:gs pos="23000">
                    <a:schemeClr val="accent3">
                      <a:lumMod val="89000"/>
                    </a:schemeClr>
                  </a:gs>
                  <a:gs pos="69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3175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9" name="타원 78"/>
              <p:cNvSpPr/>
              <p:nvPr/>
            </p:nvSpPr>
            <p:spPr>
              <a:xfrm>
                <a:off x="1267727" y="5410737"/>
                <a:ext cx="57958" cy="57958"/>
              </a:xfrm>
              <a:prstGeom prst="ellipse">
                <a:avLst/>
              </a:prstGeom>
              <a:solidFill>
                <a:schemeClr val="tx1"/>
              </a:solidFill>
              <a:ln w="3175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 smtClean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0" name="타원 79"/>
            <p:cNvSpPr/>
            <p:nvPr/>
          </p:nvSpPr>
          <p:spPr>
            <a:xfrm>
              <a:off x="11233000" y="4521564"/>
              <a:ext cx="104128" cy="90640"/>
            </a:xfrm>
            <a:prstGeom prst="ellipse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err="1" smtClean="0">
                <a:solidFill>
                  <a:srgbClr val="000000"/>
                </a:solidFill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1279170" y="4473116"/>
              <a:ext cx="42351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>
                  <a:solidFill>
                    <a:srgbClr val="000000"/>
                  </a:solidFill>
                </a:rPr>
                <a:t>KRW</a:t>
              </a:r>
              <a:endParaRPr lang="ko-KR" alt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82" name="모서리가 둥근 직사각형 81"/>
          <p:cNvSpPr/>
          <p:nvPr/>
        </p:nvSpPr>
        <p:spPr>
          <a:xfrm>
            <a:off x="2376016" y="5770033"/>
            <a:ext cx="7408018" cy="272646"/>
          </a:xfrm>
          <a:prstGeom prst="roundRect">
            <a:avLst>
              <a:gd name="adj" fmla="val 4642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407910" y="5811583"/>
            <a:ext cx="8787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000000"/>
                </a:solidFill>
              </a:rPr>
              <a:t>CUR AMOUNT</a:t>
            </a:r>
            <a:endParaRPr lang="ko-KR" altLang="en-US" b="1" dirty="0">
              <a:solidFill>
                <a:srgbClr val="000000"/>
              </a:solidFill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3902372" y="5813617"/>
            <a:ext cx="1256513" cy="16557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2250.00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8895058" y="5813617"/>
            <a:ext cx="806026" cy="16557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2,588,825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8018811" y="5813617"/>
            <a:ext cx="806026" cy="16557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0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142564" y="5813617"/>
            <a:ext cx="806026" cy="16557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2,588,825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616577" y="5811583"/>
            <a:ext cx="10038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000000"/>
                </a:solidFill>
              </a:rPr>
              <a:t>TOTAL AMOUNT</a:t>
            </a:r>
            <a:endParaRPr lang="ko-KR" altLang="en-US" b="1" dirty="0">
              <a:solidFill>
                <a:srgbClr val="000000"/>
              </a:solidFill>
            </a:endParaRPr>
          </a:p>
        </p:txBody>
      </p:sp>
      <p:grpSp>
        <p:nvGrpSpPr>
          <p:cNvPr id="160" name="그룹 159"/>
          <p:cNvGrpSpPr/>
          <p:nvPr/>
        </p:nvGrpSpPr>
        <p:grpSpPr>
          <a:xfrm>
            <a:off x="166462" y="2262822"/>
            <a:ext cx="2115027" cy="236513"/>
            <a:chOff x="920300" y="3392022"/>
            <a:chExt cx="900100" cy="236513"/>
          </a:xfrm>
        </p:grpSpPr>
        <p:sp>
          <p:nvSpPr>
            <p:cNvPr id="161" name="한쪽 모서리가 둥근 사각형 160"/>
            <p:cNvSpPr/>
            <p:nvPr/>
          </p:nvSpPr>
          <p:spPr bwMode="auto">
            <a:xfrm flipH="1">
              <a:off x="920300" y="3392022"/>
              <a:ext cx="796099" cy="236513"/>
            </a:xfrm>
            <a:prstGeom prst="round1Rect">
              <a:avLst>
                <a:gd name="adj" fmla="val 31877"/>
              </a:avLst>
            </a:prstGeom>
            <a:solidFill>
              <a:srgbClr val="004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62" name="TextBox 53"/>
            <p:cNvSpPr txBox="1"/>
            <p:nvPr/>
          </p:nvSpPr>
          <p:spPr>
            <a:xfrm>
              <a:off x="1055245" y="3429000"/>
              <a:ext cx="765155" cy="19723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509544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10190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528632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2038176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547721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3057265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566810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4076354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lnSpc>
                  <a:spcPts val="800"/>
                </a:lnSpc>
              </a:pPr>
              <a:r>
                <a:rPr lang="en-US" altLang="ko-KR" dirty="0" smtClean="0">
                  <a:solidFill>
                    <a:srgbClr val="FFFFFF"/>
                  </a:solidFill>
                  <a:latin typeface="Rix모던고딕 B" pitchFamily="18" charset="-127"/>
                  <a:ea typeface="Rix모던고딕 B" pitchFamily="18" charset="-127"/>
                </a:rPr>
                <a:t>Account Information</a:t>
              </a:r>
              <a:endParaRPr lang="ko-KR" altLang="en-US" dirty="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</p:grpSp>
      <p:sp>
        <p:nvSpPr>
          <p:cNvPr id="182" name="직사각형 181"/>
          <p:cNvSpPr/>
          <p:nvPr/>
        </p:nvSpPr>
        <p:spPr bwMode="auto">
          <a:xfrm>
            <a:off x="1433677" y="2895894"/>
            <a:ext cx="717992" cy="1793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FUN1W003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83" name="직사각형 182"/>
          <p:cNvSpPr/>
          <p:nvPr/>
        </p:nvSpPr>
        <p:spPr bwMode="auto">
          <a:xfrm>
            <a:off x="2197494" y="2895894"/>
            <a:ext cx="1088338" cy="18830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206" name="표 2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126040"/>
              </p:ext>
            </p:extLst>
          </p:nvPr>
        </p:nvGraphicFramePr>
        <p:xfrm>
          <a:off x="166462" y="2531142"/>
          <a:ext cx="9746432" cy="64499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7446"/>
                <a:gridCol w="936104"/>
                <a:gridCol w="432048"/>
                <a:gridCol w="792088"/>
                <a:gridCol w="504056"/>
                <a:gridCol w="576064"/>
                <a:gridCol w="648072"/>
                <a:gridCol w="324036"/>
                <a:gridCol w="468052"/>
                <a:gridCol w="1548172"/>
                <a:gridCol w="897998"/>
                <a:gridCol w="1382296"/>
              </a:tblGrid>
              <a:tr h="279231"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CUR</a:t>
                      </a:r>
                      <a:endParaRPr lang="ko-KR" altLang="en-US" sz="7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Ex-Rate</a:t>
                      </a:r>
                      <a:endParaRPr lang="ko-KR" altLang="en-US" sz="7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USD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Total</a:t>
                      </a:r>
                      <a:r>
                        <a:rPr lang="en-US" altLang="ko-KR" sz="700" baseline="0" dirty="0" smtClean="0"/>
                        <a:t> </a:t>
                      </a:r>
                      <a:r>
                        <a:rPr lang="ko-KR" altLang="en-US" sz="700" baseline="0" dirty="0" smtClean="0"/>
                        <a:t>출력기준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</a:tr>
              <a:tr h="29580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rgbClr val="000000"/>
                          </a:solidFill>
                        </a:rPr>
                        <a:t>Customer </a:t>
                      </a:r>
                      <a:r>
                        <a:rPr lang="en-US" altLang="ko-KR" sz="800" dirty="0" err="1" smtClean="0">
                          <a:solidFill>
                            <a:srgbClr val="000000"/>
                          </a:solidFill>
                        </a:rPr>
                        <a:t>Acctount</a:t>
                      </a:r>
                      <a:endParaRPr lang="ko-KR" altLang="en-US" sz="7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/>
                        <a:t>담당자</a:t>
                      </a:r>
                      <a:endParaRPr lang="ko-KR" altLang="en-US" sz="7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전화번호</a:t>
                      </a:r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/>
                        <a:t>팩스번호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07" name="TextBox 206"/>
          <p:cNvSpPr txBox="1"/>
          <p:nvPr/>
        </p:nvSpPr>
        <p:spPr>
          <a:xfrm>
            <a:off x="839783" y="2573132"/>
            <a:ext cx="8124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환율일</a:t>
            </a:r>
            <a:r>
              <a:rPr lang="ko-KR" altLang="en-US" dirty="0">
                <a:solidFill>
                  <a:srgbClr val="000000"/>
                </a:solidFill>
              </a:rPr>
              <a:t>자</a:t>
            </a:r>
          </a:p>
        </p:txBody>
      </p:sp>
      <p:sp>
        <p:nvSpPr>
          <p:cNvPr id="14" name="제목 13"/>
          <p:cNvSpPr>
            <a:spLocks noGrp="1"/>
          </p:cNvSpPr>
          <p:nvPr>
            <p:ph type="title" idx="4294967295"/>
          </p:nvPr>
        </p:nvSpPr>
        <p:spPr>
          <a:xfrm>
            <a:off x="5969360" y="46601"/>
            <a:ext cx="1794094" cy="250051"/>
          </a:xfrm>
          <a:prstGeom prst="rect">
            <a:avLst/>
          </a:prstGeom>
        </p:spPr>
        <p:txBody>
          <a:bodyPr/>
          <a:lstStyle/>
          <a:p>
            <a:r>
              <a:rPr lang="ko-KR" altLang="en-US" sz="1000" dirty="0" smtClean="0"/>
              <a:t>통관정산 청구 정산</a:t>
            </a:r>
            <a:r>
              <a:rPr lang="en-US" altLang="ko-KR" sz="1000" dirty="0" smtClean="0"/>
              <a:t>(1/2)</a:t>
            </a:r>
            <a:endParaRPr lang="ko-KR" altLang="en-US" sz="1000" dirty="0"/>
          </a:p>
        </p:txBody>
      </p:sp>
      <p:pic>
        <p:nvPicPr>
          <p:cNvPr id="13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0390" y="4738984"/>
            <a:ext cx="142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7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4489" y="4937519"/>
            <a:ext cx="142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2192" y="5136054"/>
            <a:ext cx="142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9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6291" y="5334588"/>
            <a:ext cx="142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43" name="그룹 142"/>
          <p:cNvGrpSpPr/>
          <p:nvPr/>
        </p:nvGrpSpPr>
        <p:grpSpPr>
          <a:xfrm>
            <a:off x="179772" y="3652912"/>
            <a:ext cx="2115027" cy="236513"/>
            <a:chOff x="920300" y="3392022"/>
            <a:chExt cx="900100" cy="236513"/>
          </a:xfrm>
        </p:grpSpPr>
        <p:sp>
          <p:nvSpPr>
            <p:cNvPr id="144" name="한쪽 모서리가 둥근 사각형 143"/>
            <p:cNvSpPr/>
            <p:nvPr/>
          </p:nvSpPr>
          <p:spPr bwMode="auto">
            <a:xfrm flipH="1">
              <a:off x="920300" y="3392022"/>
              <a:ext cx="796099" cy="236513"/>
            </a:xfrm>
            <a:prstGeom prst="round1Rect">
              <a:avLst>
                <a:gd name="adj" fmla="val 31877"/>
              </a:avLst>
            </a:prstGeom>
            <a:solidFill>
              <a:srgbClr val="004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45" name="TextBox 53"/>
            <p:cNvSpPr txBox="1"/>
            <p:nvPr/>
          </p:nvSpPr>
          <p:spPr>
            <a:xfrm>
              <a:off x="1055245" y="3429000"/>
              <a:ext cx="765155" cy="19723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509544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10190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528632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2038176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547721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3057265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566810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4076354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lnSpc>
                  <a:spcPts val="800"/>
                </a:lnSpc>
              </a:pPr>
              <a:r>
                <a:rPr lang="en-US" altLang="ko-KR" dirty="0" smtClean="0">
                  <a:solidFill>
                    <a:srgbClr val="FFFFFF"/>
                  </a:solidFill>
                  <a:latin typeface="Rix모던고딕 B" pitchFamily="18" charset="-127"/>
                  <a:ea typeface="Rix모던고딕 B" pitchFamily="18" charset="-127"/>
                </a:rPr>
                <a:t>Account Detail</a:t>
              </a:r>
              <a:endParaRPr lang="ko-KR" altLang="en-US" dirty="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</p:grpSp>
      <p:sp>
        <p:nvSpPr>
          <p:cNvPr id="150" name="직사각형 149"/>
          <p:cNvSpPr/>
          <p:nvPr/>
        </p:nvSpPr>
        <p:spPr bwMode="auto">
          <a:xfrm>
            <a:off x="179772" y="859848"/>
            <a:ext cx="694811" cy="256541"/>
          </a:xfrm>
          <a:prstGeom prst="rect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000000"/>
                </a:solidFill>
              </a:rPr>
              <a:t>삭제</a:t>
            </a:r>
            <a:endParaRPr lang="ko-KR" altLang="en-US" sz="800" dirty="0">
              <a:solidFill>
                <a:srgbClr val="000000"/>
              </a:solidFill>
            </a:endParaRPr>
          </a:p>
        </p:txBody>
      </p:sp>
      <p:sp>
        <p:nvSpPr>
          <p:cNvPr id="151" name="직사각형 150"/>
          <p:cNvSpPr/>
          <p:nvPr/>
        </p:nvSpPr>
        <p:spPr bwMode="auto">
          <a:xfrm>
            <a:off x="934322" y="862235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FFFFFF"/>
                </a:solidFill>
              </a:rPr>
              <a:t>신규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152" name="직사각형 151"/>
          <p:cNvSpPr/>
          <p:nvPr/>
        </p:nvSpPr>
        <p:spPr bwMode="auto">
          <a:xfrm>
            <a:off x="1688872" y="861042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FFFFFF"/>
                </a:solidFill>
              </a:rPr>
              <a:t>초기화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153" name="직사각형 152"/>
          <p:cNvSpPr/>
          <p:nvPr/>
        </p:nvSpPr>
        <p:spPr bwMode="auto">
          <a:xfrm>
            <a:off x="2443422" y="863429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FFFFFF"/>
                </a:solidFill>
              </a:rPr>
              <a:t>저장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154" name="직사각형 153"/>
          <p:cNvSpPr/>
          <p:nvPr/>
        </p:nvSpPr>
        <p:spPr bwMode="auto">
          <a:xfrm>
            <a:off x="3197972" y="865816"/>
            <a:ext cx="798224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>
                <a:solidFill>
                  <a:srgbClr val="FFFFFF"/>
                </a:solidFill>
              </a:rPr>
              <a:t>저장 후 신규</a:t>
            </a:r>
          </a:p>
        </p:txBody>
      </p:sp>
      <p:sp>
        <p:nvSpPr>
          <p:cNvPr id="156" name="직사각형 155"/>
          <p:cNvSpPr/>
          <p:nvPr/>
        </p:nvSpPr>
        <p:spPr bwMode="auto">
          <a:xfrm>
            <a:off x="7001462" y="1192239"/>
            <a:ext cx="1059559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FFFFFF"/>
                </a:solidFill>
              </a:rPr>
              <a:t>통관정산서  출력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165" name="직사각형 164"/>
          <p:cNvSpPr/>
          <p:nvPr/>
        </p:nvSpPr>
        <p:spPr bwMode="auto">
          <a:xfrm>
            <a:off x="952919" y="1580652"/>
            <a:ext cx="919041" cy="15913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800" dirty="0" smtClean="0">
                <a:solidFill>
                  <a:srgbClr val="FFFFFF">
                    <a:lumMod val="50000"/>
                  </a:srgbClr>
                </a:solidFill>
              </a:rPr>
              <a:t>HBLIN2019000</a:t>
            </a:r>
            <a:endParaRPr lang="ko-KR" altLang="en-US" sz="800" dirty="0">
              <a:solidFill>
                <a:srgbClr val="FFFFFF">
                  <a:lumMod val="50000"/>
                </a:srgbClr>
              </a:solidFill>
            </a:endParaRPr>
          </a:p>
        </p:txBody>
      </p:sp>
      <p:pic>
        <p:nvPicPr>
          <p:cNvPr id="166" name="그림 165"/>
          <p:cNvPicPr/>
          <p:nvPr/>
        </p:nvPicPr>
        <p:blipFill rotWithShape="1">
          <a:blip r:embed="rId6"/>
          <a:srcRect l="14590" t="44075" r="83163" b="41796"/>
          <a:stretch/>
        </p:blipFill>
        <p:spPr>
          <a:xfrm>
            <a:off x="1150890" y="4518625"/>
            <a:ext cx="126902" cy="206519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5" name="직사각형 174"/>
          <p:cNvSpPr/>
          <p:nvPr/>
        </p:nvSpPr>
        <p:spPr bwMode="auto">
          <a:xfrm>
            <a:off x="4068204" y="868203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FFFFFF"/>
                </a:solidFill>
              </a:rPr>
              <a:t>계산기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176" name="직사각형 175"/>
          <p:cNvSpPr/>
          <p:nvPr/>
        </p:nvSpPr>
        <p:spPr bwMode="auto">
          <a:xfrm>
            <a:off x="5083638" y="1188659"/>
            <a:ext cx="1144806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FFFFFF"/>
                </a:solidFill>
              </a:rPr>
              <a:t>통관청구예상서 출력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grpSp>
        <p:nvGrpSpPr>
          <p:cNvPr id="177" name="그룹 176"/>
          <p:cNvGrpSpPr/>
          <p:nvPr/>
        </p:nvGrpSpPr>
        <p:grpSpPr>
          <a:xfrm>
            <a:off x="152977" y="1229780"/>
            <a:ext cx="2115027" cy="236513"/>
            <a:chOff x="920300" y="3392022"/>
            <a:chExt cx="900100" cy="236513"/>
          </a:xfrm>
        </p:grpSpPr>
        <p:sp>
          <p:nvSpPr>
            <p:cNvPr id="178" name="한쪽 모서리가 둥근 사각형 177"/>
            <p:cNvSpPr/>
            <p:nvPr/>
          </p:nvSpPr>
          <p:spPr bwMode="auto">
            <a:xfrm flipH="1">
              <a:off x="920300" y="3392022"/>
              <a:ext cx="796099" cy="236513"/>
            </a:xfrm>
            <a:prstGeom prst="round1Rect">
              <a:avLst>
                <a:gd name="adj" fmla="val 31877"/>
              </a:avLst>
            </a:prstGeom>
            <a:solidFill>
              <a:srgbClr val="004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79" name="TextBox 53"/>
            <p:cNvSpPr txBox="1"/>
            <p:nvPr/>
          </p:nvSpPr>
          <p:spPr>
            <a:xfrm>
              <a:off x="1055245" y="3429000"/>
              <a:ext cx="765155" cy="19723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509544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10190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528632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2038176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547721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3057265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566810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4076354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lnSpc>
                  <a:spcPts val="800"/>
                </a:lnSpc>
              </a:pPr>
              <a:r>
                <a:rPr lang="en-US" altLang="ko-KR" dirty="0" smtClean="0">
                  <a:solidFill>
                    <a:srgbClr val="FFFFFF"/>
                  </a:solidFill>
                  <a:latin typeface="Rix모던고딕 B" pitchFamily="18" charset="-127"/>
                  <a:ea typeface="Rix모던고딕 B" pitchFamily="18" charset="-127"/>
                </a:rPr>
                <a:t>Basic Information</a:t>
              </a:r>
              <a:endParaRPr lang="ko-KR" altLang="en-US" dirty="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</p:grpSp>
      <p:graphicFrame>
        <p:nvGraphicFramePr>
          <p:cNvPr id="180" name="표 1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69653"/>
              </p:ext>
            </p:extLst>
          </p:nvPr>
        </p:nvGraphicFramePr>
        <p:xfrm>
          <a:off x="188322" y="1520788"/>
          <a:ext cx="9654668" cy="6371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30"/>
                <a:gridCol w="2088232"/>
                <a:gridCol w="648072"/>
                <a:gridCol w="1512168"/>
                <a:gridCol w="900100"/>
                <a:gridCol w="1476164"/>
                <a:gridCol w="720080"/>
                <a:gridCol w="1598322"/>
              </a:tblGrid>
              <a:tr h="31858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 H BL</a:t>
                      </a:r>
                      <a:r>
                        <a:rPr lang="en-US" altLang="ko-KR" sz="700" baseline="0" dirty="0" smtClean="0"/>
                        <a:t> NO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rgbClr val="000000"/>
                          </a:solidFill>
                        </a:rPr>
                        <a:t>JOB NO</a:t>
                      </a:r>
                      <a:endParaRPr lang="ko-KR" altLang="en-US" sz="700" dirty="0" smtClean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/>
                        <a:t>입력사원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/>
                        <a:t>거래처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</a:tr>
              <a:tr h="31858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/>
                        <a:t>청구번호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/>
                        <a:t>청구일자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/>
                        <a:t>개수</a:t>
                      </a:r>
                      <a:r>
                        <a:rPr lang="en-US" altLang="ko-KR" sz="700" dirty="0" smtClean="0"/>
                        <a:t>/G.WEIGHT/</a:t>
                      </a:r>
                    </a:p>
                    <a:p>
                      <a:pPr latinLnBrk="1"/>
                      <a:r>
                        <a:rPr lang="en-US" altLang="ko-KR" sz="700" dirty="0" smtClean="0"/>
                        <a:t>C.WEIGHT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/>
                        <a:t>컨테이너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86" name="직사각형 185"/>
          <p:cNvSpPr/>
          <p:nvPr/>
        </p:nvSpPr>
        <p:spPr bwMode="auto">
          <a:xfrm>
            <a:off x="6118786" y="1606672"/>
            <a:ext cx="865742" cy="16557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FFFFFF">
                    <a:lumMod val="50000"/>
                  </a:srgbClr>
                </a:solidFill>
              </a:rPr>
              <a:t>홍길동 과장</a:t>
            </a: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32" name="직사각형 231"/>
          <p:cNvSpPr/>
          <p:nvPr/>
        </p:nvSpPr>
        <p:spPr bwMode="auto">
          <a:xfrm>
            <a:off x="3368643" y="5819358"/>
            <a:ext cx="494098" cy="15983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USD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3" name="직사각형 232"/>
          <p:cNvSpPr/>
          <p:nvPr/>
        </p:nvSpPr>
        <p:spPr bwMode="auto">
          <a:xfrm>
            <a:off x="6580759" y="5826437"/>
            <a:ext cx="494098" cy="15983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KRW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50" name="직사각형 249"/>
          <p:cNvSpPr/>
          <p:nvPr/>
        </p:nvSpPr>
        <p:spPr bwMode="auto">
          <a:xfrm>
            <a:off x="6281382" y="1192239"/>
            <a:ext cx="69659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FFFFFF"/>
                </a:solidFill>
              </a:rPr>
              <a:t>청구확정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172" name="직사각형 171"/>
          <p:cNvSpPr/>
          <p:nvPr/>
        </p:nvSpPr>
        <p:spPr>
          <a:xfrm>
            <a:off x="10468880" y="665159"/>
            <a:ext cx="3603497" cy="171454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700" b="1" dirty="0" smtClean="0">
                <a:solidFill>
                  <a:srgbClr val="000000"/>
                </a:solidFill>
              </a:rPr>
              <a:t>통관정산 </a:t>
            </a:r>
            <a:r>
              <a:rPr lang="ko-KR" altLang="en-US" sz="700" b="1" dirty="0" err="1" smtClean="0">
                <a:solidFill>
                  <a:srgbClr val="000000"/>
                </a:solidFill>
              </a:rPr>
              <a:t>메인화면</a:t>
            </a:r>
            <a:r>
              <a:rPr lang="ko-KR" altLang="en-US" sz="700" b="1" smtClean="0">
                <a:solidFill>
                  <a:srgbClr val="000000"/>
                </a:solidFill>
              </a:rPr>
              <a:t> 정산화주 거래처 코드 항목 참조</a:t>
            </a:r>
            <a:endParaRPr lang="ko-KR" altLang="en-US" sz="700" dirty="0">
              <a:solidFill>
                <a:srgbClr val="FF0000"/>
              </a:solidFill>
            </a:endParaRPr>
          </a:p>
        </p:txBody>
      </p:sp>
      <p:sp>
        <p:nvSpPr>
          <p:cNvPr id="174" name="타원 173"/>
          <p:cNvSpPr/>
          <p:nvPr/>
        </p:nvSpPr>
        <p:spPr>
          <a:xfrm>
            <a:off x="10152880" y="8620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1-3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60" name="직사각형 259"/>
          <p:cNvSpPr/>
          <p:nvPr/>
        </p:nvSpPr>
        <p:spPr>
          <a:xfrm>
            <a:off x="-2881941" y="1409264"/>
            <a:ext cx="2737678" cy="241662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700" b="1" dirty="0" smtClean="0">
                <a:solidFill>
                  <a:srgbClr val="000000"/>
                </a:solidFill>
              </a:rPr>
              <a:t>환율 등록 메뉴 호출</a:t>
            </a:r>
            <a:endParaRPr lang="en-US" altLang="ko-KR" sz="700" b="1" dirty="0">
              <a:solidFill>
                <a:srgbClr val="000000"/>
              </a:solidFill>
            </a:endParaRPr>
          </a:p>
        </p:txBody>
      </p:sp>
      <p:sp>
        <p:nvSpPr>
          <p:cNvPr id="261" name="타원 260"/>
          <p:cNvSpPr/>
          <p:nvPr/>
        </p:nvSpPr>
        <p:spPr>
          <a:xfrm>
            <a:off x="-3204604" y="1160748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1-2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62" name="타원 261"/>
          <p:cNvSpPr/>
          <p:nvPr/>
        </p:nvSpPr>
        <p:spPr>
          <a:xfrm>
            <a:off x="10330" y="239605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1-2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66" name="직사각형 265"/>
          <p:cNvSpPr/>
          <p:nvPr/>
        </p:nvSpPr>
        <p:spPr>
          <a:xfrm>
            <a:off x="-2881941" y="3206341"/>
            <a:ext cx="2737678" cy="1292628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rgbClr val="0000FF"/>
                </a:solidFill>
              </a:rPr>
              <a:t>HOUSE BL   </a:t>
            </a:r>
            <a:r>
              <a:rPr lang="ko-KR" altLang="en-US" sz="700" dirty="0" smtClean="0">
                <a:solidFill>
                  <a:srgbClr val="0000FF"/>
                </a:solidFill>
              </a:rPr>
              <a:t>청구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입력시</a:t>
            </a:r>
            <a:r>
              <a:rPr lang="en-US" altLang="ko-KR" sz="700" dirty="0" smtClean="0">
                <a:solidFill>
                  <a:srgbClr val="0000FF"/>
                </a:solidFill>
              </a:rPr>
              <a:t> </a:t>
            </a:r>
            <a:r>
              <a:rPr lang="ko-KR" altLang="en-US" sz="700" dirty="0">
                <a:solidFill>
                  <a:srgbClr val="0000FF"/>
                </a:solidFill>
              </a:rPr>
              <a:t>입력항목 </a:t>
            </a:r>
            <a:r>
              <a:rPr lang="en-US" altLang="ko-KR" sz="700" dirty="0">
                <a:solidFill>
                  <a:srgbClr val="0000FF"/>
                </a:solidFill>
              </a:rPr>
              <a:t> </a:t>
            </a:r>
          </a:p>
          <a:p>
            <a:r>
              <a:rPr lang="ko-KR" altLang="en-US" sz="700" dirty="0" smtClean="0">
                <a:solidFill>
                  <a:srgbClr val="0000FF"/>
                </a:solidFill>
              </a:rPr>
              <a:t>조건 </a:t>
            </a:r>
            <a:r>
              <a:rPr lang="en-US" altLang="ko-KR" sz="700" dirty="0" smtClean="0">
                <a:solidFill>
                  <a:srgbClr val="0000FF"/>
                </a:solidFill>
              </a:rPr>
              <a:t>1 </a:t>
            </a:r>
            <a:r>
              <a:rPr lang="ko-KR" altLang="en-US" sz="700" dirty="0" smtClean="0">
                <a:solidFill>
                  <a:srgbClr val="0000FF"/>
                </a:solidFill>
              </a:rPr>
              <a:t>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신규입력시</a:t>
            </a:r>
            <a:r>
              <a:rPr lang="ko-KR" altLang="en-US" sz="700" dirty="0" smtClean="0">
                <a:solidFill>
                  <a:srgbClr val="0000FF"/>
                </a:solidFill>
              </a:rPr>
              <a:t>  </a:t>
            </a:r>
            <a:r>
              <a:rPr lang="ko-KR" altLang="en-US" sz="700" dirty="0">
                <a:solidFill>
                  <a:srgbClr val="0000FF"/>
                </a:solidFill>
              </a:rPr>
              <a:t>입력 공백처리 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ko-KR" altLang="en-US" sz="700" dirty="0" smtClean="0">
                <a:solidFill>
                  <a:srgbClr val="0000FF"/>
                </a:solidFill>
              </a:rPr>
              <a:t>사용자 입력 </a:t>
            </a:r>
            <a:r>
              <a:rPr lang="en-US" altLang="ko-KR" sz="700" dirty="0" smtClean="0">
                <a:solidFill>
                  <a:srgbClr val="0000FF"/>
                </a:solidFill>
              </a:rPr>
              <a:t>1 : </a:t>
            </a:r>
          </a:p>
          <a:p>
            <a:r>
              <a:rPr lang="ko-KR" altLang="en-US" sz="700" dirty="0" smtClean="0">
                <a:solidFill>
                  <a:srgbClr val="0000FF"/>
                </a:solidFill>
              </a:rPr>
              <a:t>사용자 </a:t>
            </a:r>
            <a:r>
              <a:rPr lang="en-US" altLang="ko-KR" sz="700" dirty="0" smtClean="0">
                <a:solidFill>
                  <a:srgbClr val="0000FF"/>
                </a:solidFill>
              </a:rPr>
              <a:t>Ex-Rate </a:t>
            </a:r>
            <a:r>
              <a:rPr lang="ko-KR" altLang="en-US" sz="700" dirty="0" smtClean="0">
                <a:solidFill>
                  <a:srgbClr val="0000FF"/>
                </a:solidFill>
              </a:rPr>
              <a:t>기능 클릭 후 환율 선택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완료후</a:t>
            </a:r>
            <a:r>
              <a:rPr lang="ko-KR" altLang="en-US" sz="700" dirty="0" smtClean="0">
                <a:solidFill>
                  <a:srgbClr val="0000FF"/>
                </a:solidFill>
              </a:rPr>
              <a:t> 입력 포커스는 </a:t>
            </a:r>
            <a:r>
              <a:rPr lang="en-US" altLang="ko-KR" sz="700" dirty="0" smtClean="0">
                <a:solidFill>
                  <a:srgbClr val="0000FF"/>
                </a:solidFill>
              </a:rPr>
              <a:t>Customer Account  </a:t>
            </a:r>
            <a:r>
              <a:rPr lang="ko-KR" altLang="en-US" sz="700" dirty="0" smtClean="0">
                <a:solidFill>
                  <a:srgbClr val="0000FF"/>
                </a:solidFill>
              </a:rPr>
              <a:t>코드 입력 항목에 위치</a:t>
            </a:r>
            <a:r>
              <a:rPr lang="en-US" altLang="ko-KR" sz="700" dirty="0" smtClean="0">
                <a:solidFill>
                  <a:srgbClr val="0000FF"/>
                </a:solidFill>
              </a:rPr>
              <a:t>, </a:t>
            </a:r>
          </a:p>
          <a:p>
            <a:r>
              <a:rPr lang="ko-KR" altLang="en-US" sz="700" dirty="0" smtClean="0">
                <a:solidFill>
                  <a:srgbClr val="0000FF"/>
                </a:solidFill>
              </a:rPr>
              <a:t>사용자가 화주코드 미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입력시</a:t>
            </a:r>
            <a:r>
              <a:rPr lang="ko-KR" altLang="en-US" sz="700" dirty="0" smtClean="0">
                <a:solidFill>
                  <a:srgbClr val="0000FF"/>
                </a:solidFill>
              </a:rPr>
              <a:t> 화주 입력 메시지  출력 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ko-KR" altLang="en-US" sz="700" dirty="0" smtClean="0">
                <a:solidFill>
                  <a:srgbClr val="0000FF"/>
                </a:solidFill>
              </a:rPr>
              <a:t>사용자 입력 </a:t>
            </a:r>
            <a:r>
              <a:rPr lang="en-US" altLang="ko-KR" sz="700" dirty="0" smtClean="0">
                <a:solidFill>
                  <a:srgbClr val="0000FF"/>
                </a:solidFill>
              </a:rPr>
              <a:t>2 </a:t>
            </a:r>
          </a:p>
          <a:p>
            <a:r>
              <a:rPr lang="ko-KR" altLang="en-US" sz="700" dirty="0" smtClean="0">
                <a:solidFill>
                  <a:srgbClr val="0000FF"/>
                </a:solidFill>
              </a:rPr>
              <a:t>사용자 환율일자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부터</a:t>
            </a:r>
            <a:r>
              <a:rPr lang="ko-KR" altLang="en-US" sz="700" dirty="0" smtClean="0">
                <a:solidFill>
                  <a:srgbClr val="0000FF"/>
                </a:solidFill>
              </a:rPr>
              <a:t> 입력항목을 수기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입력시</a:t>
            </a:r>
            <a:r>
              <a:rPr lang="ko-KR" altLang="en-US" sz="700" dirty="0" smtClean="0">
                <a:solidFill>
                  <a:srgbClr val="0000FF"/>
                </a:solidFill>
              </a:rPr>
              <a:t> </a:t>
            </a:r>
            <a:r>
              <a:rPr lang="en-US" altLang="ko-KR" sz="700" dirty="0" smtClean="0">
                <a:solidFill>
                  <a:srgbClr val="0000FF"/>
                </a:solidFill>
              </a:rPr>
              <a:t>CUR, Ex-RATE, USD </a:t>
            </a:r>
            <a:r>
              <a:rPr lang="ko-KR" altLang="en-US" sz="700" dirty="0" smtClean="0">
                <a:solidFill>
                  <a:srgbClr val="0000FF"/>
                </a:solidFill>
              </a:rPr>
              <a:t>항목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입력후</a:t>
            </a:r>
            <a:r>
              <a:rPr lang="ko-KR" altLang="en-US" sz="700" dirty="0" smtClean="0">
                <a:solidFill>
                  <a:srgbClr val="0000FF"/>
                </a:solidFill>
              </a:rPr>
              <a:t>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엔터키로</a:t>
            </a:r>
            <a:r>
              <a:rPr lang="ko-KR" altLang="en-US" sz="700" dirty="0" smtClean="0">
                <a:solidFill>
                  <a:srgbClr val="0000FF"/>
                </a:solidFill>
              </a:rPr>
              <a:t>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이동시</a:t>
            </a:r>
            <a:r>
              <a:rPr lang="ko-KR" altLang="en-US" sz="700" dirty="0" smtClean="0">
                <a:solidFill>
                  <a:srgbClr val="0000FF"/>
                </a:solidFill>
              </a:rPr>
              <a:t> </a:t>
            </a:r>
            <a:r>
              <a:rPr lang="en-US" altLang="ko-KR" sz="700" dirty="0" smtClean="0">
                <a:solidFill>
                  <a:srgbClr val="0000FF"/>
                </a:solidFill>
              </a:rPr>
              <a:t> </a:t>
            </a:r>
            <a:r>
              <a:rPr lang="en-US" altLang="ko-KR" sz="700" dirty="0">
                <a:solidFill>
                  <a:srgbClr val="0000FF"/>
                </a:solidFill>
              </a:rPr>
              <a:t>Customer Account  </a:t>
            </a:r>
            <a:r>
              <a:rPr lang="ko-KR" altLang="en-US" sz="700" dirty="0">
                <a:solidFill>
                  <a:srgbClr val="0000FF"/>
                </a:solidFill>
              </a:rPr>
              <a:t>코드 입력 항목에 </a:t>
            </a:r>
            <a:r>
              <a:rPr lang="ko-KR" altLang="en-US" sz="700" dirty="0" smtClean="0">
                <a:solidFill>
                  <a:srgbClr val="0000FF"/>
                </a:solidFill>
              </a:rPr>
              <a:t>위치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ko-KR" altLang="en-US" sz="700" dirty="0">
                <a:solidFill>
                  <a:srgbClr val="0000FF"/>
                </a:solidFill>
              </a:rPr>
              <a:t>사용자가 화주코드 미 </a:t>
            </a:r>
            <a:r>
              <a:rPr lang="ko-KR" altLang="en-US" sz="700" dirty="0" err="1">
                <a:solidFill>
                  <a:srgbClr val="0000FF"/>
                </a:solidFill>
              </a:rPr>
              <a:t>입력시</a:t>
            </a:r>
            <a:r>
              <a:rPr lang="ko-KR" altLang="en-US" sz="700" dirty="0">
                <a:solidFill>
                  <a:srgbClr val="0000FF"/>
                </a:solidFill>
              </a:rPr>
              <a:t> 화주 입력 메시지  출력 처리</a:t>
            </a:r>
            <a:endParaRPr lang="en-US" altLang="ko-KR" sz="700" dirty="0">
              <a:solidFill>
                <a:srgbClr val="0000FF"/>
              </a:solidFill>
            </a:endParaRPr>
          </a:p>
          <a:p>
            <a:endParaRPr lang="en-US" altLang="ko-KR" sz="700" dirty="0">
              <a:solidFill>
                <a:srgbClr val="0000FF"/>
              </a:solidFill>
            </a:endParaRPr>
          </a:p>
          <a:p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ko-KR" altLang="en-US" sz="700" b="1" dirty="0" err="1">
                <a:solidFill>
                  <a:srgbClr val="FF0000"/>
                </a:solidFill>
              </a:rPr>
              <a:t>운임그리드</a:t>
            </a:r>
            <a:r>
              <a:rPr lang="ko-KR" altLang="en-US" sz="700" b="1" dirty="0">
                <a:solidFill>
                  <a:srgbClr val="FF0000"/>
                </a:solidFill>
              </a:rPr>
              <a:t>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입력항목중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Account Code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항목 공백 또는  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Customer </a:t>
            </a:r>
            <a:r>
              <a:rPr lang="en-US" altLang="ko-KR" sz="700" b="1" dirty="0">
                <a:solidFill>
                  <a:srgbClr val="FF0000"/>
                </a:solidFill>
              </a:rPr>
              <a:t>Account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공백시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BL(BL)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저장시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입력요망 </a:t>
            </a:r>
            <a:r>
              <a:rPr lang="ko-KR" altLang="en-US" sz="700" b="1" dirty="0">
                <a:solidFill>
                  <a:srgbClr val="FF0000"/>
                </a:solidFill>
              </a:rPr>
              <a:t>메시지 처리 </a:t>
            </a:r>
            <a:r>
              <a:rPr lang="en-US" altLang="ko-KR" sz="700" b="1" dirty="0">
                <a:solidFill>
                  <a:srgbClr val="FF0000"/>
                </a:solidFill>
              </a:rPr>
              <a:t>(</a:t>
            </a:r>
            <a:r>
              <a:rPr lang="ko-KR" altLang="en-US" sz="700" b="1" dirty="0">
                <a:solidFill>
                  <a:srgbClr val="FF0000"/>
                </a:solidFill>
              </a:rPr>
              <a:t>저장불가</a:t>
            </a:r>
            <a:r>
              <a:rPr lang="en-US" altLang="ko-KR" sz="7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67" name="타원 266"/>
          <p:cNvSpPr/>
          <p:nvPr/>
        </p:nvSpPr>
        <p:spPr>
          <a:xfrm>
            <a:off x="-3240608" y="3320988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1-5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68" name="타원 267"/>
          <p:cNvSpPr/>
          <p:nvPr/>
        </p:nvSpPr>
        <p:spPr>
          <a:xfrm>
            <a:off x="-3211234" y="1780620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1-3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70" name="직사각형 269"/>
          <p:cNvSpPr/>
          <p:nvPr/>
        </p:nvSpPr>
        <p:spPr bwMode="auto">
          <a:xfrm>
            <a:off x="2865111" y="2585049"/>
            <a:ext cx="784108" cy="16157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화폐코드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74" name="직사각형 273"/>
          <p:cNvSpPr/>
          <p:nvPr/>
        </p:nvSpPr>
        <p:spPr bwMode="auto">
          <a:xfrm>
            <a:off x="4718372" y="2583132"/>
            <a:ext cx="784108" cy="16157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금</a:t>
            </a:r>
            <a:r>
              <a:rPr lang="ko-KR" altLang="en-US" dirty="0">
                <a:solidFill>
                  <a:srgbClr val="000000"/>
                </a:solidFill>
              </a:rPr>
              <a:t>액</a:t>
            </a:r>
          </a:p>
        </p:txBody>
      </p:sp>
      <p:sp>
        <p:nvSpPr>
          <p:cNvPr id="275" name="직사각형 274"/>
          <p:cNvSpPr/>
          <p:nvPr/>
        </p:nvSpPr>
        <p:spPr bwMode="auto">
          <a:xfrm>
            <a:off x="6205856" y="2590542"/>
            <a:ext cx="784108" cy="16157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금액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79" name="직사각형 278"/>
          <p:cNvSpPr/>
          <p:nvPr/>
        </p:nvSpPr>
        <p:spPr bwMode="auto">
          <a:xfrm>
            <a:off x="8321006" y="1597495"/>
            <a:ext cx="1463028" cy="17471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FFFFFF">
                    <a:lumMod val="50000"/>
                  </a:srgbClr>
                </a:solidFill>
              </a:rPr>
              <a:t>HANSUNG CORP.</a:t>
            </a: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80" name="직사각형 279"/>
          <p:cNvSpPr/>
          <p:nvPr/>
        </p:nvSpPr>
        <p:spPr bwMode="auto">
          <a:xfrm>
            <a:off x="6076553" y="1892461"/>
            <a:ext cx="1412031" cy="16676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ko-KR" sz="700" dirty="0" smtClean="0">
                <a:solidFill>
                  <a:srgbClr val="FFFFFF">
                    <a:lumMod val="50000"/>
                  </a:srgbClr>
                </a:solidFill>
              </a:rPr>
              <a:t>10 GT  / 13.00 KG/15.KKG</a:t>
            </a:r>
            <a:endParaRPr lang="ko-KR" altLang="en-US" sz="7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88" name="제목 21"/>
          <p:cNvSpPr txBox="1">
            <a:spLocks/>
          </p:cNvSpPr>
          <p:nvPr/>
        </p:nvSpPr>
        <p:spPr>
          <a:xfrm>
            <a:off x="1027167" y="261213"/>
            <a:ext cx="2060048" cy="251463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1000" dirty="0">
                <a:solidFill>
                  <a:srgbClr val="000000"/>
                </a:solidFill>
              </a:rPr>
              <a:t>입력</a:t>
            </a:r>
            <a:r>
              <a:rPr lang="en-US" altLang="ko-KR" sz="1000" dirty="0">
                <a:solidFill>
                  <a:srgbClr val="000000"/>
                </a:solidFill>
              </a:rPr>
              <a:t>/</a:t>
            </a:r>
            <a:r>
              <a:rPr lang="ko-KR" altLang="en-US" sz="1000" dirty="0">
                <a:solidFill>
                  <a:srgbClr val="000000"/>
                </a:solidFill>
              </a:rPr>
              <a:t>조회</a:t>
            </a:r>
            <a:r>
              <a:rPr lang="en-US" altLang="ko-KR" sz="1000" dirty="0">
                <a:solidFill>
                  <a:srgbClr val="000000"/>
                </a:solidFill>
              </a:rPr>
              <a:t>/</a:t>
            </a:r>
            <a:r>
              <a:rPr lang="ko-KR" altLang="en-US" sz="1000" dirty="0">
                <a:solidFill>
                  <a:srgbClr val="000000"/>
                </a:solidFill>
              </a:rPr>
              <a:t>삭제</a:t>
            </a:r>
            <a:r>
              <a:rPr lang="en-US" altLang="ko-KR" sz="1000" dirty="0">
                <a:solidFill>
                  <a:srgbClr val="000000"/>
                </a:solidFill>
              </a:rPr>
              <a:t>/</a:t>
            </a:r>
            <a:r>
              <a:rPr lang="ko-KR" altLang="en-US" sz="1000" dirty="0">
                <a:solidFill>
                  <a:srgbClr val="000000"/>
                </a:solidFill>
              </a:rPr>
              <a:t>수정</a:t>
            </a:r>
            <a:endParaRPr lang="ko-KR" altLang="en-US" sz="1000" kern="0" dirty="0">
              <a:solidFill>
                <a:srgbClr val="000000"/>
              </a:solidFill>
            </a:endParaRPr>
          </a:p>
        </p:txBody>
      </p:sp>
      <p:sp>
        <p:nvSpPr>
          <p:cNvPr id="191" name="직사각형 190"/>
          <p:cNvSpPr/>
          <p:nvPr/>
        </p:nvSpPr>
        <p:spPr bwMode="auto">
          <a:xfrm>
            <a:off x="9078220" y="1192239"/>
            <a:ext cx="765864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FFFFFF"/>
                </a:solidFill>
              </a:rPr>
              <a:t>입금처리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192" name="직사각형 191"/>
          <p:cNvSpPr/>
          <p:nvPr/>
        </p:nvSpPr>
        <p:spPr bwMode="auto">
          <a:xfrm>
            <a:off x="3763185" y="1605921"/>
            <a:ext cx="1315085" cy="166895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800" dirty="0" smtClean="0">
                <a:solidFill>
                  <a:srgbClr val="FFFFFF">
                    <a:lumMod val="50000"/>
                  </a:srgbClr>
                </a:solidFill>
              </a:rPr>
              <a:t>JOB070626001201900</a:t>
            </a:r>
            <a:endParaRPr lang="ko-KR" altLang="en-US" sz="8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93" name="직사각형 192"/>
          <p:cNvSpPr/>
          <p:nvPr/>
        </p:nvSpPr>
        <p:spPr bwMode="auto">
          <a:xfrm>
            <a:off x="3769910" y="1920913"/>
            <a:ext cx="878943" cy="17052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2017-06-19</a:t>
            </a:r>
            <a:endParaRPr lang="ko-KR" altLang="en-US" dirty="0">
              <a:solidFill>
                <a:srgbClr val="000000"/>
              </a:solidFill>
            </a:endParaRPr>
          </a:p>
        </p:txBody>
      </p:sp>
      <p:pic>
        <p:nvPicPr>
          <p:cNvPr id="197" name="Picture 12"/>
          <p:cNvPicPr>
            <a:picLocks noChangeAspect="1" noChangeArrowheads="1"/>
          </p:cNvPicPr>
          <p:nvPr/>
        </p:nvPicPr>
        <p:blipFill>
          <a:blip r:embed="rId7" cstate="print"/>
          <a:srcRect l="75599"/>
          <a:stretch>
            <a:fillRect/>
          </a:stretch>
        </p:blipFill>
        <p:spPr bwMode="auto">
          <a:xfrm>
            <a:off x="4658567" y="1908621"/>
            <a:ext cx="317357" cy="18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4" name="직사각형 163"/>
          <p:cNvSpPr/>
          <p:nvPr/>
        </p:nvSpPr>
        <p:spPr bwMode="auto">
          <a:xfrm>
            <a:off x="8337198" y="1892461"/>
            <a:ext cx="1436717" cy="19897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700" dirty="0" smtClean="0">
                <a:solidFill>
                  <a:srgbClr val="FFFFFF">
                    <a:lumMod val="50000"/>
                  </a:srgbClr>
                </a:solidFill>
              </a:rPr>
              <a:t>20 : </a:t>
            </a:r>
            <a:r>
              <a:rPr lang="ko-KR" altLang="en-US" sz="700" dirty="0" smtClean="0">
                <a:solidFill>
                  <a:srgbClr val="FFFFFF">
                    <a:lumMod val="50000"/>
                  </a:srgbClr>
                </a:solidFill>
              </a:rPr>
              <a:t>숫자 </a:t>
            </a:r>
            <a:r>
              <a:rPr lang="en-US" altLang="ko-KR" sz="700" dirty="0" smtClean="0">
                <a:solidFill>
                  <a:srgbClr val="FFFFFF">
                    <a:lumMod val="50000"/>
                  </a:srgbClr>
                </a:solidFill>
              </a:rPr>
              <a:t>/ 40 : </a:t>
            </a:r>
            <a:r>
              <a:rPr lang="ko-KR" altLang="en-US" sz="700" dirty="0" smtClean="0">
                <a:solidFill>
                  <a:srgbClr val="FFFFFF">
                    <a:lumMod val="50000"/>
                  </a:srgbClr>
                </a:solidFill>
              </a:rPr>
              <a:t>숫자</a:t>
            </a:r>
            <a:endParaRPr lang="ko-KR" altLang="en-US" sz="7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73" name="직사각형 172"/>
          <p:cNvSpPr/>
          <p:nvPr/>
        </p:nvSpPr>
        <p:spPr>
          <a:xfrm>
            <a:off x="1780296" y="1549200"/>
            <a:ext cx="1191440" cy="242633"/>
          </a:xfrm>
          <a:prstGeom prst="rect">
            <a:avLst/>
          </a:prstGeom>
          <a:solidFill>
            <a:schemeClr val="bg1"/>
          </a:solidFill>
          <a:ln w="31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 smtClean="0">
                <a:solidFill>
                  <a:srgbClr val="0000FF"/>
                </a:solidFill>
              </a:rPr>
              <a:t>비활성</a:t>
            </a:r>
            <a:r>
              <a:rPr lang="en-US" altLang="ko-KR" sz="700" dirty="0" smtClean="0">
                <a:solidFill>
                  <a:srgbClr val="0000FF"/>
                </a:solidFill>
              </a:rPr>
              <a:t>(</a:t>
            </a:r>
            <a:r>
              <a:rPr lang="ko-KR" altLang="en-US" sz="700" dirty="0" smtClean="0">
                <a:solidFill>
                  <a:srgbClr val="0000FF"/>
                </a:solidFill>
              </a:rPr>
              <a:t>입력불가능</a:t>
            </a:r>
            <a:r>
              <a:rPr lang="en-US" altLang="ko-KR" sz="700" dirty="0" smtClean="0">
                <a:solidFill>
                  <a:srgbClr val="0000FF"/>
                </a:solidFill>
              </a:rPr>
              <a:t>) </a:t>
            </a:r>
            <a:r>
              <a:rPr lang="ko-KR" altLang="en-US" sz="700" dirty="0" smtClean="0">
                <a:solidFill>
                  <a:srgbClr val="0000FF"/>
                </a:solidFill>
              </a:rPr>
              <a:t>처리</a:t>
            </a:r>
          </a:p>
        </p:txBody>
      </p:sp>
      <p:sp>
        <p:nvSpPr>
          <p:cNvPr id="194" name="직사각형 193"/>
          <p:cNvSpPr/>
          <p:nvPr/>
        </p:nvSpPr>
        <p:spPr>
          <a:xfrm>
            <a:off x="3751121" y="1350568"/>
            <a:ext cx="1191440" cy="242633"/>
          </a:xfrm>
          <a:prstGeom prst="rect">
            <a:avLst/>
          </a:prstGeom>
          <a:solidFill>
            <a:schemeClr val="bg1"/>
          </a:solidFill>
          <a:ln w="31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 smtClean="0">
                <a:solidFill>
                  <a:srgbClr val="0000FF"/>
                </a:solidFill>
              </a:rPr>
              <a:t>비활성</a:t>
            </a:r>
            <a:r>
              <a:rPr lang="en-US" altLang="ko-KR" sz="700" dirty="0" smtClean="0">
                <a:solidFill>
                  <a:srgbClr val="0000FF"/>
                </a:solidFill>
              </a:rPr>
              <a:t>(</a:t>
            </a:r>
            <a:r>
              <a:rPr lang="ko-KR" altLang="en-US" sz="700" dirty="0" smtClean="0">
                <a:solidFill>
                  <a:srgbClr val="0000FF"/>
                </a:solidFill>
              </a:rPr>
              <a:t>입력불가능</a:t>
            </a:r>
            <a:r>
              <a:rPr lang="en-US" altLang="ko-KR" sz="700" dirty="0" smtClean="0">
                <a:solidFill>
                  <a:srgbClr val="0000FF"/>
                </a:solidFill>
              </a:rPr>
              <a:t>) </a:t>
            </a:r>
            <a:r>
              <a:rPr lang="ko-KR" altLang="en-US" sz="700" dirty="0" smtClean="0">
                <a:solidFill>
                  <a:srgbClr val="0000FF"/>
                </a:solidFill>
              </a:rPr>
              <a:t>처리</a:t>
            </a:r>
          </a:p>
        </p:txBody>
      </p:sp>
      <p:sp>
        <p:nvSpPr>
          <p:cNvPr id="199" name="직사각형 198"/>
          <p:cNvSpPr/>
          <p:nvPr/>
        </p:nvSpPr>
        <p:spPr>
          <a:xfrm>
            <a:off x="5158886" y="1498762"/>
            <a:ext cx="4771146" cy="638459"/>
          </a:xfrm>
          <a:prstGeom prst="rect">
            <a:avLst/>
          </a:prstGeom>
          <a:noFill/>
          <a:ln w="254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pic>
        <p:nvPicPr>
          <p:cNvPr id="201" name="그림 200"/>
          <p:cNvPicPr/>
          <p:nvPr/>
        </p:nvPicPr>
        <p:blipFill rotWithShape="1">
          <a:blip r:embed="rId6"/>
          <a:srcRect l="14590" t="44075" r="83163" b="41796"/>
          <a:stretch/>
        </p:blipFill>
        <p:spPr>
          <a:xfrm>
            <a:off x="4996559" y="2888940"/>
            <a:ext cx="183787" cy="20166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2" name="직사각형 201"/>
          <p:cNvSpPr/>
          <p:nvPr/>
        </p:nvSpPr>
        <p:spPr bwMode="auto">
          <a:xfrm>
            <a:off x="8674210" y="2920517"/>
            <a:ext cx="1002408" cy="16557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FFFFFF">
                    <a:lumMod val="50000"/>
                  </a:srgbClr>
                </a:solidFill>
              </a:rPr>
              <a:t>+82-2-368-97</a:t>
            </a: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5340758" y="3084200"/>
            <a:ext cx="2271317" cy="435027"/>
          </a:xfrm>
          <a:prstGeom prst="rect">
            <a:avLst/>
          </a:prstGeom>
          <a:solidFill>
            <a:schemeClr val="bg1"/>
          </a:solidFill>
          <a:ln w="31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rgbClr val="0000FF"/>
                </a:solidFill>
              </a:rPr>
              <a:t>Customer Account </a:t>
            </a:r>
            <a:r>
              <a:rPr lang="ko-KR" altLang="en-US" sz="700" dirty="0" smtClean="0">
                <a:solidFill>
                  <a:srgbClr val="0000FF"/>
                </a:solidFill>
              </a:rPr>
              <a:t>코드에 설정된 기본 담당자 항목이 화면에 표시되며</a:t>
            </a:r>
            <a:r>
              <a:rPr lang="en-US" altLang="ko-KR" sz="700" dirty="0" smtClean="0">
                <a:solidFill>
                  <a:srgbClr val="0000FF"/>
                </a:solidFill>
              </a:rPr>
              <a:t>, </a:t>
            </a:r>
            <a:r>
              <a:rPr lang="ko-KR" altLang="en-US" sz="700" dirty="0" smtClean="0">
                <a:solidFill>
                  <a:srgbClr val="0000FF"/>
                </a:solidFill>
              </a:rPr>
              <a:t>검색 버튼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클릭시</a:t>
            </a:r>
            <a:r>
              <a:rPr lang="ko-KR" altLang="en-US" sz="700" dirty="0" smtClean="0">
                <a:solidFill>
                  <a:srgbClr val="0000FF"/>
                </a:solidFill>
              </a:rPr>
              <a:t> 등록되어있는 담당자 목록을 화면에 표시 처리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sp>
        <p:nvSpPr>
          <p:cNvPr id="264" name="직사각형 263"/>
          <p:cNvSpPr/>
          <p:nvPr/>
        </p:nvSpPr>
        <p:spPr>
          <a:xfrm>
            <a:off x="10468880" y="8620"/>
            <a:ext cx="3603497" cy="606752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700" b="1" dirty="0" err="1" smtClean="0">
                <a:solidFill>
                  <a:srgbClr val="000000"/>
                </a:solidFill>
              </a:rPr>
              <a:t>그리드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 목록 화면 설명</a:t>
            </a:r>
            <a:endParaRPr lang="en-US" altLang="ko-KR" sz="700" b="1" dirty="0" smtClean="0">
              <a:solidFill>
                <a:srgbClr val="000000"/>
              </a:solidFill>
            </a:endParaRPr>
          </a:p>
          <a:p>
            <a:r>
              <a:rPr lang="ko-KR" altLang="en-US" sz="700" b="1" dirty="0" smtClean="0">
                <a:solidFill>
                  <a:srgbClr val="FF0000"/>
                </a:solidFill>
              </a:rPr>
              <a:t>추가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: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그리드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추가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입력된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그리드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기준으로 다음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그리드로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생성</a:t>
            </a:r>
            <a:endParaRPr lang="en-US" altLang="ko-KR" sz="700" b="1" dirty="0" smtClean="0">
              <a:solidFill>
                <a:srgbClr val="FF0000"/>
              </a:solidFill>
            </a:endParaRPr>
          </a:p>
          <a:p>
            <a:r>
              <a:rPr lang="ko-KR" altLang="en-US" sz="700" b="1" dirty="0" smtClean="0">
                <a:solidFill>
                  <a:srgbClr val="FF0000"/>
                </a:solidFill>
              </a:rPr>
              <a:t>삭제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: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선택된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그리드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삭제</a:t>
            </a:r>
            <a:endParaRPr lang="en-US" altLang="ko-KR" sz="700" b="1" dirty="0" smtClean="0">
              <a:solidFill>
                <a:srgbClr val="FF0000"/>
              </a:solidFill>
            </a:endParaRPr>
          </a:p>
          <a:p>
            <a:r>
              <a:rPr lang="ko-KR" altLang="en-US" sz="700" b="1" dirty="0" smtClean="0">
                <a:solidFill>
                  <a:srgbClr val="FF0000"/>
                </a:solidFill>
              </a:rPr>
              <a:t>전체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: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입력되어있는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그리드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목록을 전체 선택  및 해제</a:t>
            </a:r>
            <a:endParaRPr lang="en-US" altLang="ko-KR" sz="700" b="1" dirty="0">
              <a:solidFill>
                <a:srgbClr val="FF0000"/>
              </a:solidFill>
            </a:endParaRPr>
          </a:p>
        </p:txBody>
      </p:sp>
      <p:sp>
        <p:nvSpPr>
          <p:cNvPr id="265" name="타원 264"/>
          <p:cNvSpPr/>
          <p:nvPr/>
        </p:nvSpPr>
        <p:spPr>
          <a:xfrm>
            <a:off x="10146180" y="584684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1-6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76" name="타원 275"/>
          <p:cNvSpPr/>
          <p:nvPr/>
        </p:nvSpPr>
        <p:spPr>
          <a:xfrm>
            <a:off x="-3204604" y="232448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1-1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82" name="직사각형 281"/>
          <p:cNvSpPr/>
          <p:nvPr/>
        </p:nvSpPr>
        <p:spPr>
          <a:xfrm>
            <a:off x="-2872936" y="408545"/>
            <a:ext cx="2721193" cy="956829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700" b="1" dirty="0" smtClean="0">
                <a:solidFill>
                  <a:srgbClr val="000000"/>
                </a:solidFill>
              </a:rPr>
              <a:t>청구번호  </a:t>
            </a:r>
            <a:r>
              <a:rPr lang="ko-KR" altLang="en-US" sz="700" b="1" dirty="0" err="1" smtClean="0">
                <a:solidFill>
                  <a:srgbClr val="000000"/>
                </a:solidFill>
              </a:rPr>
              <a:t>콤보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 </a:t>
            </a:r>
            <a:r>
              <a:rPr lang="ko-KR" altLang="en-US" sz="700" b="1" dirty="0" err="1" smtClean="0">
                <a:solidFill>
                  <a:srgbClr val="000000"/>
                </a:solidFill>
              </a:rPr>
              <a:t>클릭시</a:t>
            </a:r>
            <a:endParaRPr lang="en-US" altLang="ko-KR" sz="700" b="1" dirty="0">
              <a:solidFill>
                <a:srgbClr val="000000"/>
              </a:solidFill>
            </a:endParaRPr>
          </a:p>
          <a:p>
            <a:r>
              <a:rPr lang="ko-KR" altLang="en-US" sz="700" b="1" dirty="0" smtClean="0">
                <a:solidFill>
                  <a:srgbClr val="000000"/>
                </a:solidFill>
              </a:rPr>
              <a:t>전체  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: 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미처리 및 청구확정 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 </a:t>
            </a:r>
            <a:endParaRPr lang="en-US" altLang="ko-KR" sz="700" b="1" dirty="0">
              <a:solidFill>
                <a:srgbClr val="000000"/>
              </a:solidFill>
            </a:endParaRPr>
          </a:p>
          <a:p>
            <a:r>
              <a:rPr lang="ko-KR" altLang="en-US" sz="700" b="1" dirty="0" smtClean="0">
                <a:solidFill>
                  <a:srgbClr val="000000"/>
                </a:solidFill>
              </a:rPr>
              <a:t>화면표시 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: 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전체</a:t>
            </a:r>
            <a:endParaRPr lang="en-US" altLang="ko-KR" sz="700" b="1" dirty="0" smtClean="0">
              <a:solidFill>
                <a:srgbClr val="000000"/>
              </a:solidFill>
            </a:endParaRPr>
          </a:p>
          <a:p>
            <a:r>
              <a:rPr lang="ko-KR" altLang="en-US" sz="700" b="1" dirty="0" smtClean="0">
                <a:solidFill>
                  <a:srgbClr val="000000"/>
                </a:solidFill>
              </a:rPr>
              <a:t>미처리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(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청구 </a:t>
            </a:r>
            <a:r>
              <a:rPr lang="ko-KR" altLang="en-US" sz="700" b="1" dirty="0" err="1" smtClean="0">
                <a:solidFill>
                  <a:srgbClr val="000000"/>
                </a:solidFill>
              </a:rPr>
              <a:t>미확정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) </a:t>
            </a:r>
          </a:p>
          <a:p>
            <a:r>
              <a:rPr lang="ko-KR" altLang="en-US" sz="700" b="1" dirty="0" smtClean="0">
                <a:solidFill>
                  <a:srgbClr val="000000"/>
                </a:solidFill>
              </a:rPr>
              <a:t>화면표시 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: 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미처리</a:t>
            </a:r>
            <a:endParaRPr lang="en-US" altLang="ko-KR" sz="700" b="1" dirty="0" smtClean="0">
              <a:solidFill>
                <a:srgbClr val="000000"/>
              </a:solidFill>
            </a:endParaRPr>
          </a:p>
          <a:p>
            <a:r>
              <a:rPr lang="ko-KR" altLang="en-US" sz="700" b="1" dirty="0" smtClean="0">
                <a:solidFill>
                  <a:srgbClr val="000000"/>
                </a:solidFill>
              </a:rPr>
              <a:t>청구번호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(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청구 확정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) </a:t>
            </a:r>
          </a:p>
          <a:p>
            <a:r>
              <a:rPr lang="ko-KR" altLang="en-US" sz="700" b="1" dirty="0" smtClean="0">
                <a:solidFill>
                  <a:srgbClr val="000000"/>
                </a:solidFill>
              </a:rPr>
              <a:t>화면표시 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: 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청구번호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(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시스템 규칙에 따라 청구확정 버튼 </a:t>
            </a:r>
            <a:r>
              <a:rPr lang="ko-KR" altLang="en-US" sz="700" b="1" dirty="0" err="1" smtClean="0">
                <a:solidFill>
                  <a:srgbClr val="000000"/>
                </a:solidFill>
              </a:rPr>
              <a:t>클릭시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 생성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)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  화면 표시 처리</a:t>
            </a:r>
            <a:endParaRPr lang="en-US" altLang="ko-KR" sz="700" b="1" dirty="0">
              <a:solidFill>
                <a:srgbClr val="000000"/>
              </a:solidFill>
            </a:endParaRPr>
          </a:p>
        </p:txBody>
      </p:sp>
      <p:sp>
        <p:nvSpPr>
          <p:cNvPr id="167" name="직사각형 166"/>
          <p:cNvSpPr/>
          <p:nvPr/>
        </p:nvSpPr>
        <p:spPr>
          <a:xfrm>
            <a:off x="8377799" y="2059224"/>
            <a:ext cx="1527650" cy="325660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 smtClean="0">
                <a:solidFill>
                  <a:srgbClr val="FF0066"/>
                </a:solidFill>
              </a:rPr>
              <a:t>컨테이너 개수 표시</a:t>
            </a:r>
            <a:r>
              <a:rPr lang="en-US" altLang="ko-KR" sz="700" dirty="0" smtClean="0">
                <a:solidFill>
                  <a:srgbClr val="FF0066"/>
                </a:solidFill>
              </a:rPr>
              <a:t>(</a:t>
            </a:r>
            <a:r>
              <a:rPr lang="ko-KR" altLang="en-US" sz="700" dirty="0" smtClean="0">
                <a:solidFill>
                  <a:srgbClr val="FF0066"/>
                </a:solidFill>
              </a:rPr>
              <a:t>비활성</a:t>
            </a:r>
            <a:r>
              <a:rPr lang="en-US" altLang="ko-KR" sz="700" dirty="0" smtClean="0">
                <a:solidFill>
                  <a:srgbClr val="FF0066"/>
                </a:solidFill>
              </a:rPr>
              <a:t>)</a:t>
            </a:r>
          </a:p>
          <a:p>
            <a:r>
              <a:rPr lang="ko-KR" altLang="en-US" sz="700" dirty="0" smtClean="0">
                <a:solidFill>
                  <a:srgbClr val="FF0066"/>
                </a:solidFill>
              </a:rPr>
              <a:t>컨테이너 유형이 </a:t>
            </a:r>
            <a:r>
              <a:rPr lang="en-US" altLang="ko-KR" sz="700" dirty="0" smtClean="0">
                <a:solidFill>
                  <a:srgbClr val="FF0066"/>
                </a:solidFill>
              </a:rPr>
              <a:t>LCL </a:t>
            </a:r>
            <a:r>
              <a:rPr lang="ko-KR" altLang="en-US" sz="700" dirty="0" err="1" smtClean="0">
                <a:solidFill>
                  <a:srgbClr val="FF0066"/>
                </a:solidFill>
              </a:rPr>
              <a:t>체크시</a:t>
            </a:r>
            <a:endParaRPr lang="en-US" altLang="ko-KR" sz="700" dirty="0" smtClean="0">
              <a:solidFill>
                <a:srgbClr val="FF0066"/>
              </a:solidFill>
            </a:endParaRPr>
          </a:p>
          <a:p>
            <a:r>
              <a:rPr lang="en-US" altLang="ko-KR" sz="700" dirty="0" smtClean="0">
                <a:solidFill>
                  <a:srgbClr val="FF0066"/>
                </a:solidFill>
              </a:rPr>
              <a:t>LCL </a:t>
            </a:r>
            <a:r>
              <a:rPr lang="ko-KR" altLang="en-US" sz="700" dirty="0" smtClean="0">
                <a:solidFill>
                  <a:srgbClr val="FF0066"/>
                </a:solidFill>
              </a:rPr>
              <a:t>화면 표시 처리</a:t>
            </a:r>
          </a:p>
        </p:txBody>
      </p:sp>
      <p:sp>
        <p:nvSpPr>
          <p:cNvPr id="200" name="직사각형 199"/>
          <p:cNvSpPr/>
          <p:nvPr/>
        </p:nvSpPr>
        <p:spPr>
          <a:xfrm>
            <a:off x="5992781" y="2161095"/>
            <a:ext cx="1423795" cy="234961"/>
          </a:xfrm>
          <a:prstGeom prst="rect">
            <a:avLst/>
          </a:prstGeom>
          <a:noFill/>
          <a:ln w="254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00FF"/>
                </a:solidFill>
              </a:rPr>
              <a:t>비활성</a:t>
            </a:r>
            <a:r>
              <a:rPr lang="en-US" altLang="ko-KR" dirty="0">
                <a:solidFill>
                  <a:srgbClr val="0000FF"/>
                </a:solidFill>
              </a:rPr>
              <a:t>(</a:t>
            </a:r>
            <a:r>
              <a:rPr lang="ko-KR" altLang="en-US" dirty="0">
                <a:solidFill>
                  <a:srgbClr val="0000FF"/>
                </a:solidFill>
              </a:rPr>
              <a:t>입력불가능</a:t>
            </a:r>
            <a:r>
              <a:rPr lang="en-US" altLang="ko-KR" dirty="0">
                <a:solidFill>
                  <a:srgbClr val="0000FF"/>
                </a:solidFill>
              </a:rPr>
              <a:t>) </a:t>
            </a:r>
            <a:r>
              <a:rPr lang="ko-KR" altLang="en-US" dirty="0" smtClean="0">
                <a:solidFill>
                  <a:srgbClr val="0000FF"/>
                </a:solidFill>
              </a:rPr>
              <a:t>처리</a:t>
            </a:r>
            <a:endParaRPr lang="en-US" altLang="ko-KR" dirty="0">
              <a:solidFill>
                <a:srgbClr val="0000FF"/>
              </a:solidFill>
            </a:endParaRPr>
          </a:p>
          <a:p>
            <a:pPr algn="ctr"/>
            <a:r>
              <a:rPr lang="en-US" altLang="ko-KR" dirty="0" smtClean="0">
                <a:solidFill>
                  <a:srgbClr val="0000FF"/>
                </a:solidFill>
              </a:rPr>
              <a:t>HOUSE BL </a:t>
            </a:r>
            <a:r>
              <a:rPr lang="ko-KR" altLang="en-US" dirty="0" smtClean="0">
                <a:solidFill>
                  <a:srgbClr val="0000FF"/>
                </a:solidFill>
              </a:rPr>
              <a:t>항</a:t>
            </a:r>
            <a:r>
              <a:rPr lang="ko-KR" altLang="en-US" dirty="0">
                <a:solidFill>
                  <a:srgbClr val="0000FF"/>
                </a:solidFill>
              </a:rPr>
              <a:t>목</a:t>
            </a:r>
            <a:r>
              <a:rPr lang="ko-KR" altLang="en-US" dirty="0" smtClean="0">
                <a:solidFill>
                  <a:srgbClr val="0000FF"/>
                </a:solidFill>
              </a:rPr>
              <a:t> 화면 표시</a:t>
            </a:r>
            <a:endParaRPr lang="en-US" altLang="ko-KR" dirty="0" smtClean="0">
              <a:solidFill>
                <a:srgbClr val="0000FF"/>
              </a:solidFill>
            </a:endParaRPr>
          </a:p>
        </p:txBody>
      </p:sp>
      <p:sp>
        <p:nvSpPr>
          <p:cNvPr id="155" name="타원 154"/>
          <p:cNvSpPr/>
          <p:nvPr/>
        </p:nvSpPr>
        <p:spPr>
          <a:xfrm>
            <a:off x="675039" y="1800668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1-1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-2873362" y="1700808"/>
            <a:ext cx="2737678" cy="970646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700" b="1" dirty="0" smtClean="0">
                <a:solidFill>
                  <a:srgbClr val="000000"/>
                </a:solidFill>
              </a:rPr>
              <a:t>사용자가 화폐코드 </a:t>
            </a:r>
            <a:r>
              <a:rPr lang="ko-KR" altLang="en-US" sz="700" b="1" dirty="0" err="1" smtClean="0">
                <a:solidFill>
                  <a:srgbClr val="000000"/>
                </a:solidFill>
              </a:rPr>
              <a:t>선택후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 환율일자에 등록된 환율금액을 화면에 표시 처리 사용자가 </a:t>
            </a:r>
            <a:endParaRPr lang="en-US" altLang="ko-KR" sz="700" b="1" dirty="0" smtClean="0">
              <a:solidFill>
                <a:srgbClr val="000000"/>
              </a:solidFill>
            </a:endParaRPr>
          </a:p>
          <a:p>
            <a:r>
              <a:rPr lang="en-US" altLang="ko-KR" sz="700" b="1" dirty="0" smtClean="0">
                <a:solidFill>
                  <a:srgbClr val="FF0000"/>
                </a:solidFill>
              </a:rPr>
              <a:t>1. USD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금액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선택시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USD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항목에 동일하게 표시 처리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,  2. KRW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화폐코드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선택시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환율일자와 관계없이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Ex-Rate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항목에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“1” 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표시 처리 및</a:t>
            </a:r>
            <a:r>
              <a:rPr lang="en-US" altLang="ko-KR" sz="700" b="1" dirty="0">
                <a:solidFill>
                  <a:srgbClr val="FF0000"/>
                </a:solidFill>
              </a:rPr>
              <a:t>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USD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항목 공백 처리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, </a:t>
            </a:r>
          </a:p>
          <a:p>
            <a:r>
              <a:rPr lang="en-US" altLang="ko-KR" sz="700" b="1" dirty="0" smtClean="0">
                <a:solidFill>
                  <a:srgbClr val="FF0000"/>
                </a:solidFill>
              </a:rPr>
              <a:t>3. USD, KRW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이외에 화폐코드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선택시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선택된 화폐코드에 맞춰 환율을 화면에 표시 처리 및 환율일자 등록된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USD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환율금액 표시 처리</a:t>
            </a:r>
            <a:endParaRPr lang="en-US" altLang="ko-KR" sz="700" b="1" dirty="0">
              <a:solidFill>
                <a:srgbClr val="FF0000"/>
              </a:solidFill>
            </a:endParaRPr>
          </a:p>
        </p:txBody>
      </p:sp>
      <p:sp>
        <p:nvSpPr>
          <p:cNvPr id="187" name="직사각형 186"/>
          <p:cNvSpPr/>
          <p:nvPr/>
        </p:nvSpPr>
        <p:spPr>
          <a:xfrm>
            <a:off x="2346466" y="2497033"/>
            <a:ext cx="4715774" cy="291543"/>
          </a:xfrm>
          <a:prstGeom prst="rect">
            <a:avLst/>
          </a:prstGeom>
          <a:noFill/>
          <a:ln w="254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189" name="타원 188"/>
          <p:cNvSpPr/>
          <p:nvPr/>
        </p:nvSpPr>
        <p:spPr>
          <a:xfrm>
            <a:off x="2245892" y="2252544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1-3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95" name="타원 194"/>
          <p:cNvSpPr/>
          <p:nvPr/>
        </p:nvSpPr>
        <p:spPr>
          <a:xfrm>
            <a:off x="7662395" y="2370905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1-4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11" name="타원 210"/>
          <p:cNvSpPr/>
          <p:nvPr/>
        </p:nvSpPr>
        <p:spPr>
          <a:xfrm>
            <a:off x="9449879" y="3086095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1-6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9489313" y="3698420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 smtClean="0">
                <a:solidFill>
                  <a:srgbClr val="000000"/>
                </a:solidFill>
              </a:rPr>
              <a:t>전체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15" name="타원 214"/>
          <p:cNvSpPr/>
          <p:nvPr/>
        </p:nvSpPr>
        <p:spPr>
          <a:xfrm>
            <a:off x="196757" y="3067645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1-5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16" name="타원 215"/>
          <p:cNvSpPr/>
          <p:nvPr/>
        </p:nvSpPr>
        <p:spPr>
          <a:xfrm>
            <a:off x="7913500" y="3566264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1-3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21" name="직사각형 220"/>
          <p:cNvSpPr/>
          <p:nvPr/>
        </p:nvSpPr>
        <p:spPr>
          <a:xfrm>
            <a:off x="7824413" y="3537012"/>
            <a:ext cx="2054750" cy="377464"/>
          </a:xfrm>
          <a:prstGeom prst="rect">
            <a:avLst/>
          </a:prstGeom>
          <a:noFill/>
          <a:ln w="254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222" name="타원 221"/>
          <p:cNvSpPr/>
          <p:nvPr/>
        </p:nvSpPr>
        <p:spPr>
          <a:xfrm>
            <a:off x="3454490" y="1994315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 smtClean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24" name="직사각형 223"/>
          <p:cNvSpPr/>
          <p:nvPr/>
        </p:nvSpPr>
        <p:spPr>
          <a:xfrm>
            <a:off x="10488314" y="872716"/>
            <a:ext cx="3589002" cy="6120680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700" b="1" dirty="0" smtClean="0">
                <a:solidFill>
                  <a:srgbClr val="000000"/>
                </a:solidFill>
              </a:rPr>
              <a:t>운임 </a:t>
            </a:r>
            <a:r>
              <a:rPr lang="ko-KR" altLang="en-US" sz="700" b="1" dirty="0" err="1" smtClean="0">
                <a:solidFill>
                  <a:srgbClr val="000000"/>
                </a:solidFill>
              </a:rPr>
              <a:t>그리드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 기능 설명</a:t>
            </a:r>
            <a:endParaRPr lang="en-US" altLang="ko-KR" sz="700" b="1" dirty="0">
              <a:solidFill>
                <a:srgbClr val="000000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4-1 : </a:t>
            </a:r>
            <a:r>
              <a:rPr lang="ko-KR" altLang="en-US" sz="700" dirty="0" smtClean="0">
                <a:solidFill>
                  <a:srgbClr val="0000FF"/>
                </a:solidFill>
              </a:rPr>
              <a:t>운임 코드</a:t>
            </a:r>
            <a:r>
              <a:rPr lang="en-US" altLang="ko-KR" sz="700" dirty="0">
                <a:solidFill>
                  <a:srgbClr val="0000FF"/>
                </a:solidFill>
              </a:rPr>
              <a:t> </a:t>
            </a:r>
            <a:r>
              <a:rPr lang="ko-KR" altLang="en-US" sz="700" dirty="0" smtClean="0">
                <a:solidFill>
                  <a:srgbClr val="0000FF"/>
                </a:solidFill>
              </a:rPr>
              <a:t>검색 버튼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클릭시</a:t>
            </a:r>
            <a:r>
              <a:rPr lang="ko-KR" altLang="en-US" sz="700" dirty="0" smtClean="0">
                <a:solidFill>
                  <a:srgbClr val="0000FF"/>
                </a:solidFill>
              </a:rPr>
              <a:t> 코드 검색 팝업 제공 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ko-KR" altLang="en-US" sz="700" dirty="0" smtClean="0">
                <a:solidFill>
                  <a:srgbClr val="0000FF"/>
                </a:solidFill>
              </a:rPr>
              <a:t>컨테이너 유형이 </a:t>
            </a:r>
            <a:r>
              <a:rPr lang="en-US" altLang="ko-KR" sz="700" dirty="0" smtClean="0">
                <a:solidFill>
                  <a:srgbClr val="0000FF"/>
                </a:solidFill>
              </a:rPr>
              <a:t>LCL </a:t>
            </a:r>
            <a:r>
              <a:rPr lang="ko-KR" altLang="en-US" sz="700" dirty="0" smtClean="0">
                <a:solidFill>
                  <a:srgbClr val="0000FF"/>
                </a:solidFill>
              </a:rPr>
              <a:t>또는 </a:t>
            </a:r>
            <a:r>
              <a:rPr lang="en-US" altLang="ko-KR" sz="700" dirty="0" smtClean="0">
                <a:solidFill>
                  <a:srgbClr val="0000FF"/>
                </a:solidFill>
              </a:rPr>
              <a:t>BULK </a:t>
            </a:r>
            <a:r>
              <a:rPr lang="ko-KR" altLang="en-US" sz="700" dirty="0" smtClean="0">
                <a:solidFill>
                  <a:srgbClr val="0000FF"/>
                </a:solidFill>
              </a:rPr>
              <a:t>로 체크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되어있을시</a:t>
            </a:r>
            <a:r>
              <a:rPr lang="ko-KR" altLang="en-US" sz="700" dirty="0" smtClean="0">
                <a:solidFill>
                  <a:srgbClr val="0000FF"/>
                </a:solidFill>
              </a:rPr>
              <a:t> </a:t>
            </a:r>
            <a:r>
              <a:rPr lang="en-US" altLang="ko-KR" sz="700" dirty="0" smtClean="0">
                <a:solidFill>
                  <a:srgbClr val="0000FF"/>
                </a:solidFill>
              </a:rPr>
              <a:t>: </a:t>
            </a:r>
          </a:p>
          <a:p>
            <a:r>
              <a:rPr lang="ko-KR" altLang="en-US" sz="700" dirty="0" smtClean="0">
                <a:solidFill>
                  <a:srgbClr val="0000FF"/>
                </a:solidFill>
              </a:rPr>
              <a:t>사용자가 운임코드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입력후</a:t>
            </a:r>
            <a:r>
              <a:rPr lang="ko-KR" altLang="en-US" sz="700" dirty="0" smtClean="0">
                <a:solidFill>
                  <a:srgbClr val="0000FF"/>
                </a:solidFill>
              </a:rPr>
              <a:t> 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4-2 : </a:t>
            </a:r>
            <a:r>
              <a:rPr lang="ko-KR" altLang="en-US" sz="700" dirty="0" smtClean="0">
                <a:solidFill>
                  <a:srgbClr val="0000FF"/>
                </a:solidFill>
              </a:rPr>
              <a:t>운임코드에 입력된 운임이름 표기 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ko-KR" altLang="en-US" sz="700" dirty="0" smtClean="0">
                <a:solidFill>
                  <a:srgbClr val="0000FF"/>
                </a:solidFill>
              </a:rPr>
              <a:t>컨테이너 유형이 </a:t>
            </a:r>
            <a:r>
              <a:rPr lang="en-US" altLang="ko-KR" sz="700" dirty="0" smtClean="0">
                <a:solidFill>
                  <a:srgbClr val="0000FF"/>
                </a:solidFill>
              </a:rPr>
              <a:t>FCL </a:t>
            </a:r>
            <a:r>
              <a:rPr lang="ko-KR" altLang="en-US" sz="700" dirty="0" smtClean="0">
                <a:solidFill>
                  <a:srgbClr val="0000FF"/>
                </a:solidFill>
              </a:rPr>
              <a:t>로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체크되어있을시</a:t>
            </a:r>
            <a:r>
              <a:rPr lang="ko-KR" altLang="en-US" sz="700" dirty="0" smtClean="0">
                <a:solidFill>
                  <a:srgbClr val="0000FF"/>
                </a:solidFill>
              </a:rPr>
              <a:t> </a:t>
            </a:r>
            <a:r>
              <a:rPr lang="en-US" altLang="ko-KR" sz="700" dirty="0" smtClean="0">
                <a:solidFill>
                  <a:srgbClr val="0000FF"/>
                </a:solidFill>
              </a:rPr>
              <a:t>: </a:t>
            </a:r>
          </a:p>
          <a:p>
            <a:r>
              <a:rPr lang="ko-KR" altLang="en-US" sz="700" dirty="0">
                <a:solidFill>
                  <a:srgbClr val="0000FF"/>
                </a:solidFill>
              </a:rPr>
              <a:t>사용자가 운임코드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입력후</a:t>
            </a:r>
            <a:r>
              <a:rPr lang="ko-KR" altLang="en-US" sz="700" dirty="0" smtClean="0">
                <a:solidFill>
                  <a:srgbClr val="0000FF"/>
                </a:solidFill>
              </a:rPr>
              <a:t> 컨테이너 개수에 따라 운임코드 결과표시처리</a:t>
            </a:r>
            <a:r>
              <a:rPr lang="en-US" altLang="ko-KR" sz="700" dirty="0" smtClean="0">
                <a:solidFill>
                  <a:srgbClr val="0000FF"/>
                </a:solidFill>
              </a:rPr>
              <a:t> (Ex. </a:t>
            </a:r>
            <a:r>
              <a:rPr lang="ko-KR" altLang="en-US" sz="700" dirty="0" smtClean="0">
                <a:solidFill>
                  <a:srgbClr val="0000FF"/>
                </a:solidFill>
              </a:rPr>
              <a:t>컨테이너 </a:t>
            </a:r>
            <a:r>
              <a:rPr lang="en-US" altLang="ko-KR" sz="700" dirty="0" smtClean="0">
                <a:solidFill>
                  <a:srgbClr val="0000FF"/>
                </a:solidFill>
              </a:rPr>
              <a:t>2</a:t>
            </a:r>
            <a:r>
              <a:rPr lang="ko-KR" altLang="en-US" sz="700" dirty="0" smtClean="0">
                <a:solidFill>
                  <a:srgbClr val="0000FF"/>
                </a:solidFill>
              </a:rPr>
              <a:t>개 이상일 경우 사용자가 </a:t>
            </a:r>
            <a:r>
              <a:rPr lang="en-US" altLang="ko-KR" sz="700" dirty="0" smtClean="0">
                <a:solidFill>
                  <a:srgbClr val="0000FF"/>
                </a:solidFill>
              </a:rPr>
              <a:t>OFC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입력시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ko-KR" altLang="en-US" sz="700" dirty="0" err="1" smtClean="0">
                <a:solidFill>
                  <a:srgbClr val="0000FF"/>
                </a:solidFill>
              </a:rPr>
              <a:t>그리드</a:t>
            </a:r>
            <a:r>
              <a:rPr lang="ko-KR" altLang="en-US" sz="700" dirty="0" smtClean="0">
                <a:solidFill>
                  <a:srgbClr val="0000FF"/>
                </a:solidFill>
              </a:rPr>
              <a:t> 항목에 </a:t>
            </a:r>
            <a:r>
              <a:rPr lang="en-US" altLang="ko-KR" sz="700" dirty="0" smtClean="0">
                <a:solidFill>
                  <a:srgbClr val="0000FF"/>
                </a:solidFill>
              </a:rPr>
              <a:t>AFC, AFC </a:t>
            </a:r>
            <a:r>
              <a:rPr lang="ko-KR" altLang="en-US" sz="700" dirty="0" smtClean="0">
                <a:solidFill>
                  <a:srgbClr val="0000FF"/>
                </a:solidFill>
              </a:rPr>
              <a:t> </a:t>
            </a:r>
            <a:r>
              <a:rPr lang="en-US" altLang="ko-KR" sz="700" dirty="0" smtClean="0">
                <a:solidFill>
                  <a:srgbClr val="0000FF"/>
                </a:solidFill>
              </a:rPr>
              <a:t>2</a:t>
            </a:r>
            <a:r>
              <a:rPr lang="ko-KR" altLang="en-US" sz="700" dirty="0" smtClean="0">
                <a:solidFill>
                  <a:srgbClr val="0000FF"/>
                </a:solidFill>
              </a:rPr>
              <a:t>개 표시</a:t>
            </a:r>
            <a:r>
              <a:rPr lang="en-US" altLang="ko-KR" sz="700" dirty="0" smtClean="0">
                <a:solidFill>
                  <a:srgbClr val="0000FF"/>
                </a:solidFill>
              </a:rPr>
              <a:t>, </a:t>
            </a:r>
            <a:r>
              <a:rPr lang="ko-KR" altLang="en-US" sz="700" dirty="0" smtClean="0">
                <a:solidFill>
                  <a:srgbClr val="0000FF"/>
                </a:solidFill>
              </a:rPr>
              <a:t>운임유형도 입력된 컨테이너 유형에 맞춰 표시 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ko-KR" altLang="en-US" sz="700" dirty="0" err="1" smtClean="0">
                <a:solidFill>
                  <a:srgbClr val="0000FF"/>
                </a:solidFill>
              </a:rPr>
              <a:t>그리드</a:t>
            </a:r>
            <a:r>
              <a:rPr lang="ko-KR" altLang="en-US" sz="700" dirty="0" smtClean="0">
                <a:solidFill>
                  <a:srgbClr val="0000FF"/>
                </a:solidFill>
              </a:rPr>
              <a:t> </a:t>
            </a:r>
            <a:r>
              <a:rPr lang="en-US" altLang="ko-KR" sz="700" dirty="0" smtClean="0">
                <a:solidFill>
                  <a:srgbClr val="0000FF"/>
                </a:solidFill>
              </a:rPr>
              <a:t>1 ) AFC    KRW 1.00 (</a:t>
            </a:r>
            <a:r>
              <a:rPr lang="ko-KR" altLang="en-US" sz="700" dirty="0" smtClean="0">
                <a:solidFill>
                  <a:srgbClr val="0000FF"/>
                </a:solidFill>
              </a:rPr>
              <a:t>통화코드는 </a:t>
            </a:r>
            <a:r>
              <a:rPr lang="en-US" altLang="ko-KR" sz="700" dirty="0" smtClean="0">
                <a:solidFill>
                  <a:srgbClr val="0000FF"/>
                </a:solidFill>
              </a:rPr>
              <a:t>1-3  </a:t>
            </a:r>
            <a:r>
              <a:rPr lang="ko-KR" altLang="en-US" sz="700" dirty="0" smtClean="0">
                <a:solidFill>
                  <a:srgbClr val="0000FF"/>
                </a:solidFill>
              </a:rPr>
              <a:t>항목 연동</a:t>
            </a:r>
            <a:r>
              <a:rPr lang="en-US" altLang="ko-KR" sz="700" dirty="0" smtClean="0">
                <a:solidFill>
                  <a:srgbClr val="0000FF"/>
                </a:solidFill>
              </a:rPr>
              <a:t>)</a:t>
            </a:r>
          </a:p>
          <a:p>
            <a:r>
              <a:rPr lang="ko-KR" altLang="en-US" sz="700" dirty="0" err="1" smtClean="0">
                <a:solidFill>
                  <a:srgbClr val="0000FF"/>
                </a:solidFill>
              </a:rPr>
              <a:t>그리드</a:t>
            </a:r>
            <a:r>
              <a:rPr lang="ko-KR" altLang="en-US" sz="700" dirty="0" smtClean="0">
                <a:solidFill>
                  <a:srgbClr val="0000FF"/>
                </a:solidFill>
              </a:rPr>
              <a:t> </a:t>
            </a:r>
            <a:r>
              <a:rPr lang="en-US" altLang="ko-KR" sz="700" dirty="0" smtClean="0">
                <a:solidFill>
                  <a:srgbClr val="0000FF"/>
                </a:solidFill>
              </a:rPr>
              <a:t>2 ) </a:t>
            </a:r>
            <a:r>
              <a:rPr lang="en-US" altLang="ko-KR" sz="700" dirty="0">
                <a:solidFill>
                  <a:srgbClr val="0000FF"/>
                </a:solidFill>
              </a:rPr>
              <a:t>A</a:t>
            </a:r>
            <a:r>
              <a:rPr lang="en-US" altLang="ko-KR" sz="700" dirty="0" smtClean="0">
                <a:solidFill>
                  <a:srgbClr val="0000FF"/>
                </a:solidFill>
              </a:rPr>
              <a:t>FC    </a:t>
            </a:r>
            <a:r>
              <a:rPr lang="en-US" altLang="ko-KR" sz="700" dirty="0">
                <a:solidFill>
                  <a:srgbClr val="0000FF"/>
                </a:solidFill>
              </a:rPr>
              <a:t>KRW 1.00 </a:t>
            </a:r>
            <a:r>
              <a:rPr lang="en-US" altLang="ko-KR" sz="700" dirty="0" smtClean="0">
                <a:solidFill>
                  <a:srgbClr val="0000FF"/>
                </a:solidFill>
              </a:rPr>
              <a:t>(</a:t>
            </a:r>
            <a:r>
              <a:rPr lang="ko-KR" altLang="en-US" sz="700" dirty="0" smtClean="0">
                <a:solidFill>
                  <a:srgbClr val="0000FF"/>
                </a:solidFill>
              </a:rPr>
              <a:t>통화코드는 </a:t>
            </a:r>
            <a:r>
              <a:rPr lang="en-US" altLang="ko-KR" sz="700" dirty="0" smtClean="0">
                <a:solidFill>
                  <a:srgbClr val="0000FF"/>
                </a:solidFill>
              </a:rPr>
              <a:t>1-3  </a:t>
            </a:r>
            <a:r>
              <a:rPr lang="ko-KR" altLang="en-US" sz="700" dirty="0" smtClean="0">
                <a:solidFill>
                  <a:srgbClr val="0000FF"/>
                </a:solidFill>
              </a:rPr>
              <a:t>항목 연동</a:t>
            </a:r>
            <a:r>
              <a:rPr lang="en-US" altLang="ko-KR" sz="700" dirty="0" smtClean="0">
                <a:solidFill>
                  <a:srgbClr val="0000FF"/>
                </a:solidFill>
              </a:rPr>
              <a:t>)</a:t>
            </a:r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4-2 </a:t>
            </a:r>
            <a:r>
              <a:rPr lang="en-US" altLang="ko-KR" sz="700" dirty="0">
                <a:solidFill>
                  <a:srgbClr val="0000FF"/>
                </a:solidFill>
              </a:rPr>
              <a:t>: </a:t>
            </a:r>
            <a:r>
              <a:rPr lang="ko-KR" altLang="en-US" sz="700" dirty="0">
                <a:solidFill>
                  <a:srgbClr val="0000FF"/>
                </a:solidFill>
              </a:rPr>
              <a:t>운임코드에 입력된 운임이름 표기 처리</a:t>
            </a:r>
            <a:endParaRPr lang="en-US" altLang="ko-KR" sz="700" dirty="0">
              <a:solidFill>
                <a:srgbClr val="0000FF"/>
              </a:solidFill>
            </a:endParaRPr>
          </a:p>
          <a:p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4-3 : </a:t>
            </a:r>
            <a:r>
              <a:rPr lang="ko-KR" altLang="en-US" sz="700" dirty="0" smtClean="0">
                <a:solidFill>
                  <a:srgbClr val="0000FF"/>
                </a:solidFill>
              </a:rPr>
              <a:t>화폐코드 검색 버튼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클릭시</a:t>
            </a:r>
            <a:r>
              <a:rPr lang="ko-KR" altLang="en-US" sz="700" dirty="0" smtClean="0">
                <a:solidFill>
                  <a:srgbClr val="0000FF"/>
                </a:solidFill>
              </a:rPr>
              <a:t> 코드 검색 팝업 제공 처리 </a:t>
            </a:r>
            <a:r>
              <a:rPr lang="en-US" altLang="ko-KR" sz="700" dirty="0" smtClean="0">
                <a:solidFill>
                  <a:srgbClr val="0000FF"/>
                </a:solidFill>
              </a:rPr>
              <a:t>, </a:t>
            </a:r>
            <a:r>
              <a:rPr lang="ko-KR" altLang="en-US" sz="700" dirty="0" smtClean="0">
                <a:solidFill>
                  <a:srgbClr val="0000FF"/>
                </a:solidFill>
              </a:rPr>
              <a:t>사용자 입력 가능 </a:t>
            </a:r>
            <a:r>
              <a:rPr lang="en-US" altLang="ko-KR" sz="700" dirty="0" smtClean="0">
                <a:solidFill>
                  <a:srgbClr val="0000FF"/>
                </a:solidFill>
              </a:rPr>
              <a:t>, </a:t>
            </a:r>
            <a:r>
              <a:rPr lang="ko-KR" altLang="en-US" sz="700" dirty="0" smtClean="0">
                <a:solidFill>
                  <a:srgbClr val="0000FF"/>
                </a:solidFill>
              </a:rPr>
              <a:t>사용자가 코드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입력시</a:t>
            </a:r>
            <a:r>
              <a:rPr lang="ko-KR" altLang="en-US" sz="700" dirty="0" smtClean="0">
                <a:solidFill>
                  <a:srgbClr val="0000FF"/>
                </a:solidFill>
              </a:rPr>
              <a:t> 등록되어있는 코드 값과  </a:t>
            </a:r>
            <a:r>
              <a:rPr lang="en-US" altLang="ko-KR" sz="700" dirty="0" smtClean="0">
                <a:solidFill>
                  <a:srgbClr val="0000FF"/>
                </a:solidFill>
              </a:rPr>
              <a:t>like </a:t>
            </a:r>
            <a:r>
              <a:rPr lang="ko-KR" altLang="en-US" sz="700" dirty="0" smtClean="0">
                <a:solidFill>
                  <a:srgbClr val="0000FF"/>
                </a:solidFill>
              </a:rPr>
              <a:t>검색 처리 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Ex) </a:t>
            </a:r>
            <a:r>
              <a:rPr lang="ko-KR" altLang="en-US" sz="700" dirty="0" smtClean="0">
                <a:solidFill>
                  <a:srgbClr val="0000FF"/>
                </a:solidFill>
              </a:rPr>
              <a:t>사용자가 </a:t>
            </a:r>
            <a:r>
              <a:rPr lang="en-US" altLang="ko-KR" sz="700" dirty="0" smtClean="0">
                <a:solidFill>
                  <a:srgbClr val="0000FF"/>
                </a:solidFill>
              </a:rPr>
              <a:t>US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입력후</a:t>
            </a:r>
            <a:r>
              <a:rPr lang="ko-KR" altLang="en-US" sz="700" dirty="0" smtClean="0">
                <a:solidFill>
                  <a:srgbClr val="0000FF"/>
                </a:solidFill>
              </a:rPr>
              <a:t>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엔터키</a:t>
            </a:r>
            <a:r>
              <a:rPr lang="ko-KR" altLang="en-US" sz="700" dirty="0" smtClean="0">
                <a:solidFill>
                  <a:srgbClr val="0000FF"/>
                </a:solidFill>
              </a:rPr>
              <a:t> 입력 또는 마우스로 다른 항목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클릭시</a:t>
            </a:r>
            <a:r>
              <a:rPr lang="ko-KR" altLang="en-US" sz="700" dirty="0" smtClean="0">
                <a:solidFill>
                  <a:srgbClr val="0000FF"/>
                </a:solidFill>
              </a:rPr>
              <a:t>  </a:t>
            </a:r>
            <a:r>
              <a:rPr lang="en-US" altLang="ko-KR" sz="700" dirty="0" smtClean="0">
                <a:solidFill>
                  <a:srgbClr val="0000FF"/>
                </a:solidFill>
              </a:rPr>
              <a:t> </a:t>
            </a:r>
            <a:r>
              <a:rPr lang="ko-KR" altLang="en-US" sz="700" dirty="0" smtClean="0">
                <a:solidFill>
                  <a:srgbClr val="0000FF"/>
                </a:solidFill>
              </a:rPr>
              <a:t>등록되어있는 코드 값과 비슷한 값을 검색 팝업을 화면에 표시 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ko-KR" altLang="en-US" sz="700" dirty="0" smtClean="0">
                <a:solidFill>
                  <a:srgbClr val="0000FF"/>
                </a:solidFill>
              </a:rPr>
              <a:t>사용자가 완전히 상이한 값을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입력시</a:t>
            </a:r>
            <a:r>
              <a:rPr lang="ko-KR" altLang="en-US" sz="700" dirty="0" smtClean="0">
                <a:solidFill>
                  <a:srgbClr val="0000FF"/>
                </a:solidFill>
              </a:rPr>
              <a:t>  메시지 출력 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Ex) </a:t>
            </a:r>
            <a:r>
              <a:rPr lang="ko-KR" altLang="en-US" sz="700" dirty="0" smtClean="0">
                <a:solidFill>
                  <a:srgbClr val="0000FF"/>
                </a:solidFill>
              </a:rPr>
              <a:t>사용자가 </a:t>
            </a:r>
            <a:r>
              <a:rPr lang="en-US" altLang="ko-KR" sz="700" dirty="0" smtClean="0">
                <a:solidFill>
                  <a:srgbClr val="0000FF"/>
                </a:solidFill>
              </a:rPr>
              <a:t>UT D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입력시</a:t>
            </a:r>
            <a:r>
              <a:rPr lang="ko-KR" altLang="en-US" sz="700" dirty="0" smtClean="0">
                <a:solidFill>
                  <a:srgbClr val="0000FF"/>
                </a:solidFill>
              </a:rPr>
              <a:t> </a:t>
            </a:r>
            <a:r>
              <a:rPr lang="ko-KR" altLang="en-US" sz="700" dirty="0">
                <a:solidFill>
                  <a:srgbClr val="0000FF"/>
                </a:solidFill>
              </a:rPr>
              <a:t>메시지 </a:t>
            </a:r>
            <a:r>
              <a:rPr lang="ko-KR" altLang="en-US" sz="700" dirty="0" smtClean="0">
                <a:solidFill>
                  <a:srgbClr val="0000FF"/>
                </a:solidFill>
              </a:rPr>
              <a:t>출력 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endParaRPr lang="en-US" altLang="ko-KR" sz="700" dirty="0" smtClean="0">
              <a:solidFill>
                <a:srgbClr val="FF0000"/>
              </a:solidFill>
            </a:endParaRPr>
          </a:p>
          <a:p>
            <a:r>
              <a:rPr lang="en-US" altLang="ko-KR" sz="700" dirty="0" smtClean="0">
                <a:solidFill>
                  <a:srgbClr val="FF0000"/>
                </a:solidFill>
              </a:rPr>
              <a:t>4-4 </a:t>
            </a:r>
            <a:r>
              <a:rPr lang="ko-KR" altLang="en-US" sz="700" dirty="0" smtClean="0">
                <a:solidFill>
                  <a:srgbClr val="FF0000"/>
                </a:solidFill>
              </a:rPr>
              <a:t>항목 연계 처리</a:t>
            </a:r>
            <a:endParaRPr lang="en-US" altLang="ko-KR" sz="700" dirty="0" smtClean="0">
              <a:solidFill>
                <a:srgbClr val="FF0000"/>
              </a:solidFill>
            </a:endParaRPr>
          </a:p>
          <a:p>
            <a:r>
              <a:rPr lang="ko-KR" altLang="en-US" sz="700" dirty="0" smtClean="0">
                <a:solidFill>
                  <a:srgbClr val="FF0000"/>
                </a:solidFill>
              </a:rPr>
              <a:t>사용자 입력 및 변경 가능 처리</a:t>
            </a:r>
            <a:endParaRPr lang="en-US" altLang="ko-KR" sz="700" dirty="0" smtClean="0">
              <a:solidFill>
                <a:srgbClr val="FF0000"/>
              </a:solidFill>
            </a:endParaRPr>
          </a:p>
          <a:p>
            <a:r>
              <a:rPr lang="en-US" altLang="ko-KR" sz="700" b="1" dirty="0">
                <a:solidFill>
                  <a:srgbClr val="FF0000"/>
                </a:solidFill>
              </a:rPr>
              <a:t>numerical code </a:t>
            </a:r>
            <a:r>
              <a:rPr lang="ko-KR" altLang="en-US" sz="700" dirty="0">
                <a:solidFill>
                  <a:srgbClr val="FF0000"/>
                </a:solidFill>
              </a:rPr>
              <a:t>만  입력 가능 처리</a:t>
            </a:r>
            <a:r>
              <a:rPr lang="en-US" altLang="ko-KR" sz="700" dirty="0">
                <a:solidFill>
                  <a:srgbClr val="FF0000"/>
                </a:solidFill>
              </a:rPr>
              <a:t>(</a:t>
            </a:r>
            <a:r>
              <a:rPr lang="ko-KR" altLang="en-US" sz="700" dirty="0">
                <a:solidFill>
                  <a:srgbClr val="FF0000"/>
                </a:solidFill>
              </a:rPr>
              <a:t>소수점 </a:t>
            </a:r>
            <a:r>
              <a:rPr lang="ko-KR" altLang="en-US" sz="700" dirty="0" err="1">
                <a:solidFill>
                  <a:srgbClr val="FF0000"/>
                </a:solidFill>
              </a:rPr>
              <a:t>둘째자리까지</a:t>
            </a:r>
            <a:r>
              <a:rPr lang="ko-KR" altLang="en-US" sz="700" dirty="0">
                <a:solidFill>
                  <a:srgbClr val="FF0000"/>
                </a:solidFill>
              </a:rPr>
              <a:t> 허용 </a:t>
            </a:r>
            <a:r>
              <a:rPr lang="en-US" altLang="ko-KR" sz="700" dirty="0" smtClean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700" dirty="0" smtClean="0">
                <a:solidFill>
                  <a:srgbClr val="FF0000"/>
                </a:solidFill>
              </a:rPr>
              <a:t>4-5 1-2 </a:t>
            </a:r>
            <a:r>
              <a:rPr lang="ko-KR" altLang="en-US" sz="700" dirty="0" err="1" smtClean="0">
                <a:solidFill>
                  <a:srgbClr val="FF0000"/>
                </a:solidFill>
              </a:rPr>
              <a:t>환율선택된</a:t>
            </a:r>
            <a:r>
              <a:rPr lang="ko-KR" altLang="en-US" sz="700" dirty="0" smtClean="0">
                <a:solidFill>
                  <a:srgbClr val="FF0000"/>
                </a:solidFill>
              </a:rPr>
              <a:t> 통화코드에 따른 환율표기 처리</a:t>
            </a:r>
            <a:r>
              <a:rPr lang="en-US" altLang="ko-KR" sz="700" dirty="0" smtClean="0">
                <a:solidFill>
                  <a:srgbClr val="FF0000"/>
                </a:solidFill>
              </a:rPr>
              <a:t>-&gt; </a:t>
            </a:r>
          </a:p>
          <a:p>
            <a:r>
              <a:rPr lang="en-US" altLang="ko-KR" sz="700" dirty="0" smtClean="0">
                <a:solidFill>
                  <a:srgbClr val="FF0000"/>
                </a:solidFill>
              </a:rPr>
              <a:t>4-4 KRW </a:t>
            </a:r>
            <a:r>
              <a:rPr lang="ko-KR" altLang="en-US" sz="700" dirty="0" err="1" smtClean="0">
                <a:solidFill>
                  <a:srgbClr val="FF0000"/>
                </a:solidFill>
              </a:rPr>
              <a:t>선택시</a:t>
            </a:r>
            <a:r>
              <a:rPr lang="ko-KR" altLang="en-US" sz="700" dirty="0" smtClean="0">
                <a:solidFill>
                  <a:srgbClr val="FF0000"/>
                </a:solidFill>
              </a:rPr>
              <a:t> 기본값 </a:t>
            </a:r>
            <a:r>
              <a:rPr lang="en-US" altLang="ko-KR" sz="700" dirty="0" smtClean="0">
                <a:solidFill>
                  <a:srgbClr val="FF0000"/>
                </a:solidFill>
              </a:rPr>
              <a:t>“1”  </a:t>
            </a:r>
            <a:r>
              <a:rPr lang="ko-KR" altLang="en-US" sz="700" dirty="0" smtClean="0">
                <a:solidFill>
                  <a:srgbClr val="FF0000"/>
                </a:solidFill>
              </a:rPr>
              <a:t>적용처리</a:t>
            </a:r>
            <a:r>
              <a:rPr lang="en-US" altLang="ko-KR" sz="700" dirty="0" smtClean="0">
                <a:solidFill>
                  <a:srgbClr val="FF0000"/>
                </a:solidFill>
              </a:rPr>
              <a:t>(</a:t>
            </a:r>
            <a:r>
              <a:rPr lang="ko-KR" altLang="en-US" sz="700" dirty="0" smtClean="0">
                <a:solidFill>
                  <a:srgbClr val="FF0000"/>
                </a:solidFill>
              </a:rPr>
              <a:t>변경불가능</a:t>
            </a:r>
            <a:r>
              <a:rPr lang="en-US" altLang="ko-KR" sz="700" dirty="0" smtClean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700" b="1" dirty="0" smtClean="0">
                <a:solidFill>
                  <a:srgbClr val="0000FF"/>
                </a:solidFill>
              </a:rPr>
              <a:t>4-6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부</a:t>
            </a:r>
            <a:r>
              <a:rPr lang="ko-KR" altLang="en-US" sz="700" b="1" dirty="0">
                <a:solidFill>
                  <a:srgbClr val="0000FF"/>
                </a:solidFill>
              </a:rPr>
              <a:t>과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유형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(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코드는 </a:t>
            </a:r>
            <a:r>
              <a:rPr lang="ko-KR" altLang="en-US" sz="700" b="1" dirty="0" err="1" smtClean="0">
                <a:solidFill>
                  <a:srgbClr val="0000FF"/>
                </a:solidFill>
              </a:rPr>
              <a:t>다음장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 참조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)</a:t>
            </a:r>
          </a:p>
          <a:p>
            <a:r>
              <a:rPr lang="ko-KR" altLang="en-US" sz="700" b="1" dirty="0" smtClean="0">
                <a:solidFill>
                  <a:srgbClr val="0000FF"/>
                </a:solidFill>
              </a:rPr>
              <a:t>운임코드 </a:t>
            </a:r>
            <a:r>
              <a:rPr lang="ko-KR" altLang="en-US" sz="700" b="1" dirty="0" err="1" smtClean="0">
                <a:solidFill>
                  <a:srgbClr val="0000FF"/>
                </a:solidFill>
              </a:rPr>
              <a:t>입력시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 선택된 타입에 따라  구분이 되며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,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구분된 타입에 따라 출력물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(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통관정산서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)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에 표기 처리</a:t>
            </a:r>
            <a:endParaRPr lang="en-US" altLang="ko-KR" sz="700" b="1" dirty="0">
              <a:solidFill>
                <a:srgbClr val="0000FF"/>
              </a:solidFill>
            </a:endParaRPr>
          </a:p>
          <a:p>
            <a:r>
              <a:rPr lang="ko-KR" altLang="en-US" sz="700" b="1" dirty="0" smtClean="0">
                <a:solidFill>
                  <a:srgbClr val="0000FF"/>
                </a:solidFill>
              </a:rPr>
              <a:t>하우스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B/L </a:t>
            </a:r>
            <a:r>
              <a:rPr lang="ko-KR" altLang="en-US" sz="700" b="1" dirty="0" err="1" smtClean="0">
                <a:solidFill>
                  <a:srgbClr val="0000FF"/>
                </a:solidFill>
              </a:rPr>
              <a:t>호출시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 등록되어있는 운임코드 </a:t>
            </a:r>
            <a:r>
              <a:rPr lang="ko-KR" altLang="en-US" sz="700" b="1" dirty="0" err="1" smtClean="0">
                <a:solidFill>
                  <a:srgbClr val="0000FF"/>
                </a:solidFill>
              </a:rPr>
              <a:t>적용시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 부과유형 값이 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“</a:t>
            </a:r>
            <a:r>
              <a:rPr lang="ko-KR" altLang="en-US" sz="700" b="1" dirty="0" err="1" smtClean="0">
                <a:solidFill>
                  <a:srgbClr val="0000FF"/>
                </a:solidFill>
              </a:rPr>
              <a:t>포워더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”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자동등록 처리</a:t>
            </a:r>
            <a:endParaRPr lang="en-US" altLang="ko-KR" sz="700" b="1" dirty="0" smtClean="0">
              <a:solidFill>
                <a:srgbClr val="0000FF"/>
              </a:solidFill>
            </a:endParaRPr>
          </a:p>
          <a:p>
            <a:endParaRPr lang="en-US" altLang="ko-KR" sz="700" b="1" dirty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FF0000"/>
                </a:solidFill>
              </a:rPr>
              <a:t>4-7 </a:t>
            </a:r>
            <a:r>
              <a:rPr lang="ko-KR" altLang="en-US" sz="700" dirty="0">
                <a:solidFill>
                  <a:srgbClr val="FF0000"/>
                </a:solidFill>
              </a:rPr>
              <a:t>사용자 입력 가능 텍스트 박스 </a:t>
            </a:r>
            <a:endParaRPr lang="en-US" altLang="ko-KR" sz="700" dirty="0">
              <a:solidFill>
                <a:srgbClr val="FF0000"/>
              </a:solidFill>
            </a:endParaRPr>
          </a:p>
          <a:p>
            <a:r>
              <a:rPr lang="en-US" altLang="ko-KR" sz="700" b="1" dirty="0">
                <a:solidFill>
                  <a:srgbClr val="FF0000"/>
                </a:solidFill>
              </a:rPr>
              <a:t>numerical code </a:t>
            </a:r>
            <a:r>
              <a:rPr lang="ko-KR" altLang="en-US" sz="700" dirty="0">
                <a:solidFill>
                  <a:srgbClr val="FF0000"/>
                </a:solidFill>
              </a:rPr>
              <a:t>만  입력 가능 처리</a:t>
            </a:r>
            <a:r>
              <a:rPr lang="en-US" altLang="ko-KR" sz="700" dirty="0">
                <a:solidFill>
                  <a:srgbClr val="FF0000"/>
                </a:solidFill>
              </a:rPr>
              <a:t>(</a:t>
            </a:r>
            <a:r>
              <a:rPr lang="ko-KR" altLang="en-US" sz="700" dirty="0">
                <a:solidFill>
                  <a:srgbClr val="FF0000"/>
                </a:solidFill>
              </a:rPr>
              <a:t>소수점 </a:t>
            </a:r>
            <a:r>
              <a:rPr lang="ko-KR" altLang="en-US" sz="700" dirty="0" err="1">
                <a:solidFill>
                  <a:srgbClr val="FF0000"/>
                </a:solidFill>
              </a:rPr>
              <a:t>둘째자리까지</a:t>
            </a:r>
            <a:r>
              <a:rPr lang="ko-KR" altLang="en-US" sz="700" dirty="0">
                <a:solidFill>
                  <a:srgbClr val="FF0000"/>
                </a:solidFill>
              </a:rPr>
              <a:t> 허용 </a:t>
            </a:r>
            <a:r>
              <a:rPr lang="en-US" altLang="ko-KR" sz="7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4-4 </a:t>
            </a:r>
            <a:r>
              <a:rPr lang="ko-KR" altLang="en-US" sz="700" dirty="0">
                <a:solidFill>
                  <a:srgbClr val="0000FF"/>
                </a:solidFill>
              </a:rPr>
              <a:t>항목 </a:t>
            </a:r>
            <a:r>
              <a:rPr lang="en-US" altLang="ko-KR" sz="700" dirty="0">
                <a:solidFill>
                  <a:srgbClr val="0000FF"/>
                </a:solidFill>
              </a:rPr>
              <a:t>KRW </a:t>
            </a:r>
            <a:r>
              <a:rPr lang="ko-KR" altLang="en-US" sz="700" dirty="0">
                <a:solidFill>
                  <a:srgbClr val="0000FF"/>
                </a:solidFill>
              </a:rPr>
              <a:t>이 아닌 경우만  화면 표시 처리</a:t>
            </a:r>
            <a:r>
              <a:rPr lang="en-US" altLang="ko-KR" sz="700" dirty="0">
                <a:solidFill>
                  <a:srgbClr val="0000FF"/>
                </a:solidFill>
              </a:rPr>
              <a:t>(</a:t>
            </a:r>
            <a:r>
              <a:rPr lang="ko-KR" altLang="en-US" sz="700" dirty="0">
                <a:solidFill>
                  <a:srgbClr val="0000FF"/>
                </a:solidFill>
              </a:rPr>
              <a:t>입력가능처리</a:t>
            </a:r>
            <a:r>
              <a:rPr lang="en-US" altLang="ko-KR" sz="700" dirty="0">
                <a:solidFill>
                  <a:srgbClr val="0000FF"/>
                </a:solidFill>
              </a:rPr>
              <a:t>)</a:t>
            </a:r>
          </a:p>
          <a:p>
            <a:r>
              <a:rPr lang="ko-KR" altLang="en-US" sz="700" dirty="0">
                <a:solidFill>
                  <a:srgbClr val="0000FF"/>
                </a:solidFill>
              </a:rPr>
              <a:t>외화전용 금액 항목</a:t>
            </a:r>
            <a:endParaRPr lang="en-US" altLang="ko-KR" sz="700" dirty="0">
              <a:solidFill>
                <a:srgbClr val="0000FF"/>
              </a:solidFill>
            </a:endParaRPr>
          </a:p>
          <a:p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4-9 </a:t>
            </a:r>
            <a:r>
              <a:rPr lang="ko-KR" altLang="en-US" sz="700" dirty="0">
                <a:solidFill>
                  <a:srgbClr val="0000FF"/>
                </a:solidFill>
              </a:rPr>
              <a:t>사용자 입력 가능 텍스트 박스</a:t>
            </a:r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ko-KR" altLang="en-US" sz="700" dirty="0" smtClean="0">
                <a:solidFill>
                  <a:srgbClr val="0000FF"/>
                </a:solidFill>
              </a:rPr>
              <a:t>외화 </a:t>
            </a:r>
            <a:r>
              <a:rPr lang="ko-KR" altLang="en-US" sz="700" dirty="0">
                <a:solidFill>
                  <a:srgbClr val="0000FF"/>
                </a:solidFill>
              </a:rPr>
              <a:t>금액이 </a:t>
            </a:r>
            <a:r>
              <a:rPr lang="en-US" altLang="ko-KR" sz="700" dirty="0">
                <a:solidFill>
                  <a:srgbClr val="0000FF"/>
                </a:solidFill>
              </a:rPr>
              <a:t>KRW </a:t>
            </a:r>
            <a:r>
              <a:rPr lang="ko-KR" altLang="en-US" sz="700" dirty="0">
                <a:solidFill>
                  <a:srgbClr val="0000FF"/>
                </a:solidFill>
              </a:rPr>
              <a:t>금액으로 </a:t>
            </a:r>
            <a:r>
              <a:rPr lang="ko-KR" altLang="en-US" sz="700" dirty="0" err="1">
                <a:solidFill>
                  <a:srgbClr val="0000FF"/>
                </a:solidFill>
              </a:rPr>
              <a:t>환산되서</a:t>
            </a:r>
            <a:r>
              <a:rPr lang="ko-KR" altLang="en-US" sz="700" dirty="0">
                <a:solidFill>
                  <a:srgbClr val="0000FF"/>
                </a:solidFill>
              </a:rPr>
              <a:t> 항목에 결과 표시 처리</a:t>
            </a:r>
            <a:endParaRPr lang="en-US" altLang="ko-KR" sz="700" dirty="0">
              <a:solidFill>
                <a:srgbClr val="0000FF"/>
              </a:solidFill>
            </a:endParaRPr>
          </a:p>
          <a:p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4-9 </a:t>
            </a:r>
            <a:r>
              <a:rPr lang="en-US" altLang="ko-KR" sz="700" dirty="0">
                <a:solidFill>
                  <a:srgbClr val="0000FF"/>
                </a:solidFill>
              </a:rPr>
              <a:t>VAT </a:t>
            </a:r>
          </a:p>
          <a:p>
            <a:r>
              <a:rPr lang="ko-KR" altLang="en-US" sz="700" dirty="0">
                <a:solidFill>
                  <a:srgbClr val="0000FF"/>
                </a:solidFill>
              </a:rPr>
              <a:t>사용자 입력 가능 텍스트 박스</a:t>
            </a:r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ko-KR" altLang="en-US" sz="700" dirty="0">
                <a:solidFill>
                  <a:srgbClr val="0000FF"/>
                </a:solidFill>
              </a:rPr>
              <a:t>조건 </a:t>
            </a:r>
            <a:r>
              <a:rPr lang="en-US" altLang="ko-KR" sz="700" dirty="0">
                <a:solidFill>
                  <a:srgbClr val="0000FF"/>
                </a:solidFill>
              </a:rPr>
              <a:t>: </a:t>
            </a:r>
            <a:r>
              <a:rPr lang="ko-KR" altLang="en-US" sz="700" dirty="0">
                <a:solidFill>
                  <a:srgbClr val="0000FF"/>
                </a:solidFill>
              </a:rPr>
              <a:t>사용자 </a:t>
            </a:r>
            <a:r>
              <a:rPr lang="en-US" altLang="ko-KR" sz="700" dirty="0">
                <a:solidFill>
                  <a:srgbClr val="0000FF"/>
                </a:solidFill>
              </a:rPr>
              <a:t>VAT </a:t>
            </a:r>
            <a:r>
              <a:rPr lang="ko-KR" altLang="en-US" sz="700" dirty="0">
                <a:solidFill>
                  <a:srgbClr val="0000FF"/>
                </a:solidFill>
              </a:rPr>
              <a:t>항목 </a:t>
            </a:r>
            <a:r>
              <a:rPr lang="ko-KR" altLang="en-US" sz="700" dirty="0" err="1">
                <a:solidFill>
                  <a:srgbClr val="0000FF"/>
                </a:solidFill>
              </a:rPr>
              <a:t>입력시</a:t>
            </a:r>
            <a:r>
              <a:rPr lang="ko-KR" altLang="en-US" sz="700" dirty="0">
                <a:solidFill>
                  <a:srgbClr val="0000FF"/>
                </a:solidFill>
              </a:rPr>
              <a:t> </a:t>
            </a:r>
            <a:r>
              <a:rPr lang="en-US" altLang="ko-KR" sz="700" dirty="0" smtClean="0">
                <a:solidFill>
                  <a:srgbClr val="0000FF"/>
                </a:solidFill>
              </a:rPr>
              <a:t>4-12 </a:t>
            </a:r>
            <a:r>
              <a:rPr lang="ko-KR" altLang="en-US" sz="700" dirty="0">
                <a:solidFill>
                  <a:srgbClr val="0000FF"/>
                </a:solidFill>
              </a:rPr>
              <a:t>항목 </a:t>
            </a:r>
            <a:r>
              <a:rPr lang="ko-KR" altLang="en-US" sz="700" dirty="0" err="1">
                <a:solidFill>
                  <a:srgbClr val="0000FF"/>
                </a:solidFill>
              </a:rPr>
              <a:t>설정값이</a:t>
            </a:r>
            <a:r>
              <a:rPr lang="ko-KR" altLang="en-US" sz="700" dirty="0">
                <a:solidFill>
                  <a:srgbClr val="0000FF"/>
                </a:solidFill>
              </a:rPr>
              <a:t> </a:t>
            </a:r>
            <a:r>
              <a:rPr lang="en-US" altLang="ko-KR" sz="700" dirty="0">
                <a:solidFill>
                  <a:srgbClr val="0000FF"/>
                </a:solidFill>
              </a:rPr>
              <a:t>Y</a:t>
            </a:r>
            <a:r>
              <a:rPr lang="ko-KR" altLang="en-US" sz="700" dirty="0">
                <a:solidFill>
                  <a:srgbClr val="0000FF"/>
                </a:solidFill>
              </a:rPr>
              <a:t>로 자동전환 처리</a:t>
            </a:r>
            <a:r>
              <a:rPr lang="en-US" altLang="ko-KR" sz="700" dirty="0">
                <a:solidFill>
                  <a:srgbClr val="0000FF"/>
                </a:solidFill>
              </a:rPr>
              <a:t>, </a:t>
            </a:r>
            <a:r>
              <a:rPr lang="ko-KR" altLang="en-US" sz="700" dirty="0">
                <a:solidFill>
                  <a:srgbClr val="0000FF"/>
                </a:solidFill>
              </a:rPr>
              <a:t>사용자가 </a:t>
            </a:r>
            <a:r>
              <a:rPr lang="en-US" altLang="ko-KR" sz="700" dirty="0">
                <a:solidFill>
                  <a:srgbClr val="0000FF"/>
                </a:solidFill>
              </a:rPr>
              <a:t>VAT </a:t>
            </a:r>
            <a:r>
              <a:rPr lang="ko-KR" altLang="en-US" sz="700" dirty="0" err="1">
                <a:solidFill>
                  <a:srgbClr val="0000FF"/>
                </a:solidFill>
              </a:rPr>
              <a:t>입력시</a:t>
            </a:r>
            <a:r>
              <a:rPr lang="ko-KR" altLang="en-US" sz="700" dirty="0">
                <a:solidFill>
                  <a:srgbClr val="0000FF"/>
                </a:solidFill>
              </a:rPr>
              <a:t> 입력한 금액이 </a:t>
            </a:r>
            <a:r>
              <a:rPr lang="en-US" altLang="ko-KR" sz="700" dirty="0">
                <a:solidFill>
                  <a:srgbClr val="0000FF"/>
                </a:solidFill>
              </a:rPr>
              <a:t>4-10 </a:t>
            </a:r>
            <a:r>
              <a:rPr lang="ko-KR" altLang="en-US" sz="700" dirty="0">
                <a:solidFill>
                  <a:srgbClr val="0000FF"/>
                </a:solidFill>
              </a:rPr>
              <a:t>항목 금액에 </a:t>
            </a:r>
            <a:r>
              <a:rPr lang="en-US" altLang="ko-KR" sz="700" dirty="0">
                <a:solidFill>
                  <a:srgbClr val="0000FF"/>
                </a:solidFill>
              </a:rPr>
              <a:t>10% </a:t>
            </a:r>
            <a:r>
              <a:rPr lang="ko-KR" altLang="en-US" sz="700" dirty="0">
                <a:solidFill>
                  <a:srgbClr val="0000FF"/>
                </a:solidFill>
              </a:rPr>
              <a:t>과 </a:t>
            </a:r>
            <a:r>
              <a:rPr lang="ko-KR" altLang="en-US" sz="700" dirty="0" err="1">
                <a:solidFill>
                  <a:srgbClr val="0000FF"/>
                </a:solidFill>
              </a:rPr>
              <a:t>상이할시</a:t>
            </a:r>
            <a:r>
              <a:rPr lang="ko-KR" altLang="en-US" sz="700" dirty="0">
                <a:solidFill>
                  <a:srgbClr val="0000FF"/>
                </a:solidFill>
              </a:rPr>
              <a:t> </a:t>
            </a:r>
            <a:r>
              <a:rPr lang="ko-KR" altLang="en-US" sz="700" dirty="0" err="1">
                <a:solidFill>
                  <a:srgbClr val="0000FF"/>
                </a:solidFill>
              </a:rPr>
              <a:t>경고메세지</a:t>
            </a:r>
            <a:r>
              <a:rPr lang="ko-KR" altLang="en-US" sz="700" dirty="0">
                <a:solidFill>
                  <a:srgbClr val="0000FF"/>
                </a:solidFill>
              </a:rPr>
              <a:t> 출력</a:t>
            </a:r>
            <a:r>
              <a:rPr lang="en-US" altLang="ko-KR" sz="700" dirty="0">
                <a:solidFill>
                  <a:srgbClr val="0000FF"/>
                </a:solidFill>
              </a:rPr>
              <a:t>, </a:t>
            </a:r>
            <a:r>
              <a:rPr lang="ko-KR" altLang="en-US" sz="700" dirty="0" err="1">
                <a:solidFill>
                  <a:srgbClr val="0000FF"/>
                </a:solidFill>
              </a:rPr>
              <a:t>경고메세지가</a:t>
            </a:r>
            <a:r>
              <a:rPr lang="ko-KR" altLang="en-US" sz="700" dirty="0">
                <a:solidFill>
                  <a:srgbClr val="0000FF"/>
                </a:solidFill>
              </a:rPr>
              <a:t> </a:t>
            </a:r>
            <a:r>
              <a:rPr lang="ko-KR" altLang="en-US" sz="700" dirty="0" err="1">
                <a:solidFill>
                  <a:srgbClr val="0000FF"/>
                </a:solidFill>
              </a:rPr>
              <a:t>계속진행</a:t>
            </a:r>
            <a:r>
              <a:rPr lang="ko-KR" altLang="en-US" sz="700" dirty="0">
                <a:solidFill>
                  <a:srgbClr val="0000FF"/>
                </a:solidFill>
              </a:rPr>
              <a:t> 여부를 </a:t>
            </a:r>
            <a:r>
              <a:rPr lang="ko-KR" altLang="en-US" sz="700" dirty="0" err="1">
                <a:solidFill>
                  <a:srgbClr val="0000FF"/>
                </a:solidFill>
              </a:rPr>
              <a:t>표시하고사용자가</a:t>
            </a:r>
            <a:r>
              <a:rPr lang="ko-KR" altLang="en-US" sz="700" dirty="0">
                <a:solidFill>
                  <a:srgbClr val="0000FF"/>
                </a:solidFill>
              </a:rPr>
              <a:t> 계속 </a:t>
            </a:r>
            <a:r>
              <a:rPr lang="ko-KR" altLang="en-US" sz="700" dirty="0" err="1">
                <a:solidFill>
                  <a:srgbClr val="0000FF"/>
                </a:solidFill>
              </a:rPr>
              <a:t>진행시</a:t>
            </a:r>
            <a:r>
              <a:rPr lang="ko-KR" altLang="en-US" sz="700" dirty="0">
                <a:solidFill>
                  <a:srgbClr val="0000FF"/>
                </a:solidFill>
              </a:rPr>
              <a:t> 진행 가능 처리</a:t>
            </a:r>
            <a:r>
              <a:rPr lang="en-US" altLang="ko-KR" sz="700" dirty="0">
                <a:solidFill>
                  <a:srgbClr val="0000FF"/>
                </a:solidFill>
              </a:rPr>
              <a:t>(TOTAL AMOUNT VAT </a:t>
            </a:r>
            <a:r>
              <a:rPr lang="ko-KR" altLang="en-US" sz="700" dirty="0">
                <a:solidFill>
                  <a:srgbClr val="0000FF"/>
                </a:solidFill>
              </a:rPr>
              <a:t>합산 처리</a:t>
            </a:r>
            <a:r>
              <a:rPr lang="en-US" altLang="ko-KR" sz="700" dirty="0">
                <a:solidFill>
                  <a:srgbClr val="0000FF"/>
                </a:solidFill>
              </a:rPr>
              <a:t>),</a:t>
            </a:r>
          </a:p>
          <a:p>
            <a:r>
              <a:rPr lang="ko-KR" altLang="en-US" sz="700" dirty="0" smtClean="0">
                <a:solidFill>
                  <a:srgbClr val="FF0000"/>
                </a:solidFill>
              </a:rPr>
              <a:t>통관정산 자료 </a:t>
            </a:r>
            <a:r>
              <a:rPr lang="en-US" altLang="ko-KR" sz="700" dirty="0" smtClean="0">
                <a:solidFill>
                  <a:srgbClr val="FF0000"/>
                </a:solidFill>
              </a:rPr>
              <a:t> </a:t>
            </a:r>
            <a:r>
              <a:rPr lang="ko-KR" altLang="en-US" sz="700" dirty="0" err="1">
                <a:solidFill>
                  <a:srgbClr val="FF0000"/>
                </a:solidFill>
              </a:rPr>
              <a:t>저장시</a:t>
            </a:r>
            <a:r>
              <a:rPr lang="ko-KR" altLang="en-US" sz="700" dirty="0">
                <a:solidFill>
                  <a:srgbClr val="FF0000"/>
                </a:solidFill>
              </a:rPr>
              <a:t> </a:t>
            </a:r>
            <a:r>
              <a:rPr lang="ko-KR" altLang="en-US" sz="700" dirty="0" err="1">
                <a:solidFill>
                  <a:srgbClr val="FF0000"/>
                </a:solidFill>
              </a:rPr>
              <a:t>경고메세지</a:t>
            </a:r>
            <a:r>
              <a:rPr lang="ko-KR" altLang="en-US" sz="700" dirty="0">
                <a:solidFill>
                  <a:srgbClr val="FF0000"/>
                </a:solidFill>
              </a:rPr>
              <a:t> 출력</a:t>
            </a:r>
            <a:r>
              <a:rPr lang="en-US" altLang="ko-KR" sz="700" dirty="0">
                <a:solidFill>
                  <a:srgbClr val="FF0000"/>
                </a:solidFill>
              </a:rPr>
              <a:t>, 4-14 </a:t>
            </a:r>
            <a:r>
              <a:rPr lang="ko-KR" altLang="en-US" sz="700" dirty="0">
                <a:solidFill>
                  <a:srgbClr val="FF0000"/>
                </a:solidFill>
              </a:rPr>
              <a:t>항목을 </a:t>
            </a:r>
            <a:r>
              <a:rPr lang="en-US" altLang="ko-KR" sz="700" dirty="0">
                <a:solidFill>
                  <a:srgbClr val="FF0000"/>
                </a:solidFill>
              </a:rPr>
              <a:t>Y-&gt;N </a:t>
            </a:r>
            <a:r>
              <a:rPr lang="ko-KR" altLang="en-US" sz="700" dirty="0" err="1">
                <a:solidFill>
                  <a:srgbClr val="FF0000"/>
                </a:solidFill>
              </a:rPr>
              <a:t>전환시</a:t>
            </a:r>
            <a:r>
              <a:rPr lang="ko-KR" altLang="en-US" sz="700" dirty="0">
                <a:solidFill>
                  <a:srgbClr val="FF0000"/>
                </a:solidFill>
              </a:rPr>
              <a:t> </a:t>
            </a:r>
            <a:r>
              <a:rPr lang="en-US" altLang="ko-KR" sz="700" dirty="0">
                <a:solidFill>
                  <a:srgbClr val="FF0000"/>
                </a:solidFill>
              </a:rPr>
              <a:t>VAT </a:t>
            </a:r>
            <a:r>
              <a:rPr lang="ko-KR" altLang="en-US" sz="700" dirty="0">
                <a:solidFill>
                  <a:srgbClr val="FF0000"/>
                </a:solidFill>
              </a:rPr>
              <a:t>금액 </a:t>
            </a:r>
            <a:r>
              <a:rPr lang="en-US" altLang="ko-KR" sz="700" dirty="0">
                <a:solidFill>
                  <a:srgbClr val="FF0000"/>
                </a:solidFill>
              </a:rPr>
              <a:t>0 </a:t>
            </a:r>
            <a:r>
              <a:rPr lang="ko-KR" altLang="en-US" sz="700" dirty="0">
                <a:solidFill>
                  <a:srgbClr val="FF0000"/>
                </a:solidFill>
              </a:rPr>
              <a:t>으로 재설정 처리 및 </a:t>
            </a:r>
            <a:r>
              <a:rPr lang="en-US" altLang="ko-KR" sz="700" dirty="0">
                <a:solidFill>
                  <a:srgbClr val="FF0000"/>
                </a:solidFill>
              </a:rPr>
              <a:t>TOTAL AMONT </a:t>
            </a:r>
            <a:r>
              <a:rPr lang="ko-KR" altLang="en-US" sz="700" dirty="0">
                <a:solidFill>
                  <a:srgbClr val="FF0000"/>
                </a:solidFill>
              </a:rPr>
              <a:t>변경 처리</a:t>
            </a:r>
            <a:endParaRPr lang="en-US" altLang="ko-KR" sz="700" dirty="0">
              <a:solidFill>
                <a:srgbClr val="FF0000"/>
              </a:solidFill>
            </a:endParaRPr>
          </a:p>
          <a:p>
            <a:endParaRPr lang="en-US" altLang="ko-KR" sz="700" dirty="0">
              <a:solidFill>
                <a:srgbClr val="FF0000"/>
              </a:solidFill>
            </a:endParaRPr>
          </a:p>
          <a:p>
            <a:r>
              <a:rPr lang="en-US" altLang="ko-KR" sz="700" dirty="0" smtClean="0">
                <a:solidFill>
                  <a:srgbClr val="FF0000"/>
                </a:solidFill>
              </a:rPr>
              <a:t>4-10 </a:t>
            </a:r>
            <a:r>
              <a:rPr lang="ko-KR" altLang="en-US" sz="700" dirty="0">
                <a:solidFill>
                  <a:srgbClr val="FF0000"/>
                </a:solidFill>
              </a:rPr>
              <a:t>항목 비활성처리</a:t>
            </a:r>
            <a:r>
              <a:rPr lang="en-US" altLang="ko-KR" sz="700" dirty="0">
                <a:solidFill>
                  <a:srgbClr val="FF0000"/>
                </a:solidFill>
              </a:rPr>
              <a:t>(</a:t>
            </a:r>
            <a:r>
              <a:rPr lang="ko-KR" altLang="en-US" sz="700" dirty="0">
                <a:solidFill>
                  <a:srgbClr val="FF0000"/>
                </a:solidFill>
              </a:rPr>
              <a:t>사용자 입력 불가능</a:t>
            </a:r>
            <a:r>
              <a:rPr lang="en-US" altLang="ko-KR" sz="7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4-11 </a:t>
            </a:r>
            <a:r>
              <a:rPr lang="ko-KR" altLang="en-US" sz="700" dirty="0" err="1">
                <a:solidFill>
                  <a:srgbClr val="0000FF"/>
                </a:solidFill>
              </a:rPr>
              <a:t>그리드</a:t>
            </a:r>
            <a:r>
              <a:rPr lang="ko-KR" altLang="en-US" sz="700" dirty="0">
                <a:solidFill>
                  <a:srgbClr val="0000FF"/>
                </a:solidFill>
              </a:rPr>
              <a:t> 항목 신규 </a:t>
            </a:r>
            <a:r>
              <a:rPr lang="ko-KR" altLang="en-US" sz="700" dirty="0" err="1">
                <a:solidFill>
                  <a:srgbClr val="0000FF"/>
                </a:solidFill>
              </a:rPr>
              <a:t>입력시</a:t>
            </a:r>
            <a:r>
              <a:rPr lang="ko-KR" altLang="en-US" sz="700" dirty="0">
                <a:solidFill>
                  <a:srgbClr val="0000FF"/>
                </a:solidFill>
              </a:rPr>
              <a:t> 기본값을 </a:t>
            </a:r>
            <a:r>
              <a:rPr lang="en-US" altLang="ko-KR" sz="700" dirty="0">
                <a:solidFill>
                  <a:srgbClr val="0000FF"/>
                </a:solidFill>
              </a:rPr>
              <a:t>Customer Account </a:t>
            </a:r>
            <a:r>
              <a:rPr lang="ko-KR" altLang="en-US" sz="700" dirty="0">
                <a:solidFill>
                  <a:srgbClr val="0000FF"/>
                </a:solidFill>
              </a:rPr>
              <a:t>항목을 동일하게 적용하며</a:t>
            </a:r>
            <a:r>
              <a:rPr lang="en-US" altLang="ko-KR" sz="700" dirty="0">
                <a:solidFill>
                  <a:srgbClr val="0000FF"/>
                </a:solidFill>
              </a:rPr>
              <a:t>, </a:t>
            </a:r>
            <a:r>
              <a:rPr lang="ko-KR" altLang="en-US" sz="700" dirty="0">
                <a:solidFill>
                  <a:srgbClr val="0000FF"/>
                </a:solidFill>
              </a:rPr>
              <a:t>사용자 변경 가능</a:t>
            </a:r>
            <a:r>
              <a:rPr lang="en-US" altLang="ko-KR" sz="700" dirty="0">
                <a:solidFill>
                  <a:srgbClr val="0000FF"/>
                </a:solidFill>
              </a:rPr>
              <a:t>.</a:t>
            </a:r>
          </a:p>
          <a:p>
            <a:r>
              <a:rPr lang="ko-KR" altLang="en-US" sz="700" dirty="0">
                <a:solidFill>
                  <a:srgbClr val="0000FF"/>
                </a:solidFill>
              </a:rPr>
              <a:t>사용자가 </a:t>
            </a:r>
            <a:r>
              <a:rPr lang="en-US" altLang="ko-KR" sz="700" dirty="0">
                <a:solidFill>
                  <a:srgbClr val="0000FF"/>
                </a:solidFill>
              </a:rPr>
              <a:t>Account Code </a:t>
            </a:r>
            <a:r>
              <a:rPr lang="ko-KR" altLang="en-US" sz="700" dirty="0" err="1">
                <a:solidFill>
                  <a:srgbClr val="0000FF"/>
                </a:solidFill>
              </a:rPr>
              <a:t>변경시</a:t>
            </a:r>
            <a:r>
              <a:rPr lang="ko-KR" altLang="en-US" sz="700" dirty="0">
                <a:solidFill>
                  <a:srgbClr val="0000FF"/>
                </a:solidFill>
              </a:rPr>
              <a:t> </a:t>
            </a:r>
            <a:r>
              <a:rPr lang="en-US" altLang="ko-KR" sz="700" dirty="0">
                <a:solidFill>
                  <a:srgbClr val="0000FF"/>
                </a:solidFill>
              </a:rPr>
              <a:t>Customer Account </a:t>
            </a:r>
            <a:r>
              <a:rPr lang="ko-KR" altLang="en-US" sz="700" dirty="0">
                <a:solidFill>
                  <a:srgbClr val="0000FF"/>
                </a:solidFill>
              </a:rPr>
              <a:t>항목과 연동되지 않으며</a:t>
            </a:r>
            <a:r>
              <a:rPr lang="en-US" altLang="ko-KR" sz="700" dirty="0">
                <a:solidFill>
                  <a:srgbClr val="0000FF"/>
                </a:solidFill>
              </a:rPr>
              <a:t>, </a:t>
            </a:r>
            <a:r>
              <a:rPr lang="ko-KR" altLang="en-US" sz="700" dirty="0">
                <a:solidFill>
                  <a:srgbClr val="0000FF"/>
                </a:solidFill>
              </a:rPr>
              <a:t>사용자가 </a:t>
            </a:r>
            <a:r>
              <a:rPr lang="ko-KR" altLang="en-US" sz="700" dirty="0" err="1">
                <a:solidFill>
                  <a:srgbClr val="0000FF"/>
                </a:solidFill>
              </a:rPr>
              <a:t>그리드내</a:t>
            </a:r>
            <a:r>
              <a:rPr lang="ko-KR" altLang="en-US" sz="700" dirty="0">
                <a:solidFill>
                  <a:srgbClr val="0000FF"/>
                </a:solidFill>
              </a:rPr>
              <a:t> 다음 </a:t>
            </a:r>
            <a:r>
              <a:rPr lang="en-US" altLang="ko-KR" sz="700" dirty="0">
                <a:solidFill>
                  <a:srgbClr val="0000FF"/>
                </a:solidFill>
              </a:rPr>
              <a:t>Low </a:t>
            </a:r>
            <a:r>
              <a:rPr lang="ko-KR" altLang="en-US" sz="700" dirty="0">
                <a:solidFill>
                  <a:srgbClr val="0000FF"/>
                </a:solidFill>
              </a:rPr>
              <a:t>이동 </a:t>
            </a:r>
            <a:r>
              <a:rPr lang="ko-KR" altLang="en-US" sz="700" dirty="0" err="1">
                <a:solidFill>
                  <a:srgbClr val="0000FF"/>
                </a:solidFill>
              </a:rPr>
              <a:t>입력시</a:t>
            </a:r>
            <a:r>
              <a:rPr lang="ko-KR" altLang="en-US" sz="700" dirty="0">
                <a:solidFill>
                  <a:srgbClr val="0000FF"/>
                </a:solidFill>
              </a:rPr>
              <a:t> 전 행의 </a:t>
            </a:r>
            <a:r>
              <a:rPr lang="en-US" altLang="ko-KR" sz="700" dirty="0">
                <a:solidFill>
                  <a:srgbClr val="0000FF"/>
                </a:solidFill>
              </a:rPr>
              <a:t>Low  Account Code </a:t>
            </a:r>
            <a:r>
              <a:rPr lang="ko-KR" altLang="en-US" sz="700" dirty="0">
                <a:solidFill>
                  <a:srgbClr val="0000FF"/>
                </a:solidFill>
              </a:rPr>
              <a:t>항목과 동일하게 연동처리</a:t>
            </a:r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FF0000"/>
                </a:solidFill>
              </a:rPr>
              <a:t>4-12, 4-9 </a:t>
            </a:r>
            <a:r>
              <a:rPr lang="ko-KR" altLang="en-US" sz="700" dirty="0" smtClean="0">
                <a:solidFill>
                  <a:srgbClr val="FF0000"/>
                </a:solidFill>
              </a:rPr>
              <a:t>항목과 연계 처리 </a:t>
            </a:r>
            <a:r>
              <a:rPr lang="en-US" altLang="ko-KR" sz="700" dirty="0" smtClean="0">
                <a:solidFill>
                  <a:srgbClr val="FF0000"/>
                </a:solidFill>
              </a:rPr>
              <a:t>-&gt;  </a:t>
            </a:r>
            <a:r>
              <a:rPr lang="en-US" altLang="ko-KR" sz="700" dirty="0">
                <a:solidFill>
                  <a:srgbClr val="FF0000"/>
                </a:solidFill>
              </a:rPr>
              <a:t>Y/N </a:t>
            </a:r>
            <a:r>
              <a:rPr lang="ko-KR" altLang="en-US" sz="700" dirty="0">
                <a:solidFill>
                  <a:srgbClr val="FF0000"/>
                </a:solidFill>
              </a:rPr>
              <a:t>변경 </a:t>
            </a:r>
            <a:r>
              <a:rPr lang="ko-KR" altLang="en-US" sz="700" dirty="0" err="1">
                <a:solidFill>
                  <a:srgbClr val="FF0000"/>
                </a:solidFill>
              </a:rPr>
              <a:t>콤보</a:t>
            </a:r>
            <a:r>
              <a:rPr lang="ko-KR" altLang="en-US" sz="700" dirty="0">
                <a:solidFill>
                  <a:srgbClr val="FF0000"/>
                </a:solidFill>
              </a:rPr>
              <a:t> 박스  제공 </a:t>
            </a:r>
            <a:r>
              <a:rPr lang="ko-KR" altLang="en-US" sz="700" dirty="0" smtClean="0">
                <a:solidFill>
                  <a:srgbClr val="FF0000"/>
                </a:solidFill>
              </a:rPr>
              <a:t>처리 </a:t>
            </a:r>
            <a:endParaRPr lang="en-US" altLang="ko-KR" sz="700" dirty="0" smtClean="0">
              <a:solidFill>
                <a:srgbClr val="FF0000"/>
              </a:solidFill>
            </a:endParaRPr>
          </a:p>
          <a:p>
            <a:r>
              <a:rPr lang="en-US" altLang="ko-KR" sz="700" dirty="0" smtClean="0">
                <a:solidFill>
                  <a:srgbClr val="FF0000"/>
                </a:solidFill>
              </a:rPr>
              <a:t>4-13 </a:t>
            </a:r>
            <a:r>
              <a:rPr lang="ko-KR" altLang="en-US" sz="700" dirty="0" smtClean="0">
                <a:solidFill>
                  <a:srgbClr val="FF0000"/>
                </a:solidFill>
              </a:rPr>
              <a:t>청구 확정시 확정된 청구 번호 표시 처리</a:t>
            </a:r>
            <a:r>
              <a:rPr lang="en-US" altLang="ko-KR" sz="700" dirty="0" smtClean="0">
                <a:solidFill>
                  <a:srgbClr val="FF0000"/>
                </a:solidFill>
              </a:rPr>
              <a:t>(</a:t>
            </a:r>
            <a:r>
              <a:rPr lang="ko-KR" altLang="en-US" sz="700" dirty="0" smtClean="0">
                <a:solidFill>
                  <a:srgbClr val="FF0000"/>
                </a:solidFill>
              </a:rPr>
              <a:t>사용자 입력 불가능</a:t>
            </a:r>
            <a:r>
              <a:rPr lang="en-US" altLang="ko-KR" sz="700" dirty="0" smtClean="0">
                <a:solidFill>
                  <a:srgbClr val="FF0000"/>
                </a:solidFill>
              </a:rPr>
              <a:t>, </a:t>
            </a:r>
            <a:r>
              <a:rPr lang="ko-KR" altLang="en-US" sz="700" dirty="0" smtClean="0">
                <a:solidFill>
                  <a:srgbClr val="FF0000"/>
                </a:solidFill>
              </a:rPr>
              <a:t>비활성처리</a:t>
            </a:r>
            <a:r>
              <a:rPr lang="en-US" altLang="ko-KR" sz="700" dirty="0" smtClean="0">
                <a:solidFill>
                  <a:srgbClr val="FF0000"/>
                </a:solidFill>
              </a:rPr>
              <a:t>)</a:t>
            </a:r>
            <a:endParaRPr lang="en-US" altLang="ko-KR" sz="700" dirty="0">
              <a:solidFill>
                <a:srgbClr val="FF0000"/>
              </a:solidFill>
            </a:endParaRPr>
          </a:p>
          <a:p>
            <a:endParaRPr lang="en-US" altLang="ko-KR" sz="700" b="1" dirty="0" smtClean="0">
              <a:solidFill>
                <a:srgbClr val="0000FF"/>
              </a:solidFill>
            </a:endParaRPr>
          </a:p>
          <a:p>
            <a:endParaRPr lang="en-US" altLang="ko-KR" sz="700" b="1" dirty="0" smtClean="0">
              <a:solidFill>
                <a:srgbClr val="FF0000"/>
              </a:solidFill>
            </a:endParaRPr>
          </a:p>
          <a:p>
            <a:endParaRPr lang="en-US" altLang="ko-KR" sz="700" b="1" dirty="0" smtClean="0">
              <a:solidFill>
                <a:srgbClr val="FF0000"/>
              </a:solidFill>
            </a:endParaRPr>
          </a:p>
          <a:p>
            <a:endParaRPr lang="en-US" altLang="ko-KR" sz="700" b="1" dirty="0" smtClean="0">
              <a:solidFill>
                <a:srgbClr val="FF0000"/>
              </a:solidFill>
            </a:endParaRPr>
          </a:p>
          <a:p>
            <a:endParaRPr lang="en-US" altLang="ko-KR" sz="700" b="1" dirty="0" smtClean="0">
              <a:solidFill>
                <a:srgbClr val="FF0000"/>
              </a:solidFill>
            </a:endParaRPr>
          </a:p>
          <a:p>
            <a:endParaRPr lang="en-US" altLang="ko-KR" sz="700" b="1" dirty="0" smtClean="0">
              <a:solidFill>
                <a:srgbClr val="FF0000"/>
              </a:solidFill>
            </a:endParaRPr>
          </a:p>
          <a:p>
            <a:endParaRPr lang="en-US" altLang="ko-KR" sz="700" b="1" dirty="0" smtClean="0">
              <a:solidFill>
                <a:srgbClr val="FF0000"/>
              </a:solidFill>
            </a:endParaRPr>
          </a:p>
        </p:txBody>
      </p:sp>
      <p:sp>
        <p:nvSpPr>
          <p:cNvPr id="227" name="타원 226"/>
          <p:cNvSpPr/>
          <p:nvPr/>
        </p:nvSpPr>
        <p:spPr>
          <a:xfrm>
            <a:off x="1899210" y="3494890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 smtClean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69" name="타원 168"/>
          <p:cNvSpPr/>
          <p:nvPr/>
        </p:nvSpPr>
        <p:spPr>
          <a:xfrm>
            <a:off x="913081" y="4026229"/>
            <a:ext cx="263246" cy="2596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4-1</a:t>
            </a:r>
          </a:p>
        </p:txBody>
      </p:sp>
      <p:sp>
        <p:nvSpPr>
          <p:cNvPr id="171" name="타원 170"/>
          <p:cNvSpPr/>
          <p:nvPr/>
        </p:nvSpPr>
        <p:spPr>
          <a:xfrm>
            <a:off x="1475916" y="4041068"/>
            <a:ext cx="263246" cy="2596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4-2</a:t>
            </a:r>
          </a:p>
        </p:txBody>
      </p:sp>
      <p:sp>
        <p:nvSpPr>
          <p:cNvPr id="220" name="타원 219"/>
          <p:cNvSpPr/>
          <p:nvPr/>
        </p:nvSpPr>
        <p:spPr>
          <a:xfrm>
            <a:off x="2520032" y="4036123"/>
            <a:ext cx="263246" cy="2596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4-3</a:t>
            </a:r>
          </a:p>
        </p:txBody>
      </p:sp>
      <p:sp>
        <p:nvSpPr>
          <p:cNvPr id="226" name="타원 225"/>
          <p:cNvSpPr/>
          <p:nvPr/>
        </p:nvSpPr>
        <p:spPr>
          <a:xfrm>
            <a:off x="3754749" y="3995260"/>
            <a:ext cx="263246" cy="2596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4-6</a:t>
            </a:r>
          </a:p>
        </p:txBody>
      </p:sp>
      <p:sp>
        <p:nvSpPr>
          <p:cNvPr id="230" name="타원 229"/>
          <p:cNvSpPr/>
          <p:nvPr/>
        </p:nvSpPr>
        <p:spPr>
          <a:xfrm>
            <a:off x="4525038" y="4003143"/>
            <a:ext cx="263246" cy="2596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4-7</a:t>
            </a:r>
          </a:p>
        </p:txBody>
      </p:sp>
      <p:sp>
        <p:nvSpPr>
          <p:cNvPr id="249" name="타원 248"/>
          <p:cNvSpPr/>
          <p:nvPr/>
        </p:nvSpPr>
        <p:spPr>
          <a:xfrm>
            <a:off x="3024088" y="4016335"/>
            <a:ext cx="263246" cy="2596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4-4</a:t>
            </a:r>
          </a:p>
        </p:txBody>
      </p:sp>
      <p:sp>
        <p:nvSpPr>
          <p:cNvPr id="251" name="직사각형 250"/>
          <p:cNvSpPr/>
          <p:nvPr/>
        </p:nvSpPr>
        <p:spPr>
          <a:xfrm>
            <a:off x="146274" y="3978223"/>
            <a:ext cx="9554809" cy="1604763"/>
          </a:xfrm>
          <a:prstGeom prst="rect">
            <a:avLst/>
          </a:prstGeom>
          <a:noFill/>
          <a:ln w="254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253" name="타원 252"/>
          <p:cNvSpPr/>
          <p:nvPr/>
        </p:nvSpPr>
        <p:spPr>
          <a:xfrm>
            <a:off x="10134904" y="1232756"/>
            <a:ext cx="353410" cy="334429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 smtClean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54" name="타원 253"/>
          <p:cNvSpPr/>
          <p:nvPr/>
        </p:nvSpPr>
        <p:spPr>
          <a:xfrm>
            <a:off x="120022" y="3882853"/>
            <a:ext cx="353410" cy="334429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 smtClean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55" name="직사각형 254"/>
          <p:cNvSpPr/>
          <p:nvPr/>
        </p:nvSpPr>
        <p:spPr>
          <a:xfrm>
            <a:off x="-2887990" y="4548572"/>
            <a:ext cx="2736247" cy="701208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 smtClean="0">
                <a:solidFill>
                  <a:srgbClr val="FF0066"/>
                </a:solidFill>
              </a:rPr>
              <a:t>청구일자 </a:t>
            </a:r>
            <a:r>
              <a:rPr lang="en-US" altLang="ko-KR" sz="700" dirty="0" smtClean="0">
                <a:solidFill>
                  <a:srgbClr val="FF0066"/>
                </a:solidFill>
              </a:rPr>
              <a:t>: </a:t>
            </a:r>
            <a:r>
              <a:rPr lang="ko-KR" altLang="en-US" sz="700" dirty="0" smtClean="0">
                <a:solidFill>
                  <a:srgbClr val="FF0066"/>
                </a:solidFill>
              </a:rPr>
              <a:t>시스템 현재일자 기본값 적용</a:t>
            </a:r>
            <a:endParaRPr lang="en-US" altLang="ko-KR" sz="700" dirty="0" smtClean="0">
              <a:solidFill>
                <a:srgbClr val="FF0066"/>
              </a:solidFill>
            </a:endParaRPr>
          </a:p>
          <a:p>
            <a:r>
              <a:rPr lang="ko-KR" altLang="en-US" sz="700" dirty="0" smtClean="0">
                <a:solidFill>
                  <a:srgbClr val="FF0066"/>
                </a:solidFill>
              </a:rPr>
              <a:t>사용자  날짜변경 가능 처리</a:t>
            </a:r>
            <a:endParaRPr lang="en-US" altLang="ko-KR" sz="700" dirty="0" smtClean="0">
              <a:solidFill>
                <a:srgbClr val="FF0066"/>
              </a:solidFill>
            </a:endParaRPr>
          </a:p>
          <a:p>
            <a:r>
              <a:rPr lang="ko-KR" altLang="en-US" sz="700" dirty="0" smtClean="0">
                <a:solidFill>
                  <a:srgbClr val="FF0066"/>
                </a:solidFill>
              </a:rPr>
              <a:t>청구확정시 청구일자 연동 확정처리</a:t>
            </a:r>
            <a:r>
              <a:rPr lang="en-US" altLang="ko-KR" sz="700" dirty="0" smtClean="0">
                <a:solidFill>
                  <a:srgbClr val="FF0066"/>
                </a:solidFill>
              </a:rPr>
              <a:t>(</a:t>
            </a:r>
            <a:r>
              <a:rPr lang="ko-KR" altLang="en-US" sz="700" dirty="0" smtClean="0">
                <a:solidFill>
                  <a:srgbClr val="FF0066"/>
                </a:solidFill>
              </a:rPr>
              <a:t>변경불가능</a:t>
            </a:r>
            <a:r>
              <a:rPr lang="en-US" altLang="ko-KR" sz="700" dirty="0" smtClean="0">
                <a:solidFill>
                  <a:srgbClr val="FF0066"/>
                </a:solidFill>
              </a:rPr>
              <a:t>)</a:t>
            </a:r>
          </a:p>
          <a:p>
            <a:r>
              <a:rPr lang="ko-KR" altLang="en-US" sz="700" dirty="0" smtClean="0">
                <a:solidFill>
                  <a:srgbClr val="FF0066"/>
                </a:solidFill>
              </a:rPr>
              <a:t>확정된 청구번호 </a:t>
            </a:r>
            <a:r>
              <a:rPr lang="ko-KR" altLang="en-US" sz="700" dirty="0" err="1" smtClean="0">
                <a:solidFill>
                  <a:srgbClr val="FF0066"/>
                </a:solidFill>
              </a:rPr>
              <a:t>선택시</a:t>
            </a:r>
            <a:r>
              <a:rPr lang="ko-KR" altLang="en-US" sz="700" dirty="0" smtClean="0">
                <a:solidFill>
                  <a:srgbClr val="FF0066"/>
                </a:solidFill>
              </a:rPr>
              <a:t> 청구일자 연계표시 처리</a:t>
            </a:r>
            <a:r>
              <a:rPr lang="en-US" altLang="ko-KR" sz="700" dirty="0" smtClean="0">
                <a:solidFill>
                  <a:srgbClr val="FF0066"/>
                </a:solidFill>
              </a:rPr>
              <a:t>(</a:t>
            </a:r>
            <a:r>
              <a:rPr lang="ko-KR" altLang="en-US" sz="700" dirty="0" smtClean="0">
                <a:solidFill>
                  <a:srgbClr val="FF0066"/>
                </a:solidFill>
              </a:rPr>
              <a:t>확정된 청구번호</a:t>
            </a:r>
            <a:r>
              <a:rPr lang="en-US" altLang="ko-KR" sz="700" dirty="0" smtClean="0">
                <a:solidFill>
                  <a:srgbClr val="FF0066"/>
                </a:solidFill>
              </a:rPr>
              <a:t>, </a:t>
            </a:r>
            <a:r>
              <a:rPr lang="ko-KR" altLang="en-US" sz="700" dirty="0" smtClean="0">
                <a:solidFill>
                  <a:srgbClr val="FF0066"/>
                </a:solidFill>
              </a:rPr>
              <a:t>청구일자 변경 불가능</a:t>
            </a:r>
            <a:r>
              <a:rPr lang="en-US" altLang="ko-KR" sz="700" dirty="0" smtClean="0">
                <a:solidFill>
                  <a:srgbClr val="FF0066"/>
                </a:solidFill>
              </a:rPr>
              <a:t>)</a:t>
            </a:r>
          </a:p>
          <a:p>
            <a:r>
              <a:rPr lang="en-US" altLang="ko-KR" sz="700" dirty="0" smtClean="0">
                <a:solidFill>
                  <a:srgbClr val="FF0066"/>
                </a:solidFill>
                <a:latin typeface="Rix고딕 M"/>
                <a:ea typeface="Rix고딕 M"/>
              </a:rPr>
              <a:t>※ </a:t>
            </a:r>
            <a:r>
              <a:rPr lang="ko-KR" altLang="en-US" sz="700" dirty="0" smtClean="0">
                <a:solidFill>
                  <a:srgbClr val="FF0066"/>
                </a:solidFill>
                <a:latin typeface="Rix고딕 M"/>
                <a:ea typeface="Rix고딕 M"/>
              </a:rPr>
              <a:t>확정 </a:t>
            </a:r>
            <a:r>
              <a:rPr lang="ko-KR" altLang="en-US" sz="700" dirty="0" err="1" smtClean="0">
                <a:solidFill>
                  <a:srgbClr val="FF0066"/>
                </a:solidFill>
                <a:latin typeface="Rix고딕 M"/>
                <a:ea typeface="Rix고딕 M"/>
              </a:rPr>
              <a:t>취소후</a:t>
            </a:r>
            <a:r>
              <a:rPr lang="ko-KR" altLang="en-US" sz="700" dirty="0" smtClean="0">
                <a:solidFill>
                  <a:srgbClr val="FF0066"/>
                </a:solidFill>
                <a:latin typeface="Rix고딕 M"/>
                <a:ea typeface="Rix고딕 M"/>
              </a:rPr>
              <a:t> 변경 가능 처리로 </a:t>
            </a:r>
            <a:r>
              <a:rPr lang="en-US" altLang="ko-KR" sz="700" dirty="0" smtClean="0">
                <a:solidFill>
                  <a:srgbClr val="FF0066"/>
                </a:solidFill>
                <a:latin typeface="Rix고딕 M"/>
                <a:ea typeface="Rix고딕 M"/>
              </a:rPr>
              <a:t>Rollback </a:t>
            </a:r>
            <a:r>
              <a:rPr lang="ko-KR" altLang="en-US" sz="700" dirty="0" smtClean="0">
                <a:solidFill>
                  <a:srgbClr val="FF0066"/>
                </a:solidFill>
                <a:latin typeface="Rix고딕 M"/>
                <a:ea typeface="Rix고딕 M"/>
              </a:rPr>
              <a:t>기능 제공</a:t>
            </a:r>
            <a:endParaRPr lang="ko-KR" altLang="en-US" sz="700" dirty="0" smtClean="0">
              <a:solidFill>
                <a:srgbClr val="FF0066"/>
              </a:solidFill>
            </a:endParaRPr>
          </a:p>
        </p:txBody>
      </p:sp>
      <p:sp>
        <p:nvSpPr>
          <p:cNvPr id="256" name="타원 255"/>
          <p:cNvSpPr/>
          <p:nvPr/>
        </p:nvSpPr>
        <p:spPr>
          <a:xfrm>
            <a:off x="-3269910" y="4365104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 smtClean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59" name="타원 258"/>
          <p:cNvSpPr/>
          <p:nvPr/>
        </p:nvSpPr>
        <p:spPr>
          <a:xfrm>
            <a:off x="3385973" y="2519723"/>
            <a:ext cx="263246" cy="2596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4-4</a:t>
            </a:r>
          </a:p>
        </p:txBody>
      </p:sp>
      <p:sp>
        <p:nvSpPr>
          <p:cNvPr id="269" name="타원 268"/>
          <p:cNvSpPr/>
          <p:nvPr/>
        </p:nvSpPr>
        <p:spPr>
          <a:xfrm>
            <a:off x="5110426" y="2541511"/>
            <a:ext cx="263246" cy="2596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4-5</a:t>
            </a:r>
          </a:p>
        </p:txBody>
      </p:sp>
      <p:sp>
        <p:nvSpPr>
          <p:cNvPr id="272" name="직사각형 271"/>
          <p:cNvSpPr/>
          <p:nvPr/>
        </p:nvSpPr>
        <p:spPr bwMode="auto">
          <a:xfrm>
            <a:off x="4102228" y="4498969"/>
            <a:ext cx="145996" cy="20651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73" name="직사각형 272"/>
          <p:cNvSpPr/>
          <p:nvPr/>
        </p:nvSpPr>
        <p:spPr>
          <a:xfrm>
            <a:off x="3361311" y="3679972"/>
            <a:ext cx="1755933" cy="224600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rgbClr val="FF0000"/>
                </a:solidFill>
              </a:rPr>
              <a:t>4-6 </a:t>
            </a:r>
            <a:r>
              <a:rPr lang="ko-KR" altLang="en-US" sz="700" dirty="0" smtClean="0">
                <a:solidFill>
                  <a:srgbClr val="FF0000"/>
                </a:solidFill>
              </a:rPr>
              <a:t>운임 유형 </a:t>
            </a:r>
            <a:r>
              <a:rPr lang="en-US" altLang="ko-KR" sz="700" dirty="0" smtClean="0">
                <a:solidFill>
                  <a:srgbClr val="FF0000"/>
                </a:solidFill>
              </a:rPr>
              <a:t>(</a:t>
            </a:r>
            <a:r>
              <a:rPr lang="ko-KR" altLang="en-US" sz="700" dirty="0" smtClean="0">
                <a:solidFill>
                  <a:srgbClr val="FF0000"/>
                </a:solidFill>
              </a:rPr>
              <a:t>코드 </a:t>
            </a:r>
            <a:r>
              <a:rPr lang="ko-KR" altLang="en-US" sz="700" dirty="0" err="1" smtClean="0">
                <a:solidFill>
                  <a:srgbClr val="FF0000"/>
                </a:solidFill>
              </a:rPr>
              <a:t>다음장</a:t>
            </a:r>
            <a:r>
              <a:rPr lang="ko-KR" altLang="en-US" sz="700" dirty="0" smtClean="0">
                <a:solidFill>
                  <a:srgbClr val="FF0000"/>
                </a:solidFill>
              </a:rPr>
              <a:t> 참조</a:t>
            </a:r>
            <a:r>
              <a:rPr lang="en-US" altLang="ko-KR" sz="700" dirty="0" smtClean="0">
                <a:solidFill>
                  <a:srgbClr val="FF0000"/>
                </a:solidFill>
              </a:rPr>
              <a:t>) </a:t>
            </a:r>
            <a:r>
              <a:rPr lang="ko-KR" altLang="en-US" sz="700" dirty="0" smtClean="0">
                <a:solidFill>
                  <a:srgbClr val="FF0000"/>
                </a:solidFill>
              </a:rPr>
              <a:t>선택 </a:t>
            </a:r>
            <a:r>
              <a:rPr lang="ko-KR" altLang="en-US" sz="700" dirty="0" err="1" smtClean="0">
                <a:solidFill>
                  <a:srgbClr val="FF0000"/>
                </a:solidFill>
              </a:rPr>
              <a:t>콤보박스</a:t>
            </a:r>
            <a:r>
              <a:rPr lang="ko-KR" altLang="en-US" sz="700" dirty="0" smtClean="0">
                <a:solidFill>
                  <a:srgbClr val="FF0000"/>
                </a:solidFill>
              </a:rPr>
              <a:t> 제공처리</a:t>
            </a:r>
            <a:endParaRPr lang="ko-KR" altLang="en-US" sz="700" dirty="0">
              <a:solidFill>
                <a:srgbClr val="FF0000"/>
              </a:solidFill>
            </a:endParaRPr>
          </a:p>
        </p:txBody>
      </p:sp>
      <p:sp>
        <p:nvSpPr>
          <p:cNvPr id="196" name="직사각형 195"/>
          <p:cNvSpPr/>
          <p:nvPr/>
        </p:nvSpPr>
        <p:spPr>
          <a:xfrm>
            <a:off x="-2880568" y="2711779"/>
            <a:ext cx="2737425" cy="445909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b="1" dirty="0" smtClean="0">
                <a:solidFill>
                  <a:srgbClr val="000000"/>
                </a:solidFill>
              </a:rPr>
              <a:t>CUR  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기본값  표시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(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외화표기 처리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)</a:t>
            </a:r>
          </a:p>
          <a:p>
            <a:r>
              <a:rPr lang="ko-KR" altLang="en-US" sz="700" b="1" dirty="0" smtClean="0">
                <a:solidFill>
                  <a:srgbClr val="000000"/>
                </a:solidFill>
              </a:rPr>
              <a:t>사용자 선택 가능 처리</a:t>
            </a:r>
            <a:endParaRPr lang="en-US" altLang="ko-KR" sz="700" b="1" dirty="0" smtClean="0">
              <a:solidFill>
                <a:srgbClr val="000000"/>
              </a:solidFill>
            </a:endParaRPr>
          </a:p>
          <a:p>
            <a:r>
              <a:rPr lang="en-US" altLang="ko-KR" sz="700" b="1" dirty="0" smtClean="0">
                <a:solidFill>
                  <a:srgbClr val="000000"/>
                </a:solidFill>
              </a:rPr>
              <a:t>KRW </a:t>
            </a:r>
            <a:r>
              <a:rPr lang="ko-KR" altLang="en-US" sz="700" b="1" dirty="0" err="1" smtClean="0">
                <a:solidFill>
                  <a:srgbClr val="000000"/>
                </a:solidFill>
              </a:rPr>
              <a:t>선택시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 외화 표기를 안하며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, 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원화 합계 금액 표기 처리</a:t>
            </a:r>
            <a:endParaRPr lang="en-US" altLang="ko-KR" sz="700" b="1" dirty="0">
              <a:solidFill>
                <a:srgbClr val="000000"/>
              </a:solidFill>
            </a:endParaRPr>
          </a:p>
        </p:txBody>
      </p:sp>
      <p:sp>
        <p:nvSpPr>
          <p:cNvPr id="198" name="타원 197"/>
          <p:cNvSpPr/>
          <p:nvPr/>
        </p:nvSpPr>
        <p:spPr>
          <a:xfrm>
            <a:off x="-3240608" y="2580144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1-4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-2880568" y="5290780"/>
            <a:ext cx="2728825" cy="1586800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3 </a:t>
            </a:r>
            <a:r>
              <a:rPr lang="ko-KR" altLang="en-US" b="1" dirty="0" smtClean="0">
                <a:solidFill>
                  <a:srgbClr val="FF0000"/>
                </a:solidFill>
              </a:rPr>
              <a:t>버튼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클릭시</a:t>
            </a:r>
            <a:r>
              <a:rPr lang="ko-KR" altLang="en-US" b="1" dirty="0" smtClean="0">
                <a:solidFill>
                  <a:srgbClr val="FF0000"/>
                </a:solidFill>
              </a:rPr>
              <a:t> 기능 설명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sz="700" dirty="0" smtClean="0">
              <a:solidFill>
                <a:srgbClr val="000000"/>
              </a:solidFill>
            </a:endParaRPr>
          </a:p>
          <a:p>
            <a:r>
              <a:rPr lang="en-US" altLang="ko-KR" sz="700" dirty="0" smtClean="0">
                <a:solidFill>
                  <a:srgbClr val="000000"/>
                </a:solidFill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</a:rPr>
              <a:t>통관정산 </a:t>
            </a:r>
            <a:r>
              <a:rPr lang="ko-KR" altLang="en-US" sz="700" dirty="0" err="1" smtClean="0">
                <a:solidFill>
                  <a:srgbClr val="000000"/>
                </a:solidFill>
              </a:rPr>
              <a:t>메인화면에서</a:t>
            </a:r>
            <a:r>
              <a:rPr lang="ko-KR" altLang="en-US" sz="700" dirty="0" smtClean="0">
                <a:solidFill>
                  <a:srgbClr val="000000"/>
                </a:solidFill>
              </a:rPr>
              <a:t>  호출된 </a:t>
            </a:r>
            <a:r>
              <a:rPr lang="en-US" altLang="ko-KR" sz="700" dirty="0" smtClean="0">
                <a:solidFill>
                  <a:srgbClr val="000000"/>
                </a:solidFill>
              </a:rPr>
              <a:t>House B/L 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운임 </a:t>
            </a:r>
            <a:r>
              <a:rPr lang="ko-KR" altLang="en-US" sz="700" b="1" dirty="0">
                <a:solidFill>
                  <a:srgbClr val="000000"/>
                </a:solidFill>
              </a:rPr>
              <a:t>및 부대운임 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내용을 청구항목에 동일하게 호출 처리</a:t>
            </a:r>
            <a:endParaRPr lang="en-US" altLang="ko-KR" sz="700" b="1" dirty="0">
              <a:solidFill>
                <a:srgbClr val="000000"/>
              </a:solidFill>
            </a:endParaRPr>
          </a:p>
          <a:p>
            <a:endParaRPr lang="en-US" altLang="ko-KR" sz="700" b="1" dirty="0" smtClean="0">
              <a:solidFill>
                <a:srgbClr val="0000FF"/>
              </a:solidFill>
            </a:endParaRPr>
          </a:p>
          <a:p>
            <a:r>
              <a:rPr lang="ko-KR" altLang="en-US" sz="700" b="1" dirty="0" smtClean="0">
                <a:solidFill>
                  <a:srgbClr val="0000FF"/>
                </a:solidFill>
              </a:rPr>
              <a:t>조건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1 :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사용자 가 수기로 입력된 상태에서 청구자료를 </a:t>
            </a:r>
            <a:r>
              <a:rPr lang="ko-KR" altLang="en-US" sz="700" b="1" dirty="0" err="1" smtClean="0">
                <a:solidFill>
                  <a:srgbClr val="0000FF"/>
                </a:solidFill>
              </a:rPr>
              <a:t>호출시</a:t>
            </a:r>
            <a:endParaRPr lang="en-US" altLang="ko-KR" sz="700" b="1" dirty="0" smtClean="0">
              <a:solidFill>
                <a:srgbClr val="0000FF"/>
              </a:solidFill>
            </a:endParaRPr>
          </a:p>
          <a:p>
            <a:r>
              <a:rPr lang="ko-KR" altLang="en-US" sz="700" b="1" dirty="0" smtClean="0">
                <a:solidFill>
                  <a:srgbClr val="0000FF"/>
                </a:solidFill>
              </a:rPr>
              <a:t>사용자 마지막 입력된 </a:t>
            </a:r>
            <a:r>
              <a:rPr lang="ko-KR" altLang="en-US" sz="700" b="1" dirty="0" err="1" smtClean="0">
                <a:solidFill>
                  <a:srgbClr val="0000FF"/>
                </a:solidFill>
              </a:rPr>
              <a:t>그다음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Low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항목에 청구자료 호출 처리</a:t>
            </a:r>
            <a:endParaRPr lang="en-US" altLang="ko-KR" sz="700" b="1" dirty="0" smtClean="0">
              <a:solidFill>
                <a:srgbClr val="0000FF"/>
              </a:solidFill>
            </a:endParaRPr>
          </a:p>
          <a:p>
            <a:endParaRPr lang="en-US" altLang="ko-KR" sz="700" b="1" dirty="0" smtClean="0">
              <a:solidFill>
                <a:srgbClr val="FF0000"/>
              </a:solidFill>
            </a:endParaRPr>
          </a:p>
          <a:p>
            <a:r>
              <a:rPr lang="ko-KR" altLang="en-US" sz="700" b="1" dirty="0" smtClean="0">
                <a:solidFill>
                  <a:srgbClr val="FF0000"/>
                </a:solidFill>
              </a:rPr>
              <a:t>조건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2  :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청구자료를 호출한 이후에 사용자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입력시</a:t>
            </a:r>
            <a:endParaRPr lang="en-US" altLang="ko-KR" sz="700" b="1" dirty="0" smtClean="0">
              <a:solidFill>
                <a:srgbClr val="FF0000"/>
              </a:solidFill>
            </a:endParaRPr>
          </a:p>
          <a:p>
            <a:r>
              <a:rPr lang="ko-KR" altLang="en-US" sz="700" b="1" dirty="0" smtClean="0">
                <a:solidFill>
                  <a:srgbClr val="FF0000"/>
                </a:solidFill>
              </a:rPr>
              <a:t>호출된 청구자료 다름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Low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항목부터 입력 가능 처리</a:t>
            </a:r>
            <a:endParaRPr lang="en-US" altLang="ko-KR" sz="700" b="1" dirty="0" smtClean="0">
              <a:solidFill>
                <a:srgbClr val="FF0000"/>
              </a:solidFill>
            </a:endParaRPr>
          </a:p>
          <a:p>
            <a:endParaRPr lang="en-US" altLang="ko-KR" sz="700" b="1" dirty="0">
              <a:solidFill>
                <a:srgbClr val="FF0000"/>
              </a:solidFill>
            </a:endParaRPr>
          </a:p>
          <a:p>
            <a:r>
              <a:rPr lang="ko-KR" altLang="en-US" sz="700" b="1" dirty="0" smtClean="0">
                <a:solidFill>
                  <a:srgbClr val="FF0000"/>
                </a:solidFill>
              </a:rPr>
              <a:t>조건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3 : House B/L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청구자료 가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없을시</a:t>
            </a:r>
            <a:endParaRPr lang="en-US" altLang="ko-KR" sz="700" b="1" dirty="0" smtClean="0">
              <a:solidFill>
                <a:srgbClr val="FF0000"/>
              </a:solidFill>
            </a:endParaRPr>
          </a:p>
          <a:p>
            <a:r>
              <a:rPr lang="ko-KR" altLang="en-US" sz="700" b="1" dirty="0" smtClean="0">
                <a:solidFill>
                  <a:srgbClr val="FF0000"/>
                </a:solidFill>
              </a:rPr>
              <a:t>등록된 청구 자료 없다는 메시지 출력 처리 후  공란 유지</a:t>
            </a:r>
            <a:endParaRPr lang="en-US" altLang="ko-KR" sz="700" b="1" dirty="0" smtClean="0">
              <a:solidFill>
                <a:srgbClr val="FF0000"/>
              </a:solidFill>
            </a:endParaRPr>
          </a:p>
        </p:txBody>
      </p:sp>
      <p:sp>
        <p:nvSpPr>
          <p:cNvPr id="219" name="타원 218"/>
          <p:cNvSpPr/>
          <p:nvPr/>
        </p:nvSpPr>
        <p:spPr>
          <a:xfrm>
            <a:off x="-3233623" y="5077380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 smtClean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23" name="직사각형 222"/>
          <p:cNvSpPr/>
          <p:nvPr/>
        </p:nvSpPr>
        <p:spPr>
          <a:xfrm>
            <a:off x="5440273" y="501138"/>
            <a:ext cx="2736247" cy="653603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 smtClean="0">
                <a:solidFill>
                  <a:srgbClr val="FF0066"/>
                </a:solidFill>
              </a:rPr>
              <a:t>통관정산 청</a:t>
            </a:r>
            <a:r>
              <a:rPr lang="ko-KR" altLang="en-US" sz="700" dirty="0">
                <a:solidFill>
                  <a:srgbClr val="FF0066"/>
                </a:solidFill>
              </a:rPr>
              <a:t>구</a:t>
            </a:r>
            <a:r>
              <a:rPr lang="ko-KR" altLang="en-US" sz="700" dirty="0" smtClean="0">
                <a:solidFill>
                  <a:srgbClr val="FF0066"/>
                </a:solidFill>
              </a:rPr>
              <a:t> </a:t>
            </a:r>
            <a:r>
              <a:rPr lang="ko-KR" altLang="en-US" sz="700" dirty="0" err="1" smtClean="0">
                <a:solidFill>
                  <a:srgbClr val="FF0066"/>
                </a:solidFill>
              </a:rPr>
              <a:t>입력시</a:t>
            </a:r>
            <a:r>
              <a:rPr lang="ko-KR" altLang="en-US" sz="700" dirty="0" smtClean="0">
                <a:solidFill>
                  <a:srgbClr val="FF0066"/>
                </a:solidFill>
              </a:rPr>
              <a:t> 필수 입력사항 체크</a:t>
            </a:r>
            <a:endParaRPr lang="en-US" altLang="ko-KR" sz="700" dirty="0" smtClean="0">
              <a:solidFill>
                <a:srgbClr val="FF0066"/>
              </a:solidFill>
            </a:endParaRPr>
          </a:p>
          <a:p>
            <a:r>
              <a:rPr lang="en-US" altLang="ko-KR" sz="700" dirty="0" smtClean="0">
                <a:solidFill>
                  <a:srgbClr val="FF0066"/>
                </a:solidFill>
              </a:rPr>
              <a:t>CUR, Ex-Rate, Customer Account , </a:t>
            </a:r>
            <a:r>
              <a:rPr lang="ko-KR" altLang="en-US" sz="700" dirty="0" smtClean="0">
                <a:solidFill>
                  <a:srgbClr val="FF0066"/>
                </a:solidFill>
              </a:rPr>
              <a:t>상기 항목은 통관정산</a:t>
            </a:r>
            <a:r>
              <a:rPr lang="en-US" altLang="ko-KR" sz="700" dirty="0" smtClean="0">
                <a:solidFill>
                  <a:srgbClr val="FF0066"/>
                </a:solidFill>
              </a:rPr>
              <a:t> </a:t>
            </a:r>
            <a:r>
              <a:rPr lang="ko-KR" altLang="en-US" sz="700" dirty="0" err="1" smtClean="0">
                <a:solidFill>
                  <a:srgbClr val="FF0066"/>
                </a:solidFill>
              </a:rPr>
              <a:t>저장시</a:t>
            </a:r>
            <a:r>
              <a:rPr lang="ko-KR" altLang="en-US" sz="700" dirty="0" smtClean="0">
                <a:solidFill>
                  <a:srgbClr val="FF0066"/>
                </a:solidFill>
              </a:rPr>
              <a:t> 입력사항 체크하여 </a:t>
            </a:r>
            <a:r>
              <a:rPr lang="ko-KR" altLang="en-US" sz="700" dirty="0" err="1" smtClean="0">
                <a:solidFill>
                  <a:srgbClr val="FF0066"/>
                </a:solidFill>
              </a:rPr>
              <a:t>경고메세지</a:t>
            </a:r>
            <a:r>
              <a:rPr lang="ko-KR" altLang="en-US" sz="700" dirty="0" smtClean="0">
                <a:solidFill>
                  <a:srgbClr val="FF0066"/>
                </a:solidFill>
              </a:rPr>
              <a:t> 출력처리</a:t>
            </a:r>
            <a:endParaRPr lang="en-US" altLang="ko-KR" sz="700" dirty="0" smtClean="0">
              <a:solidFill>
                <a:srgbClr val="FF0066"/>
              </a:solidFill>
            </a:endParaRPr>
          </a:p>
          <a:p>
            <a:r>
              <a:rPr lang="ko-KR" altLang="en-US" sz="700" dirty="0" smtClean="0">
                <a:solidFill>
                  <a:srgbClr val="FF0066"/>
                </a:solidFill>
              </a:rPr>
              <a:t>통관정산</a:t>
            </a:r>
            <a:r>
              <a:rPr lang="en-US" altLang="ko-KR" sz="700" dirty="0" smtClean="0">
                <a:solidFill>
                  <a:srgbClr val="FF0066"/>
                </a:solidFill>
              </a:rPr>
              <a:t> </a:t>
            </a:r>
            <a:r>
              <a:rPr lang="ko-KR" altLang="en-US" sz="700" dirty="0" smtClean="0">
                <a:solidFill>
                  <a:srgbClr val="FF0066"/>
                </a:solidFill>
              </a:rPr>
              <a:t>신규 </a:t>
            </a:r>
            <a:r>
              <a:rPr lang="ko-KR" altLang="en-US" sz="700" dirty="0" err="1" smtClean="0">
                <a:solidFill>
                  <a:srgbClr val="FF0066"/>
                </a:solidFill>
              </a:rPr>
              <a:t>입력시</a:t>
            </a:r>
            <a:r>
              <a:rPr lang="ko-KR" altLang="en-US" sz="700" dirty="0" smtClean="0">
                <a:solidFill>
                  <a:srgbClr val="FF0066"/>
                </a:solidFill>
              </a:rPr>
              <a:t> </a:t>
            </a:r>
            <a:r>
              <a:rPr lang="en-US" altLang="ko-KR" sz="700" dirty="0">
                <a:solidFill>
                  <a:srgbClr val="FF0066"/>
                </a:solidFill>
              </a:rPr>
              <a:t> </a:t>
            </a:r>
            <a:r>
              <a:rPr lang="ko-KR" altLang="en-US" sz="700" dirty="0" smtClean="0">
                <a:solidFill>
                  <a:srgbClr val="FF0066"/>
                </a:solidFill>
              </a:rPr>
              <a:t>시스템에서 환율일자</a:t>
            </a:r>
            <a:r>
              <a:rPr lang="en-US" altLang="ko-KR" sz="700" dirty="0" smtClean="0">
                <a:solidFill>
                  <a:srgbClr val="FF0066"/>
                </a:solidFill>
              </a:rPr>
              <a:t>(</a:t>
            </a:r>
            <a:r>
              <a:rPr lang="ko-KR" altLang="en-US" sz="700" dirty="0" smtClean="0">
                <a:solidFill>
                  <a:srgbClr val="FF0066"/>
                </a:solidFill>
              </a:rPr>
              <a:t>시스템 일자 표기 처리</a:t>
            </a:r>
            <a:r>
              <a:rPr lang="en-US" altLang="ko-KR" sz="700" dirty="0" smtClean="0">
                <a:solidFill>
                  <a:srgbClr val="FF0066"/>
                </a:solidFill>
              </a:rPr>
              <a:t>), CUR (KRW </a:t>
            </a:r>
            <a:r>
              <a:rPr lang="ko-KR" altLang="en-US" sz="700" dirty="0" smtClean="0">
                <a:solidFill>
                  <a:srgbClr val="FF0066"/>
                </a:solidFill>
              </a:rPr>
              <a:t>기본적용</a:t>
            </a:r>
            <a:r>
              <a:rPr lang="en-US" altLang="ko-KR" sz="700" dirty="0" smtClean="0">
                <a:solidFill>
                  <a:srgbClr val="FF0066"/>
                </a:solidFill>
              </a:rPr>
              <a:t>) , Ex-Rate (1) </a:t>
            </a:r>
            <a:r>
              <a:rPr lang="ko-KR" altLang="en-US" sz="700" dirty="0" smtClean="0">
                <a:solidFill>
                  <a:srgbClr val="FF0066"/>
                </a:solidFill>
              </a:rPr>
              <a:t>기본 적용 처리</a:t>
            </a:r>
            <a:endParaRPr lang="en-US" altLang="ko-KR" sz="700" dirty="0" smtClean="0">
              <a:solidFill>
                <a:srgbClr val="FF0066"/>
              </a:solidFill>
            </a:endParaRPr>
          </a:p>
          <a:p>
            <a:r>
              <a:rPr lang="ko-KR" altLang="en-US" sz="700" dirty="0" err="1" smtClean="0">
                <a:solidFill>
                  <a:srgbClr val="0000FF"/>
                </a:solidFill>
              </a:rPr>
              <a:t>청구</a:t>
            </a:r>
            <a:r>
              <a:rPr lang="ko-KR" altLang="en-US" sz="700" dirty="0" err="1">
                <a:solidFill>
                  <a:srgbClr val="0000FF"/>
                </a:solidFill>
              </a:rPr>
              <a:t>처</a:t>
            </a:r>
            <a:r>
              <a:rPr lang="ko-KR" altLang="en-US" sz="700" dirty="0" smtClean="0">
                <a:solidFill>
                  <a:srgbClr val="0000FF"/>
                </a:solidFill>
              </a:rPr>
              <a:t> 항목은 </a:t>
            </a:r>
            <a:r>
              <a:rPr lang="en-US" altLang="ko-KR" sz="700" dirty="0" smtClean="0">
                <a:solidFill>
                  <a:srgbClr val="0000FF"/>
                </a:solidFill>
              </a:rPr>
              <a:t>1-5 </a:t>
            </a:r>
            <a:r>
              <a:rPr lang="ko-KR" altLang="en-US" sz="700" dirty="0" smtClean="0">
                <a:solidFill>
                  <a:srgbClr val="0000FF"/>
                </a:solidFill>
              </a:rPr>
              <a:t>항목 설명 참조</a:t>
            </a:r>
          </a:p>
        </p:txBody>
      </p:sp>
      <p:pic>
        <p:nvPicPr>
          <p:cNvPr id="234" name="그림 233"/>
          <p:cNvPicPr/>
          <p:nvPr/>
        </p:nvPicPr>
        <p:blipFill rotWithShape="1">
          <a:blip r:embed="rId6"/>
          <a:srcRect l="14590" t="44075" r="83163" b="41796"/>
          <a:stretch/>
        </p:blipFill>
        <p:spPr>
          <a:xfrm>
            <a:off x="3794478" y="2577699"/>
            <a:ext cx="183787" cy="20166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6" name="그림 235"/>
          <p:cNvPicPr/>
          <p:nvPr/>
        </p:nvPicPr>
        <p:blipFill rotWithShape="1">
          <a:blip r:embed="rId6"/>
          <a:srcRect l="14590" t="44075" r="83163" b="41796"/>
          <a:stretch/>
        </p:blipFill>
        <p:spPr>
          <a:xfrm>
            <a:off x="3333809" y="2888940"/>
            <a:ext cx="183787" cy="20166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3" name="직사각형 162"/>
          <p:cNvSpPr/>
          <p:nvPr/>
        </p:nvSpPr>
        <p:spPr>
          <a:xfrm>
            <a:off x="8916004" y="1409264"/>
            <a:ext cx="1164622" cy="499357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b="1" dirty="0">
                <a:solidFill>
                  <a:srgbClr val="FF0000"/>
                </a:solidFill>
              </a:rPr>
              <a:t>통관정산 </a:t>
            </a:r>
            <a:r>
              <a:rPr lang="ko-KR" altLang="en-US" sz="700" b="1" dirty="0" err="1">
                <a:solidFill>
                  <a:srgbClr val="FF0000"/>
                </a:solidFill>
              </a:rPr>
              <a:t>메인화면</a:t>
            </a:r>
            <a:r>
              <a:rPr lang="ko-KR" altLang="en-US" sz="700" b="1" dirty="0">
                <a:solidFill>
                  <a:srgbClr val="FF0000"/>
                </a:solidFill>
              </a:rPr>
              <a:t> 수출은 </a:t>
            </a:r>
            <a:r>
              <a:rPr lang="en-US" altLang="ko-KR" sz="700" b="1" dirty="0">
                <a:solidFill>
                  <a:srgbClr val="FF0000"/>
                </a:solidFill>
              </a:rPr>
              <a:t>Shipper, </a:t>
            </a:r>
            <a:r>
              <a:rPr lang="ko-KR" altLang="en-US" sz="700" b="1" dirty="0">
                <a:solidFill>
                  <a:srgbClr val="FF0000"/>
                </a:solidFill>
              </a:rPr>
              <a:t>수입은 </a:t>
            </a:r>
            <a:r>
              <a:rPr lang="en-US" altLang="ko-KR" sz="700" b="1" dirty="0">
                <a:solidFill>
                  <a:srgbClr val="FF0000"/>
                </a:solidFill>
              </a:rPr>
              <a:t>Consignee </a:t>
            </a:r>
            <a:r>
              <a:rPr lang="ko-KR" altLang="en-US" sz="700" b="1" dirty="0">
                <a:solidFill>
                  <a:srgbClr val="FF0000"/>
                </a:solidFill>
              </a:rPr>
              <a:t>항목 연동 처리</a:t>
            </a:r>
            <a:endParaRPr lang="ko-KR" altLang="en-US" sz="700" dirty="0">
              <a:solidFill>
                <a:srgbClr val="FF0000"/>
              </a:solidFill>
            </a:endParaRPr>
          </a:p>
        </p:txBody>
      </p:sp>
      <p:sp>
        <p:nvSpPr>
          <p:cNvPr id="239" name="타원 238"/>
          <p:cNvSpPr/>
          <p:nvPr/>
        </p:nvSpPr>
        <p:spPr>
          <a:xfrm>
            <a:off x="8028644" y="153232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1-6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40" name="타원 239"/>
          <p:cNvSpPr/>
          <p:nvPr/>
        </p:nvSpPr>
        <p:spPr>
          <a:xfrm>
            <a:off x="5076316" y="4002325"/>
            <a:ext cx="263246" cy="2596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4-8</a:t>
            </a:r>
          </a:p>
        </p:txBody>
      </p:sp>
      <p:sp>
        <p:nvSpPr>
          <p:cNvPr id="241" name="타원 240"/>
          <p:cNvSpPr/>
          <p:nvPr/>
        </p:nvSpPr>
        <p:spPr>
          <a:xfrm>
            <a:off x="5724388" y="3969891"/>
            <a:ext cx="354120" cy="315585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4-9</a:t>
            </a:r>
          </a:p>
        </p:txBody>
      </p:sp>
      <p:sp>
        <p:nvSpPr>
          <p:cNvPr id="242" name="타원 241"/>
          <p:cNvSpPr/>
          <p:nvPr/>
        </p:nvSpPr>
        <p:spPr>
          <a:xfrm>
            <a:off x="6198360" y="3962271"/>
            <a:ext cx="354120" cy="315585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4-10</a:t>
            </a:r>
          </a:p>
        </p:txBody>
      </p:sp>
      <p:sp>
        <p:nvSpPr>
          <p:cNvPr id="243" name="타원 242"/>
          <p:cNvSpPr/>
          <p:nvPr/>
        </p:nvSpPr>
        <p:spPr>
          <a:xfrm>
            <a:off x="7026452" y="3977511"/>
            <a:ext cx="354120" cy="315585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4-11</a:t>
            </a:r>
          </a:p>
        </p:txBody>
      </p:sp>
      <p:sp>
        <p:nvSpPr>
          <p:cNvPr id="258" name="타원 257"/>
          <p:cNvSpPr/>
          <p:nvPr/>
        </p:nvSpPr>
        <p:spPr>
          <a:xfrm>
            <a:off x="8172660" y="3969891"/>
            <a:ext cx="354120" cy="315585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4-12</a:t>
            </a:r>
          </a:p>
        </p:txBody>
      </p:sp>
      <p:sp>
        <p:nvSpPr>
          <p:cNvPr id="263" name="직사각형 262"/>
          <p:cNvSpPr/>
          <p:nvPr/>
        </p:nvSpPr>
        <p:spPr>
          <a:xfrm>
            <a:off x="6375420" y="4733163"/>
            <a:ext cx="969148" cy="227846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rgbClr val="FF0000"/>
                </a:solidFill>
              </a:rPr>
              <a:t>4-12</a:t>
            </a:r>
          </a:p>
          <a:p>
            <a:r>
              <a:rPr lang="ko-KR" altLang="en-US" sz="700" dirty="0" smtClean="0">
                <a:solidFill>
                  <a:srgbClr val="FF0000"/>
                </a:solidFill>
              </a:rPr>
              <a:t>입력 비활성 처리</a:t>
            </a:r>
            <a:endParaRPr lang="ko-KR" altLang="en-US" sz="700" dirty="0">
              <a:solidFill>
                <a:srgbClr val="FF0000"/>
              </a:solidFill>
            </a:endParaRPr>
          </a:p>
        </p:txBody>
      </p:sp>
      <p:sp>
        <p:nvSpPr>
          <p:cNvPr id="170" name="직사각형 169"/>
          <p:cNvSpPr/>
          <p:nvPr/>
        </p:nvSpPr>
        <p:spPr>
          <a:xfrm>
            <a:off x="2383683" y="6165304"/>
            <a:ext cx="2586267" cy="288032"/>
          </a:xfrm>
          <a:prstGeom prst="rect">
            <a:avLst/>
          </a:prstGeom>
          <a:noFill/>
          <a:ln w="254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4.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그리드</a:t>
            </a:r>
            <a:r>
              <a:rPr lang="ko-KR" altLang="en-US" b="1" dirty="0" smtClean="0">
                <a:solidFill>
                  <a:srgbClr val="FF0000"/>
                </a:solidFill>
              </a:rPr>
              <a:t> 항목 입력된 합계 값 </a:t>
            </a:r>
            <a:r>
              <a:rPr lang="en-US" altLang="ko-KR" b="1" dirty="0" smtClean="0">
                <a:solidFill>
                  <a:srgbClr val="FF0000"/>
                </a:solidFill>
              </a:rPr>
              <a:t>Sum </a:t>
            </a:r>
            <a:r>
              <a:rPr lang="ko-KR" altLang="en-US" b="1" dirty="0" smtClean="0">
                <a:solidFill>
                  <a:srgbClr val="FF0000"/>
                </a:solidFill>
              </a:rPr>
              <a:t>표시 처리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비활성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입력불가능</a:t>
            </a:r>
            <a:r>
              <a:rPr lang="en-US" altLang="ko-KR" b="1" dirty="0">
                <a:solidFill>
                  <a:srgbClr val="FF0000"/>
                </a:solidFill>
              </a:rPr>
              <a:t>) </a:t>
            </a:r>
            <a:r>
              <a:rPr lang="ko-KR" altLang="en-US" b="1" dirty="0" smtClean="0">
                <a:solidFill>
                  <a:srgbClr val="FF0000"/>
                </a:solidFill>
              </a:rPr>
              <a:t>처리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sp>
        <p:nvSpPr>
          <p:cNvPr id="181" name="직사각형 180"/>
          <p:cNvSpPr/>
          <p:nvPr/>
        </p:nvSpPr>
        <p:spPr>
          <a:xfrm>
            <a:off x="2370683" y="5740518"/>
            <a:ext cx="7413351" cy="343662"/>
          </a:xfrm>
          <a:prstGeom prst="rect">
            <a:avLst/>
          </a:prstGeom>
          <a:noFill/>
          <a:ln w="254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 smtClean="0">
              <a:solidFill>
                <a:srgbClr val="0000FF"/>
              </a:solidFill>
            </a:endParaRPr>
          </a:p>
        </p:txBody>
      </p:sp>
      <p:sp>
        <p:nvSpPr>
          <p:cNvPr id="184" name="직사각형 183"/>
          <p:cNvSpPr/>
          <p:nvPr/>
        </p:nvSpPr>
        <p:spPr>
          <a:xfrm>
            <a:off x="675039" y="3114148"/>
            <a:ext cx="4664523" cy="355043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b="1" dirty="0" smtClean="0">
                <a:solidFill>
                  <a:srgbClr val="FF0000"/>
                </a:solidFill>
              </a:rPr>
              <a:t>통관정산 메인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700" b="1" dirty="0">
                <a:solidFill>
                  <a:srgbClr val="FF0000"/>
                </a:solidFill>
              </a:rPr>
              <a:t>항목과 동일하게 연동 처리 </a:t>
            </a:r>
            <a:endParaRPr lang="ko-KR" altLang="en-US" sz="700" dirty="0">
              <a:solidFill>
                <a:srgbClr val="FF0000"/>
              </a:solidFill>
            </a:endParaRPr>
          </a:p>
          <a:p>
            <a:r>
              <a:rPr lang="en-US" altLang="ko-KR" sz="7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사용자가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Customer </a:t>
            </a:r>
            <a:r>
              <a:rPr lang="en-US" altLang="ko-KR" sz="700" b="1" dirty="0">
                <a:solidFill>
                  <a:srgbClr val="FF0000"/>
                </a:solidFill>
              </a:rPr>
              <a:t>Account  </a:t>
            </a:r>
            <a:r>
              <a:rPr lang="ko-KR" altLang="en-US" sz="700" b="1" dirty="0">
                <a:solidFill>
                  <a:srgbClr val="FF0000"/>
                </a:solidFill>
              </a:rPr>
              <a:t>변경 처리시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통관정산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메인등록화면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화주  항목과  </a:t>
            </a:r>
            <a:r>
              <a:rPr lang="ko-KR" altLang="en-US" sz="700" b="1" dirty="0">
                <a:solidFill>
                  <a:srgbClr val="FF0000"/>
                </a:solidFill>
              </a:rPr>
              <a:t>연동되지 않음</a:t>
            </a:r>
            <a:r>
              <a:rPr lang="en-US" altLang="ko-KR" sz="700" b="1" dirty="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700" dirty="0">
                <a:solidFill>
                  <a:srgbClr val="0000FF"/>
                </a:solidFill>
              </a:rPr>
              <a:t>거래처 코드 </a:t>
            </a:r>
            <a:r>
              <a:rPr lang="ko-KR" altLang="en-US" sz="700" dirty="0" err="1">
                <a:solidFill>
                  <a:srgbClr val="0000FF"/>
                </a:solidFill>
              </a:rPr>
              <a:t>조회시</a:t>
            </a:r>
            <a:r>
              <a:rPr lang="ko-KR" altLang="en-US" sz="700" dirty="0">
                <a:solidFill>
                  <a:srgbClr val="0000FF"/>
                </a:solidFill>
              </a:rPr>
              <a:t> 화주  기본조회</a:t>
            </a:r>
            <a:r>
              <a:rPr lang="en-US" altLang="ko-KR" sz="700" dirty="0">
                <a:solidFill>
                  <a:srgbClr val="0000FF"/>
                </a:solidFill>
              </a:rPr>
              <a:t>, </a:t>
            </a:r>
            <a:r>
              <a:rPr lang="ko-KR" altLang="en-US" sz="700" dirty="0">
                <a:solidFill>
                  <a:srgbClr val="0000FF"/>
                </a:solidFill>
              </a:rPr>
              <a:t>화주코드</a:t>
            </a:r>
            <a:r>
              <a:rPr lang="en-US" altLang="ko-KR" sz="700" dirty="0">
                <a:solidFill>
                  <a:srgbClr val="0000FF"/>
                </a:solidFill>
              </a:rPr>
              <a:t>, </a:t>
            </a:r>
            <a:r>
              <a:rPr lang="ko-KR" altLang="en-US" sz="700" dirty="0">
                <a:solidFill>
                  <a:srgbClr val="0000FF"/>
                </a:solidFill>
              </a:rPr>
              <a:t>한글 상호 조회</a:t>
            </a:r>
          </a:p>
        </p:txBody>
      </p:sp>
      <p:sp>
        <p:nvSpPr>
          <p:cNvPr id="190" name="타원 189"/>
          <p:cNvSpPr/>
          <p:nvPr/>
        </p:nvSpPr>
        <p:spPr>
          <a:xfrm>
            <a:off x="9121011" y="3986653"/>
            <a:ext cx="354120" cy="315585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4-13</a:t>
            </a:r>
          </a:p>
        </p:txBody>
      </p:sp>
      <p:sp>
        <p:nvSpPr>
          <p:cNvPr id="205" name="직사각형 204"/>
          <p:cNvSpPr/>
          <p:nvPr/>
        </p:nvSpPr>
        <p:spPr bwMode="auto">
          <a:xfrm>
            <a:off x="8097025" y="1196752"/>
            <a:ext cx="93973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smtClean="0">
                <a:solidFill>
                  <a:srgbClr val="FFFFFF"/>
                </a:solidFill>
              </a:rPr>
              <a:t>세금계산서 출력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357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직사각형 61"/>
          <p:cNvSpPr/>
          <p:nvPr/>
        </p:nvSpPr>
        <p:spPr>
          <a:xfrm>
            <a:off x="165628" y="526101"/>
            <a:ext cx="9699219" cy="1845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117" name="제목 21"/>
          <p:cNvSpPr txBox="1">
            <a:spLocks/>
          </p:cNvSpPr>
          <p:nvPr/>
        </p:nvSpPr>
        <p:spPr>
          <a:xfrm>
            <a:off x="1027167" y="261213"/>
            <a:ext cx="2060048" cy="251463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1000" dirty="0">
                <a:solidFill>
                  <a:srgbClr val="000000"/>
                </a:solidFill>
              </a:rPr>
              <a:t>입력</a:t>
            </a:r>
            <a:r>
              <a:rPr lang="en-US" altLang="ko-KR" sz="1000" dirty="0">
                <a:solidFill>
                  <a:srgbClr val="000000"/>
                </a:solidFill>
              </a:rPr>
              <a:t>/</a:t>
            </a:r>
            <a:r>
              <a:rPr lang="ko-KR" altLang="en-US" sz="1000" dirty="0">
                <a:solidFill>
                  <a:srgbClr val="000000"/>
                </a:solidFill>
              </a:rPr>
              <a:t>조회</a:t>
            </a:r>
            <a:r>
              <a:rPr lang="en-US" altLang="ko-KR" sz="1000" dirty="0">
                <a:solidFill>
                  <a:srgbClr val="000000"/>
                </a:solidFill>
              </a:rPr>
              <a:t>/</a:t>
            </a:r>
            <a:r>
              <a:rPr lang="ko-KR" altLang="en-US" sz="1000" dirty="0">
                <a:solidFill>
                  <a:srgbClr val="000000"/>
                </a:solidFill>
              </a:rPr>
              <a:t>삭제</a:t>
            </a:r>
            <a:r>
              <a:rPr lang="en-US" altLang="ko-KR" sz="1000" dirty="0">
                <a:solidFill>
                  <a:srgbClr val="000000"/>
                </a:solidFill>
              </a:rPr>
              <a:t>/</a:t>
            </a:r>
            <a:r>
              <a:rPr lang="ko-KR" altLang="en-US" sz="1000" dirty="0">
                <a:solidFill>
                  <a:srgbClr val="000000"/>
                </a:solidFill>
              </a:rPr>
              <a:t>수정</a:t>
            </a:r>
            <a:endParaRPr lang="ko-KR" altLang="en-US" sz="1000" kern="0" dirty="0">
              <a:solidFill>
                <a:srgbClr val="000000"/>
              </a:solidFill>
            </a:endParaRPr>
          </a:p>
        </p:txBody>
      </p:sp>
      <p:sp>
        <p:nvSpPr>
          <p:cNvPr id="61" name="제목 60"/>
          <p:cNvSpPr>
            <a:spLocks noGrp="1"/>
          </p:cNvSpPr>
          <p:nvPr>
            <p:ph type="title" idx="4294967295"/>
          </p:nvPr>
        </p:nvSpPr>
        <p:spPr>
          <a:xfrm>
            <a:off x="5884486" y="44624"/>
            <a:ext cx="2034484" cy="238038"/>
          </a:xfrm>
          <a:prstGeom prst="rect">
            <a:avLst/>
          </a:prstGeom>
        </p:spPr>
        <p:txBody>
          <a:bodyPr/>
          <a:lstStyle/>
          <a:p>
            <a:r>
              <a:rPr lang="ko-KR" altLang="en-US" sz="1100" dirty="0" smtClean="0"/>
              <a:t>통관정산 청구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정산</a:t>
            </a:r>
            <a:r>
              <a:rPr lang="en-US" altLang="ko-KR" sz="1100" dirty="0" smtClean="0"/>
              <a:t>(2/2)</a:t>
            </a:r>
            <a:endParaRPr lang="ko-KR" altLang="en-US" sz="1100" dirty="0"/>
          </a:p>
        </p:txBody>
      </p:sp>
      <p:grpSp>
        <p:nvGrpSpPr>
          <p:cNvPr id="57" name="그룹 56"/>
          <p:cNvGrpSpPr/>
          <p:nvPr/>
        </p:nvGrpSpPr>
        <p:grpSpPr>
          <a:xfrm>
            <a:off x="179772" y="1382979"/>
            <a:ext cx="2115027" cy="236513"/>
            <a:chOff x="920300" y="3392022"/>
            <a:chExt cx="900100" cy="236513"/>
          </a:xfrm>
        </p:grpSpPr>
        <p:sp>
          <p:nvSpPr>
            <p:cNvPr id="58" name="한쪽 모서리가 둥근 사각형 57"/>
            <p:cNvSpPr/>
            <p:nvPr/>
          </p:nvSpPr>
          <p:spPr bwMode="auto">
            <a:xfrm flipH="1">
              <a:off x="920300" y="3392022"/>
              <a:ext cx="796099" cy="236513"/>
            </a:xfrm>
            <a:prstGeom prst="round1Rect">
              <a:avLst>
                <a:gd name="adj" fmla="val 31877"/>
              </a:avLst>
            </a:prstGeom>
            <a:solidFill>
              <a:srgbClr val="004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59" name="TextBox 53"/>
            <p:cNvSpPr txBox="1"/>
            <p:nvPr/>
          </p:nvSpPr>
          <p:spPr>
            <a:xfrm>
              <a:off x="1055245" y="3429000"/>
              <a:ext cx="765155" cy="19723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509544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10190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528632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2038176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547721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3057265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566810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4076354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lnSpc>
                  <a:spcPts val="800"/>
                </a:lnSpc>
              </a:pPr>
              <a:r>
                <a:rPr lang="en-US" altLang="ko-KR" dirty="0" smtClean="0">
                  <a:solidFill>
                    <a:srgbClr val="FFFFFF"/>
                  </a:solidFill>
                  <a:latin typeface="Rix모던고딕 B" pitchFamily="18" charset="-127"/>
                  <a:ea typeface="Rix모던고딕 B" pitchFamily="18" charset="-127"/>
                </a:rPr>
                <a:t>Other Information</a:t>
              </a:r>
              <a:endParaRPr lang="ko-KR" altLang="en-US" dirty="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</p:grpSp>
      <p:sp>
        <p:nvSpPr>
          <p:cNvPr id="74" name="모서리가 둥근 직사각형 73"/>
          <p:cNvSpPr/>
          <p:nvPr/>
        </p:nvSpPr>
        <p:spPr>
          <a:xfrm>
            <a:off x="179772" y="1635318"/>
            <a:ext cx="9654665" cy="647761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05219" y="1750248"/>
            <a:ext cx="5212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청구 서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92" name="모서리가 둥근 직사각형 91"/>
          <p:cNvSpPr/>
          <p:nvPr/>
        </p:nvSpPr>
        <p:spPr>
          <a:xfrm>
            <a:off x="254160" y="1738876"/>
            <a:ext cx="9188644" cy="459243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05219" y="1968941"/>
            <a:ext cx="5501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계 산 서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204108" y="1761694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입금처리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95" name="직사각형 94"/>
          <p:cNvSpPr/>
          <p:nvPr/>
        </p:nvSpPr>
        <p:spPr bwMode="auto">
          <a:xfrm>
            <a:off x="3793139" y="1784908"/>
            <a:ext cx="2279988" cy="17702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204108" y="1980387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미수금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07" name="직사각형 106"/>
          <p:cNvSpPr/>
          <p:nvPr/>
        </p:nvSpPr>
        <p:spPr bwMode="auto">
          <a:xfrm>
            <a:off x="3793139" y="2003601"/>
            <a:ext cx="2279987" cy="17702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8" name="직사각형 107"/>
          <p:cNvSpPr/>
          <p:nvPr/>
        </p:nvSpPr>
        <p:spPr bwMode="auto">
          <a:xfrm>
            <a:off x="894250" y="1773462"/>
            <a:ext cx="2279988" cy="17702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8" name="직사각형 117"/>
          <p:cNvSpPr/>
          <p:nvPr/>
        </p:nvSpPr>
        <p:spPr bwMode="auto">
          <a:xfrm>
            <a:off x="894250" y="1992155"/>
            <a:ext cx="2279987" cy="17702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6150515" y="1779603"/>
            <a:ext cx="5437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</a:rPr>
              <a:t>Remark</a:t>
            </a:r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21" name="표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11797"/>
              </p:ext>
            </p:extLst>
          </p:nvPr>
        </p:nvGraphicFramePr>
        <p:xfrm>
          <a:off x="6644019" y="1815388"/>
          <a:ext cx="2733487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33487"/>
              </a:tblGrid>
              <a:tr h="16520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 dirty="0" smtClean="0"/>
                        <a:t> </a:t>
                      </a:r>
                      <a:endParaRPr lang="ko-KR" altLang="en-US" sz="500" dirty="0"/>
                    </a:p>
                  </a:txBody>
                  <a:tcPr/>
                </a:tc>
              </a:tr>
              <a:tr h="165203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6" name="모서리가 둥근 직사각형 85"/>
          <p:cNvSpPr/>
          <p:nvPr/>
        </p:nvSpPr>
        <p:spPr>
          <a:xfrm>
            <a:off x="188322" y="1248541"/>
            <a:ext cx="9654665" cy="3296583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155" name="직사각형 154"/>
          <p:cNvSpPr/>
          <p:nvPr/>
        </p:nvSpPr>
        <p:spPr bwMode="auto">
          <a:xfrm>
            <a:off x="-1908461" y="107200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err="1" smtClean="0">
                <a:solidFill>
                  <a:srgbClr val="000000"/>
                </a:solidFill>
              </a:rPr>
              <a:t>포워</a:t>
            </a:r>
            <a:r>
              <a:rPr lang="ko-KR" altLang="en-US" dirty="0" err="1">
                <a:solidFill>
                  <a:srgbClr val="000000"/>
                </a:solidFill>
              </a:rPr>
              <a:t>더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6" name="직사각형 155"/>
          <p:cNvSpPr/>
          <p:nvPr/>
        </p:nvSpPr>
        <p:spPr bwMode="auto">
          <a:xfrm>
            <a:off x="-1101291" y="107201"/>
            <a:ext cx="117717" cy="1754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7" name="직사각형 156"/>
          <p:cNvSpPr/>
          <p:nvPr/>
        </p:nvSpPr>
        <p:spPr bwMode="auto">
          <a:xfrm>
            <a:off x="-1908460" y="276071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err="1" smtClean="0">
                <a:solidFill>
                  <a:srgbClr val="000000"/>
                </a:solidFill>
              </a:rPr>
              <a:t>포워더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8" name="직사각형 157"/>
          <p:cNvSpPr/>
          <p:nvPr/>
        </p:nvSpPr>
        <p:spPr bwMode="auto">
          <a:xfrm>
            <a:off x="-1908460" y="430973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mtClean="0">
                <a:solidFill>
                  <a:srgbClr val="000000"/>
                </a:solidFill>
              </a:rPr>
              <a:t>관세사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9" name="직사각형 158"/>
          <p:cNvSpPr/>
          <p:nvPr/>
        </p:nvSpPr>
        <p:spPr bwMode="auto">
          <a:xfrm>
            <a:off x="-1908460" y="606435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창고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60" name="직사각형 159"/>
          <p:cNvSpPr/>
          <p:nvPr/>
        </p:nvSpPr>
        <p:spPr bwMode="auto">
          <a:xfrm>
            <a:off x="-1908460" y="761337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운송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61" name="직사각형 160"/>
          <p:cNvSpPr/>
          <p:nvPr/>
        </p:nvSpPr>
        <p:spPr bwMode="auto">
          <a:xfrm>
            <a:off x="-1908460" y="936799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기타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98" name="타원 197"/>
          <p:cNvSpPr/>
          <p:nvPr/>
        </p:nvSpPr>
        <p:spPr>
          <a:xfrm>
            <a:off x="-1016957" y="-22619"/>
            <a:ext cx="296629" cy="2596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4-6</a:t>
            </a:r>
          </a:p>
        </p:txBody>
      </p:sp>
      <p:sp>
        <p:nvSpPr>
          <p:cNvPr id="209" name="타원 208"/>
          <p:cNvSpPr/>
          <p:nvPr/>
        </p:nvSpPr>
        <p:spPr>
          <a:xfrm>
            <a:off x="12350" y="1088740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 smtClean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10" name="직사각형 209"/>
          <p:cNvSpPr/>
          <p:nvPr/>
        </p:nvSpPr>
        <p:spPr>
          <a:xfrm>
            <a:off x="2170909" y="1375040"/>
            <a:ext cx="2736247" cy="228527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 smtClean="0">
                <a:solidFill>
                  <a:srgbClr val="FF0066"/>
                </a:solidFill>
              </a:rPr>
              <a:t>비활성 항목</a:t>
            </a:r>
            <a:r>
              <a:rPr lang="en-US" altLang="ko-KR" sz="700" dirty="0" smtClean="0">
                <a:solidFill>
                  <a:srgbClr val="FF0066"/>
                </a:solidFill>
              </a:rPr>
              <a:t>(</a:t>
            </a:r>
            <a:r>
              <a:rPr lang="ko-KR" altLang="en-US" sz="700" dirty="0" smtClean="0">
                <a:solidFill>
                  <a:srgbClr val="FF0066"/>
                </a:solidFill>
              </a:rPr>
              <a:t>사용자 입력 불가능</a:t>
            </a:r>
            <a:r>
              <a:rPr lang="en-US" altLang="ko-KR" sz="700" dirty="0" smtClean="0">
                <a:solidFill>
                  <a:srgbClr val="FF0066"/>
                </a:solidFill>
              </a:rPr>
              <a:t>) </a:t>
            </a:r>
            <a:r>
              <a:rPr lang="ko-KR" altLang="en-US" sz="700" dirty="0" smtClean="0">
                <a:solidFill>
                  <a:srgbClr val="FF0066"/>
                </a:solidFill>
              </a:rPr>
              <a:t>처리</a:t>
            </a:r>
          </a:p>
        </p:txBody>
      </p:sp>
      <p:sp>
        <p:nvSpPr>
          <p:cNvPr id="211" name="직사각형 210"/>
          <p:cNvSpPr/>
          <p:nvPr/>
        </p:nvSpPr>
        <p:spPr>
          <a:xfrm>
            <a:off x="176652" y="1677398"/>
            <a:ext cx="5973864" cy="677689"/>
          </a:xfrm>
          <a:prstGeom prst="rect">
            <a:avLst/>
          </a:prstGeom>
          <a:noFill/>
          <a:ln w="254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212" name="직사각형 211"/>
          <p:cNvSpPr/>
          <p:nvPr/>
        </p:nvSpPr>
        <p:spPr>
          <a:xfrm>
            <a:off x="6208532" y="1679605"/>
            <a:ext cx="3300798" cy="67548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213" name="직사각형 212"/>
          <p:cNvSpPr/>
          <p:nvPr/>
        </p:nvSpPr>
        <p:spPr>
          <a:xfrm>
            <a:off x="6156493" y="1187595"/>
            <a:ext cx="2736247" cy="374943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 smtClean="0">
                <a:solidFill>
                  <a:srgbClr val="FF0066"/>
                </a:solidFill>
              </a:rPr>
              <a:t>사용자 입력 가능 텍스트 박스 제공</a:t>
            </a:r>
            <a:endParaRPr lang="en-US" altLang="ko-KR" sz="700" dirty="0" smtClean="0">
              <a:solidFill>
                <a:srgbClr val="FF0066"/>
              </a:solidFill>
            </a:endParaRPr>
          </a:p>
          <a:p>
            <a:r>
              <a:rPr lang="en-US" altLang="ko-KR" sz="700" dirty="0" smtClean="0">
                <a:solidFill>
                  <a:srgbClr val="FF0066"/>
                </a:solidFill>
              </a:rPr>
              <a:t>BL(BL) </a:t>
            </a:r>
            <a:r>
              <a:rPr lang="ko-KR" altLang="en-US" sz="700" dirty="0" err="1" smtClean="0">
                <a:solidFill>
                  <a:srgbClr val="FF0066"/>
                </a:solidFill>
              </a:rPr>
              <a:t>저장시</a:t>
            </a:r>
            <a:r>
              <a:rPr lang="ko-KR" altLang="en-US" sz="700" dirty="0" smtClean="0">
                <a:solidFill>
                  <a:srgbClr val="FF0066"/>
                </a:solidFill>
              </a:rPr>
              <a:t>  </a:t>
            </a:r>
            <a:r>
              <a:rPr lang="en-US" altLang="ko-KR" sz="700" dirty="0" smtClean="0">
                <a:solidFill>
                  <a:srgbClr val="FF0066"/>
                </a:solidFill>
              </a:rPr>
              <a:t>REMARK </a:t>
            </a:r>
            <a:r>
              <a:rPr lang="ko-KR" altLang="en-US" sz="700" dirty="0" smtClean="0">
                <a:solidFill>
                  <a:srgbClr val="FF0066"/>
                </a:solidFill>
              </a:rPr>
              <a:t>항목 같이 저장</a:t>
            </a:r>
            <a:endParaRPr lang="en-US" altLang="ko-KR" sz="700" dirty="0" smtClean="0">
              <a:solidFill>
                <a:srgbClr val="FF0066"/>
              </a:solidFill>
            </a:endParaRPr>
          </a:p>
          <a:p>
            <a:r>
              <a:rPr lang="ko-KR" altLang="en-US" sz="700" dirty="0" smtClean="0">
                <a:solidFill>
                  <a:srgbClr val="FF0066"/>
                </a:solidFill>
              </a:rPr>
              <a:t>지출확정시 </a:t>
            </a:r>
            <a:r>
              <a:rPr lang="en-US" altLang="ko-KR" sz="700" dirty="0" smtClean="0">
                <a:solidFill>
                  <a:srgbClr val="FF0066"/>
                </a:solidFill>
              </a:rPr>
              <a:t>REMARK </a:t>
            </a:r>
            <a:r>
              <a:rPr lang="ko-KR" altLang="en-US" sz="700" dirty="0" smtClean="0">
                <a:solidFill>
                  <a:srgbClr val="FF0066"/>
                </a:solidFill>
              </a:rPr>
              <a:t>항목도 비활성 처리 </a:t>
            </a:r>
            <a:r>
              <a:rPr lang="en-US" altLang="ko-KR" sz="700" dirty="0" smtClean="0">
                <a:solidFill>
                  <a:srgbClr val="FF0066"/>
                </a:solidFill>
              </a:rPr>
              <a:t>(</a:t>
            </a:r>
            <a:r>
              <a:rPr lang="ko-KR" altLang="en-US" sz="700" dirty="0" smtClean="0">
                <a:solidFill>
                  <a:srgbClr val="FF0066"/>
                </a:solidFill>
              </a:rPr>
              <a:t>수정불가능</a:t>
            </a:r>
            <a:r>
              <a:rPr lang="en-US" altLang="ko-KR" sz="700" dirty="0" smtClean="0">
                <a:solidFill>
                  <a:srgbClr val="FF0066"/>
                </a:solidFill>
              </a:rPr>
              <a:t>)</a:t>
            </a:r>
            <a:endParaRPr lang="ko-KR" altLang="en-US" sz="700" dirty="0" smtClean="0">
              <a:solidFill>
                <a:srgbClr val="FF0066"/>
              </a:solidFill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059669"/>
              </p:ext>
            </p:extLst>
          </p:nvPr>
        </p:nvGraphicFramePr>
        <p:xfrm>
          <a:off x="260247" y="2635356"/>
          <a:ext cx="9247065" cy="1621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4944"/>
                <a:gridCol w="1458837"/>
                <a:gridCol w="864096"/>
                <a:gridCol w="1476164"/>
                <a:gridCol w="828092"/>
                <a:gridCol w="1620180"/>
                <a:gridCol w="648072"/>
                <a:gridCol w="1586680"/>
              </a:tblGrid>
              <a:tr h="6034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이월금액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입금일자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입금금액</a:t>
                      </a:r>
                      <a:endParaRPr lang="ko-KR" altLang="en-US" sz="8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합계금액</a:t>
                      </a:r>
                      <a:endParaRPr lang="en-US" altLang="ko-KR" sz="8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</a:tr>
              <a:tr h="509128"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청구일자</a:t>
                      </a:r>
                      <a:endParaRPr lang="ko-KR" altLang="en-US" sz="8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solidFill>
                            <a:srgbClr val="000000"/>
                          </a:solidFill>
                        </a:rPr>
                        <a:t>청구금액</a:t>
                      </a:r>
                      <a:endParaRPr lang="ko-KR" altLang="en-US" sz="80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합계잔액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</a:tr>
              <a:tr h="5091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송금일자</a:t>
                      </a:r>
                      <a:endParaRPr lang="en-US" altLang="ko-KR" sz="8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송금금액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/>
                        <a:t>이월잔액</a:t>
                      </a:r>
                      <a:endParaRPr lang="en-US" altLang="ko-KR" sz="8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8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ko-KR" altLang="en-US" sz="8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5" name="직사각형 34"/>
          <p:cNvSpPr/>
          <p:nvPr/>
        </p:nvSpPr>
        <p:spPr>
          <a:xfrm>
            <a:off x="-3132596" y="2276872"/>
            <a:ext cx="3107267" cy="2952328"/>
          </a:xfrm>
          <a:prstGeom prst="rect">
            <a:avLst/>
          </a:prstGeom>
          <a:solidFill>
            <a:srgbClr val="FFFF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rgbClr val="0000FF"/>
                </a:solidFill>
              </a:rPr>
              <a:t>4-1 </a:t>
            </a:r>
            <a:r>
              <a:rPr lang="ko-KR" altLang="en-US" sz="700" dirty="0" smtClean="0">
                <a:solidFill>
                  <a:srgbClr val="0000FF"/>
                </a:solidFill>
              </a:rPr>
              <a:t>이월금액 </a:t>
            </a:r>
            <a:r>
              <a:rPr lang="en-US" altLang="ko-KR" sz="700" dirty="0" smtClean="0">
                <a:solidFill>
                  <a:srgbClr val="0000FF"/>
                </a:solidFill>
              </a:rPr>
              <a:t>: </a:t>
            </a:r>
            <a:r>
              <a:rPr lang="ko-KR" altLang="en-US" sz="700" dirty="0" smtClean="0">
                <a:solidFill>
                  <a:srgbClr val="0000FF"/>
                </a:solidFill>
              </a:rPr>
              <a:t>사용자 입력 가능 처리</a:t>
            </a:r>
            <a:r>
              <a:rPr lang="en-US" altLang="ko-KR" sz="700" dirty="0" smtClean="0">
                <a:solidFill>
                  <a:srgbClr val="0000FF"/>
                </a:solidFill>
              </a:rPr>
              <a:t>(</a:t>
            </a:r>
            <a:r>
              <a:rPr lang="ko-KR" altLang="en-US" sz="700" dirty="0" smtClean="0">
                <a:solidFill>
                  <a:srgbClr val="0000FF"/>
                </a:solidFill>
              </a:rPr>
              <a:t>숫자만 입력 가능</a:t>
            </a:r>
            <a:r>
              <a:rPr lang="en-US" altLang="ko-KR" sz="700" dirty="0" smtClean="0">
                <a:solidFill>
                  <a:srgbClr val="0000FF"/>
                </a:solidFill>
              </a:rPr>
              <a:t>)</a:t>
            </a: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4-2 </a:t>
            </a:r>
            <a:r>
              <a:rPr lang="ko-KR" altLang="en-US" sz="700" dirty="0" smtClean="0">
                <a:solidFill>
                  <a:srgbClr val="0000FF"/>
                </a:solidFill>
              </a:rPr>
              <a:t>입금일자 </a:t>
            </a:r>
            <a:r>
              <a:rPr lang="en-US" altLang="ko-KR" sz="700" dirty="0" smtClean="0">
                <a:solidFill>
                  <a:srgbClr val="0000FF"/>
                </a:solidFill>
              </a:rPr>
              <a:t>: </a:t>
            </a:r>
            <a:r>
              <a:rPr lang="ko-KR" altLang="en-US" sz="700" dirty="0" smtClean="0">
                <a:solidFill>
                  <a:srgbClr val="0000FF"/>
                </a:solidFill>
              </a:rPr>
              <a:t>시스템일자 기본값 적용처리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4-3 </a:t>
            </a:r>
            <a:r>
              <a:rPr lang="ko-KR" altLang="en-US" sz="700" dirty="0" smtClean="0">
                <a:solidFill>
                  <a:srgbClr val="0000FF"/>
                </a:solidFill>
              </a:rPr>
              <a:t>입금금액 </a:t>
            </a:r>
            <a:r>
              <a:rPr lang="en-US" altLang="ko-KR" sz="700" dirty="0" smtClean="0">
                <a:solidFill>
                  <a:srgbClr val="0000FF"/>
                </a:solidFill>
              </a:rPr>
              <a:t>: </a:t>
            </a:r>
            <a:r>
              <a:rPr lang="ko-KR" altLang="en-US" sz="700" dirty="0" smtClean="0">
                <a:solidFill>
                  <a:srgbClr val="0000FF"/>
                </a:solidFill>
              </a:rPr>
              <a:t>사용자 입력 가능 처리</a:t>
            </a:r>
            <a:r>
              <a:rPr lang="en-US" altLang="ko-KR" sz="700" dirty="0" smtClean="0">
                <a:solidFill>
                  <a:srgbClr val="0000FF"/>
                </a:solidFill>
              </a:rPr>
              <a:t>(</a:t>
            </a:r>
            <a:r>
              <a:rPr lang="ko-KR" altLang="en-US" sz="700" dirty="0" smtClean="0">
                <a:solidFill>
                  <a:srgbClr val="0000FF"/>
                </a:solidFill>
              </a:rPr>
              <a:t>숫자만 입력 가능</a:t>
            </a:r>
            <a:r>
              <a:rPr lang="en-US" altLang="ko-KR" sz="700" dirty="0" smtClean="0">
                <a:solidFill>
                  <a:srgbClr val="0000FF"/>
                </a:solidFill>
              </a:rPr>
              <a:t>)</a:t>
            </a: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4-4 </a:t>
            </a:r>
            <a:r>
              <a:rPr lang="ko-KR" altLang="en-US" sz="700" dirty="0" smtClean="0">
                <a:solidFill>
                  <a:srgbClr val="0000FF"/>
                </a:solidFill>
              </a:rPr>
              <a:t>합계금액 </a:t>
            </a:r>
            <a:r>
              <a:rPr lang="en-US" altLang="ko-KR" sz="700" dirty="0" smtClean="0">
                <a:solidFill>
                  <a:srgbClr val="0000FF"/>
                </a:solidFill>
              </a:rPr>
              <a:t>: </a:t>
            </a:r>
            <a:r>
              <a:rPr lang="ko-KR" altLang="en-US" sz="700" dirty="0" smtClean="0">
                <a:solidFill>
                  <a:srgbClr val="0000FF"/>
                </a:solidFill>
              </a:rPr>
              <a:t>이월금액 </a:t>
            </a:r>
            <a:r>
              <a:rPr lang="en-US" altLang="ko-KR" sz="700" dirty="0" smtClean="0">
                <a:solidFill>
                  <a:srgbClr val="0000FF"/>
                </a:solidFill>
              </a:rPr>
              <a:t>+ </a:t>
            </a:r>
            <a:r>
              <a:rPr lang="ko-KR" altLang="en-US" sz="700" dirty="0" smtClean="0">
                <a:solidFill>
                  <a:srgbClr val="0000FF"/>
                </a:solidFill>
              </a:rPr>
              <a:t>입금금액 </a:t>
            </a:r>
            <a:r>
              <a:rPr lang="en-US" altLang="ko-KR" sz="700" dirty="0" smtClean="0">
                <a:solidFill>
                  <a:srgbClr val="0000FF"/>
                </a:solidFill>
              </a:rPr>
              <a:t>=  </a:t>
            </a:r>
            <a:r>
              <a:rPr lang="ko-KR" altLang="en-US" sz="700" dirty="0" smtClean="0">
                <a:solidFill>
                  <a:srgbClr val="0000FF"/>
                </a:solidFill>
              </a:rPr>
              <a:t>합계금액 </a:t>
            </a:r>
            <a:r>
              <a:rPr lang="en-US" altLang="ko-KR" sz="700" dirty="0" smtClean="0">
                <a:solidFill>
                  <a:srgbClr val="0000FF"/>
                </a:solidFill>
              </a:rPr>
              <a:t>(</a:t>
            </a:r>
            <a:r>
              <a:rPr lang="ko-KR" altLang="en-US" sz="700" dirty="0" smtClean="0">
                <a:solidFill>
                  <a:srgbClr val="0000FF"/>
                </a:solidFill>
              </a:rPr>
              <a:t>합산처리</a:t>
            </a:r>
            <a:r>
              <a:rPr lang="en-US" altLang="ko-KR" sz="700" dirty="0" smtClean="0">
                <a:solidFill>
                  <a:srgbClr val="0000FF"/>
                </a:solidFill>
              </a:rPr>
              <a:t>(Sum) -&gt; </a:t>
            </a:r>
            <a:r>
              <a:rPr lang="ko-KR" altLang="en-US" sz="700" dirty="0" smtClean="0">
                <a:solidFill>
                  <a:srgbClr val="0000FF"/>
                </a:solidFill>
              </a:rPr>
              <a:t>비활성 </a:t>
            </a:r>
            <a:r>
              <a:rPr lang="en-US" altLang="ko-KR" sz="700" dirty="0" smtClean="0">
                <a:solidFill>
                  <a:srgbClr val="0000FF"/>
                </a:solidFill>
              </a:rPr>
              <a:t>)</a:t>
            </a: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4-5 </a:t>
            </a:r>
            <a:r>
              <a:rPr lang="ko-KR" altLang="en-US" sz="700" dirty="0" smtClean="0">
                <a:solidFill>
                  <a:srgbClr val="0000FF"/>
                </a:solidFill>
              </a:rPr>
              <a:t>청구일자 </a:t>
            </a:r>
            <a:r>
              <a:rPr lang="en-US" altLang="ko-KR" sz="700" dirty="0" smtClean="0">
                <a:solidFill>
                  <a:srgbClr val="0000FF"/>
                </a:solidFill>
              </a:rPr>
              <a:t>: </a:t>
            </a:r>
            <a:r>
              <a:rPr lang="ko-KR" altLang="en-US" sz="700" dirty="0" smtClean="0">
                <a:solidFill>
                  <a:srgbClr val="0000FF"/>
                </a:solidFill>
              </a:rPr>
              <a:t>청구일자 연계처리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en-US" altLang="ko-KR" sz="700" b="1" dirty="0">
                <a:solidFill>
                  <a:srgbClr val="FF0000"/>
                </a:solidFill>
              </a:rPr>
              <a:t>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    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복수개의 청구일자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존재시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복수개의 청구번호 존재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)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첫번째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청구일자  화면 표시 처리</a:t>
            </a:r>
            <a:endParaRPr lang="en-US" altLang="ko-KR" sz="700" b="1" dirty="0" smtClean="0">
              <a:solidFill>
                <a:srgbClr val="FF0000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4-6 </a:t>
            </a:r>
            <a:r>
              <a:rPr lang="ko-KR" altLang="en-US" sz="700" dirty="0" smtClean="0">
                <a:solidFill>
                  <a:srgbClr val="0000FF"/>
                </a:solidFill>
              </a:rPr>
              <a:t>청구금액 </a:t>
            </a:r>
            <a:r>
              <a:rPr lang="en-US" altLang="ko-KR" sz="700" dirty="0" smtClean="0">
                <a:solidFill>
                  <a:srgbClr val="0000FF"/>
                </a:solidFill>
              </a:rPr>
              <a:t>: </a:t>
            </a:r>
            <a:r>
              <a:rPr lang="ko-KR" altLang="en-US" sz="700" dirty="0" smtClean="0">
                <a:solidFill>
                  <a:srgbClr val="0000FF"/>
                </a:solidFill>
              </a:rPr>
              <a:t>통관정산 원화금액 합계 표시 처리 </a:t>
            </a:r>
            <a:r>
              <a:rPr lang="en-US" altLang="ko-KR" sz="700" dirty="0" smtClean="0">
                <a:solidFill>
                  <a:srgbClr val="0000FF"/>
                </a:solidFill>
              </a:rPr>
              <a:t>-&gt; </a:t>
            </a:r>
            <a:r>
              <a:rPr lang="ko-KR" altLang="en-US" sz="700" dirty="0" smtClean="0">
                <a:solidFill>
                  <a:srgbClr val="0000FF"/>
                </a:solidFill>
              </a:rPr>
              <a:t>비활성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4-7 </a:t>
            </a:r>
            <a:r>
              <a:rPr lang="ko-KR" altLang="en-US" sz="700" dirty="0" smtClean="0">
                <a:solidFill>
                  <a:srgbClr val="0000FF"/>
                </a:solidFill>
              </a:rPr>
              <a:t>합계잔액 </a:t>
            </a:r>
            <a:r>
              <a:rPr lang="en-US" altLang="ko-KR" sz="700" dirty="0" smtClean="0">
                <a:solidFill>
                  <a:srgbClr val="0000FF"/>
                </a:solidFill>
              </a:rPr>
              <a:t>: </a:t>
            </a:r>
            <a:r>
              <a:rPr lang="ko-KR" altLang="en-US" sz="700" dirty="0" smtClean="0">
                <a:solidFill>
                  <a:srgbClr val="0000FF"/>
                </a:solidFill>
              </a:rPr>
              <a:t>합계금액 </a:t>
            </a:r>
            <a:r>
              <a:rPr lang="en-US" altLang="ko-KR" sz="700" dirty="0" smtClean="0">
                <a:solidFill>
                  <a:srgbClr val="0000FF"/>
                </a:solidFill>
              </a:rPr>
              <a:t>-  </a:t>
            </a:r>
            <a:r>
              <a:rPr lang="ko-KR" altLang="en-US" sz="700" dirty="0" smtClean="0">
                <a:solidFill>
                  <a:srgbClr val="0000FF"/>
                </a:solidFill>
              </a:rPr>
              <a:t>청구금액 </a:t>
            </a:r>
            <a:r>
              <a:rPr lang="en-US" altLang="ko-KR" sz="700" dirty="0" smtClean="0">
                <a:solidFill>
                  <a:srgbClr val="0000FF"/>
                </a:solidFill>
              </a:rPr>
              <a:t>= </a:t>
            </a:r>
            <a:r>
              <a:rPr lang="ko-KR" altLang="en-US" sz="700" dirty="0" smtClean="0">
                <a:solidFill>
                  <a:srgbClr val="0000FF"/>
                </a:solidFill>
              </a:rPr>
              <a:t>합계잔액 </a:t>
            </a:r>
            <a:r>
              <a:rPr lang="en-US" altLang="ko-KR" sz="700" dirty="0" smtClean="0">
                <a:solidFill>
                  <a:srgbClr val="0000FF"/>
                </a:solidFill>
              </a:rPr>
              <a:t>-&gt; </a:t>
            </a:r>
            <a:r>
              <a:rPr lang="ko-KR" altLang="en-US" sz="700" dirty="0" smtClean="0">
                <a:solidFill>
                  <a:srgbClr val="0000FF"/>
                </a:solidFill>
              </a:rPr>
              <a:t>비활성 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en-US" altLang="ko-KR" sz="700" dirty="0">
                <a:solidFill>
                  <a:srgbClr val="0000FF"/>
                </a:solidFill>
              </a:rPr>
              <a:t> </a:t>
            </a:r>
            <a:r>
              <a:rPr lang="en-US" altLang="ko-KR" sz="700" dirty="0" smtClean="0">
                <a:solidFill>
                  <a:srgbClr val="0000FF"/>
                </a:solidFill>
              </a:rPr>
              <a:t>     </a:t>
            </a:r>
            <a:r>
              <a:rPr lang="ko-KR" altLang="en-US" sz="700" dirty="0" smtClean="0">
                <a:solidFill>
                  <a:srgbClr val="0000FF"/>
                </a:solidFill>
              </a:rPr>
              <a:t>송금금액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변경시</a:t>
            </a:r>
            <a:r>
              <a:rPr lang="ko-KR" altLang="en-US" sz="700" dirty="0" smtClean="0">
                <a:solidFill>
                  <a:srgbClr val="0000FF"/>
                </a:solidFill>
              </a:rPr>
              <a:t> 합계 잔액 항목에 변경된 금액 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endParaRPr lang="en-US" altLang="ko-KR" sz="700" b="1" dirty="0" smtClean="0">
              <a:solidFill>
                <a:srgbClr val="FF0000"/>
              </a:solidFill>
            </a:endParaRPr>
          </a:p>
          <a:p>
            <a:r>
              <a:rPr lang="ko-KR" altLang="en-US" sz="700" b="1" dirty="0" smtClean="0">
                <a:solidFill>
                  <a:srgbClr val="FF0000"/>
                </a:solidFill>
              </a:rPr>
              <a:t>예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)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입금금액 </a:t>
            </a:r>
            <a:r>
              <a:rPr lang="en-US" altLang="ko-KR" sz="700" b="1" smtClean="0">
                <a:solidFill>
                  <a:srgbClr val="FF0000"/>
                </a:solidFill>
              </a:rPr>
              <a:t>: 150,000 /  </a:t>
            </a:r>
            <a:r>
              <a:rPr lang="ko-KR" altLang="en-US" sz="700" b="1" smtClean="0">
                <a:solidFill>
                  <a:srgbClr val="FF0000"/>
                </a:solidFill>
              </a:rPr>
              <a:t>입금일자</a:t>
            </a:r>
            <a:endParaRPr lang="en-US" altLang="ko-KR" sz="700" b="1" dirty="0" smtClean="0">
              <a:solidFill>
                <a:srgbClr val="FF0000"/>
              </a:solidFill>
            </a:endParaRPr>
          </a:p>
          <a:p>
            <a:r>
              <a:rPr lang="en-US" altLang="ko-KR" sz="700" b="1" dirty="0">
                <a:solidFill>
                  <a:srgbClr val="FF0000"/>
                </a:solidFill>
              </a:rPr>
              <a:t>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   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합계금액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: 100,000</a:t>
            </a:r>
          </a:p>
          <a:p>
            <a:r>
              <a:rPr lang="en-US" altLang="ko-KR" sz="700" b="1" dirty="0">
                <a:solidFill>
                  <a:srgbClr val="FF0000"/>
                </a:solidFill>
              </a:rPr>
              <a:t>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   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송금금액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:  40,000  / 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송금일자</a:t>
            </a:r>
            <a:endParaRPr lang="en-US" altLang="ko-KR" sz="700" b="1" dirty="0" smtClean="0">
              <a:solidFill>
                <a:srgbClr val="FF0000"/>
              </a:solidFill>
            </a:endParaRPr>
          </a:p>
          <a:p>
            <a:r>
              <a:rPr lang="en-US" altLang="ko-KR" sz="700" b="1" dirty="0">
                <a:solidFill>
                  <a:srgbClr val="FF0000"/>
                </a:solidFill>
              </a:rPr>
              <a:t>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   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합계잔액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:  60,000  </a:t>
            </a:r>
          </a:p>
          <a:p>
            <a:endParaRPr lang="en-US" altLang="ko-KR" sz="700" b="1" dirty="0">
              <a:solidFill>
                <a:srgbClr val="FF0000"/>
              </a:solidFill>
            </a:endParaRPr>
          </a:p>
          <a:p>
            <a:r>
              <a:rPr lang="ko-KR" altLang="en-US" sz="700" b="1" dirty="0" err="1" smtClean="0">
                <a:solidFill>
                  <a:srgbClr val="FF0000"/>
                </a:solidFill>
              </a:rPr>
              <a:t>필요시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합계 잔액은 목록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(List)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으로  화면 표시 처리</a:t>
            </a:r>
            <a:endParaRPr lang="en-US" altLang="ko-KR" sz="700" b="1" dirty="0" smtClean="0">
              <a:solidFill>
                <a:srgbClr val="FF0000"/>
              </a:solidFill>
            </a:endParaRPr>
          </a:p>
          <a:p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4-8 </a:t>
            </a:r>
            <a:r>
              <a:rPr lang="ko-KR" altLang="en-US" sz="700" dirty="0" smtClean="0">
                <a:solidFill>
                  <a:srgbClr val="0000FF"/>
                </a:solidFill>
              </a:rPr>
              <a:t>송금일자 </a:t>
            </a:r>
            <a:r>
              <a:rPr lang="en-US" altLang="ko-KR" sz="700" dirty="0" smtClean="0">
                <a:solidFill>
                  <a:srgbClr val="0000FF"/>
                </a:solidFill>
              </a:rPr>
              <a:t>: </a:t>
            </a:r>
            <a:r>
              <a:rPr lang="ko-KR" altLang="en-US" sz="700" dirty="0" smtClean="0">
                <a:solidFill>
                  <a:srgbClr val="0000FF"/>
                </a:solidFill>
              </a:rPr>
              <a:t>시스템 일자 기본값 적용처리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4-9 </a:t>
            </a:r>
            <a:r>
              <a:rPr lang="ko-KR" altLang="en-US" sz="700" dirty="0" smtClean="0">
                <a:solidFill>
                  <a:srgbClr val="0000FF"/>
                </a:solidFill>
              </a:rPr>
              <a:t>송금금액 </a:t>
            </a:r>
            <a:r>
              <a:rPr lang="en-US" altLang="ko-KR" sz="700" dirty="0" smtClean="0">
                <a:solidFill>
                  <a:srgbClr val="0000FF"/>
                </a:solidFill>
              </a:rPr>
              <a:t>: </a:t>
            </a:r>
            <a:r>
              <a:rPr lang="ko-KR" altLang="en-US" sz="700" dirty="0" smtClean="0">
                <a:solidFill>
                  <a:srgbClr val="0000FF"/>
                </a:solidFill>
              </a:rPr>
              <a:t>합계잔액 연계 처리</a:t>
            </a:r>
            <a:r>
              <a:rPr lang="en-US" altLang="ko-KR" sz="700" dirty="0" smtClean="0">
                <a:solidFill>
                  <a:srgbClr val="0000FF"/>
                </a:solidFill>
              </a:rPr>
              <a:t>(</a:t>
            </a:r>
            <a:r>
              <a:rPr lang="ko-KR" altLang="en-US" sz="700" dirty="0" smtClean="0">
                <a:solidFill>
                  <a:srgbClr val="0000FF"/>
                </a:solidFill>
              </a:rPr>
              <a:t>사용자 수정 가능</a:t>
            </a:r>
            <a:r>
              <a:rPr lang="en-US" altLang="ko-KR" sz="700" dirty="0" smtClean="0">
                <a:solidFill>
                  <a:srgbClr val="0000FF"/>
                </a:solidFill>
              </a:rPr>
              <a:t>)</a:t>
            </a:r>
          </a:p>
          <a:p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4-10 </a:t>
            </a:r>
            <a:r>
              <a:rPr lang="ko-KR" altLang="en-US" sz="700" dirty="0" smtClean="0">
                <a:solidFill>
                  <a:srgbClr val="0000FF"/>
                </a:solidFill>
              </a:rPr>
              <a:t>이월잔액 </a:t>
            </a:r>
            <a:r>
              <a:rPr lang="en-US" altLang="ko-KR" sz="700" dirty="0" smtClean="0">
                <a:solidFill>
                  <a:srgbClr val="0000FF"/>
                </a:solidFill>
              </a:rPr>
              <a:t>: </a:t>
            </a:r>
            <a:r>
              <a:rPr lang="ko-KR" altLang="en-US" sz="700" dirty="0" smtClean="0">
                <a:solidFill>
                  <a:srgbClr val="0000FF"/>
                </a:solidFill>
              </a:rPr>
              <a:t>최종 합계잔액 항목 연동 처리</a:t>
            </a:r>
            <a:r>
              <a:rPr lang="en-US" altLang="ko-KR" sz="700" dirty="0" smtClean="0">
                <a:solidFill>
                  <a:srgbClr val="0000FF"/>
                </a:solidFill>
              </a:rPr>
              <a:t>(</a:t>
            </a:r>
            <a:r>
              <a:rPr lang="ko-KR" altLang="en-US" sz="700" dirty="0" smtClean="0">
                <a:solidFill>
                  <a:srgbClr val="0000FF"/>
                </a:solidFill>
              </a:rPr>
              <a:t>비활성</a:t>
            </a:r>
            <a:r>
              <a:rPr lang="en-US" altLang="ko-KR" sz="700" dirty="0" smtClean="0">
                <a:solidFill>
                  <a:srgbClr val="0000FF"/>
                </a:solidFill>
              </a:rPr>
              <a:t>)  </a:t>
            </a:r>
          </a:p>
          <a:p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  <a:latin typeface="Rix고딕 M"/>
                <a:ea typeface="Rix고딕 M"/>
              </a:rPr>
              <a:t>※ </a:t>
            </a:r>
            <a:r>
              <a:rPr lang="ko-KR" altLang="en-US" b="1" dirty="0" smtClean="0">
                <a:solidFill>
                  <a:srgbClr val="FF0000"/>
                </a:solidFill>
                <a:latin typeface="Rix고딕 M"/>
                <a:ea typeface="Rix고딕 M"/>
              </a:rPr>
              <a:t>통관 </a:t>
            </a:r>
            <a:r>
              <a:rPr lang="en-US" altLang="ko-KR" b="1" dirty="0" smtClean="0">
                <a:solidFill>
                  <a:srgbClr val="FF0000"/>
                </a:solidFill>
                <a:latin typeface="Rix고딕 M"/>
                <a:ea typeface="Rix고딕 M"/>
              </a:rPr>
              <a:t>JOB No </a:t>
            </a:r>
            <a:r>
              <a:rPr lang="ko-KR" altLang="en-US" b="1" dirty="0" smtClean="0">
                <a:solidFill>
                  <a:srgbClr val="FF0000"/>
                </a:solidFill>
                <a:latin typeface="Rix고딕 M"/>
                <a:ea typeface="Rix고딕 M"/>
              </a:rPr>
              <a:t>연동된  신규 통관정산  </a:t>
            </a:r>
            <a:r>
              <a:rPr lang="ko-KR" altLang="en-US" b="1" dirty="0" err="1" smtClean="0">
                <a:solidFill>
                  <a:srgbClr val="FF0000"/>
                </a:solidFill>
                <a:latin typeface="Rix고딕 M"/>
                <a:ea typeface="Rix고딕 M"/>
              </a:rPr>
              <a:t>입력시</a:t>
            </a:r>
            <a:r>
              <a:rPr lang="ko-KR" altLang="en-US" b="1" dirty="0" smtClean="0">
                <a:solidFill>
                  <a:srgbClr val="FF0000"/>
                </a:solidFill>
                <a:latin typeface="Rix고딕 M"/>
                <a:ea typeface="Rix고딕 M"/>
              </a:rPr>
              <a:t> 이월잔액 연계 처리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sz="700" dirty="0">
              <a:solidFill>
                <a:srgbClr val="0000FF"/>
              </a:solidFill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-3479021" y="2118851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 smtClean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39" name="직사각형 38"/>
          <p:cNvSpPr/>
          <p:nvPr/>
        </p:nvSpPr>
        <p:spPr bwMode="auto">
          <a:xfrm>
            <a:off x="3511210" y="2815376"/>
            <a:ext cx="573969" cy="18073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sz="500" dirty="0" smtClean="0">
                <a:solidFill>
                  <a:srgbClr val="000000"/>
                </a:solidFill>
              </a:rPr>
              <a:t>2017-06-19</a:t>
            </a:r>
            <a:endParaRPr lang="ko-KR" altLang="en-US" sz="500" dirty="0">
              <a:solidFill>
                <a:srgbClr val="000000"/>
              </a:solidFill>
            </a:endParaRPr>
          </a:p>
        </p:txBody>
      </p:sp>
      <p:pic>
        <p:nvPicPr>
          <p:cNvPr id="40" name="Picture 12"/>
          <p:cNvPicPr>
            <a:picLocks noChangeAspect="1" noChangeArrowheads="1"/>
          </p:cNvPicPr>
          <p:nvPr/>
        </p:nvPicPr>
        <p:blipFill>
          <a:blip r:embed="rId3" cstate="print"/>
          <a:srcRect l="75599"/>
          <a:stretch>
            <a:fillRect/>
          </a:stretch>
        </p:blipFill>
        <p:spPr bwMode="auto">
          <a:xfrm>
            <a:off x="4125518" y="2813338"/>
            <a:ext cx="213784" cy="192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" name="직사각형 41"/>
          <p:cNvSpPr/>
          <p:nvPr/>
        </p:nvSpPr>
        <p:spPr bwMode="auto">
          <a:xfrm>
            <a:off x="1164944" y="2813338"/>
            <a:ext cx="1197013" cy="26853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4" name="직사각형 43"/>
          <p:cNvSpPr/>
          <p:nvPr/>
        </p:nvSpPr>
        <p:spPr bwMode="auto">
          <a:xfrm>
            <a:off x="3501625" y="3355436"/>
            <a:ext cx="1197013" cy="2685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5" name="직사각형 44"/>
          <p:cNvSpPr/>
          <p:nvPr/>
        </p:nvSpPr>
        <p:spPr bwMode="auto">
          <a:xfrm>
            <a:off x="3501625" y="3842988"/>
            <a:ext cx="1197013" cy="26853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6" name="직사각형 45"/>
          <p:cNvSpPr/>
          <p:nvPr/>
        </p:nvSpPr>
        <p:spPr bwMode="auto">
          <a:xfrm>
            <a:off x="5884486" y="3373570"/>
            <a:ext cx="1197013" cy="2685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7" name="직사각형 46"/>
          <p:cNvSpPr/>
          <p:nvPr/>
        </p:nvSpPr>
        <p:spPr bwMode="auto">
          <a:xfrm>
            <a:off x="5884486" y="3861122"/>
            <a:ext cx="1197013" cy="2685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8" name="직사각형 47"/>
          <p:cNvSpPr/>
          <p:nvPr/>
        </p:nvSpPr>
        <p:spPr bwMode="auto">
          <a:xfrm>
            <a:off x="5868404" y="2813338"/>
            <a:ext cx="1197013" cy="26853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9" name="직사각형 48"/>
          <p:cNvSpPr/>
          <p:nvPr/>
        </p:nvSpPr>
        <p:spPr bwMode="auto">
          <a:xfrm>
            <a:off x="8177614" y="2815376"/>
            <a:ext cx="1197013" cy="2685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1189481" y="3399332"/>
            <a:ext cx="573969" cy="18073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sz="500" dirty="0" smtClean="0">
                <a:solidFill>
                  <a:srgbClr val="000000"/>
                </a:solidFill>
              </a:rPr>
              <a:t>2017-06-19</a:t>
            </a:r>
            <a:endParaRPr lang="ko-KR" altLang="en-US" sz="500" dirty="0">
              <a:solidFill>
                <a:srgbClr val="000000"/>
              </a:solidFill>
            </a:endParaRPr>
          </a:p>
        </p:txBody>
      </p:sp>
      <p:pic>
        <p:nvPicPr>
          <p:cNvPr id="51" name="Picture 12"/>
          <p:cNvPicPr>
            <a:picLocks noChangeAspect="1" noChangeArrowheads="1"/>
          </p:cNvPicPr>
          <p:nvPr/>
        </p:nvPicPr>
        <p:blipFill>
          <a:blip r:embed="rId3" cstate="print"/>
          <a:srcRect l="75599"/>
          <a:stretch>
            <a:fillRect/>
          </a:stretch>
        </p:blipFill>
        <p:spPr bwMode="auto">
          <a:xfrm>
            <a:off x="1803789" y="3397294"/>
            <a:ext cx="213784" cy="192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" name="직사각형 53"/>
          <p:cNvSpPr/>
          <p:nvPr/>
        </p:nvSpPr>
        <p:spPr bwMode="auto">
          <a:xfrm>
            <a:off x="1189481" y="3905018"/>
            <a:ext cx="573969" cy="18073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sz="500" dirty="0" smtClean="0">
                <a:solidFill>
                  <a:srgbClr val="000000"/>
                </a:solidFill>
              </a:rPr>
              <a:t>2017-06-19</a:t>
            </a:r>
            <a:endParaRPr lang="ko-KR" altLang="en-US" sz="500" dirty="0">
              <a:solidFill>
                <a:srgbClr val="000000"/>
              </a:solidFill>
            </a:endParaRPr>
          </a:p>
        </p:txBody>
      </p:sp>
      <p:pic>
        <p:nvPicPr>
          <p:cNvPr id="55" name="Picture 12"/>
          <p:cNvPicPr>
            <a:picLocks noChangeAspect="1" noChangeArrowheads="1"/>
          </p:cNvPicPr>
          <p:nvPr/>
        </p:nvPicPr>
        <p:blipFill>
          <a:blip r:embed="rId3" cstate="print"/>
          <a:srcRect l="75599"/>
          <a:stretch>
            <a:fillRect/>
          </a:stretch>
        </p:blipFill>
        <p:spPr bwMode="auto">
          <a:xfrm>
            <a:off x="1803789" y="3902980"/>
            <a:ext cx="213784" cy="192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" name="타원 55"/>
          <p:cNvSpPr/>
          <p:nvPr/>
        </p:nvSpPr>
        <p:spPr>
          <a:xfrm>
            <a:off x="-25329" y="2561135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 smtClean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179388" y="2538332"/>
            <a:ext cx="9397428" cy="1790768"/>
          </a:xfrm>
          <a:prstGeom prst="rect">
            <a:avLst/>
          </a:prstGeom>
          <a:noFill/>
          <a:ln w="254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63" name="타원 62"/>
          <p:cNvSpPr/>
          <p:nvPr/>
        </p:nvSpPr>
        <p:spPr>
          <a:xfrm>
            <a:off x="664498" y="263535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4-1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64" name="타원 63"/>
          <p:cNvSpPr/>
          <p:nvPr/>
        </p:nvSpPr>
        <p:spPr>
          <a:xfrm>
            <a:off x="3001566" y="2572848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4-2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65" name="타원 64"/>
          <p:cNvSpPr/>
          <p:nvPr/>
        </p:nvSpPr>
        <p:spPr>
          <a:xfrm>
            <a:off x="5291717" y="2598911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4-3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8177614" y="2554024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4-4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67" name="타원 66"/>
          <p:cNvSpPr/>
          <p:nvPr/>
        </p:nvSpPr>
        <p:spPr>
          <a:xfrm>
            <a:off x="693352" y="3235191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4-5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68" name="타원 67"/>
          <p:cNvSpPr/>
          <p:nvPr/>
        </p:nvSpPr>
        <p:spPr>
          <a:xfrm>
            <a:off x="5286852" y="3160891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4-7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5338769" y="3759195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4-10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70" name="타원 69"/>
          <p:cNvSpPr/>
          <p:nvPr/>
        </p:nvSpPr>
        <p:spPr>
          <a:xfrm>
            <a:off x="3001566" y="3235191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4-6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71" name="타원 70"/>
          <p:cNvSpPr/>
          <p:nvPr/>
        </p:nvSpPr>
        <p:spPr>
          <a:xfrm>
            <a:off x="3042090" y="3784773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4-9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72" name="타원 71"/>
          <p:cNvSpPr/>
          <p:nvPr/>
        </p:nvSpPr>
        <p:spPr>
          <a:xfrm>
            <a:off x="703131" y="3756254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4-8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7036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65628" y="526101"/>
            <a:ext cx="9699219" cy="1845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23723" y="568500"/>
            <a:ext cx="1621197" cy="191235"/>
          </a:xfrm>
          <a:prstGeom prst="rect">
            <a:avLst/>
          </a:prstGeom>
          <a:solidFill>
            <a:srgbClr val="FFCC66"/>
          </a:solidFill>
          <a:ln w="3175"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rgbClr val="000000"/>
                </a:solidFill>
              </a:rPr>
              <a:t>통관정산 비용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215776" y="2580760"/>
            <a:ext cx="688805" cy="165621"/>
          </a:xfrm>
          <a:prstGeom prst="roundRect">
            <a:avLst/>
          </a:prstGeom>
          <a:solidFill>
            <a:srgbClr val="0066FF"/>
          </a:solidFill>
          <a:ln w="3175">
            <a:solidFill>
              <a:schemeClr val="bg2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FFFFFF"/>
                </a:solidFill>
              </a:rPr>
              <a:t>Ex-Rate</a:t>
            </a:r>
            <a:endParaRPr lang="ko-KR" altLang="en-US" b="1" dirty="0" err="1" smtClean="0">
              <a:solidFill>
                <a:srgbClr val="FFFFFF"/>
              </a:solidFill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1403908" y="2580760"/>
            <a:ext cx="865742" cy="16557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FFFFFF">
                    <a:lumMod val="50000"/>
                  </a:srgbClr>
                </a:solidFill>
              </a:rPr>
              <a:t>2017-01-01</a:t>
            </a: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2120096" y="2580760"/>
            <a:ext cx="149553" cy="16557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FFFFFF">
                    <a:lumMod val="50000"/>
                  </a:srgbClr>
                </a:solidFill>
              </a:rPr>
              <a:t>▼</a:t>
            </a: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021952" y="2889520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담당자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7" name="직사각형 36"/>
          <p:cNvSpPr/>
          <p:nvPr/>
        </p:nvSpPr>
        <p:spPr bwMode="auto">
          <a:xfrm>
            <a:off x="3488358" y="2920336"/>
            <a:ext cx="865742" cy="16557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chemeClr val="tx1"/>
                </a:solidFill>
              </a:rPr>
              <a:t>홍길동 과장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 bwMode="auto">
          <a:xfrm>
            <a:off x="5364348" y="2924944"/>
            <a:ext cx="1002408" cy="16557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chemeClr val="tx1"/>
                </a:solidFill>
              </a:rPr>
              <a:t>+82-2-368-95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 bwMode="auto">
          <a:xfrm>
            <a:off x="935856" y="1929976"/>
            <a:ext cx="1785193" cy="14714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FFFFFF">
                    <a:lumMod val="50000"/>
                  </a:srgbClr>
                </a:solidFill>
              </a:rPr>
              <a:t>FDA00S-12080004</a:t>
            </a: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2730544" y="1929976"/>
            <a:ext cx="149556" cy="14634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FFFFFF">
                    <a:lumMod val="50000"/>
                  </a:srgbClr>
                </a:solidFill>
              </a:rPr>
              <a:t>▼</a:t>
            </a: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grpSp>
        <p:nvGrpSpPr>
          <p:cNvPr id="53" name="그룹 52"/>
          <p:cNvGrpSpPr/>
          <p:nvPr/>
        </p:nvGrpSpPr>
        <p:grpSpPr>
          <a:xfrm>
            <a:off x="8280672" y="3699030"/>
            <a:ext cx="462396" cy="215444"/>
            <a:chOff x="4719504" y="3630808"/>
            <a:chExt cx="462396" cy="215444"/>
          </a:xfrm>
        </p:grpSpPr>
        <p:sp>
          <p:nvSpPr>
            <p:cNvPr id="57" name="TextBox 56"/>
            <p:cNvSpPr txBox="1"/>
            <p:nvPr/>
          </p:nvSpPr>
          <p:spPr>
            <a:xfrm>
              <a:off x="4792050" y="3630808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dirty="0" smtClean="0">
                  <a:solidFill>
                    <a:srgbClr val="000000"/>
                  </a:solidFill>
                </a:rPr>
                <a:t>추</a:t>
              </a:r>
              <a:r>
                <a:rPr lang="ko-KR" altLang="en-US" dirty="0">
                  <a:solidFill>
                    <a:srgbClr val="000000"/>
                  </a:solidFill>
                </a:rPr>
                <a:t>가</a:t>
              </a:r>
            </a:p>
          </p:txBody>
        </p:sp>
        <p:pic>
          <p:nvPicPr>
            <p:cNvPr id="58" name="그림 5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19504" y="3654597"/>
              <a:ext cx="142857" cy="133333"/>
            </a:xfrm>
            <a:prstGeom prst="rect">
              <a:avLst/>
            </a:prstGeom>
          </p:spPr>
        </p:pic>
      </p:grpSp>
      <p:grpSp>
        <p:nvGrpSpPr>
          <p:cNvPr id="54" name="그룹 53"/>
          <p:cNvGrpSpPr/>
          <p:nvPr/>
        </p:nvGrpSpPr>
        <p:grpSpPr>
          <a:xfrm>
            <a:off x="8714494" y="3699032"/>
            <a:ext cx="540060" cy="215444"/>
            <a:chOff x="5868404" y="4097745"/>
            <a:chExt cx="540060" cy="215444"/>
          </a:xfrm>
        </p:grpSpPr>
        <p:sp>
          <p:nvSpPr>
            <p:cNvPr id="55" name="TextBox 54"/>
            <p:cNvSpPr txBox="1"/>
            <p:nvPr/>
          </p:nvSpPr>
          <p:spPr>
            <a:xfrm>
              <a:off x="6018614" y="4097745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dirty="0" smtClean="0">
                  <a:solidFill>
                    <a:srgbClr val="000000"/>
                  </a:solidFill>
                </a:rPr>
                <a:t>삭제</a:t>
              </a:r>
              <a:endParaRPr lang="ko-KR" altLang="en-US" dirty="0">
                <a:solidFill>
                  <a:srgbClr val="000000"/>
                </a:solidFill>
              </a:endParaRPr>
            </a:p>
          </p:txBody>
        </p:sp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68404" y="4129109"/>
              <a:ext cx="142857" cy="123810"/>
            </a:xfrm>
            <a:prstGeom prst="rect">
              <a:avLst/>
            </a:prstGeom>
          </p:spPr>
        </p:pic>
      </p:grpSp>
      <p:sp>
        <p:nvSpPr>
          <p:cNvPr id="62" name="모서리가 둥근 직사각형 61"/>
          <p:cNvSpPr/>
          <p:nvPr/>
        </p:nvSpPr>
        <p:spPr>
          <a:xfrm>
            <a:off x="188322" y="4056853"/>
            <a:ext cx="9654665" cy="2288471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pic>
        <p:nvPicPr>
          <p:cNvPr id="64" name="그림 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386" y="3701308"/>
            <a:ext cx="209944" cy="176353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4" name="그룹 3"/>
          <p:cNvGrpSpPr/>
          <p:nvPr/>
        </p:nvGrpSpPr>
        <p:grpSpPr>
          <a:xfrm>
            <a:off x="8666893" y="2574104"/>
            <a:ext cx="873919" cy="215444"/>
            <a:chOff x="10828765" y="4473116"/>
            <a:chExt cx="873919" cy="215444"/>
          </a:xfrm>
        </p:grpSpPr>
        <p:sp>
          <p:nvSpPr>
            <p:cNvPr id="76" name="TextBox 75"/>
            <p:cNvSpPr txBox="1"/>
            <p:nvPr/>
          </p:nvSpPr>
          <p:spPr>
            <a:xfrm>
              <a:off x="10874935" y="4473116"/>
              <a:ext cx="40588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>
                  <a:solidFill>
                    <a:srgbClr val="000000"/>
                  </a:solidFill>
                </a:rPr>
                <a:t>CUR</a:t>
              </a:r>
              <a:endParaRPr lang="ko-KR" altLang="en-US" dirty="0">
                <a:solidFill>
                  <a:srgbClr val="000000"/>
                </a:solidFill>
              </a:endParaRPr>
            </a:p>
          </p:txBody>
        </p:sp>
        <p:grpSp>
          <p:nvGrpSpPr>
            <p:cNvPr id="77" name="그룹 76"/>
            <p:cNvGrpSpPr/>
            <p:nvPr/>
          </p:nvGrpSpPr>
          <p:grpSpPr>
            <a:xfrm>
              <a:off x="10828765" y="4521564"/>
              <a:ext cx="104128" cy="90640"/>
              <a:chOff x="1235509" y="5387162"/>
              <a:chExt cx="104128" cy="104128"/>
            </a:xfrm>
          </p:grpSpPr>
          <p:sp>
            <p:nvSpPr>
              <p:cNvPr id="78" name="타원 77"/>
              <p:cNvSpPr/>
              <p:nvPr/>
            </p:nvSpPr>
            <p:spPr>
              <a:xfrm>
                <a:off x="1235509" y="5387162"/>
                <a:ext cx="104128" cy="10412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3">
                      <a:lumMod val="89000"/>
                    </a:schemeClr>
                  </a:gs>
                  <a:gs pos="23000">
                    <a:schemeClr val="accent3">
                      <a:lumMod val="89000"/>
                    </a:schemeClr>
                  </a:gs>
                  <a:gs pos="69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3175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9" name="타원 78"/>
              <p:cNvSpPr/>
              <p:nvPr/>
            </p:nvSpPr>
            <p:spPr>
              <a:xfrm>
                <a:off x="1267727" y="5410737"/>
                <a:ext cx="57958" cy="57958"/>
              </a:xfrm>
              <a:prstGeom prst="ellipse">
                <a:avLst/>
              </a:prstGeom>
              <a:solidFill>
                <a:schemeClr val="tx1"/>
              </a:solidFill>
              <a:ln w="3175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err="1" smtClean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0" name="타원 79"/>
            <p:cNvSpPr/>
            <p:nvPr/>
          </p:nvSpPr>
          <p:spPr>
            <a:xfrm>
              <a:off x="11233000" y="4521564"/>
              <a:ext cx="104128" cy="90640"/>
            </a:xfrm>
            <a:prstGeom prst="ellipse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err="1" smtClean="0">
                <a:solidFill>
                  <a:srgbClr val="000000"/>
                </a:solidFill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1279170" y="4473116"/>
              <a:ext cx="42351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>
                  <a:solidFill>
                    <a:srgbClr val="000000"/>
                  </a:solidFill>
                </a:rPr>
                <a:t>KRW</a:t>
              </a:r>
              <a:endParaRPr lang="ko-KR" alt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82" name="모서리가 둥근 직사각형 81"/>
          <p:cNvSpPr/>
          <p:nvPr/>
        </p:nvSpPr>
        <p:spPr>
          <a:xfrm>
            <a:off x="2376016" y="5806037"/>
            <a:ext cx="7408018" cy="272646"/>
          </a:xfrm>
          <a:prstGeom prst="roundRect">
            <a:avLst>
              <a:gd name="adj" fmla="val 4642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407910" y="5847587"/>
            <a:ext cx="8787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000000"/>
                </a:solidFill>
              </a:rPr>
              <a:t>CUR AMOUNT</a:t>
            </a:r>
            <a:endParaRPr lang="ko-KR" altLang="en-US" b="1" dirty="0">
              <a:solidFill>
                <a:srgbClr val="000000"/>
              </a:solidFill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3902372" y="5849621"/>
            <a:ext cx="1256513" cy="16557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2250.00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8895058" y="5849621"/>
            <a:ext cx="806026" cy="16557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2,588,825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8018811" y="5849621"/>
            <a:ext cx="806026" cy="16557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0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142564" y="5849621"/>
            <a:ext cx="806026" cy="16557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2,588,825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616577" y="5847587"/>
            <a:ext cx="10038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000000"/>
                </a:solidFill>
              </a:rPr>
              <a:t>TOTAL AMOUNT</a:t>
            </a:r>
            <a:endParaRPr lang="ko-KR" altLang="en-US" b="1" dirty="0">
              <a:solidFill>
                <a:srgbClr val="000000"/>
              </a:solidFill>
            </a:endParaRPr>
          </a:p>
        </p:txBody>
      </p:sp>
      <p:grpSp>
        <p:nvGrpSpPr>
          <p:cNvPr id="160" name="그룹 159"/>
          <p:cNvGrpSpPr/>
          <p:nvPr/>
        </p:nvGrpSpPr>
        <p:grpSpPr>
          <a:xfrm>
            <a:off x="166462" y="2262822"/>
            <a:ext cx="2115027" cy="236513"/>
            <a:chOff x="920300" y="3392022"/>
            <a:chExt cx="900100" cy="236513"/>
          </a:xfrm>
        </p:grpSpPr>
        <p:sp>
          <p:nvSpPr>
            <p:cNvPr id="161" name="한쪽 모서리가 둥근 사각형 160"/>
            <p:cNvSpPr/>
            <p:nvPr/>
          </p:nvSpPr>
          <p:spPr bwMode="auto">
            <a:xfrm flipH="1">
              <a:off x="920300" y="3392022"/>
              <a:ext cx="796099" cy="236513"/>
            </a:xfrm>
            <a:prstGeom prst="round1Rect">
              <a:avLst>
                <a:gd name="adj" fmla="val 31877"/>
              </a:avLst>
            </a:prstGeom>
            <a:solidFill>
              <a:srgbClr val="004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62" name="TextBox 53"/>
            <p:cNvSpPr txBox="1"/>
            <p:nvPr/>
          </p:nvSpPr>
          <p:spPr>
            <a:xfrm>
              <a:off x="1055245" y="3429000"/>
              <a:ext cx="765155" cy="19723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509544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10190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528632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2038176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547721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3057265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566810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4076354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lnSpc>
                  <a:spcPts val="800"/>
                </a:lnSpc>
              </a:pPr>
              <a:r>
                <a:rPr lang="en-US" altLang="ko-KR" dirty="0" smtClean="0">
                  <a:solidFill>
                    <a:srgbClr val="FFFFFF"/>
                  </a:solidFill>
                  <a:latin typeface="Rix모던고딕 B" pitchFamily="18" charset="-127"/>
                  <a:ea typeface="Rix모던고딕 B" pitchFamily="18" charset="-127"/>
                </a:rPr>
                <a:t>Account Information</a:t>
              </a:r>
              <a:endParaRPr lang="ko-KR" altLang="en-US" dirty="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</p:grpSp>
      <p:sp>
        <p:nvSpPr>
          <p:cNvPr id="181" name="TextBox 180"/>
          <p:cNvSpPr txBox="1"/>
          <p:nvPr/>
        </p:nvSpPr>
        <p:spPr>
          <a:xfrm>
            <a:off x="107764" y="2862499"/>
            <a:ext cx="9947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</a:rPr>
              <a:t>Pay ACCOUNT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82" name="직사각형 181"/>
          <p:cNvSpPr/>
          <p:nvPr/>
        </p:nvSpPr>
        <p:spPr bwMode="auto">
          <a:xfrm>
            <a:off x="964071" y="2903233"/>
            <a:ext cx="717992" cy="1793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FUN1W003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83" name="직사각형 182"/>
          <p:cNvSpPr/>
          <p:nvPr/>
        </p:nvSpPr>
        <p:spPr bwMode="auto">
          <a:xfrm>
            <a:off x="1727888" y="2903233"/>
            <a:ext cx="1088338" cy="18830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206" name="표 2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928525"/>
              </p:ext>
            </p:extLst>
          </p:nvPr>
        </p:nvGraphicFramePr>
        <p:xfrm>
          <a:off x="166462" y="2531142"/>
          <a:ext cx="9746432" cy="64499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73550"/>
                <a:gridCol w="432048"/>
                <a:gridCol w="1296144"/>
                <a:gridCol w="576064"/>
                <a:gridCol w="648072"/>
                <a:gridCol w="324036"/>
                <a:gridCol w="468052"/>
                <a:gridCol w="756084"/>
                <a:gridCol w="612068"/>
                <a:gridCol w="180020"/>
                <a:gridCol w="897998"/>
                <a:gridCol w="1382296"/>
              </a:tblGrid>
              <a:tr h="27923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CUR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Ex-Rate</a:t>
                      </a:r>
                      <a:endParaRPr lang="ko-KR" altLang="en-US" sz="7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USD</a:t>
                      </a:r>
                      <a:endParaRPr lang="ko-KR" altLang="en-US" sz="7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Total</a:t>
                      </a:r>
                      <a:r>
                        <a:rPr lang="en-US" altLang="ko-KR" sz="700" baseline="0" dirty="0" smtClean="0"/>
                        <a:t> </a:t>
                      </a:r>
                      <a:r>
                        <a:rPr lang="ko-KR" altLang="en-US" sz="700" baseline="0" dirty="0" smtClean="0"/>
                        <a:t>출력기준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</a:tr>
              <a:tr h="295803"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 </a:t>
                      </a:r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/>
                        <a:t>전화번호</a:t>
                      </a:r>
                      <a:endParaRPr lang="ko-KR" altLang="en-US" sz="7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/>
                        <a:t>팩스번호</a:t>
                      </a:r>
                      <a:endParaRPr lang="ko-KR" altLang="en-US" sz="7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7" name="TextBox 206"/>
          <p:cNvSpPr txBox="1"/>
          <p:nvPr/>
        </p:nvSpPr>
        <p:spPr>
          <a:xfrm>
            <a:off x="839783" y="2573132"/>
            <a:ext cx="8124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환율일</a:t>
            </a:r>
            <a:r>
              <a:rPr lang="ko-KR" altLang="en-US" dirty="0">
                <a:solidFill>
                  <a:srgbClr val="000000"/>
                </a:solidFill>
              </a:rPr>
              <a:t>자</a:t>
            </a:r>
          </a:p>
        </p:txBody>
      </p:sp>
      <p:sp>
        <p:nvSpPr>
          <p:cNvPr id="14" name="제목 13"/>
          <p:cNvSpPr>
            <a:spLocks noGrp="1"/>
          </p:cNvSpPr>
          <p:nvPr>
            <p:ph type="title" idx="4294967295"/>
          </p:nvPr>
        </p:nvSpPr>
        <p:spPr>
          <a:xfrm>
            <a:off x="5969360" y="38134"/>
            <a:ext cx="1794094" cy="250051"/>
          </a:xfrm>
          <a:prstGeom prst="rect">
            <a:avLst/>
          </a:prstGeom>
        </p:spPr>
        <p:txBody>
          <a:bodyPr/>
          <a:lstStyle/>
          <a:p>
            <a:r>
              <a:rPr lang="ko-KR" altLang="en-US" sz="1100" dirty="0"/>
              <a:t>통관정산 </a:t>
            </a:r>
            <a:r>
              <a:rPr lang="ko-KR" altLang="en-US" sz="1100" dirty="0" smtClean="0"/>
              <a:t>비용 </a:t>
            </a:r>
            <a:r>
              <a:rPr lang="ko-KR" altLang="en-US" sz="1100" dirty="0"/>
              <a:t>정산</a:t>
            </a:r>
            <a:r>
              <a:rPr lang="en-US" altLang="ko-KR" sz="1100" dirty="0"/>
              <a:t>(1/2)</a:t>
            </a:r>
            <a:endParaRPr lang="ko-KR" altLang="en-US" sz="1100" dirty="0"/>
          </a:p>
        </p:txBody>
      </p:sp>
      <p:grpSp>
        <p:nvGrpSpPr>
          <p:cNvPr id="143" name="그룹 142"/>
          <p:cNvGrpSpPr/>
          <p:nvPr/>
        </p:nvGrpSpPr>
        <p:grpSpPr>
          <a:xfrm>
            <a:off x="179772" y="3652912"/>
            <a:ext cx="2115027" cy="236513"/>
            <a:chOff x="920300" y="3392022"/>
            <a:chExt cx="900100" cy="236513"/>
          </a:xfrm>
        </p:grpSpPr>
        <p:sp>
          <p:nvSpPr>
            <p:cNvPr id="144" name="한쪽 모서리가 둥근 사각형 143"/>
            <p:cNvSpPr/>
            <p:nvPr/>
          </p:nvSpPr>
          <p:spPr bwMode="auto">
            <a:xfrm flipH="1">
              <a:off x="920300" y="3392022"/>
              <a:ext cx="796099" cy="236513"/>
            </a:xfrm>
            <a:prstGeom prst="round1Rect">
              <a:avLst>
                <a:gd name="adj" fmla="val 31877"/>
              </a:avLst>
            </a:prstGeom>
            <a:solidFill>
              <a:srgbClr val="004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45" name="TextBox 53"/>
            <p:cNvSpPr txBox="1"/>
            <p:nvPr/>
          </p:nvSpPr>
          <p:spPr>
            <a:xfrm>
              <a:off x="1055245" y="3429000"/>
              <a:ext cx="765155" cy="19723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509544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10190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528632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2038176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547721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3057265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566810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4076354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lnSpc>
                  <a:spcPts val="800"/>
                </a:lnSpc>
              </a:pPr>
              <a:r>
                <a:rPr lang="en-US" altLang="ko-KR" dirty="0" smtClean="0">
                  <a:solidFill>
                    <a:srgbClr val="FFFFFF"/>
                  </a:solidFill>
                  <a:latin typeface="Rix모던고딕 B" pitchFamily="18" charset="-127"/>
                  <a:ea typeface="Rix모던고딕 B" pitchFamily="18" charset="-127"/>
                </a:rPr>
                <a:t>Account Detail</a:t>
              </a:r>
              <a:endParaRPr lang="ko-KR" altLang="en-US" dirty="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</p:grpSp>
      <p:sp>
        <p:nvSpPr>
          <p:cNvPr id="150" name="직사각형 149"/>
          <p:cNvSpPr/>
          <p:nvPr/>
        </p:nvSpPr>
        <p:spPr bwMode="auto">
          <a:xfrm>
            <a:off x="179772" y="859848"/>
            <a:ext cx="694811" cy="256541"/>
          </a:xfrm>
          <a:prstGeom prst="rect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000000"/>
                </a:solidFill>
              </a:rPr>
              <a:t>삭제</a:t>
            </a:r>
            <a:endParaRPr lang="ko-KR" altLang="en-US" sz="800" dirty="0">
              <a:solidFill>
                <a:srgbClr val="000000"/>
              </a:solidFill>
            </a:endParaRPr>
          </a:p>
        </p:txBody>
      </p:sp>
      <p:sp>
        <p:nvSpPr>
          <p:cNvPr id="151" name="직사각형 150"/>
          <p:cNvSpPr/>
          <p:nvPr/>
        </p:nvSpPr>
        <p:spPr bwMode="auto">
          <a:xfrm>
            <a:off x="934322" y="862235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FFFFFF"/>
                </a:solidFill>
              </a:rPr>
              <a:t>신규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152" name="직사각형 151"/>
          <p:cNvSpPr/>
          <p:nvPr/>
        </p:nvSpPr>
        <p:spPr bwMode="auto">
          <a:xfrm>
            <a:off x="1688872" y="861042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FFFFFF"/>
                </a:solidFill>
              </a:rPr>
              <a:t>초기화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153" name="직사각형 152"/>
          <p:cNvSpPr/>
          <p:nvPr/>
        </p:nvSpPr>
        <p:spPr bwMode="auto">
          <a:xfrm>
            <a:off x="2443422" y="863429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FFFFFF"/>
                </a:solidFill>
              </a:rPr>
              <a:t>저장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154" name="직사각형 153"/>
          <p:cNvSpPr/>
          <p:nvPr/>
        </p:nvSpPr>
        <p:spPr bwMode="auto">
          <a:xfrm>
            <a:off x="3197972" y="865816"/>
            <a:ext cx="798224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>
                <a:solidFill>
                  <a:srgbClr val="FFFFFF"/>
                </a:solidFill>
              </a:rPr>
              <a:t>저장 후 신규</a:t>
            </a:r>
          </a:p>
        </p:txBody>
      </p:sp>
      <p:sp>
        <p:nvSpPr>
          <p:cNvPr id="156" name="직사각형 155"/>
          <p:cNvSpPr/>
          <p:nvPr/>
        </p:nvSpPr>
        <p:spPr bwMode="auto">
          <a:xfrm>
            <a:off x="7234771" y="1192239"/>
            <a:ext cx="1002765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FFFFFF"/>
                </a:solidFill>
              </a:rPr>
              <a:t>매입계산서 등록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157" name="직사각형 156"/>
          <p:cNvSpPr/>
          <p:nvPr/>
        </p:nvSpPr>
        <p:spPr bwMode="auto">
          <a:xfrm>
            <a:off x="8285282" y="1188659"/>
            <a:ext cx="745192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smtClean="0">
                <a:solidFill>
                  <a:srgbClr val="FFFFFF"/>
                </a:solidFill>
              </a:rPr>
              <a:t>출금처리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165" name="직사각형 164"/>
          <p:cNvSpPr/>
          <p:nvPr/>
        </p:nvSpPr>
        <p:spPr bwMode="auto">
          <a:xfrm>
            <a:off x="952919" y="1580652"/>
            <a:ext cx="919041" cy="15913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800" dirty="0" smtClean="0">
                <a:solidFill>
                  <a:srgbClr val="FFFFFF">
                    <a:lumMod val="50000"/>
                  </a:srgbClr>
                </a:solidFill>
              </a:rPr>
              <a:t>HBLIN2019000</a:t>
            </a:r>
            <a:endParaRPr lang="ko-KR" altLang="en-US" sz="8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75" name="직사각형 174"/>
          <p:cNvSpPr/>
          <p:nvPr/>
        </p:nvSpPr>
        <p:spPr bwMode="auto">
          <a:xfrm>
            <a:off x="4068204" y="868203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FFFFFF"/>
                </a:solidFill>
              </a:rPr>
              <a:t>계산기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176" name="직사각형 175"/>
          <p:cNvSpPr/>
          <p:nvPr/>
        </p:nvSpPr>
        <p:spPr bwMode="auto">
          <a:xfrm>
            <a:off x="5465648" y="1188659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FFFFFF"/>
                </a:solidFill>
              </a:rPr>
              <a:t>지출확정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grpSp>
        <p:nvGrpSpPr>
          <p:cNvPr id="177" name="그룹 176"/>
          <p:cNvGrpSpPr/>
          <p:nvPr/>
        </p:nvGrpSpPr>
        <p:grpSpPr>
          <a:xfrm>
            <a:off x="152977" y="1229780"/>
            <a:ext cx="2115027" cy="236513"/>
            <a:chOff x="920300" y="3392022"/>
            <a:chExt cx="900100" cy="236513"/>
          </a:xfrm>
        </p:grpSpPr>
        <p:sp>
          <p:nvSpPr>
            <p:cNvPr id="178" name="한쪽 모서리가 둥근 사각형 177"/>
            <p:cNvSpPr/>
            <p:nvPr/>
          </p:nvSpPr>
          <p:spPr bwMode="auto">
            <a:xfrm flipH="1">
              <a:off x="920300" y="3392022"/>
              <a:ext cx="796099" cy="236513"/>
            </a:xfrm>
            <a:prstGeom prst="round1Rect">
              <a:avLst>
                <a:gd name="adj" fmla="val 31877"/>
              </a:avLst>
            </a:prstGeom>
            <a:solidFill>
              <a:srgbClr val="004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179" name="TextBox 53"/>
            <p:cNvSpPr txBox="1"/>
            <p:nvPr/>
          </p:nvSpPr>
          <p:spPr>
            <a:xfrm>
              <a:off x="1055245" y="3429000"/>
              <a:ext cx="765155" cy="19723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509544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10190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528632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2038176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547721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3057265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566810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4076354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lnSpc>
                  <a:spcPts val="800"/>
                </a:lnSpc>
              </a:pPr>
              <a:r>
                <a:rPr lang="en-US" altLang="ko-KR" dirty="0" smtClean="0">
                  <a:solidFill>
                    <a:srgbClr val="FFFFFF"/>
                  </a:solidFill>
                  <a:latin typeface="Rix모던고딕 B" pitchFamily="18" charset="-127"/>
                  <a:ea typeface="Rix모던고딕 B" pitchFamily="18" charset="-127"/>
                </a:rPr>
                <a:t>Basic Information</a:t>
              </a:r>
              <a:endParaRPr lang="ko-KR" altLang="en-US" dirty="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</p:grpSp>
      <p:graphicFrame>
        <p:nvGraphicFramePr>
          <p:cNvPr id="180" name="표 1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122433"/>
              </p:ext>
            </p:extLst>
          </p:nvPr>
        </p:nvGraphicFramePr>
        <p:xfrm>
          <a:off x="188322" y="1520788"/>
          <a:ext cx="9654668" cy="6371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530"/>
                <a:gridCol w="2088232"/>
                <a:gridCol w="648072"/>
                <a:gridCol w="1512168"/>
                <a:gridCol w="900100"/>
                <a:gridCol w="1476164"/>
                <a:gridCol w="720080"/>
                <a:gridCol w="1598322"/>
              </a:tblGrid>
              <a:tr h="31858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 H BL</a:t>
                      </a:r>
                      <a:r>
                        <a:rPr lang="en-US" altLang="ko-KR" sz="700" baseline="0" dirty="0" smtClean="0"/>
                        <a:t> NO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rgbClr val="000000"/>
                          </a:solidFill>
                        </a:rPr>
                        <a:t>JOB NO</a:t>
                      </a:r>
                      <a:endParaRPr lang="ko-KR" altLang="en-US" sz="700" dirty="0" smtClean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/>
                        <a:t>입력사원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/>
                        <a:t>거래처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</a:tr>
              <a:tr h="31858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/>
                        <a:t>지출번호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/>
                        <a:t>지출일자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/>
                        <a:t>개수</a:t>
                      </a:r>
                      <a:r>
                        <a:rPr lang="en-US" altLang="ko-KR" sz="700" dirty="0" smtClean="0"/>
                        <a:t>/G.WEIGHT/</a:t>
                      </a:r>
                    </a:p>
                    <a:p>
                      <a:pPr latinLnBrk="1"/>
                      <a:r>
                        <a:rPr lang="en-US" altLang="ko-KR" sz="700" dirty="0" smtClean="0"/>
                        <a:t>C.WEIGHT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/>
                        <a:t>컨테이너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86" name="직사각형 185"/>
          <p:cNvSpPr/>
          <p:nvPr/>
        </p:nvSpPr>
        <p:spPr bwMode="auto">
          <a:xfrm>
            <a:off x="6118786" y="1606672"/>
            <a:ext cx="865742" cy="16557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FFFFFF">
                    <a:lumMod val="50000"/>
                  </a:srgbClr>
                </a:solidFill>
              </a:rPr>
              <a:t>홍길동 과장</a:t>
            </a: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32" name="직사각형 231"/>
          <p:cNvSpPr/>
          <p:nvPr/>
        </p:nvSpPr>
        <p:spPr bwMode="auto">
          <a:xfrm>
            <a:off x="3368643" y="5855362"/>
            <a:ext cx="494098" cy="15983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USD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3" name="직사각형 232"/>
          <p:cNvSpPr/>
          <p:nvPr/>
        </p:nvSpPr>
        <p:spPr bwMode="auto">
          <a:xfrm>
            <a:off x="6580759" y="5862441"/>
            <a:ext cx="494098" cy="15983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KRW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50" name="직사각형 249"/>
          <p:cNvSpPr/>
          <p:nvPr/>
        </p:nvSpPr>
        <p:spPr bwMode="auto">
          <a:xfrm>
            <a:off x="6208205" y="1192239"/>
            <a:ext cx="978820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FFFFFF"/>
                </a:solidFill>
              </a:rPr>
              <a:t>지출결의서 출력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172" name="직사각형 171"/>
          <p:cNvSpPr/>
          <p:nvPr/>
        </p:nvSpPr>
        <p:spPr>
          <a:xfrm>
            <a:off x="10468880" y="80628"/>
            <a:ext cx="3495048" cy="281344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700" b="1" dirty="0" smtClean="0">
                <a:solidFill>
                  <a:srgbClr val="000000"/>
                </a:solidFill>
              </a:rPr>
              <a:t>팩스번호 텍스트 박스 </a:t>
            </a:r>
            <a:endParaRPr lang="en-US" altLang="ko-KR" sz="700" b="1" dirty="0" smtClean="0">
              <a:solidFill>
                <a:srgbClr val="000000"/>
              </a:solidFill>
            </a:endParaRPr>
          </a:p>
          <a:p>
            <a:r>
              <a:rPr lang="ko-KR" altLang="en-US" sz="700" b="1" dirty="0" smtClean="0">
                <a:solidFill>
                  <a:srgbClr val="000000"/>
                </a:solidFill>
              </a:rPr>
              <a:t>사용자 변경 가능처리</a:t>
            </a:r>
            <a:endParaRPr lang="en-US" altLang="ko-KR" sz="700" b="1" dirty="0" smtClean="0">
              <a:solidFill>
                <a:srgbClr val="000000"/>
              </a:solidFill>
            </a:endParaRPr>
          </a:p>
        </p:txBody>
      </p:sp>
      <p:sp>
        <p:nvSpPr>
          <p:cNvPr id="174" name="타원 173"/>
          <p:cNvSpPr/>
          <p:nvPr/>
        </p:nvSpPr>
        <p:spPr>
          <a:xfrm>
            <a:off x="10152880" y="44624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1-6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60" name="직사각형 259"/>
          <p:cNvSpPr/>
          <p:nvPr/>
        </p:nvSpPr>
        <p:spPr>
          <a:xfrm>
            <a:off x="-3399905" y="1045343"/>
            <a:ext cx="3255642" cy="241662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700" b="1" dirty="0" smtClean="0">
                <a:solidFill>
                  <a:srgbClr val="000000"/>
                </a:solidFill>
              </a:rPr>
              <a:t>환율 등록 메뉴 호출</a:t>
            </a:r>
            <a:endParaRPr lang="en-US" altLang="ko-KR" sz="700" b="1" dirty="0">
              <a:solidFill>
                <a:srgbClr val="000000"/>
              </a:solidFill>
            </a:endParaRPr>
          </a:p>
        </p:txBody>
      </p:sp>
      <p:sp>
        <p:nvSpPr>
          <p:cNvPr id="261" name="타원 260"/>
          <p:cNvSpPr/>
          <p:nvPr/>
        </p:nvSpPr>
        <p:spPr>
          <a:xfrm>
            <a:off x="-3715362" y="908720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1-2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62" name="타원 261"/>
          <p:cNvSpPr/>
          <p:nvPr/>
        </p:nvSpPr>
        <p:spPr>
          <a:xfrm>
            <a:off x="10330" y="236005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1-2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67" name="타원 266"/>
          <p:cNvSpPr/>
          <p:nvPr/>
        </p:nvSpPr>
        <p:spPr>
          <a:xfrm>
            <a:off x="-3751366" y="2576209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1-5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68" name="타원 267"/>
          <p:cNvSpPr/>
          <p:nvPr/>
        </p:nvSpPr>
        <p:spPr>
          <a:xfrm>
            <a:off x="-3721992" y="1375757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1-3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70" name="직사각형 269"/>
          <p:cNvSpPr/>
          <p:nvPr/>
        </p:nvSpPr>
        <p:spPr bwMode="auto">
          <a:xfrm>
            <a:off x="2865111" y="2585049"/>
            <a:ext cx="784108" cy="16157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화폐코드</a:t>
            </a:r>
            <a:endParaRPr lang="ko-KR" altLang="en-US" dirty="0">
              <a:solidFill>
                <a:srgbClr val="000000"/>
              </a:solidFill>
            </a:endParaRPr>
          </a:p>
        </p:txBody>
      </p:sp>
      <p:pic>
        <p:nvPicPr>
          <p:cNvPr id="271" name="그림 2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4348" y="2585049"/>
            <a:ext cx="180229" cy="172036"/>
          </a:xfrm>
          <a:prstGeom prst="rect">
            <a:avLst/>
          </a:prstGeom>
        </p:spPr>
      </p:pic>
      <p:sp>
        <p:nvSpPr>
          <p:cNvPr id="274" name="직사각형 273"/>
          <p:cNvSpPr/>
          <p:nvPr/>
        </p:nvSpPr>
        <p:spPr bwMode="auto">
          <a:xfrm>
            <a:off x="4718372" y="2583132"/>
            <a:ext cx="784108" cy="16157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금</a:t>
            </a:r>
            <a:r>
              <a:rPr lang="ko-KR" altLang="en-US" dirty="0">
                <a:solidFill>
                  <a:srgbClr val="000000"/>
                </a:solidFill>
              </a:rPr>
              <a:t>액</a:t>
            </a:r>
          </a:p>
        </p:txBody>
      </p:sp>
      <p:sp>
        <p:nvSpPr>
          <p:cNvPr id="275" name="직사각형 274"/>
          <p:cNvSpPr/>
          <p:nvPr/>
        </p:nvSpPr>
        <p:spPr bwMode="auto">
          <a:xfrm>
            <a:off x="6205856" y="2590542"/>
            <a:ext cx="784108" cy="16157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금액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80" name="직사각형 279"/>
          <p:cNvSpPr/>
          <p:nvPr/>
        </p:nvSpPr>
        <p:spPr bwMode="auto">
          <a:xfrm>
            <a:off x="6118477" y="1892461"/>
            <a:ext cx="1296736" cy="19897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r>
              <a:rPr lang="en-US" altLang="ko-KR" sz="700" dirty="0" smtClean="0">
                <a:solidFill>
                  <a:srgbClr val="FFFFFF">
                    <a:lumMod val="50000"/>
                  </a:srgbClr>
                </a:solidFill>
              </a:rPr>
              <a:t>10 GT  / 13.00 KG/ 3.00</a:t>
            </a:r>
            <a:endParaRPr lang="ko-KR" altLang="en-US" sz="7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88" name="제목 21"/>
          <p:cNvSpPr txBox="1">
            <a:spLocks/>
          </p:cNvSpPr>
          <p:nvPr/>
        </p:nvSpPr>
        <p:spPr>
          <a:xfrm>
            <a:off x="1027167" y="261213"/>
            <a:ext cx="2060048" cy="251463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1000" dirty="0">
                <a:solidFill>
                  <a:srgbClr val="000000"/>
                </a:solidFill>
              </a:rPr>
              <a:t>입력</a:t>
            </a:r>
            <a:r>
              <a:rPr lang="en-US" altLang="ko-KR" sz="1000" dirty="0">
                <a:solidFill>
                  <a:srgbClr val="000000"/>
                </a:solidFill>
              </a:rPr>
              <a:t>/</a:t>
            </a:r>
            <a:r>
              <a:rPr lang="ko-KR" altLang="en-US" sz="1000" dirty="0">
                <a:solidFill>
                  <a:srgbClr val="000000"/>
                </a:solidFill>
              </a:rPr>
              <a:t>조회</a:t>
            </a:r>
            <a:r>
              <a:rPr lang="en-US" altLang="ko-KR" sz="1000" dirty="0">
                <a:solidFill>
                  <a:srgbClr val="000000"/>
                </a:solidFill>
              </a:rPr>
              <a:t>/</a:t>
            </a:r>
            <a:r>
              <a:rPr lang="ko-KR" altLang="en-US" sz="1000" dirty="0">
                <a:solidFill>
                  <a:srgbClr val="000000"/>
                </a:solidFill>
              </a:rPr>
              <a:t>삭제</a:t>
            </a:r>
            <a:r>
              <a:rPr lang="en-US" altLang="ko-KR" sz="1000" dirty="0">
                <a:solidFill>
                  <a:srgbClr val="000000"/>
                </a:solidFill>
              </a:rPr>
              <a:t>/</a:t>
            </a:r>
            <a:r>
              <a:rPr lang="ko-KR" altLang="en-US" sz="1000" dirty="0">
                <a:solidFill>
                  <a:srgbClr val="000000"/>
                </a:solidFill>
              </a:rPr>
              <a:t>수정</a:t>
            </a:r>
            <a:endParaRPr lang="ko-KR" altLang="en-US" sz="1000" kern="0" dirty="0">
              <a:solidFill>
                <a:srgbClr val="000000"/>
              </a:solidFill>
            </a:endParaRPr>
          </a:p>
        </p:txBody>
      </p:sp>
      <p:sp>
        <p:nvSpPr>
          <p:cNvPr id="192" name="직사각형 191"/>
          <p:cNvSpPr/>
          <p:nvPr/>
        </p:nvSpPr>
        <p:spPr bwMode="auto">
          <a:xfrm>
            <a:off x="3763185" y="1605921"/>
            <a:ext cx="1315085" cy="166895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800" dirty="0" smtClean="0">
                <a:solidFill>
                  <a:srgbClr val="FFFFFF">
                    <a:lumMod val="50000"/>
                  </a:srgbClr>
                </a:solidFill>
              </a:rPr>
              <a:t>JOB070626001201900</a:t>
            </a:r>
            <a:endParaRPr lang="ko-KR" altLang="en-US" sz="8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93" name="직사각형 192"/>
          <p:cNvSpPr/>
          <p:nvPr/>
        </p:nvSpPr>
        <p:spPr bwMode="auto">
          <a:xfrm>
            <a:off x="3769910" y="1920913"/>
            <a:ext cx="878943" cy="17052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2017-06-19</a:t>
            </a:r>
            <a:endParaRPr lang="ko-KR" altLang="en-US" dirty="0">
              <a:solidFill>
                <a:srgbClr val="000000"/>
              </a:solidFill>
            </a:endParaRPr>
          </a:p>
        </p:txBody>
      </p:sp>
      <p:pic>
        <p:nvPicPr>
          <p:cNvPr id="197" name="Picture 12"/>
          <p:cNvPicPr>
            <a:picLocks noChangeAspect="1" noChangeArrowheads="1"/>
          </p:cNvPicPr>
          <p:nvPr/>
        </p:nvPicPr>
        <p:blipFill>
          <a:blip r:embed="rId6" cstate="print"/>
          <a:srcRect l="75599"/>
          <a:stretch>
            <a:fillRect/>
          </a:stretch>
        </p:blipFill>
        <p:spPr bwMode="auto">
          <a:xfrm>
            <a:off x="4658567" y="1908621"/>
            <a:ext cx="317357" cy="18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4" name="직사각형 163"/>
          <p:cNvSpPr/>
          <p:nvPr/>
        </p:nvSpPr>
        <p:spPr bwMode="auto">
          <a:xfrm>
            <a:off x="8337198" y="1892461"/>
            <a:ext cx="1436717" cy="19897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700" dirty="0" smtClean="0">
                <a:solidFill>
                  <a:srgbClr val="FFFFFF">
                    <a:lumMod val="50000"/>
                  </a:srgbClr>
                </a:solidFill>
              </a:rPr>
              <a:t>20 : </a:t>
            </a:r>
            <a:r>
              <a:rPr lang="ko-KR" altLang="en-US" sz="700" dirty="0" smtClean="0">
                <a:solidFill>
                  <a:srgbClr val="FFFFFF">
                    <a:lumMod val="50000"/>
                  </a:srgbClr>
                </a:solidFill>
              </a:rPr>
              <a:t>숫자 </a:t>
            </a:r>
            <a:r>
              <a:rPr lang="en-US" altLang="ko-KR" sz="700" dirty="0" smtClean="0">
                <a:solidFill>
                  <a:srgbClr val="FFFFFF">
                    <a:lumMod val="50000"/>
                  </a:srgbClr>
                </a:solidFill>
              </a:rPr>
              <a:t>/ 40 : </a:t>
            </a:r>
            <a:r>
              <a:rPr lang="ko-KR" altLang="en-US" sz="700" dirty="0" smtClean="0">
                <a:solidFill>
                  <a:srgbClr val="FFFFFF">
                    <a:lumMod val="50000"/>
                  </a:srgbClr>
                </a:solidFill>
              </a:rPr>
              <a:t>숫자</a:t>
            </a:r>
            <a:endParaRPr lang="ko-KR" altLang="en-US" sz="7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73" name="직사각형 172"/>
          <p:cNvSpPr/>
          <p:nvPr/>
        </p:nvSpPr>
        <p:spPr>
          <a:xfrm>
            <a:off x="1780296" y="1549200"/>
            <a:ext cx="1191440" cy="242633"/>
          </a:xfrm>
          <a:prstGeom prst="rect">
            <a:avLst/>
          </a:prstGeom>
          <a:solidFill>
            <a:schemeClr val="bg1"/>
          </a:solidFill>
          <a:ln w="31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 smtClean="0">
                <a:solidFill>
                  <a:srgbClr val="0000FF"/>
                </a:solidFill>
              </a:rPr>
              <a:t>비활성</a:t>
            </a:r>
            <a:r>
              <a:rPr lang="en-US" altLang="ko-KR" sz="700" dirty="0" smtClean="0">
                <a:solidFill>
                  <a:srgbClr val="0000FF"/>
                </a:solidFill>
              </a:rPr>
              <a:t>(</a:t>
            </a:r>
            <a:r>
              <a:rPr lang="ko-KR" altLang="en-US" sz="700" dirty="0" smtClean="0">
                <a:solidFill>
                  <a:srgbClr val="0000FF"/>
                </a:solidFill>
              </a:rPr>
              <a:t>입력불가능</a:t>
            </a:r>
            <a:r>
              <a:rPr lang="en-US" altLang="ko-KR" sz="700" dirty="0" smtClean="0">
                <a:solidFill>
                  <a:srgbClr val="0000FF"/>
                </a:solidFill>
              </a:rPr>
              <a:t>) </a:t>
            </a:r>
            <a:r>
              <a:rPr lang="ko-KR" altLang="en-US" sz="700" dirty="0" smtClean="0">
                <a:solidFill>
                  <a:srgbClr val="0000FF"/>
                </a:solidFill>
              </a:rPr>
              <a:t>처리</a:t>
            </a:r>
          </a:p>
        </p:txBody>
      </p:sp>
      <p:sp>
        <p:nvSpPr>
          <p:cNvPr id="194" name="직사각형 193"/>
          <p:cNvSpPr/>
          <p:nvPr/>
        </p:nvSpPr>
        <p:spPr>
          <a:xfrm>
            <a:off x="3751121" y="1350568"/>
            <a:ext cx="1191440" cy="242633"/>
          </a:xfrm>
          <a:prstGeom prst="rect">
            <a:avLst/>
          </a:prstGeom>
          <a:solidFill>
            <a:schemeClr val="bg1"/>
          </a:solidFill>
          <a:ln w="31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 smtClean="0">
                <a:solidFill>
                  <a:srgbClr val="0000FF"/>
                </a:solidFill>
              </a:rPr>
              <a:t>비활성</a:t>
            </a:r>
            <a:r>
              <a:rPr lang="en-US" altLang="ko-KR" sz="700" dirty="0" smtClean="0">
                <a:solidFill>
                  <a:srgbClr val="0000FF"/>
                </a:solidFill>
              </a:rPr>
              <a:t>(</a:t>
            </a:r>
            <a:r>
              <a:rPr lang="ko-KR" altLang="en-US" sz="700" dirty="0" smtClean="0">
                <a:solidFill>
                  <a:srgbClr val="0000FF"/>
                </a:solidFill>
              </a:rPr>
              <a:t>입력불가능</a:t>
            </a:r>
            <a:r>
              <a:rPr lang="en-US" altLang="ko-KR" sz="700" dirty="0" smtClean="0">
                <a:solidFill>
                  <a:srgbClr val="0000FF"/>
                </a:solidFill>
              </a:rPr>
              <a:t>) </a:t>
            </a:r>
            <a:r>
              <a:rPr lang="ko-KR" altLang="en-US" sz="700" dirty="0" smtClean="0">
                <a:solidFill>
                  <a:srgbClr val="0000FF"/>
                </a:solidFill>
              </a:rPr>
              <a:t>처리</a:t>
            </a:r>
          </a:p>
        </p:txBody>
      </p:sp>
      <p:sp>
        <p:nvSpPr>
          <p:cNvPr id="199" name="직사각형 198"/>
          <p:cNvSpPr/>
          <p:nvPr/>
        </p:nvSpPr>
        <p:spPr>
          <a:xfrm>
            <a:off x="5158886" y="1498762"/>
            <a:ext cx="4771146" cy="638459"/>
          </a:xfrm>
          <a:prstGeom prst="rect">
            <a:avLst/>
          </a:prstGeom>
          <a:noFill/>
          <a:ln w="254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pic>
        <p:nvPicPr>
          <p:cNvPr id="201" name="그림 200"/>
          <p:cNvPicPr/>
          <p:nvPr/>
        </p:nvPicPr>
        <p:blipFill rotWithShape="1">
          <a:blip r:embed="rId7"/>
          <a:srcRect l="14590" t="44075" r="83163" b="41796"/>
          <a:stretch/>
        </p:blipFill>
        <p:spPr>
          <a:xfrm>
            <a:off x="4380709" y="2897476"/>
            <a:ext cx="183787" cy="20166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2" name="직사각형 201"/>
          <p:cNvSpPr/>
          <p:nvPr/>
        </p:nvSpPr>
        <p:spPr bwMode="auto">
          <a:xfrm>
            <a:off x="7638304" y="2911850"/>
            <a:ext cx="1002408" cy="16557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chemeClr val="tx1"/>
                </a:solidFill>
              </a:rPr>
              <a:t>+82-2-368-97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4137687" y="3096049"/>
            <a:ext cx="1755933" cy="449199"/>
          </a:xfrm>
          <a:prstGeom prst="rect">
            <a:avLst/>
          </a:prstGeom>
          <a:solidFill>
            <a:schemeClr val="bg1"/>
          </a:solidFill>
          <a:ln w="31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rgbClr val="0000FF"/>
                </a:solidFill>
              </a:rPr>
              <a:t>Pay Account </a:t>
            </a:r>
            <a:r>
              <a:rPr lang="ko-KR" altLang="en-US" sz="700" dirty="0" smtClean="0">
                <a:solidFill>
                  <a:srgbClr val="0000FF"/>
                </a:solidFill>
              </a:rPr>
              <a:t>코드에 설정된 기본 담당자 항목이 화면에 표시되며</a:t>
            </a:r>
            <a:r>
              <a:rPr lang="en-US" altLang="ko-KR" sz="700" dirty="0" smtClean="0">
                <a:solidFill>
                  <a:srgbClr val="0000FF"/>
                </a:solidFill>
              </a:rPr>
              <a:t>, </a:t>
            </a:r>
            <a:r>
              <a:rPr lang="ko-KR" altLang="en-US" sz="700" dirty="0" smtClean="0">
                <a:solidFill>
                  <a:srgbClr val="0000FF"/>
                </a:solidFill>
              </a:rPr>
              <a:t>검색 버튼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클릭시</a:t>
            </a:r>
            <a:r>
              <a:rPr lang="ko-KR" altLang="en-US" sz="700" dirty="0" smtClean="0">
                <a:solidFill>
                  <a:srgbClr val="0000FF"/>
                </a:solidFill>
              </a:rPr>
              <a:t> 등록되어있는 담당자 목록을 화면에 표시 처리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sp>
        <p:nvSpPr>
          <p:cNvPr id="264" name="직사각형 263"/>
          <p:cNvSpPr/>
          <p:nvPr/>
        </p:nvSpPr>
        <p:spPr>
          <a:xfrm>
            <a:off x="10468880" y="404664"/>
            <a:ext cx="3495048" cy="537955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700" b="1" dirty="0" err="1" smtClean="0">
                <a:solidFill>
                  <a:srgbClr val="000000"/>
                </a:solidFill>
              </a:rPr>
              <a:t>그리드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 목록 화면 설명</a:t>
            </a:r>
            <a:endParaRPr lang="en-US" altLang="ko-KR" sz="700" b="1" dirty="0" smtClean="0">
              <a:solidFill>
                <a:srgbClr val="000000"/>
              </a:solidFill>
            </a:endParaRPr>
          </a:p>
          <a:p>
            <a:r>
              <a:rPr lang="ko-KR" altLang="en-US" sz="700" b="1" dirty="0" smtClean="0">
                <a:solidFill>
                  <a:srgbClr val="FF0000"/>
                </a:solidFill>
              </a:rPr>
              <a:t>추가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: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그리드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추가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입력된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그리드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기준으로 다음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그리드로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생성</a:t>
            </a:r>
            <a:endParaRPr lang="en-US" altLang="ko-KR" sz="700" b="1" dirty="0" smtClean="0">
              <a:solidFill>
                <a:srgbClr val="FF0000"/>
              </a:solidFill>
            </a:endParaRPr>
          </a:p>
          <a:p>
            <a:r>
              <a:rPr lang="ko-KR" altLang="en-US" sz="700" b="1" dirty="0" smtClean="0">
                <a:solidFill>
                  <a:srgbClr val="FF0000"/>
                </a:solidFill>
              </a:rPr>
              <a:t>삭제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: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선택된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그리드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삭제</a:t>
            </a:r>
            <a:endParaRPr lang="en-US" altLang="ko-KR" sz="700" b="1" dirty="0" smtClean="0">
              <a:solidFill>
                <a:srgbClr val="FF0000"/>
              </a:solidFill>
            </a:endParaRPr>
          </a:p>
          <a:p>
            <a:r>
              <a:rPr lang="ko-KR" altLang="en-US" sz="700" b="1" dirty="0" smtClean="0">
                <a:solidFill>
                  <a:srgbClr val="FF0000"/>
                </a:solidFill>
              </a:rPr>
              <a:t>전체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: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입력되어있는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그리드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목록을 전체 선택  및 해제</a:t>
            </a:r>
            <a:endParaRPr lang="en-US" altLang="ko-KR" sz="700" b="1" dirty="0">
              <a:solidFill>
                <a:srgbClr val="FF0000"/>
              </a:solidFill>
            </a:endParaRPr>
          </a:p>
        </p:txBody>
      </p:sp>
      <p:sp>
        <p:nvSpPr>
          <p:cNvPr id="265" name="타원 264"/>
          <p:cNvSpPr/>
          <p:nvPr/>
        </p:nvSpPr>
        <p:spPr>
          <a:xfrm>
            <a:off x="10146180" y="404664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1-3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76" name="타원 275"/>
          <p:cNvSpPr/>
          <p:nvPr/>
        </p:nvSpPr>
        <p:spPr>
          <a:xfrm>
            <a:off x="-3715362" y="-27384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1-1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82" name="직사각형 281"/>
          <p:cNvSpPr/>
          <p:nvPr/>
        </p:nvSpPr>
        <p:spPr>
          <a:xfrm>
            <a:off x="-3387780" y="36820"/>
            <a:ext cx="3236038" cy="953685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700" b="1" dirty="0">
                <a:solidFill>
                  <a:srgbClr val="000000"/>
                </a:solidFill>
              </a:rPr>
              <a:t>지출번호  </a:t>
            </a:r>
            <a:r>
              <a:rPr lang="ko-KR" altLang="en-US" sz="700" b="1" dirty="0" err="1" smtClean="0">
                <a:solidFill>
                  <a:srgbClr val="000000"/>
                </a:solidFill>
              </a:rPr>
              <a:t>콤보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 </a:t>
            </a:r>
            <a:r>
              <a:rPr lang="ko-KR" altLang="en-US" sz="700" b="1" dirty="0" err="1" smtClean="0">
                <a:solidFill>
                  <a:srgbClr val="000000"/>
                </a:solidFill>
              </a:rPr>
              <a:t>클릭시</a:t>
            </a:r>
            <a:endParaRPr lang="en-US" altLang="ko-KR" sz="700" b="1" dirty="0">
              <a:solidFill>
                <a:srgbClr val="000000"/>
              </a:solidFill>
            </a:endParaRPr>
          </a:p>
          <a:p>
            <a:r>
              <a:rPr lang="ko-KR" altLang="en-US" sz="700" b="1" dirty="0" smtClean="0">
                <a:solidFill>
                  <a:srgbClr val="000000"/>
                </a:solidFill>
              </a:rPr>
              <a:t>전체  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: 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미처리 및 지출확정 </a:t>
            </a:r>
            <a:r>
              <a:rPr lang="en-US" altLang="ko-KR" sz="700" b="1" dirty="0">
                <a:solidFill>
                  <a:srgbClr val="000000"/>
                </a:solidFill>
              </a:rPr>
              <a:t> </a:t>
            </a:r>
          </a:p>
          <a:p>
            <a:r>
              <a:rPr lang="ko-KR" altLang="en-US" sz="700" b="1" dirty="0" smtClean="0">
                <a:solidFill>
                  <a:srgbClr val="000000"/>
                </a:solidFill>
              </a:rPr>
              <a:t>화면표시 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: 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전체</a:t>
            </a:r>
            <a:endParaRPr lang="en-US" altLang="ko-KR" sz="700" b="1" dirty="0" smtClean="0">
              <a:solidFill>
                <a:srgbClr val="000000"/>
              </a:solidFill>
            </a:endParaRPr>
          </a:p>
          <a:p>
            <a:r>
              <a:rPr lang="ko-KR" altLang="en-US" sz="700" b="1" dirty="0" smtClean="0">
                <a:solidFill>
                  <a:srgbClr val="000000"/>
                </a:solidFill>
              </a:rPr>
              <a:t>미처리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(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지출 </a:t>
            </a:r>
            <a:r>
              <a:rPr lang="ko-KR" altLang="en-US" sz="700" b="1" dirty="0" err="1" smtClean="0">
                <a:solidFill>
                  <a:srgbClr val="000000"/>
                </a:solidFill>
              </a:rPr>
              <a:t>미확정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) </a:t>
            </a:r>
          </a:p>
          <a:p>
            <a:r>
              <a:rPr lang="ko-KR" altLang="en-US" sz="700" b="1" dirty="0" smtClean="0">
                <a:solidFill>
                  <a:srgbClr val="000000"/>
                </a:solidFill>
              </a:rPr>
              <a:t>화면표시 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: 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미처리</a:t>
            </a:r>
            <a:endParaRPr lang="en-US" altLang="ko-KR" sz="700" b="1" dirty="0" smtClean="0">
              <a:solidFill>
                <a:srgbClr val="000000"/>
              </a:solidFill>
            </a:endParaRPr>
          </a:p>
          <a:p>
            <a:r>
              <a:rPr lang="ko-KR" altLang="en-US" sz="700" b="1" dirty="0" smtClean="0">
                <a:solidFill>
                  <a:srgbClr val="000000"/>
                </a:solidFill>
              </a:rPr>
              <a:t>지출번호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(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지출 확정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) </a:t>
            </a:r>
          </a:p>
          <a:p>
            <a:r>
              <a:rPr lang="ko-KR" altLang="en-US" sz="700" b="1" dirty="0" smtClean="0">
                <a:solidFill>
                  <a:srgbClr val="000000"/>
                </a:solidFill>
              </a:rPr>
              <a:t>화면표시 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: 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지출번호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(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시스템 규칙에 따라 지출확정 버튼 </a:t>
            </a:r>
            <a:r>
              <a:rPr lang="ko-KR" altLang="en-US" sz="700" b="1" dirty="0" err="1" smtClean="0">
                <a:solidFill>
                  <a:srgbClr val="000000"/>
                </a:solidFill>
              </a:rPr>
              <a:t>클릭시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 생성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)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  화면 표시 처리</a:t>
            </a:r>
            <a:endParaRPr lang="en-US" altLang="ko-KR" sz="700" b="1" dirty="0">
              <a:solidFill>
                <a:srgbClr val="000000"/>
              </a:solidFill>
            </a:endParaRPr>
          </a:p>
        </p:txBody>
      </p:sp>
      <p:sp>
        <p:nvSpPr>
          <p:cNvPr id="167" name="직사각형 166"/>
          <p:cNvSpPr/>
          <p:nvPr/>
        </p:nvSpPr>
        <p:spPr>
          <a:xfrm>
            <a:off x="8377799" y="2059224"/>
            <a:ext cx="1527650" cy="325660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 smtClean="0">
                <a:solidFill>
                  <a:srgbClr val="FF0066"/>
                </a:solidFill>
              </a:rPr>
              <a:t>컨테이너 개수 표시</a:t>
            </a:r>
            <a:r>
              <a:rPr lang="en-US" altLang="ko-KR" sz="700" dirty="0" smtClean="0">
                <a:solidFill>
                  <a:srgbClr val="FF0066"/>
                </a:solidFill>
              </a:rPr>
              <a:t>(</a:t>
            </a:r>
            <a:r>
              <a:rPr lang="ko-KR" altLang="en-US" sz="700" dirty="0" smtClean="0">
                <a:solidFill>
                  <a:srgbClr val="FF0066"/>
                </a:solidFill>
              </a:rPr>
              <a:t>비활성</a:t>
            </a:r>
            <a:r>
              <a:rPr lang="en-US" altLang="ko-KR" sz="700" dirty="0" smtClean="0">
                <a:solidFill>
                  <a:srgbClr val="FF0066"/>
                </a:solidFill>
              </a:rPr>
              <a:t>)</a:t>
            </a:r>
          </a:p>
          <a:p>
            <a:r>
              <a:rPr lang="ko-KR" altLang="en-US" sz="700" dirty="0" smtClean="0">
                <a:solidFill>
                  <a:srgbClr val="FF0066"/>
                </a:solidFill>
              </a:rPr>
              <a:t>컨테이너 유형이 </a:t>
            </a:r>
            <a:r>
              <a:rPr lang="en-US" altLang="ko-KR" sz="700" dirty="0" smtClean="0">
                <a:solidFill>
                  <a:srgbClr val="FF0066"/>
                </a:solidFill>
              </a:rPr>
              <a:t>LCL </a:t>
            </a:r>
            <a:r>
              <a:rPr lang="ko-KR" altLang="en-US" sz="700" dirty="0" err="1" smtClean="0">
                <a:solidFill>
                  <a:srgbClr val="FF0066"/>
                </a:solidFill>
              </a:rPr>
              <a:t>체크시</a:t>
            </a:r>
            <a:endParaRPr lang="en-US" altLang="ko-KR" sz="700" dirty="0" smtClean="0">
              <a:solidFill>
                <a:srgbClr val="FF0066"/>
              </a:solidFill>
            </a:endParaRPr>
          </a:p>
          <a:p>
            <a:r>
              <a:rPr lang="en-US" altLang="ko-KR" sz="700" dirty="0" smtClean="0">
                <a:solidFill>
                  <a:srgbClr val="FF0066"/>
                </a:solidFill>
              </a:rPr>
              <a:t>LCL </a:t>
            </a:r>
            <a:r>
              <a:rPr lang="ko-KR" altLang="en-US" sz="700" dirty="0" smtClean="0">
                <a:solidFill>
                  <a:srgbClr val="FF0066"/>
                </a:solidFill>
              </a:rPr>
              <a:t>화면 표시 처리</a:t>
            </a:r>
          </a:p>
        </p:txBody>
      </p:sp>
      <p:sp>
        <p:nvSpPr>
          <p:cNvPr id="200" name="직사각형 199"/>
          <p:cNvSpPr/>
          <p:nvPr/>
        </p:nvSpPr>
        <p:spPr>
          <a:xfrm>
            <a:off x="5992781" y="2161095"/>
            <a:ext cx="1570663" cy="234961"/>
          </a:xfrm>
          <a:prstGeom prst="rect">
            <a:avLst/>
          </a:prstGeom>
          <a:noFill/>
          <a:ln w="254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00FF"/>
                </a:solidFill>
              </a:rPr>
              <a:t>비활성</a:t>
            </a:r>
            <a:r>
              <a:rPr lang="en-US" altLang="ko-KR" dirty="0">
                <a:solidFill>
                  <a:srgbClr val="0000FF"/>
                </a:solidFill>
              </a:rPr>
              <a:t>(</a:t>
            </a:r>
            <a:r>
              <a:rPr lang="ko-KR" altLang="en-US" dirty="0">
                <a:solidFill>
                  <a:srgbClr val="0000FF"/>
                </a:solidFill>
              </a:rPr>
              <a:t>입력불가능</a:t>
            </a:r>
            <a:r>
              <a:rPr lang="en-US" altLang="ko-KR" dirty="0">
                <a:solidFill>
                  <a:srgbClr val="0000FF"/>
                </a:solidFill>
              </a:rPr>
              <a:t>) </a:t>
            </a:r>
            <a:r>
              <a:rPr lang="ko-KR" altLang="en-US" dirty="0" smtClean="0">
                <a:solidFill>
                  <a:srgbClr val="0000FF"/>
                </a:solidFill>
              </a:rPr>
              <a:t>처리</a:t>
            </a:r>
            <a:endParaRPr lang="en-US" altLang="ko-KR" dirty="0">
              <a:solidFill>
                <a:srgbClr val="0000FF"/>
              </a:solidFill>
            </a:endParaRPr>
          </a:p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HOUSE BL </a:t>
            </a:r>
            <a:r>
              <a:rPr lang="ko-KR" altLang="en-US" b="1" dirty="0" smtClean="0">
                <a:solidFill>
                  <a:srgbClr val="FF0000"/>
                </a:solidFill>
              </a:rPr>
              <a:t>항</a:t>
            </a:r>
            <a:r>
              <a:rPr lang="ko-KR" altLang="en-US" b="1" dirty="0">
                <a:solidFill>
                  <a:srgbClr val="FF0000"/>
                </a:solidFill>
              </a:rPr>
              <a:t>목</a:t>
            </a:r>
            <a:r>
              <a:rPr lang="ko-KR" altLang="en-US" b="1" dirty="0" smtClean="0">
                <a:solidFill>
                  <a:srgbClr val="FF0000"/>
                </a:solidFill>
              </a:rPr>
              <a:t> 화면 표시</a:t>
            </a:r>
            <a:endParaRPr lang="en-US" altLang="ko-KR" b="1" dirty="0" smtClean="0">
              <a:solidFill>
                <a:srgbClr val="FF0000"/>
              </a:solidFill>
            </a:endParaRPr>
          </a:p>
        </p:txBody>
      </p:sp>
      <p:sp>
        <p:nvSpPr>
          <p:cNvPr id="155" name="타원 154"/>
          <p:cNvSpPr/>
          <p:nvPr/>
        </p:nvSpPr>
        <p:spPr>
          <a:xfrm>
            <a:off x="675039" y="1800668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1-1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-3391326" y="1340768"/>
            <a:ext cx="3255642" cy="809278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700" b="1" dirty="0" smtClean="0">
                <a:solidFill>
                  <a:srgbClr val="000000"/>
                </a:solidFill>
              </a:rPr>
              <a:t>사용자가 화폐코드 </a:t>
            </a:r>
            <a:r>
              <a:rPr lang="ko-KR" altLang="en-US" sz="700" b="1" dirty="0" err="1" smtClean="0">
                <a:solidFill>
                  <a:srgbClr val="000000"/>
                </a:solidFill>
              </a:rPr>
              <a:t>선택후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 환율일자에 등록된 환율금액을 화면에 표시 처리 사용자가 </a:t>
            </a:r>
            <a:endParaRPr lang="en-US" altLang="ko-KR" sz="700" b="1" dirty="0" smtClean="0">
              <a:solidFill>
                <a:srgbClr val="000000"/>
              </a:solidFill>
            </a:endParaRPr>
          </a:p>
          <a:p>
            <a:r>
              <a:rPr lang="en-US" altLang="ko-KR" sz="700" b="1" dirty="0" smtClean="0">
                <a:solidFill>
                  <a:srgbClr val="FF0000"/>
                </a:solidFill>
              </a:rPr>
              <a:t>1. USD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금액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선택시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USD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항목에 동일하게 표시 처리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,  2. KRW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화폐코드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선택시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환율일자와 관계없이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Ex-Rate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항목에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“1” 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표시 처리 및</a:t>
            </a:r>
            <a:r>
              <a:rPr lang="en-US" altLang="ko-KR" sz="700" b="1" dirty="0">
                <a:solidFill>
                  <a:srgbClr val="FF0000"/>
                </a:solidFill>
              </a:rPr>
              <a:t>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USD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항목 공백 처리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, </a:t>
            </a:r>
          </a:p>
          <a:p>
            <a:r>
              <a:rPr lang="en-US" altLang="ko-KR" sz="700" b="1" dirty="0" smtClean="0">
                <a:solidFill>
                  <a:srgbClr val="FF0000"/>
                </a:solidFill>
              </a:rPr>
              <a:t>3. USD, KRW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이외에 화폐코드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선택시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선택된 화폐코드에 맞춰 환율을 화면에 표시 처리 및 환율일자 등록된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USD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환율금액 표시 처리</a:t>
            </a:r>
            <a:endParaRPr lang="en-US" altLang="ko-KR" sz="700" b="1" dirty="0">
              <a:solidFill>
                <a:srgbClr val="FF0000"/>
              </a:solidFill>
            </a:endParaRPr>
          </a:p>
        </p:txBody>
      </p:sp>
      <p:sp>
        <p:nvSpPr>
          <p:cNvPr id="187" name="직사각형 186"/>
          <p:cNvSpPr/>
          <p:nvPr/>
        </p:nvSpPr>
        <p:spPr>
          <a:xfrm>
            <a:off x="2346466" y="2497033"/>
            <a:ext cx="4715774" cy="291543"/>
          </a:xfrm>
          <a:prstGeom prst="rect">
            <a:avLst/>
          </a:prstGeom>
          <a:noFill/>
          <a:ln w="254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189" name="타원 188"/>
          <p:cNvSpPr/>
          <p:nvPr/>
        </p:nvSpPr>
        <p:spPr>
          <a:xfrm>
            <a:off x="2245892" y="2252544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1-3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95" name="타원 194"/>
          <p:cNvSpPr/>
          <p:nvPr/>
        </p:nvSpPr>
        <p:spPr>
          <a:xfrm>
            <a:off x="7662395" y="2370905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1-4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11" name="타원 210"/>
          <p:cNvSpPr/>
          <p:nvPr/>
        </p:nvSpPr>
        <p:spPr>
          <a:xfrm>
            <a:off x="9449879" y="3086095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1-6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9489313" y="3698420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 smtClean="0">
                <a:solidFill>
                  <a:srgbClr val="000000"/>
                </a:solidFill>
              </a:rPr>
              <a:t>전체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15" name="타원 214"/>
          <p:cNvSpPr/>
          <p:nvPr/>
        </p:nvSpPr>
        <p:spPr>
          <a:xfrm>
            <a:off x="196757" y="3067645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1-5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16" name="타원 215"/>
          <p:cNvSpPr/>
          <p:nvPr/>
        </p:nvSpPr>
        <p:spPr>
          <a:xfrm>
            <a:off x="7913500" y="3566264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1-3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21" name="직사각형 220"/>
          <p:cNvSpPr/>
          <p:nvPr/>
        </p:nvSpPr>
        <p:spPr>
          <a:xfrm>
            <a:off x="7824413" y="3537012"/>
            <a:ext cx="2054750" cy="377464"/>
          </a:xfrm>
          <a:prstGeom prst="rect">
            <a:avLst/>
          </a:prstGeom>
          <a:noFill/>
          <a:ln w="254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222" name="타원 221"/>
          <p:cNvSpPr/>
          <p:nvPr/>
        </p:nvSpPr>
        <p:spPr>
          <a:xfrm>
            <a:off x="3454490" y="1994315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 smtClean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24" name="직사각형 223"/>
          <p:cNvSpPr/>
          <p:nvPr/>
        </p:nvSpPr>
        <p:spPr>
          <a:xfrm>
            <a:off x="10471380" y="996474"/>
            <a:ext cx="3480990" cy="5996922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700" b="1" dirty="0" smtClean="0">
                <a:solidFill>
                  <a:srgbClr val="000000"/>
                </a:solidFill>
              </a:rPr>
              <a:t>운임 </a:t>
            </a:r>
            <a:r>
              <a:rPr lang="ko-KR" altLang="en-US" sz="700" b="1" dirty="0" err="1" smtClean="0">
                <a:solidFill>
                  <a:srgbClr val="000000"/>
                </a:solidFill>
              </a:rPr>
              <a:t>그리드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 기능 설명</a:t>
            </a:r>
            <a:endParaRPr lang="en-US" altLang="ko-KR" sz="700" b="1" dirty="0">
              <a:solidFill>
                <a:srgbClr val="000000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4-1 : </a:t>
            </a:r>
            <a:r>
              <a:rPr lang="ko-KR" altLang="en-US" sz="700" dirty="0" smtClean="0">
                <a:solidFill>
                  <a:srgbClr val="0000FF"/>
                </a:solidFill>
              </a:rPr>
              <a:t>운임 코드</a:t>
            </a:r>
            <a:r>
              <a:rPr lang="en-US" altLang="ko-KR" sz="700" dirty="0">
                <a:solidFill>
                  <a:srgbClr val="0000FF"/>
                </a:solidFill>
              </a:rPr>
              <a:t> </a:t>
            </a:r>
            <a:r>
              <a:rPr lang="ko-KR" altLang="en-US" sz="700" dirty="0" smtClean="0">
                <a:solidFill>
                  <a:srgbClr val="0000FF"/>
                </a:solidFill>
              </a:rPr>
              <a:t>검색 버튼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클릭시</a:t>
            </a:r>
            <a:r>
              <a:rPr lang="ko-KR" altLang="en-US" sz="700" dirty="0" smtClean="0">
                <a:solidFill>
                  <a:srgbClr val="0000FF"/>
                </a:solidFill>
              </a:rPr>
              <a:t> 코드 검색 팝업 제공 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ko-KR" altLang="en-US" sz="700" dirty="0" smtClean="0">
                <a:solidFill>
                  <a:srgbClr val="0000FF"/>
                </a:solidFill>
              </a:rPr>
              <a:t>컨테이너 유형이 </a:t>
            </a:r>
            <a:r>
              <a:rPr lang="en-US" altLang="ko-KR" sz="700" dirty="0" smtClean="0">
                <a:solidFill>
                  <a:srgbClr val="0000FF"/>
                </a:solidFill>
              </a:rPr>
              <a:t>LCL </a:t>
            </a:r>
            <a:r>
              <a:rPr lang="ko-KR" altLang="en-US" sz="700" dirty="0" smtClean="0">
                <a:solidFill>
                  <a:srgbClr val="0000FF"/>
                </a:solidFill>
              </a:rPr>
              <a:t>또는 </a:t>
            </a:r>
            <a:r>
              <a:rPr lang="en-US" altLang="ko-KR" sz="700" dirty="0" smtClean="0">
                <a:solidFill>
                  <a:srgbClr val="0000FF"/>
                </a:solidFill>
              </a:rPr>
              <a:t>BULK </a:t>
            </a:r>
            <a:r>
              <a:rPr lang="ko-KR" altLang="en-US" sz="700" dirty="0" smtClean="0">
                <a:solidFill>
                  <a:srgbClr val="0000FF"/>
                </a:solidFill>
              </a:rPr>
              <a:t>로 체크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되어있을시</a:t>
            </a:r>
            <a:r>
              <a:rPr lang="ko-KR" altLang="en-US" sz="700" dirty="0" smtClean="0">
                <a:solidFill>
                  <a:srgbClr val="0000FF"/>
                </a:solidFill>
              </a:rPr>
              <a:t> </a:t>
            </a:r>
            <a:r>
              <a:rPr lang="en-US" altLang="ko-KR" sz="700" dirty="0" smtClean="0">
                <a:solidFill>
                  <a:srgbClr val="0000FF"/>
                </a:solidFill>
              </a:rPr>
              <a:t>: </a:t>
            </a:r>
          </a:p>
          <a:p>
            <a:r>
              <a:rPr lang="ko-KR" altLang="en-US" sz="700" dirty="0" smtClean="0">
                <a:solidFill>
                  <a:srgbClr val="0000FF"/>
                </a:solidFill>
              </a:rPr>
              <a:t>사용자가 운임코드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입력후</a:t>
            </a:r>
            <a:r>
              <a:rPr lang="ko-KR" altLang="en-US" sz="700" dirty="0" smtClean="0">
                <a:solidFill>
                  <a:srgbClr val="0000FF"/>
                </a:solidFill>
              </a:rPr>
              <a:t> 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4-2 : </a:t>
            </a:r>
            <a:r>
              <a:rPr lang="ko-KR" altLang="en-US" sz="700" dirty="0" smtClean="0">
                <a:solidFill>
                  <a:srgbClr val="0000FF"/>
                </a:solidFill>
              </a:rPr>
              <a:t>사용자가 입력한 운임코드에 입력된 운임이름 표기 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ko-KR" altLang="en-US" sz="700" dirty="0" smtClean="0">
                <a:solidFill>
                  <a:srgbClr val="0000FF"/>
                </a:solidFill>
              </a:rPr>
              <a:t>컨테이너 유형이 </a:t>
            </a:r>
            <a:r>
              <a:rPr lang="en-US" altLang="ko-KR" sz="700" dirty="0" smtClean="0">
                <a:solidFill>
                  <a:srgbClr val="0000FF"/>
                </a:solidFill>
              </a:rPr>
              <a:t>FCL </a:t>
            </a:r>
            <a:r>
              <a:rPr lang="ko-KR" altLang="en-US" sz="700" dirty="0" smtClean="0">
                <a:solidFill>
                  <a:srgbClr val="0000FF"/>
                </a:solidFill>
              </a:rPr>
              <a:t>로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체크되어있을시</a:t>
            </a:r>
            <a:r>
              <a:rPr lang="ko-KR" altLang="en-US" sz="700" dirty="0" smtClean="0">
                <a:solidFill>
                  <a:srgbClr val="0000FF"/>
                </a:solidFill>
              </a:rPr>
              <a:t> </a:t>
            </a:r>
            <a:r>
              <a:rPr lang="en-US" altLang="ko-KR" sz="700" dirty="0" smtClean="0">
                <a:solidFill>
                  <a:srgbClr val="0000FF"/>
                </a:solidFill>
              </a:rPr>
              <a:t>: </a:t>
            </a:r>
          </a:p>
          <a:p>
            <a:r>
              <a:rPr lang="ko-KR" altLang="en-US" sz="700" dirty="0">
                <a:solidFill>
                  <a:srgbClr val="0000FF"/>
                </a:solidFill>
              </a:rPr>
              <a:t>사용자가 운임코드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입력후</a:t>
            </a:r>
            <a:r>
              <a:rPr lang="ko-KR" altLang="en-US" sz="700" dirty="0" smtClean="0">
                <a:solidFill>
                  <a:srgbClr val="0000FF"/>
                </a:solidFill>
              </a:rPr>
              <a:t> 컨테이너 개수에 따라 운임코드 결과표시처리</a:t>
            </a:r>
            <a:r>
              <a:rPr lang="en-US" altLang="ko-KR" sz="700" dirty="0" smtClean="0">
                <a:solidFill>
                  <a:srgbClr val="0000FF"/>
                </a:solidFill>
              </a:rPr>
              <a:t> (Ex. </a:t>
            </a:r>
            <a:r>
              <a:rPr lang="ko-KR" altLang="en-US" sz="700" dirty="0" smtClean="0">
                <a:solidFill>
                  <a:srgbClr val="0000FF"/>
                </a:solidFill>
              </a:rPr>
              <a:t>컨테이너 </a:t>
            </a:r>
            <a:r>
              <a:rPr lang="en-US" altLang="ko-KR" sz="700" dirty="0" smtClean="0">
                <a:solidFill>
                  <a:srgbClr val="0000FF"/>
                </a:solidFill>
              </a:rPr>
              <a:t>2</a:t>
            </a:r>
            <a:r>
              <a:rPr lang="ko-KR" altLang="en-US" sz="700" dirty="0" smtClean="0">
                <a:solidFill>
                  <a:srgbClr val="0000FF"/>
                </a:solidFill>
              </a:rPr>
              <a:t>개 이상일 경우 사용자가 </a:t>
            </a:r>
            <a:r>
              <a:rPr lang="en-US" altLang="ko-KR" sz="700" dirty="0" smtClean="0">
                <a:solidFill>
                  <a:srgbClr val="0000FF"/>
                </a:solidFill>
              </a:rPr>
              <a:t>OFC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입력시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ko-KR" altLang="en-US" sz="700" dirty="0" err="1" smtClean="0">
                <a:solidFill>
                  <a:srgbClr val="0000FF"/>
                </a:solidFill>
              </a:rPr>
              <a:t>그리드</a:t>
            </a:r>
            <a:r>
              <a:rPr lang="ko-KR" altLang="en-US" sz="700" dirty="0" smtClean="0">
                <a:solidFill>
                  <a:srgbClr val="0000FF"/>
                </a:solidFill>
              </a:rPr>
              <a:t> 항목에 </a:t>
            </a:r>
            <a:r>
              <a:rPr lang="en-US" altLang="ko-KR" sz="700" dirty="0" smtClean="0">
                <a:solidFill>
                  <a:srgbClr val="0000FF"/>
                </a:solidFill>
              </a:rPr>
              <a:t>OFC, OFC </a:t>
            </a:r>
            <a:r>
              <a:rPr lang="ko-KR" altLang="en-US" sz="700" dirty="0" smtClean="0">
                <a:solidFill>
                  <a:srgbClr val="0000FF"/>
                </a:solidFill>
              </a:rPr>
              <a:t> </a:t>
            </a:r>
            <a:r>
              <a:rPr lang="en-US" altLang="ko-KR" sz="700" dirty="0" smtClean="0">
                <a:solidFill>
                  <a:srgbClr val="0000FF"/>
                </a:solidFill>
              </a:rPr>
              <a:t>2</a:t>
            </a:r>
            <a:r>
              <a:rPr lang="ko-KR" altLang="en-US" sz="700" dirty="0" smtClean="0">
                <a:solidFill>
                  <a:srgbClr val="0000FF"/>
                </a:solidFill>
              </a:rPr>
              <a:t>개 표시</a:t>
            </a:r>
            <a:r>
              <a:rPr lang="en-US" altLang="ko-KR" sz="700" dirty="0" smtClean="0">
                <a:solidFill>
                  <a:srgbClr val="0000FF"/>
                </a:solidFill>
              </a:rPr>
              <a:t>, </a:t>
            </a:r>
            <a:r>
              <a:rPr lang="ko-KR" altLang="en-US" sz="700" dirty="0" smtClean="0">
                <a:solidFill>
                  <a:srgbClr val="0000FF"/>
                </a:solidFill>
              </a:rPr>
              <a:t>운임유형도 입력된 컨테이너 유형에 맞춰 표시 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ko-KR" altLang="en-US" sz="700" dirty="0" err="1" smtClean="0">
                <a:solidFill>
                  <a:srgbClr val="0000FF"/>
                </a:solidFill>
              </a:rPr>
              <a:t>그리드</a:t>
            </a:r>
            <a:r>
              <a:rPr lang="ko-KR" altLang="en-US" sz="700" dirty="0" smtClean="0">
                <a:solidFill>
                  <a:srgbClr val="0000FF"/>
                </a:solidFill>
              </a:rPr>
              <a:t> </a:t>
            </a:r>
            <a:r>
              <a:rPr lang="en-US" altLang="ko-KR" sz="700" dirty="0" smtClean="0">
                <a:solidFill>
                  <a:srgbClr val="0000FF"/>
                </a:solidFill>
              </a:rPr>
              <a:t>1 ) OFC    KRW 1.00 </a:t>
            </a:r>
          </a:p>
          <a:p>
            <a:r>
              <a:rPr lang="ko-KR" altLang="en-US" sz="700" dirty="0" err="1" smtClean="0">
                <a:solidFill>
                  <a:srgbClr val="0000FF"/>
                </a:solidFill>
              </a:rPr>
              <a:t>그리드</a:t>
            </a:r>
            <a:r>
              <a:rPr lang="ko-KR" altLang="en-US" sz="700" dirty="0" smtClean="0">
                <a:solidFill>
                  <a:srgbClr val="0000FF"/>
                </a:solidFill>
              </a:rPr>
              <a:t> </a:t>
            </a:r>
            <a:r>
              <a:rPr lang="en-US" altLang="ko-KR" sz="700" dirty="0" smtClean="0">
                <a:solidFill>
                  <a:srgbClr val="0000FF"/>
                </a:solidFill>
              </a:rPr>
              <a:t>2 ) </a:t>
            </a:r>
            <a:r>
              <a:rPr lang="en-US" altLang="ko-KR" sz="700" dirty="0">
                <a:solidFill>
                  <a:srgbClr val="0000FF"/>
                </a:solidFill>
              </a:rPr>
              <a:t>OFC  </a:t>
            </a:r>
            <a:r>
              <a:rPr lang="en-US" altLang="ko-KR" sz="700" dirty="0" smtClean="0">
                <a:solidFill>
                  <a:srgbClr val="0000FF"/>
                </a:solidFill>
              </a:rPr>
              <a:t>  </a:t>
            </a:r>
            <a:r>
              <a:rPr lang="en-US" altLang="ko-KR" sz="700" dirty="0">
                <a:solidFill>
                  <a:srgbClr val="0000FF"/>
                </a:solidFill>
              </a:rPr>
              <a:t>KRW 1.00 </a:t>
            </a: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4-2 </a:t>
            </a:r>
            <a:r>
              <a:rPr lang="en-US" altLang="ko-KR" sz="700" dirty="0">
                <a:solidFill>
                  <a:srgbClr val="0000FF"/>
                </a:solidFill>
              </a:rPr>
              <a:t>: </a:t>
            </a:r>
            <a:r>
              <a:rPr lang="ko-KR" altLang="en-US" sz="700" dirty="0">
                <a:solidFill>
                  <a:srgbClr val="0000FF"/>
                </a:solidFill>
              </a:rPr>
              <a:t>운임코드에 입력된 운임이름 표기 처리</a:t>
            </a:r>
            <a:endParaRPr lang="en-US" altLang="ko-KR" sz="700" dirty="0">
              <a:solidFill>
                <a:srgbClr val="0000FF"/>
              </a:solidFill>
            </a:endParaRPr>
          </a:p>
          <a:p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4-3 : </a:t>
            </a:r>
            <a:r>
              <a:rPr lang="ko-KR" altLang="en-US" sz="700" dirty="0" smtClean="0">
                <a:solidFill>
                  <a:srgbClr val="0000FF"/>
                </a:solidFill>
              </a:rPr>
              <a:t>화폐코드 검색 버튼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클릭시</a:t>
            </a:r>
            <a:r>
              <a:rPr lang="ko-KR" altLang="en-US" sz="700" dirty="0" smtClean="0">
                <a:solidFill>
                  <a:srgbClr val="0000FF"/>
                </a:solidFill>
              </a:rPr>
              <a:t> 코드 검색 팝업 제공 처리 </a:t>
            </a:r>
            <a:r>
              <a:rPr lang="en-US" altLang="ko-KR" sz="700" dirty="0" smtClean="0">
                <a:solidFill>
                  <a:srgbClr val="0000FF"/>
                </a:solidFill>
              </a:rPr>
              <a:t>, </a:t>
            </a:r>
            <a:r>
              <a:rPr lang="ko-KR" altLang="en-US" sz="700" dirty="0" smtClean="0">
                <a:solidFill>
                  <a:srgbClr val="0000FF"/>
                </a:solidFill>
              </a:rPr>
              <a:t>사용자 입력 가능 </a:t>
            </a:r>
            <a:r>
              <a:rPr lang="en-US" altLang="ko-KR" sz="700" dirty="0" smtClean="0">
                <a:solidFill>
                  <a:srgbClr val="0000FF"/>
                </a:solidFill>
              </a:rPr>
              <a:t>, </a:t>
            </a:r>
            <a:r>
              <a:rPr lang="ko-KR" altLang="en-US" sz="700" dirty="0" smtClean="0">
                <a:solidFill>
                  <a:srgbClr val="0000FF"/>
                </a:solidFill>
              </a:rPr>
              <a:t>사용자가 코드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입력시</a:t>
            </a:r>
            <a:r>
              <a:rPr lang="ko-KR" altLang="en-US" sz="700" dirty="0" smtClean="0">
                <a:solidFill>
                  <a:srgbClr val="0000FF"/>
                </a:solidFill>
              </a:rPr>
              <a:t> 등록되어있는 코드 값과  </a:t>
            </a:r>
            <a:r>
              <a:rPr lang="en-US" altLang="ko-KR" sz="700" dirty="0" smtClean="0">
                <a:solidFill>
                  <a:srgbClr val="0000FF"/>
                </a:solidFill>
              </a:rPr>
              <a:t>like </a:t>
            </a:r>
            <a:r>
              <a:rPr lang="ko-KR" altLang="en-US" sz="700" dirty="0" smtClean="0">
                <a:solidFill>
                  <a:srgbClr val="0000FF"/>
                </a:solidFill>
              </a:rPr>
              <a:t>검색 처리 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Ex) </a:t>
            </a:r>
            <a:r>
              <a:rPr lang="ko-KR" altLang="en-US" sz="700" dirty="0" smtClean="0">
                <a:solidFill>
                  <a:srgbClr val="0000FF"/>
                </a:solidFill>
              </a:rPr>
              <a:t>사용자가 </a:t>
            </a:r>
            <a:r>
              <a:rPr lang="en-US" altLang="ko-KR" sz="700" dirty="0" smtClean="0">
                <a:solidFill>
                  <a:srgbClr val="0000FF"/>
                </a:solidFill>
              </a:rPr>
              <a:t>US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입력후</a:t>
            </a:r>
            <a:r>
              <a:rPr lang="ko-KR" altLang="en-US" sz="700" dirty="0" smtClean="0">
                <a:solidFill>
                  <a:srgbClr val="0000FF"/>
                </a:solidFill>
              </a:rPr>
              <a:t>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엔터키</a:t>
            </a:r>
            <a:r>
              <a:rPr lang="ko-KR" altLang="en-US" sz="700" dirty="0" smtClean="0">
                <a:solidFill>
                  <a:srgbClr val="0000FF"/>
                </a:solidFill>
              </a:rPr>
              <a:t> 입력 또는 마우스로 다른 항목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클릭시</a:t>
            </a:r>
            <a:r>
              <a:rPr lang="ko-KR" altLang="en-US" sz="700" dirty="0" smtClean="0">
                <a:solidFill>
                  <a:srgbClr val="0000FF"/>
                </a:solidFill>
              </a:rPr>
              <a:t>  </a:t>
            </a:r>
            <a:r>
              <a:rPr lang="en-US" altLang="ko-KR" sz="700" dirty="0" smtClean="0">
                <a:solidFill>
                  <a:srgbClr val="0000FF"/>
                </a:solidFill>
              </a:rPr>
              <a:t> </a:t>
            </a:r>
            <a:r>
              <a:rPr lang="ko-KR" altLang="en-US" sz="700" dirty="0" smtClean="0">
                <a:solidFill>
                  <a:srgbClr val="0000FF"/>
                </a:solidFill>
              </a:rPr>
              <a:t>등록되어있는 코드 값과 비슷한 값을 검색 팝업을 화면에 표시 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ko-KR" altLang="en-US" sz="700" dirty="0" smtClean="0">
                <a:solidFill>
                  <a:srgbClr val="0000FF"/>
                </a:solidFill>
              </a:rPr>
              <a:t>사용자가 완전히 상이한 값을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입력시</a:t>
            </a:r>
            <a:r>
              <a:rPr lang="ko-KR" altLang="en-US" sz="700" dirty="0" smtClean="0">
                <a:solidFill>
                  <a:srgbClr val="0000FF"/>
                </a:solidFill>
              </a:rPr>
              <a:t>  메시지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춝력</a:t>
            </a:r>
            <a:r>
              <a:rPr lang="ko-KR" altLang="en-US" sz="700" dirty="0" smtClean="0">
                <a:solidFill>
                  <a:srgbClr val="0000FF"/>
                </a:solidFill>
              </a:rPr>
              <a:t> 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Ex) </a:t>
            </a:r>
            <a:r>
              <a:rPr lang="ko-KR" altLang="en-US" sz="700" dirty="0" smtClean="0">
                <a:solidFill>
                  <a:srgbClr val="0000FF"/>
                </a:solidFill>
              </a:rPr>
              <a:t>사용자가 </a:t>
            </a:r>
            <a:r>
              <a:rPr lang="en-US" altLang="ko-KR" sz="700" dirty="0" smtClean="0">
                <a:solidFill>
                  <a:srgbClr val="0000FF"/>
                </a:solidFill>
              </a:rPr>
              <a:t>UT D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입력시</a:t>
            </a:r>
            <a:r>
              <a:rPr lang="ko-KR" altLang="en-US" sz="700" dirty="0" smtClean="0">
                <a:solidFill>
                  <a:srgbClr val="0000FF"/>
                </a:solidFill>
              </a:rPr>
              <a:t> </a:t>
            </a:r>
            <a:r>
              <a:rPr lang="ko-KR" altLang="en-US" sz="700" dirty="0">
                <a:solidFill>
                  <a:srgbClr val="0000FF"/>
                </a:solidFill>
              </a:rPr>
              <a:t>메시지 </a:t>
            </a:r>
            <a:r>
              <a:rPr lang="ko-KR" altLang="en-US" sz="700" dirty="0" err="1">
                <a:solidFill>
                  <a:srgbClr val="0000FF"/>
                </a:solidFill>
              </a:rPr>
              <a:t>춝력</a:t>
            </a:r>
            <a:r>
              <a:rPr lang="ko-KR" altLang="en-US" sz="700" dirty="0">
                <a:solidFill>
                  <a:srgbClr val="0000FF"/>
                </a:solidFill>
              </a:rPr>
              <a:t> </a:t>
            </a:r>
            <a:r>
              <a:rPr lang="ko-KR" altLang="en-US" sz="700" dirty="0" smtClean="0">
                <a:solidFill>
                  <a:srgbClr val="0000FF"/>
                </a:solidFill>
              </a:rPr>
              <a:t>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en-US" altLang="ko-KR" sz="700" dirty="0">
                <a:solidFill>
                  <a:srgbClr val="FF0000"/>
                </a:solidFill>
              </a:rPr>
              <a:t>4-4 </a:t>
            </a:r>
            <a:r>
              <a:rPr lang="ko-KR" altLang="en-US" sz="700" dirty="0">
                <a:solidFill>
                  <a:srgbClr val="FF0000"/>
                </a:solidFill>
              </a:rPr>
              <a:t>항목 연계 처리</a:t>
            </a:r>
            <a:endParaRPr lang="en-US" altLang="ko-KR" sz="700" dirty="0">
              <a:solidFill>
                <a:srgbClr val="FF0000"/>
              </a:solidFill>
            </a:endParaRPr>
          </a:p>
          <a:p>
            <a:r>
              <a:rPr lang="ko-KR" altLang="en-US" sz="700" dirty="0">
                <a:solidFill>
                  <a:srgbClr val="FF0000"/>
                </a:solidFill>
              </a:rPr>
              <a:t>사용자 입력 및 변경 가능 처리</a:t>
            </a:r>
            <a:endParaRPr lang="en-US" altLang="ko-KR" sz="700" dirty="0">
              <a:solidFill>
                <a:srgbClr val="FF0000"/>
              </a:solidFill>
            </a:endParaRPr>
          </a:p>
          <a:p>
            <a:r>
              <a:rPr lang="en-US" altLang="ko-KR" sz="700" b="1" dirty="0">
                <a:solidFill>
                  <a:srgbClr val="FF0000"/>
                </a:solidFill>
              </a:rPr>
              <a:t>numerical code </a:t>
            </a:r>
            <a:r>
              <a:rPr lang="ko-KR" altLang="en-US" sz="700" dirty="0">
                <a:solidFill>
                  <a:srgbClr val="FF0000"/>
                </a:solidFill>
              </a:rPr>
              <a:t>만  입력 가능 처리</a:t>
            </a:r>
            <a:r>
              <a:rPr lang="en-US" altLang="ko-KR" sz="700" dirty="0">
                <a:solidFill>
                  <a:srgbClr val="FF0000"/>
                </a:solidFill>
              </a:rPr>
              <a:t>(</a:t>
            </a:r>
            <a:r>
              <a:rPr lang="ko-KR" altLang="en-US" sz="700" dirty="0">
                <a:solidFill>
                  <a:srgbClr val="FF0000"/>
                </a:solidFill>
              </a:rPr>
              <a:t>소수점 </a:t>
            </a:r>
            <a:r>
              <a:rPr lang="ko-KR" altLang="en-US" sz="700" dirty="0" err="1">
                <a:solidFill>
                  <a:srgbClr val="FF0000"/>
                </a:solidFill>
              </a:rPr>
              <a:t>둘째자리까지</a:t>
            </a:r>
            <a:r>
              <a:rPr lang="ko-KR" altLang="en-US" sz="700" dirty="0">
                <a:solidFill>
                  <a:srgbClr val="FF0000"/>
                </a:solidFill>
              </a:rPr>
              <a:t> 허용 </a:t>
            </a:r>
            <a:r>
              <a:rPr lang="en-US" altLang="ko-KR" sz="7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700" dirty="0">
                <a:solidFill>
                  <a:srgbClr val="FF0000"/>
                </a:solidFill>
              </a:rPr>
              <a:t>4-5 1-2 </a:t>
            </a:r>
            <a:r>
              <a:rPr lang="ko-KR" altLang="en-US" sz="700" dirty="0" err="1">
                <a:solidFill>
                  <a:srgbClr val="FF0000"/>
                </a:solidFill>
              </a:rPr>
              <a:t>환율선택된</a:t>
            </a:r>
            <a:r>
              <a:rPr lang="ko-KR" altLang="en-US" sz="700" dirty="0">
                <a:solidFill>
                  <a:srgbClr val="FF0000"/>
                </a:solidFill>
              </a:rPr>
              <a:t> 통화코드에 따른 환율표기 처리</a:t>
            </a:r>
            <a:r>
              <a:rPr lang="en-US" altLang="ko-KR" sz="700" dirty="0">
                <a:solidFill>
                  <a:srgbClr val="FF0000"/>
                </a:solidFill>
              </a:rPr>
              <a:t>-&gt; </a:t>
            </a:r>
          </a:p>
          <a:p>
            <a:r>
              <a:rPr lang="en-US" altLang="ko-KR" sz="700" dirty="0">
                <a:solidFill>
                  <a:srgbClr val="FF0000"/>
                </a:solidFill>
              </a:rPr>
              <a:t>4-4 KRW </a:t>
            </a:r>
            <a:r>
              <a:rPr lang="ko-KR" altLang="en-US" sz="700" dirty="0" err="1">
                <a:solidFill>
                  <a:srgbClr val="FF0000"/>
                </a:solidFill>
              </a:rPr>
              <a:t>선택시</a:t>
            </a:r>
            <a:r>
              <a:rPr lang="ko-KR" altLang="en-US" sz="700" dirty="0">
                <a:solidFill>
                  <a:srgbClr val="FF0000"/>
                </a:solidFill>
              </a:rPr>
              <a:t> 기본값 </a:t>
            </a:r>
            <a:r>
              <a:rPr lang="en-US" altLang="ko-KR" sz="700" dirty="0">
                <a:solidFill>
                  <a:srgbClr val="FF0000"/>
                </a:solidFill>
              </a:rPr>
              <a:t>“1”  </a:t>
            </a:r>
            <a:r>
              <a:rPr lang="ko-KR" altLang="en-US" sz="700" dirty="0">
                <a:solidFill>
                  <a:srgbClr val="FF0000"/>
                </a:solidFill>
              </a:rPr>
              <a:t>적용처리</a:t>
            </a:r>
            <a:r>
              <a:rPr lang="en-US" altLang="ko-KR" sz="700" dirty="0">
                <a:solidFill>
                  <a:srgbClr val="FF0000"/>
                </a:solidFill>
              </a:rPr>
              <a:t>(</a:t>
            </a:r>
            <a:r>
              <a:rPr lang="ko-KR" altLang="en-US" sz="700" dirty="0">
                <a:solidFill>
                  <a:srgbClr val="FF0000"/>
                </a:solidFill>
              </a:rPr>
              <a:t>변경불가능</a:t>
            </a:r>
            <a:r>
              <a:rPr lang="en-US" altLang="ko-KR" sz="7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700" b="1" dirty="0" smtClean="0">
                <a:solidFill>
                  <a:srgbClr val="0000FF"/>
                </a:solidFill>
              </a:rPr>
              <a:t>4-6 </a:t>
            </a:r>
            <a:r>
              <a:rPr lang="ko-KR" altLang="en-US" sz="700" b="1" dirty="0">
                <a:solidFill>
                  <a:srgbClr val="0000FF"/>
                </a:solidFill>
              </a:rPr>
              <a:t>부과유형 </a:t>
            </a:r>
            <a:r>
              <a:rPr lang="en-US" altLang="ko-KR" sz="700" b="1" dirty="0">
                <a:solidFill>
                  <a:srgbClr val="0000FF"/>
                </a:solidFill>
              </a:rPr>
              <a:t>( </a:t>
            </a:r>
            <a:r>
              <a:rPr lang="ko-KR" altLang="en-US" sz="700" b="1" dirty="0">
                <a:solidFill>
                  <a:srgbClr val="0000FF"/>
                </a:solidFill>
              </a:rPr>
              <a:t>코드는 </a:t>
            </a:r>
            <a:r>
              <a:rPr lang="ko-KR" altLang="en-US" sz="700" b="1" dirty="0" err="1">
                <a:solidFill>
                  <a:srgbClr val="0000FF"/>
                </a:solidFill>
              </a:rPr>
              <a:t>다음장</a:t>
            </a:r>
            <a:r>
              <a:rPr lang="ko-KR" altLang="en-US" sz="700" b="1" dirty="0">
                <a:solidFill>
                  <a:srgbClr val="0000FF"/>
                </a:solidFill>
              </a:rPr>
              <a:t> 참조</a:t>
            </a:r>
            <a:r>
              <a:rPr lang="en-US" altLang="ko-KR" sz="700" b="1" dirty="0">
                <a:solidFill>
                  <a:srgbClr val="0000FF"/>
                </a:solidFill>
              </a:rPr>
              <a:t>)</a:t>
            </a:r>
          </a:p>
          <a:p>
            <a:r>
              <a:rPr lang="ko-KR" altLang="en-US" sz="700" b="1" dirty="0">
                <a:solidFill>
                  <a:srgbClr val="0000FF"/>
                </a:solidFill>
              </a:rPr>
              <a:t>운임코드 </a:t>
            </a:r>
            <a:r>
              <a:rPr lang="ko-KR" altLang="en-US" sz="700" b="1" dirty="0" err="1">
                <a:solidFill>
                  <a:srgbClr val="0000FF"/>
                </a:solidFill>
              </a:rPr>
              <a:t>입력시</a:t>
            </a:r>
            <a:r>
              <a:rPr lang="ko-KR" altLang="en-US" sz="700" b="1" dirty="0">
                <a:solidFill>
                  <a:srgbClr val="0000FF"/>
                </a:solidFill>
              </a:rPr>
              <a:t> 선택된 타입에 따라  구분이 되며 </a:t>
            </a:r>
            <a:r>
              <a:rPr lang="en-US" altLang="ko-KR" sz="700" b="1" dirty="0">
                <a:solidFill>
                  <a:srgbClr val="0000FF"/>
                </a:solidFill>
              </a:rPr>
              <a:t>, </a:t>
            </a:r>
            <a:r>
              <a:rPr lang="ko-KR" altLang="en-US" sz="700" b="1" dirty="0">
                <a:solidFill>
                  <a:srgbClr val="0000FF"/>
                </a:solidFill>
              </a:rPr>
              <a:t>구분된 타입에 따라 출력물</a:t>
            </a:r>
            <a:r>
              <a:rPr lang="en-US" altLang="ko-KR" sz="700" b="1" dirty="0">
                <a:solidFill>
                  <a:srgbClr val="0000FF"/>
                </a:solidFill>
              </a:rPr>
              <a:t>(</a:t>
            </a:r>
            <a:r>
              <a:rPr lang="ko-KR" altLang="en-US" sz="700" b="1" dirty="0">
                <a:solidFill>
                  <a:srgbClr val="0000FF"/>
                </a:solidFill>
              </a:rPr>
              <a:t>통관정산서</a:t>
            </a:r>
            <a:r>
              <a:rPr lang="en-US" altLang="ko-KR" sz="700" b="1" dirty="0">
                <a:solidFill>
                  <a:srgbClr val="0000FF"/>
                </a:solidFill>
              </a:rPr>
              <a:t>)</a:t>
            </a:r>
            <a:r>
              <a:rPr lang="ko-KR" altLang="en-US" sz="700" b="1" dirty="0">
                <a:solidFill>
                  <a:srgbClr val="0000FF"/>
                </a:solidFill>
              </a:rPr>
              <a:t>에 표기 처리</a:t>
            </a:r>
            <a:endParaRPr lang="en-US" altLang="ko-KR" sz="700" b="1" dirty="0">
              <a:solidFill>
                <a:srgbClr val="0000FF"/>
              </a:solidFill>
            </a:endParaRPr>
          </a:p>
          <a:p>
            <a:endParaRPr lang="en-US" altLang="ko-KR" sz="700" b="1" dirty="0">
              <a:solidFill>
                <a:srgbClr val="0000FF"/>
              </a:solidFill>
            </a:endParaRPr>
          </a:p>
          <a:p>
            <a:r>
              <a:rPr lang="en-US" altLang="ko-KR" sz="700" dirty="0">
                <a:solidFill>
                  <a:srgbClr val="FF0000"/>
                </a:solidFill>
              </a:rPr>
              <a:t>4-7 </a:t>
            </a:r>
            <a:r>
              <a:rPr lang="ko-KR" altLang="en-US" sz="700" dirty="0">
                <a:solidFill>
                  <a:srgbClr val="FF0000"/>
                </a:solidFill>
              </a:rPr>
              <a:t>사용자 입력 가능 텍스트 박스 </a:t>
            </a:r>
            <a:endParaRPr lang="en-US" altLang="ko-KR" sz="700" dirty="0">
              <a:solidFill>
                <a:srgbClr val="FF0000"/>
              </a:solidFill>
            </a:endParaRPr>
          </a:p>
          <a:p>
            <a:r>
              <a:rPr lang="en-US" altLang="ko-KR" sz="700" b="1" dirty="0">
                <a:solidFill>
                  <a:srgbClr val="FF0000"/>
                </a:solidFill>
              </a:rPr>
              <a:t>numerical code </a:t>
            </a:r>
            <a:r>
              <a:rPr lang="ko-KR" altLang="en-US" sz="700" dirty="0">
                <a:solidFill>
                  <a:srgbClr val="FF0000"/>
                </a:solidFill>
              </a:rPr>
              <a:t>만  입력 가능 처리</a:t>
            </a:r>
            <a:r>
              <a:rPr lang="en-US" altLang="ko-KR" sz="700" dirty="0">
                <a:solidFill>
                  <a:srgbClr val="FF0000"/>
                </a:solidFill>
              </a:rPr>
              <a:t>(</a:t>
            </a:r>
            <a:r>
              <a:rPr lang="ko-KR" altLang="en-US" sz="700" dirty="0">
                <a:solidFill>
                  <a:srgbClr val="FF0000"/>
                </a:solidFill>
              </a:rPr>
              <a:t>소수점 </a:t>
            </a:r>
            <a:r>
              <a:rPr lang="ko-KR" altLang="en-US" sz="700" dirty="0" err="1">
                <a:solidFill>
                  <a:srgbClr val="FF0000"/>
                </a:solidFill>
              </a:rPr>
              <a:t>둘째자리까지</a:t>
            </a:r>
            <a:r>
              <a:rPr lang="ko-KR" altLang="en-US" sz="700" dirty="0">
                <a:solidFill>
                  <a:srgbClr val="FF0000"/>
                </a:solidFill>
              </a:rPr>
              <a:t> 허용 </a:t>
            </a:r>
            <a:r>
              <a:rPr lang="en-US" altLang="ko-KR" sz="7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700" dirty="0">
                <a:solidFill>
                  <a:srgbClr val="0000FF"/>
                </a:solidFill>
              </a:rPr>
              <a:t>4-4 </a:t>
            </a:r>
            <a:r>
              <a:rPr lang="ko-KR" altLang="en-US" sz="700" dirty="0">
                <a:solidFill>
                  <a:srgbClr val="0000FF"/>
                </a:solidFill>
              </a:rPr>
              <a:t>항목 </a:t>
            </a:r>
            <a:r>
              <a:rPr lang="en-US" altLang="ko-KR" sz="700" dirty="0">
                <a:solidFill>
                  <a:srgbClr val="0000FF"/>
                </a:solidFill>
              </a:rPr>
              <a:t>KRW </a:t>
            </a:r>
            <a:r>
              <a:rPr lang="ko-KR" altLang="en-US" sz="700" dirty="0">
                <a:solidFill>
                  <a:srgbClr val="0000FF"/>
                </a:solidFill>
              </a:rPr>
              <a:t>이 아닌 경우만  화면 표시 처리</a:t>
            </a:r>
            <a:r>
              <a:rPr lang="en-US" altLang="ko-KR" sz="700" dirty="0">
                <a:solidFill>
                  <a:srgbClr val="0000FF"/>
                </a:solidFill>
              </a:rPr>
              <a:t>(</a:t>
            </a:r>
            <a:r>
              <a:rPr lang="ko-KR" altLang="en-US" sz="700" dirty="0">
                <a:solidFill>
                  <a:srgbClr val="0000FF"/>
                </a:solidFill>
              </a:rPr>
              <a:t>입력가능처리</a:t>
            </a:r>
            <a:r>
              <a:rPr lang="en-US" altLang="ko-KR" sz="700" dirty="0">
                <a:solidFill>
                  <a:srgbClr val="0000FF"/>
                </a:solidFill>
              </a:rPr>
              <a:t>)</a:t>
            </a:r>
          </a:p>
          <a:p>
            <a:r>
              <a:rPr lang="ko-KR" altLang="en-US" sz="700" dirty="0">
                <a:solidFill>
                  <a:srgbClr val="0000FF"/>
                </a:solidFill>
              </a:rPr>
              <a:t>외화전용 금액 항목</a:t>
            </a:r>
            <a:endParaRPr lang="en-US" altLang="ko-KR" sz="700" dirty="0">
              <a:solidFill>
                <a:srgbClr val="0000FF"/>
              </a:solidFill>
            </a:endParaRPr>
          </a:p>
          <a:p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en-US" altLang="ko-KR" sz="700" dirty="0">
                <a:solidFill>
                  <a:srgbClr val="0000FF"/>
                </a:solidFill>
              </a:rPr>
              <a:t>4-9 </a:t>
            </a:r>
            <a:r>
              <a:rPr lang="ko-KR" altLang="en-US" sz="700" dirty="0">
                <a:solidFill>
                  <a:srgbClr val="0000FF"/>
                </a:solidFill>
              </a:rPr>
              <a:t>사용자 입력 가능 텍스트 박스</a:t>
            </a:r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ko-KR" altLang="en-US" sz="700" dirty="0">
                <a:solidFill>
                  <a:srgbClr val="0000FF"/>
                </a:solidFill>
              </a:rPr>
              <a:t>외화 금액이 </a:t>
            </a:r>
            <a:r>
              <a:rPr lang="en-US" altLang="ko-KR" sz="700" dirty="0">
                <a:solidFill>
                  <a:srgbClr val="0000FF"/>
                </a:solidFill>
              </a:rPr>
              <a:t>KRW </a:t>
            </a:r>
            <a:r>
              <a:rPr lang="ko-KR" altLang="en-US" sz="700" dirty="0">
                <a:solidFill>
                  <a:srgbClr val="0000FF"/>
                </a:solidFill>
              </a:rPr>
              <a:t>금액으로 </a:t>
            </a:r>
            <a:r>
              <a:rPr lang="ko-KR" altLang="en-US" sz="700" dirty="0" err="1">
                <a:solidFill>
                  <a:srgbClr val="0000FF"/>
                </a:solidFill>
              </a:rPr>
              <a:t>환산되서</a:t>
            </a:r>
            <a:r>
              <a:rPr lang="ko-KR" altLang="en-US" sz="700" dirty="0">
                <a:solidFill>
                  <a:srgbClr val="0000FF"/>
                </a:solidFill>
              </a:rPr>
              <a:t> 항목에 결과 표시 처리</a:t>
            </a:r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4-9 </a:t>
            </a:r>
            <a:r>
              <a:rPr lang="en-US" altLang="ko-KR" sz="700" dirty="0">
                <a:solidFill>
                  <a:srgbClr val="0000FF"/>
                </a:solidFill>
              </a:rPr>
              <a:t>VAT </a:t>
            </a:r>
          </a:p>
          <a:p>
            <a:r>
              <a:rPr lang="ko-KR" altLang="en-US" sz="700" dirty="0">
                <a:solidFill>
                  <a:srgbClr val="0000FF"/>
                </a:solidFill>
              </a:rPr>
              <a:t>사용자 입력 가능 텍스트 박스</a:t>
            </a:r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ko-KR" altLang="en-US" sz="700" dirty="0">
                <a:solidFill>
                  <a:srgbClr val="0000FF"/>
                </a:solidFill>
              </a:rPr>
              <a:t>조건 </a:t>
            </a:r>
            <a:r>
              <a:rPr lang="en-US" altLang="ko-KR" sz="700" dirty="0">
                <a:solidFill>
                  <a:srgbClr val="0000FF"/>
                </a:solidFill>
              </a:rPr>
              <a:t>: </a:t>
            </a:r>
            <a:r>
              <a:rPr lang="ko-KR" altLang="en-US" sz="700" dirty="0">
                <a:solidFill>
                  <a:srgbClr val="0000FF"/>
                </a:solidFill>
              </a:rPr>
              <a:t>사용자 </a:t>
            </a:r>
            <a:r>
              <a:rPr lang="en-US" altLang="ko-KR" sz="700" dirty="0">
                <a:solidFill>
                  <a:srgbClr val="0000FF"/>
                </a:solidFill>
              </a:rPr>
              <a:t>VAT </a:t>
            </a:r>
            <a:r>
              <a:rPr lang="ko-KR" altLang="en-US" sz="700" dirty="0">
                <a:solidFill>
                  <a:srgbClr val="0000FF"/>
                </a:solidFill>
              </a:rPr>
              <a:t>항목 </a:t>
            </a:r>
            <a:r>
              <a:rPr lang="ko-KR" altLang="en-US" sz="700" dirty="0" err="1">
                <a:solidFill>
                  <a:srgbClr val="0000FF"/>
                </a:solidFill>
              </a:rPr>
              <a:t>입력시</a:t>
            </a:r>
            <a:r>
              <a:rPr lang="ko-KR" altLang="en-US" sz="700" dirty="0">
                <a:solidFill>
                  <a:srgbClr val="0000FF"/>
                </a:solidFill>
              </a:rPr>
              <a:t> </a:t>
            </a:r>
            <a:r>
              <a:rPr lang="en-US" altLang="ko-KR" sz="700" dirty="0">
                <a:solidFill>
                  <a:srgbClr val="0000FF"/>
                </a:solidFill>
              </a:rPr>
              <a:t>4-12 </a:t>
            </a:r>
            <a:r>
              <a:rPr lang="ko-KR" altLang="en-US" sz="700" dirty="0">
                <a:solidFill>
                  <a:srgbClr val="0000FF"/>
                </a:solidFill>
              </a:rPr>
              <a:t>항목 </a:t>
            </a:r>
            <a:r>
              <a:rPr lang="ko-KR" altLang="en-US" sz="700" dirty="0" err="1">
                <a:solidFill>
                  <a:srgbClr val="0000FF"/>
                </a:solidFill>
              </a:rPr>
              <a:t>설정값이</a:t>
            </a:r>
            <a:r>
              <a:rPr lang="ko-KR" altLang="en-US" sz="700" dirty="0">
                <a:solidFill>
                  <a:srgbClr val="0000FF"/>
                </a:solidFill>
              </a:rPr>
              <a:t> </a:t>
            </a:r>
            <a:r>
              <a:rPr lang="en-US" altLang="ko-KR" sz="700" dirty="0">
                <a:solidFill>
                  <a:srgbClr val="0000FF"/>
                </a:solidFill>
              </a:rPr>
              <a:t>Y</a:t>
            </a:r>
            <a:r>
              <a:rPr lang="ko-KR" altLang="en-US" sz="700" dirty="0">
                <a:solidFill>
                  <a:srgbClr val="0000FF"/>
                </a:solidFill>
              </a:rPr>
              <a:t>로 자동전환 처리</a:t>
            </a:r>
            <a:r>
              <a:rPr lang="en-US" altLang="ko-KR" sz="700" dirty="0">
                <a:solidFill>
                  <a:srgbClr val="0000FF"/>
                </a:solidFill>
              </a:rPr>
              <a:t>, </a:t>
            </a:r>
            <a:r>
              <a:rPr lang="ko-KR" altLang="en-US" sz="700" dirty="0">
                <a:solidFill>
                  <a:srgbClr val="0000FF"/>
                </a:solidFill>
              </a:rPr>
              <a:t>사용자가 </a:t>
            </a:r>
            <a:r>
              <a:rPr lang="en-US" altLang="ko-KR" sz="700" dirty="0">
                <a:solidFill>
                  <a:srgbClr val="0000FF"/>
                </a:solidFill>
              </a:rPr>
              <a:t>VAT </a:t>
            </a:r>
            <a:r>
              <a:rPr lang="ko-KR" altLang="en-US" sz="700" dirty="0" err="1">
                <a:solidFill>
                  <a:srgbClr val="0000FF"/>
                </a:solidFill>
              </a:rPr>
              <a:t>입력시</a:t>
            </a:r>
            <a:r>
              <a:rPr lang="ko-KR" altLang="en-US" sz="700" dirty="0">
                <a:solidFill>
                  <a:srgbClr val="0000FF"/>
                </a:solidFill>
              </a:rPr>
              <a:t> 입력한 금액이 </a:t>
            </a:r>
            <a:r>
              <a:rPr lang="en-US" altLang="ko-KR" sz="700" dirty="0">
                <a:solidFill>
                  <a:srgbClr val="0000FF"/>
                </a:solidFill>
              </a:rPr>
              <a:t>4-10 </a:t>
            </a:r>
            <a:r>
              <a:rPr lang="ko-KR" altLang="en-US" sz="700" dirty="0">
                <a:solidFill>
                  <a:srgbClr val="0000FF"/>
                </a:solidFill>
              </a:rPr>
              <a:t>항목 금액에 </a:t>
            </a:r>
            <a:r>
              <a:rPr lang="en-US" altLang="ko-KR" sz="700" dirty="0">
                <a:solidFill>
                  <a:srgbClr val="0000FF"/>
                </a:solidFill>
              </a:rPr>
              <a:t>10% </a:t>
            </a:r>
            <a:r>
              <a:rPr lang="ko-KR" altLang="en-US" sz="700" dirty="0">
                <a:solidFill>
                  <a:srgbClr val="0000FF"/>
                </a:solidFill>
              </a:rPr>
              <a:t>과 </a:t>
            </a:r>
            <a:r>
              <a:rPr lang="ko-KR" altLang="en-US" sz="700" dirty="0" err="1">
                <a:solidFill>
                  <a:srgbClr val="0000FF"/>
                </a:solidFill>
              </a:rPr>
              <a:t>상이할시</a:t>
            </a:r>
            <a:r>
              <a:rPr lang="ko-KR" altLang="en-US" sz="700" dirty="0">
                <a:solidFill>
                  <a:srgbClr val="0000FF"/>
                </a:solidFill>
              </a:rPr>
              <a:t> </a:t>
            </a:r>
            <a:r>
              <a:rPr lang="ko-KR" altLang="en-US" sz="700" dirty="0" err="1">
                <a:solidFill>
                  <a:srgbClr val="0000FF"/>
                </a:solidFill>
              </a:rPr>
              <a:t>경고메세지</a:t>
            </a:r>
            <a:r>
              <a:rPr lang="ko-KR" altLang="en-US" sz="700" dirty="0">
                <a:solidFill>
                  <a:srgbClr val="0000FF"/>
                </a:solidFill>
              </a:rPr>
              <a:t> 출력</a:t>
            </a:r>
            <a:r>
              <a:rPr lang="en-US" altLang="ko-KR" sz="700" dirty="0">
                <a:solidFill>
                  <a:srgbClr val="0000FF"/>
                </a:solidFill>
              </a:rPr>
              <a:t>, </a:t>
            </a:r>
            <a:r>
              <a:rPr lang="ko-KR" altLang="en-US" sz="700" dirty="0" err="1">
                <a:solidFill>
                  <a:srgbClr val="0000FF"/>
                </a:solidFill>
              </a:rPr>
              <a:t>경고메세지가</a:t>
            </a:r>
            <a:r>
              <a:rPr lang="ko-KR" altLang="en-US" sz="700" dirty="0">
                <a:solidFill>
                  <a:srgbClr val="0000FF"/>
                </a:solidFill>
              </a:rPr>
              <a:t> </a:t>
            </a:r>
            <a:r>
              <a:rPr lang="ko-KR" altLang="en-US" sz="700" dirty="0" err="1">
                <a:solidFill>
                  <a:srgbClr val="0000FF"/>
                </a:solidFill>
              </a:rPr>
              <a:t>계속진행</a:t>
            </a:r>
            <a:r>
              <a:rPr lang="ko-KR" altLang="en-US" sz="700" dirty="0">
                <a:solidFill>
                  <a:srgbClr val="0000FF"/>
                </a:solidFill>
              </a:rPr>
              <a:t> 여부를 </a:t>
            </a:r>
            <a:r>
              <a:rPr lang="ko-KR" altLang="en-US" sz="700" dirty="0" err="1">
                <a:solidFill>
                  <a:srgbClr val="0000FF"/>
                </a:solidFill>
              </a:rPr>
              <a:t>표시하고사용자가</a:t>
            </a:r>
            <a:r>
              <a:rPr lang="ko-KR" altLang="en-US" sz="700" dirty="0">
                <a:solidFill>
                  <a:srgbClr val="0000FF"/>
                </a:solidFill>
              </a:rPr>
              <a:t> 계속 </a:t>
            </a:r>
            <a:r>
              <a:rPr lang="ko-KR" altLang="en-US" sz="700" dirty="0" err="1">
                <a:solidFill>
                  <a:srgbClr val="0000FF"/>
                </a:solidFill>
              </a:rPr>
              <a:t>진행시</a:t>
            </a:r>
            <a:r>
              <a:rPr lang="ko-KR" altLang="en-US" sz="700" dirty="0">
                <a:solidFill>
                  <a:srgbClr val="0000FF"/>
                </a:solidFill>
              </a:rPr>
              <a:t> 진행 가능 처리</a:t>
            </a:r>
            <a:r>
              <a:rPr lang="en-US" altLang="ko-KR" sz="700" dirty="0">
                <a:solidFill>
                  <a:srgbClr val="0000FF"/>
                </a:solidFill>
              </a:rPr>
              <a:t>(TOTAL AMOUNT VAT </a:t>
            </a:r>
            <a:r>
              <a:rPr lang="ko-KR" altLang="en-US" sz="700" dirty="0">
                <a:solidFill>
                  <a:srgbClr val="0000FF"/>
                </a:solidFill>
              </a:rPr>
              <a:t>합산 처리</a:t>
            </a:r>
            <a:r>
              <a:rPr lang="en-US" altLang="ko-KR" sz="700" dirty="0">
                <a:solidFill>
                  <a:srgbClr val="0000FF"/>
                </a:solidFill>
              </a:rPr>
              <a:t>),</a:t>
            </a:r>
          </a:p>
          <a:p>
            <a:r>
              <a:rPr lang="ko-KR" altLang="en-US" sz="700" dirty="0">
                <a:solidFill>
                  <a:srgbClr val="FF0000"/>
                </a:solidFill>
              </a:rPr>
              <a:t>통관정산 자료 </a:t>
            </a:r>
            <a:r>
              <a:rPr lang="en-US" altLang="ko-KR" sz="700" dirty="0">
                <a:solidFill>
                  <a:srgbClr val="FF0000"/>
                </a:solidFill>
              </a:rPr>
              <a:t> </a:t>
            </a:r>
            <a:r>
              <a:rPr lang="ko-KR" altLang="en-US" sz="700" dirty="0" err="1">
                <a:solidFill>
                  <a:srgbClr val="FF0000"/>
                </a:solidFill>
              </a:rPr>
              <a:t>저장시</a:t>
            </a:r>
            <a:r>
              <a:rPr lang="ko-KR" altLang="en-US" sz="700" dirty="0">
                <a:solidFill>
                  <a:srgbClr val="FF0000"/>
                </a:solidFill>
              </a:rPr>
              <a:t> </a:t>
            </a:r>
            <a:r>
              <a:rPr lang="ko-KR" altLang="en-US" sz="700" dirty="0" err="1">
                <a:solidFill>
                  <a:srgbClr val="FF0000"/>
                </a:solidFill>
              </a:rPr>
              <a:t>경고메세지</a:t>
            </a:r>
            <a:r>
              <a:rPr lang="ko-KR" altLang="en-US" sz="700" dirty="0">
                <a:solidFill>
                  <a:srgbClr val="FF0000"/>
                </a:solidFill>
              </a:rPr>
              <a:t> 출력</a:t>
            </a:r>
            <a:r>
              <a:rPr lang="en-US" altLang="ko-KR" sz="700" dirty="0">
                <a:solidFill>
                  <a:srgbClr val="FF0000"/>
                </a:solidFill>
              </a:rPr>
              <a:t>, 4-14 </a:t>
            </a:r>
            <a:r>
              <a:rPr lang="ko-KR" altLang="en-US" sz="700" dirty="0">
                <a:solidFill>
                  <a:srgbClr val="FF0000"/>
                </a:solidFill>
              </a:rPr>
              <a:t>항목을 </a:t>
            </a:r>
            <a:r>
              <a:rPr lang="en-US" altLang="ko-KR" sz="700" dirty="0">
                <a:solidFill>
                  <a:srgbClr val="FF0000"/>
                </a:solidFill>
              </a:rPr>
              <a:t>Y-&gt;N </a:t>
            </a:r>
            <a:r>
              <a:rPr lang="ko-KR" altLang="en-US" sz="700" dirty="0" err="1">
                <a:solidFill>
                  <a:srgbClr val="FF0000"/>
                </a:solidFill>
              </a:rPr>
              <a:t>전환시</a:t>
            </a:r>
            <a:r>
              <a:rPr lang="ko-KR" altLang="en-US" sz="700" dirty="0">
                <a:solidFill>
                  <a:srgbClr val="FF0000"/>
                </a:solidFill>
              </a:rPr>
              <a:t> </a:t>
            </a:r>
            <a:r>
              <a:rPr lang="en-US" altLang="ko-KR" sz="700" dirty="0">
                <a:solidFill>
                  <a:srgbClr val="FF0000"/>
                </a:solidFill>
              </a:rPr>
              <a:t>VAT </a:t>
            </a:r>
            <a:r>
              <a:rPr lang="ko-KR" altLang="en-US" sz="700" dirty="0">
                <a:solidFill>
                  <a:srgbClr val="FF0000"/>
                </a:solidFill>
              </a:rPr>
              <a:t>금액 </a:t>
            </a:r>
            <a:r>
              <a:rPr lang="en-US" altLang="ko-KR" sz="700" dirty="0">
                <a:solidFill>
                  <a:srgbClr val="FF0000"/>
                </a:solidFill>
              </a:rPr>
              <a:t>0 </a:t>
            </a:r>
            <a:r>
              <a:rPr lang="ko-KR" altLang="en-US" sz="700" dirty="0">
                <a:solidFill>
                  <a:srgbClr val="FF0000"/>
                </a:solidFill>
              </a:rPr>
              <a:t>으로 재설정 처리 및 </a:t>
            </a:r>
            <a:r>
              <a:rPr lang="en-US" altLang="ko-KR" sz="700" dirty="0">
                <a:solidFill>
                  <a:srgbClr val="FF0000"/>
                </a:solidFill>
              </a:rPr>
              <a:t>TOTAL AMONT </a:t>
            </a:r>
            <a:r>
              <a:rPr lang="ko-KR" altLang="en-US" sz="700" dirty="0">
                <a:solidFill>
                  <a:srgbClr val="FF0000"/>
                </a:solidFill>
              </a:rPr>
              <a:t>변경 처리</a:t>
            </a:r>
            <a:endParaRPr lang="en-US" altLang="ko-KR" sz="700" dirty="0">
              <a:solidFill>
                <a:srgbClr val="FF0000"/>
              </a:solidFill>
            </a:endParaRPr>
          </a:p>
          <a:p>
            <a:endParaRPr lang="en-US" altLang="ko-KR" sz="700" dirty="0">
              <a:solidFill>
                <a:srgbClr val="FF0000"/>
              </a:solidFill>
            </a:endParaRPr>
          </a:p>
          <a:p>
            <a:r>
              <a:rPr lang="en-US" altLang="ko-KR" sz="700" dirty="0">
                <a:solidFill>
                  <a:srgbClr val="FF0000"/>
                </a:solidFill>
              </a:rPr>
              <a:t>4-10 </a:t>
            </a:r>
            <a:r>
              <a:rPr lang="ko-KR" altLang="en-US" sz="700" dirty="0">
                <a:solidFill>
                  <a:srgbClr val="FF0000"/>
                </a:solidFill>
              </a:rPr>
              <a:t>항목 비활성처리</a:t>
            </a:r>
            <a:r>
              <a:rPr lang="en-US" altLang="ko-KR" sz="700" dirty="0">
                <a:solidFill>
                  <a:srgbClr val="FF0000"/>
                </a:solidFill>
              </a:rPr>
              <a:t>(</a:t>
            </a:r>
            <a:r>
              <a:rPr lang="ko-KR" altLang="en-US" sz="700" dirty="0">
                <a:solidFill>
                  <a:srgbClr val="FF0000"/>
                </a:solidFill>
              </a:rPr>
              <a:t>사용자 입력 불가능</a:t>
            </a:r>
            <a:r>
              <a:rPr lang="en-US" altLang="ko-KR" sz="70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700" dirty="0">
                <a:solidFill>
                  <a:srgbClr val="0000FF"/>
                </a:solidFill>
              </a:rPr>
              <a:t>4-11 </a:t>
            </a:r>
            <a:r>
              <a:rPr lang="ko-KR" altLang="en-US" sz="700" dirty="0" err="1">
                <a:solidFill>
                  <a:srgbClr val="0000FF"/>
                </a:solidFill>
              </a:rPr>
              <a:t>그리드</a:t>
            </a:r>
            <a:r>
              <a:rPr lang="ko-KR" altLang="en-US" sz="700" dirty="0">
                <a:solidFill>
                  <a:srgbClr val="0000FF"/>
                </a:solidFill>
              </a:rPr>
              <a:t> 항목 신규 </a:t>
            </a:r>
            <a:r>
              <a:rPr lang="ko-KR" altLang="en-US" sz="700" dirty="0" err="1">
                <a:solidFill>
                  <a:srgbClr val="0000FF"/>
                </a:solidFill>
              </a:rPr>
              <a:t>입력시</a:t>
            </a:r>
            <a:r>
              <a:rPr lang="ko-KR" altLang="en-US" sz="700" dirty="0">
                <a:solidFill>
                  <a:srgbClr val="0000FF"/>
                </a:solidFill>
              </a:rPr>
              <a:t> 기본값을 </a:t>
            </a:r>
            <a:r>
              <a:rPr lang="en-US" altLang="ko-KR" sz="700" dirty="0" smtClean="0">
                <a:solidFill>
                  <a:srgbClr val="0000FF"/>
                </a:solidFill>
              </a:rPr>
              <a:t>Pay Account </a:t>
            </a:r>
            <a:r>
              <a:rPr lang="ko-KR" altLang="en-US" sz="700" dirty="0">
                <a:solidFill>
                  <a:srgbClr val="0000FF"/>
                </a:solidFill>
              </a:rPr>
              <a:t>항목을 동일하게 적용하며</a:t>
            </a:r>
            <a:r>
              <a:rPr lang="en-US" altLang="ko-KR" sz="700" dirty="0">
                <a:solidFill>
                  <a:srgbClr val="0000FF"/>
                </a:solidFill>
              </a:rPr>
              <a:t>, </a:t>
            </a:r>
            <a:r>
              <a:rPr lang="ko-KR" altLang="en-US" sz="700" dirty="0">
                <a:solidFill>
                  <a:srgbClr val="0000FF"/>
                </a:solidFill>
              </a:rPr>
              <a:t>사용자 변경 가능</a:t>
            </a:r>
            <a:r>
              <a:rPr lang="en-US" altLang="ko-KR" sz="700" dirty="0">
                <a:solidFill>
                  <a:srgbClr val="0000FF"/>
                </a:solidFill>
              </a:rPr>
              <a:t>.</a:t>
            </a:r>
          </a:p>
          <a:p>
            <a:r>
              <a:rPr lang="ko-KR" altLang="en-US" sz="700" dirty="0">
                <a:solidFill>
                  <a:srgbClr val="0000FF"/>
                </a:solidFill>
              </a:rPr>
              <a:t>사용자가 </a:t>
            </a:r>
            <a:r>
              <a:rPr lang="en-US" altLang="ko-KR" sz="700" dirty="0">
                <a:solidFill>
                  <a:srgbClr val="0000FF"/>
                </a:solidFill>
              </a:rPr>
              <a:t>Account Code </a:t>
            </a:r>
            <a:r>
              <a:rPr lang="ko-KR" altLang="en-US" sz="700" dirty="0" err="1">
                <a:solidFill>
                  <a:srgbClr val="0000FF"/>
                </a:solidFill>
              </a:rPr>
              <a:t>변경시</a:t>
            </a:r>
            <a:r>
              <a:rPr lang="ko-KR" altLang="en-US" sz="700" dirty="0">
                <a:solidFill>
                  <a:srgbClr val="0000FF"/>
                </a:solidFill>
              </a:rPr>
              <a:t> </a:t>
            </a:r>
            <a:r>
              <a:rPr lang="en-US" altLang="ko-KR" sz="700" dirty="0">
                <a:solidFill>
                  <a:srgbClr val="0000FF"/>
                </a:solidFill>
              </a:rPr>
              <a:t>Customer Account </a:t>
            </a:r>
            <a:r>
              <a:rPr lang="ko-KR" altLang="en-US" sz="700" dirty="0">
                <a:solidFill>
                  <a:srgbClr val="0000FF"/>
                </a:solidFill>
              </a:rPr>
              <a:t>항목과 연동되지 않으며</a:t>
            </a:r>
            <a:r>
              <a:rPr lang="en-US" altLang="ko-KR" sz="700" dirty="0">
                <a:solidFill>
                  <a:srgbClr val="0000FF"/>
                </a:solidFill>
              </a:rPr>
              <a:t>, </a:t>
            </a:r>
            <a:r>
              <a:rPr lang="ko-KR" altLang="en-US" sz="700" dirty="0">
                <a:solidFill>
                  <a:srgbClr val="0000FF"/>
                </a:solidFill>
              </a:rPr>
              <a:t>사용자가 </a:t>
            </a:r>
            <a:r>
              <a:rPr lang="ko-KR" altLang="en-US" sz="700" dirty="0" err="1">
                <a:solidFill>
                  <a:srgbClr val="0000FF"/>
                </a:solidFill>
              </a:rPr>
              <a:t>그리드내</a:t>
            </a:r>
            <a:r>
              <a:rPr lang="ko-KR" altLang="en-US" sz="700" dirty="0">
                <a:solidFill>
                  <a:srgbClr val="0000FF"/>
                </a:solidFill>
              </a:rPr>
              <a:t> 다음 </a:t>
            </a:r>
            <a:r>
              <a:rPr lang="en-US" altLang="ko-KR" sz="700" dirty="0">
                <a:solidFill>
                  <a:srgbClr val="0000FF"/>
                </a:solidFill>
              </a:rPr>
              <a:t>Low </a:t>
            </a:r>
            <a:r>
              <a:rPr lang="ko-KR" altLang="en-US" sz="700" dirty="0">
                <a:solidFill>
                  <a:srgbClr val="0000FF"/>
                </a:solidFill>
              </a:rPr>
              <a:t>이동 </a:t>
            </a:r>
            <a:r>
              <a:rPr lang="ko-KR" altLang="en-US" sz="700" dirty="0" err="1">
                <a:solidFill>
                  <a:srgbClr val="0000FF"/>
                </a:solidFill>
              </a:rPr>
              <a:t>입력시</a:t>
            </a:r>
            <a:r>
              <a:rPr lang="ko-KR" altLang="en-US" sz="700" dirty="0">
                <a:solidFill>
                  <a:srgbClr val="0000FF"/>
                </a:solidFill>
              </a:rPr>
              <a:t> 전 행의 </a:t>
            </a:r>
            <a:r>
              <a:rPr lang="en-US" altLang="ko-KR" sz="700" dirty="0">
                <a:solidFill>
                  <a:srgbClr val="0000FF"/>
                </a:solidFill>
              </a:rPr>
              <a:t>Low  Account Code </a:t>
            </a:r>
            <a:r>
              <a:rPr lang="ko-KR" altLang="en-US" sz="700" dirty="0">
                <a:solidFill>
                  <a:srgbClr val="0000FF"/>
                </a:solidFill>
              </a:rPr>
              <a:t>항목과 동일하게 연동처리</a:t>
            </a:r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en-US" altLang="ko-KR" sz="700" dirty="0">
                <a:solidFill>
                  <a:srgbClr val="FF0000"/>
                </a:solidFill>
              </a:rPr>
              <a:t>4-12, 4-9 </a:t>
            </a:r>
            <a:r>
              <a:rPr lang="ko-KR" altLang="en-US" sz="700" dirty="0">
                <a:solidFill>
                  <a:srgbClr val="FF0000"/>
                </a:solidFill>
              </a:rPr>
              <a:t>항목과 연계 처리 </a:t>
            </a:r>
            <a:r>
              <a:rPr lang="en-US" altLang="ko-KR" sz="700" dirty="0">
                <a:solidFill>
                  <a:srgbClr val="FF0000"/>
                </a:solidFill>
              </a:rPr>
              <a:t>-&gt;  Y/N </a:t>
            </a:r>
            <a:r>
              <a:rPr lang="ko-KR" altLang="en-US" sz="700" dirty="0">
                <a:solidFill>
                  <a:srgbClr val="FF0000"/>
                </a:solidFill>
              </a:rPr>
              <a:t>변경 </a:t>
            </a:r>
            <a:r>
              <a:rPr lang="ko-KR" altLang="en-US" sz="700" dirty="0" err="1">
                <a:solidFill>
                  <a:srgbClr val="FF0000"/>
                </a:solidFill>
              </a:rPr>
              <a:t>콤보</a:t>
            </a:r>
            <a:r>
              <a:rPr lang="ko-KR" altLang="en-US" sz="700" dirty="0">
                <a:solidFill>
                  <a:srgbClr val="FF0000"/>
                </a:solidFill>
              </a:rPr>
              <a:t> 박스  제공 처리 </a:t>
            </a:r>
            <a:endParaRPr lang="en-US" altLang="ko-KR" sz="700" dirty="0" smtClean="0">
              <a:solidFill>
                <a:srgbClr val="FF0000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4-13 </a:t>
            </a:r>
            <a:r>
              <a:rPr lang="ko-KR" altLang="en-US" sz="700" dirty="0" smtClean="0">
                <a:solidFill>
                  <a:srgbClr val="0000FF"/>
                </a:solidFill>
              </a:rPr>
              <a:t>선급처리 여부</a:t>
            </a:r>
            <a:r>
              <a:rPr lang="en-US" altLang="ko-KR" sz="700" dirty="0" smtClean="0">
                <a:solidFill>
                  <a:srgbClr val="0000FF"/>
                </a:solidFill>
              </a:rPr>
              <a:t>(Y/N)  -&gt; Y </a:t>
            </a:r>
            <a:r>
              <a:rPr lang="ko-KR" altLang="en-US" sz="700" dirty="0" smtClean="0">
                <a:solidFill>
                  <a:srgbClr val="0000FF"/>
                </a:solidFill>
              </a:rPr>
              <a:t>로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체크시</a:t>
            </a:r>
            <a:r>
              <a:rPr lang="ko-KR" altLang="en-US" sz="700" dirty="0" smtClean="0">
                <a:solidFill>
                  <a:srgbClr val="0000FF"/>
                </a:solidFill>
              </a:rPr>
              <a:t> </a:t>
            </a:r>
            <a:r>
              <a:rPr lang="en-US" altLang="ko-KR" sz="700" dirty="0" smtClean="0">
                <a:solidFill>
                  <a:srgbClr val="0000FF"/>
                </a:solidFill>
              </a:rPr>
              <a:t>Y</a:t>
            </a:r>
            <a:r>
              <a:rPr lang="ko-KR" altLang="en-US" sz="700" dirty="0" smtClean="0">
                <a:solidFill>
                  <a:srgbClr val="0000FF"/>
                </a:solidFill>
              </a:rPr>
              <a:t>로 체크된 운임항목 과 동일한 </a:t>
            </a:r>
            <a:r>
              <a:rPr lang="en-US" altLang="ko-KR" sz="700" dirty="0" smtClean="0">
                <a:solidFill>
                  <a:srgbClr val="0000FF"/>
                </a:solidFill>
              </a:rPr>
              <a:t>ACCOUNT CODE </a:t>
            </a:r>
            <a:r>
              <a:rPr lang="ko-KR" altLang="en-US" sz="700" dirty="0" smtClean="0">
                <a:solidFill>
                  <a:srgbClr val="0000FF"/>
                </a:solidFill>
              </a:rPr>
              <a:t>를 체크하여 별도로 지출확정</a:t>
            </a:r>
            <a:r>
              <a:rPr lang="en-US" altLang="ko-KR" sz="700" dirty="0" smtClean="0">
                <a:solidFill>
                  <a:srgbClr val="0000FF"/>
                </a:solidFill>
              </a:rPr>
              <a:t>(</a:t>
            </a:r>
            <a:r>
              <a:rPr lang="ko-KR" altLang="en-US" sz="700" dirty="0" smtClean="0">
                <a:solidFill>
                  <a:srgbClr val="0000FF"/>
                </a:solidFill>
              </a:rPr>
              <a:t>지출확정번호 생성</a:t>
            </a:r>
            <a:r>
              <a:rPr lang="en-US" altLang="ko-KR" sz="700" dirty="0" smtClean="0">
                <a:solidFill>
                  <a:srgbClr val="0000FF"/>
                </a:solidFill>
              </a:rPr>
              <a:t>)</a:t>
            </a:r>
            <a:r>
              <a:rPr lang="ko-KR" altLang="en-US" sz="700" dirty="0" smtClean="0">
                <a:solidFill>
                  <a:srgbClr val="0000FF"/>
                </a:solidFill>
              </a:rPr>
              <a:t> 처리</a:t>
            </a:r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FF0000"/>
                </a:solidFill>
              </a:rPr>
              <a:t>4-14 </a:t>
            </a:r>
            <a:r>
              <a:rPr lang="ko-KR" altLang="en-US" sz="700" dirty="0" smtClean="0">
                <a:solidFill>
                  <a:srgbClr val="FF0000"/>
                </a:solidFill>
              </a:rPr>
              <a:t>지</a:t>
            </a:r>
            <a:r>
              <a:rPr lang="ko-KR" altLang="en-US" sz="700" dirty="0">
                <a:solidFill>
                  <a:srgbClr val="FF0000"/>
                </a:solidFill>
              </a:rPr>
              <a:t>출</a:t>
            </a:r>
            <a:r>
              <a:rPr lang="ko-KR" altLang="en-US" sz="700" dirty="0" smtClean="0">
                <a:solidFill>
                  <a:srgbClr val="FF0000"/>
                </a:solidFill>
              </a:rPr>
              <a:t> </a:t>
            </a:r>
            <a:r>
              <a:rPr lang="ko-KR" altLang="en-US" sz="700" dirty="0">
                <a:solidFill>
                  <a:srgbClr val="FF0000"/>
                </a:solidFill>
              </a:rPr>
              <a:t>확정시 확정된 </a:t>
            </a:r>
            <a:r>
              <a:rPr lang="ko-KR" altLang="en-US" sz="700" dirty="0" smtClean="0">
                <a:solidFill>
                  <a:srgbClr val="FF0000"/>
                </a:solidFill>
              </a:rPr>
              <a:t>지출 </a:t>
            </a:r>
            <a:r>
              <a:rPr lang="ko-KR" altLang="en-US" sz="700" dirty="0">
                <a:solidFill>
                  <a:srgbClr val="FF0000"/>
                </a:solidFill>
              </a:rPr>
              <a:t>번호 표시 처리</a:t>
            </a:r>
            <a:r>
              <a:rPr lang="en-US" altLang="ko-KR" sz="700" dirty="0">
                <a:solidFill>
                  <a:srgbClr val="FF0000"/>
                </a:solidFill>
              </a:rPr>
              <a:t>(</a:t>
            </a:r>
            <a:r>
              <a:rPr lang="ko-KR" altLang="en-US" sz="700" dirty="0">
                <a:solidFill>
                  <a:srgbClr val="FF0000"/>
                </a:solidFill>
              </a:rPr>
              <a:t>사용자 입력 불가능</a:t>
            </a:r>
            <a:r>
              <a:rPr lang="en-US" altLang="ko-KR" sz="700" dirty="0">
                <a:solidFill>
                  <a:srgbClr val="FF0000"/>
                </a:solidFill>
              </a:rPr>
              <a:t>, </a:t>
            </a:r>
            <a:r>
              <a:rPr lang="ko-KR" altLang="en-US" sz="700" dirty="0">
                <a:solidFill>
                  <a:srgbClr val="FF0000"/>
                </a:solidFill>
              </a:rPr>
              <a:t>비활성처리</a:t>
            </a:r>
            <a:r>
              <a:rPr lang="en-US" altLang="ko-KR" sz="700" dirty="0">
                <a:solidFill>
                  <a:srgbClr val="FF0000"/>
                </a:solidFill>
              </a:rPr>
              <a:t>)</a:t>
            </a:r>
          </a:p>
          <a:p>
            <a:endParaRPr lang="en-US" altLang="ko-KR" sz="700" b="1" dirty="0" smtClean="0">
              <a:solidFill>
                <a:srgbClr val="FF0000"/>
              </a:solidFill>
            </a:endParaRPr>
          </a:p>
          <a:p>
            <a:endParaRPr lang="en-US" altLang="ko-KR" sz="700" b="1" dirty="0" smtClean="0">
              <a:solidFill>
                <a:srgbClr val="FF0000"/>
              </a:solidFill>
            </a:endParaRPr>
          </a:p>
          <a:p>
            <a:endParaRPr lang="en-US" altLang="ko-KR" sz="700" b="1" dirty="0" smtClean="0">
              <a:solidFill>
                <a:srgbClr val="FF0000"/>
              </a:solidFill>
            </a:endParaRPr>
          </a:p>
          <a:p>
            <a:endParaRPr lang="en-US" altLang="ko-KR" sz="700" b="1" dirty="0" smtClean="0">
              <a:solidFill>
                <a:srgbClr val="FF0000"/>
              </a:solidFill>
            </a:endParaRPr>
          </a:p>
          <a:p>
            <a:endParaRPr lang="en-US" altLang="ko-KR" sz="700" b="1" dirty="0" smtClean="0">
              <a:solidFill>
                <a:srgbClr val="FF0000"/>
              </a:solidFill>
            </a:endParaRPr>
          </a:p>
          <a:p>
            <a:endParaRPr lang="en-US" altLang="ko-KR" sz="700" b="1" dirty="0" smtClean="0">
              <a:solidFill>
                <a:srgbClr val="FF0000"/>
              </a:solidFill>
            </a:endParaRPr>
          </a:p>
        </p:txBody>
      </p:sp>
      <p:sp>
        <p:nvSpPr>
          <p:cNvPr id="253" name="타원 252"/>
          <p:cNvSpPr/>
          <p:nvPr/>
        </p:nvSpPr>
        <p:spPr>
          <a:xfrm>
            <a:off x="10134904" y="1052736"/>
            <a:ext cx="353410" cy="334429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 smtClean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55" name="직사각형 254"/>
          <p:cNvSpPr/>
          <p:nvPr/>
        </p:nvSpPr>
        <p:spPr>
          <a:xfrm>
            <a:off x="-3424862" y="3212976"/>
            <a:ext cx="3253940" cy="701208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 smtClean="0">
                <a:solidFill>
                  <a:srgbClr val="FF0066"/>
                </a:solidFill>
              </a:rPr>
              <a:t>지출일자 </a:t>
            </a:r>
            <a:r>
              <a:rPr lang="en-US" altLang="ko-KR" sz="700" dirty="0" smtClean="0">
                <a:solidFill>
                  <a:srgbClr val="FF0066"/>
                </a:solidFill>
              </a:rPr>
              <a:t>: </a:t>
            </a:r>
            <a:r>
              <a:rPr lang="ko-KR" altLang="en-US" sz="700" dirty="0" smtClean="0">
                <a:solidFill>
                  <a:srgbClr val="FF0066"/>
                </a:solidFill>
              </a:rPr>
              <a:t>시스템 현재일자 기본값 적용</a:t>
            </a:r>
            <a:endParaRPr lang="en-US" altLang="ko-KR" sz="700" dirty="0" smtClean="0">
              <a:solidFill>
                <a:srgbClr val="FF0066"/>
              </a:solidFill>
            </a:endParaRPr>
          </a:p>
          <a:p>
            <a:r>
              <a:rPr lang="ko-KR" altLang="en-US" sz="700" dirty="0" smtClean="0">
                <a:solidFill>
                  <a:srgbClr val="FF0066"/>
                </a:solidFill>
              </a:rPr>
              <a:t>사용자  날짜변경 가능 처리</a:t>
            </a:r>
            <a:endParaRPr lang="en-US" altLang="ko-KR" sz="700" dirty="0" smtClean="0">
              <a:solidFill>
                <a:srgbClr val="FF0066"/>
              </a:solidFill>
            </a:endParaRPr>
          </a:p>
          <a:p>
            <a:r>
              <a:rPr lang="ko-KR" altLang="en-US" sz="700" dirty="0" smtClean="0">
                <a:solidFill>
                  <a:srgbClr val="FF0066"/>
                </a:solidFill>
              </a:rPr>
              <a:t>지출확정시 지출일자 연동 확정처리</a:t>
            </a:r>
            <a:endParaRPr lang="en-US" altLang="ko-KR" sz="700" dirty="0" smtClean="0">
              <a:solidFill>
                <a:srgbClr val="FF0066"/>
              </a:solidFill>
            </a:endParaRPr>
          </a:p>
          <a:p>
            <a:r>
              <a:rPr lang="ko-KR" altLang="en-US" sz="700" dirty="0" smtClean="0">
                <a:solidFill>
                  <a:srgbClr val="FF0066"/>
                </a:solidFill>
              </a:rPr>
              <a:t>확정된 지출번호 </a:t>
            </a:r>
            <a:r>
              <a:rPr lang="ko-KR" altLang="en-US" sz="700" dirty="0" err="1" smtClean="0">
                <a:solidFill>
                  <a:srgbClr val="FF0066"/>
                </a:solidFill>
              </a:rPr>
              <a:t>선택시</a:t>
            </a:r>
            <a:r>
              <a:rPr lang="ko-KR" altLang="en-US" sz="700" dirty="0" smtClean="0">
                <a:solidFill>
                  <a:srgbClr val="FF0066"/>
                </a:solidFill>
              </a:rPr>
              <a:t> 지출일자 연계표시 처리</a:t>
            </a:r>
            <a:r>
              <a:rPr lang="en-US" altLang="ko-KR" sz="700" dirty="0" smtClean="0">
                <a:solidFill>
                  <a:srgbClr val="FF0066"/>
                </a:solidFill>
              </a:rPr>
              <a:t>(</a:t>
            </a:r>
            <a:r>
              <a:rPr lang="ko-KR" altLang="en-US" sz="700" dirty="0" smtClean="0">
                <a:solidFill>
                  <a:srgbClr val="FF0066"/>
                </a:solidFill>
              </a:rPr>
              <a:t>확정된 지출번호</a:t>
            </a:r>
            <a:r>
              <a:rPr lang="en-US" altLang="ko-KR" sz="700" dirty="0" smtClean="0">
                <a:solidFill>
                  <a:srgbClr val="FF0066"/>
                </a:solidFill>
              </a:rPr>
              <a:t>, </a:t>
            </a:r>
            <a:r>
              <a:rPr lang="ko-KR" altLang="en-US" sz="700" dirty="0" smtClean="0">
                <a:solidFill>
                  <a:srgbClr val="FF0066"/>
                </a:solidFill>
              </a:rPr>
              <a:t>지출일자 변경 불가능 </a:t>
            </a:r>
          </a:p>
        </p:txBody>
      </p:sp>
      <p:sp>
        <p:nvSpPr>
          <p:cNvPr id="256" name="타원 255"/>
          <p:cNvSpPr/>
          <p:nvPr/>
        </p:nvSpPr>
        <p:spPr>
          <a:xfrm>
            <a:off x="-3780668" y="3068960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 smtClean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59" name="타원 258"/>
          <p:cNvSpPr/>
          <p:nvPr/>
        </p:nvSpPr>
        <p:spPr>
          <a:xfrm>
            <a:off x="3385973" y="2519723"/>
            <a:ext cx="263246" cy="2596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4-4</a:t>
            </a:r>
          </a:p>
        </p:txBody>
      </p:sp>
      <p:sp>
        <p:nvSpPr>
          <p:cNvPr id="269" name="타원 268"/>
          <p:cNvSpPr/>
          <p:nvPr/>
        </p:nvSpPr>
        <p:spPr>
          <a:xfrm>
            <a:off x="5110426" y="2541511"/>
            <a:ext cx="263246" cy="2596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4-5</a:t>
            </a:r>
          </a:p>
        </p:txBody>
      </p:sp>
      <p:sp>
        <p:nvSpPr>
          <p:cNvPr id="273" name="직사각형 272"/>
          <p:cNvSpPr/>
          <p:nvPr/>
        </p:nvSpPr>
        <p:spPr>
          <a:xfrm>
            <a:off x="3500403" y="3679972"/>
            <a:ext cx="1755933" cy="224600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rgbClr val="FF0000"/>
                </a:solidFill>
              </a:rPr>
              <a:t>4-6 </a:t>
            </a:r>
            <a:r>
              <a:rPr lang="ko-KR" altLang="en-US" sz="700" dirty="0" smtClean="0">
                <a:solidFill>
                  <a:srgbClr val="FF0000"/>
                </a:solidFill>
              </a:rPr>
              <a:t>운임 유형 </a:t>
            </a:r>
            <a:r>
              <a:rPr lang="en-US" altLang="ko-KR" sz="700" dirty="0" smtClean="0">
                <a:solidFill>
                  <a:srgbClr val="FF0000"/>
                </a:solidFill>
              </a:rPr>
              <a:t>(</a:t>
            </a:r>
            <a:r>
              <a:rPr lang="ko-KR" altLang="en-US" sz="700" dirty="0" smtClean="0">
                <a:solidFill>
                  <a:srgbClr val="FF0000"/>
                </a:solidFill>
              </a:rPr>
              <a:t>코드 </a:t>
            </a:r>
            <a:r>
              <a:rPr lang="ko-KR" altLang="en-US" sz="700" dirty="0" err="1" smtClean="0">
                <a:solidFill>
                  <a:srgbClr val="FF0000"/>
                </a:solidFill>
              </a:rPr>
              <a:t>다음장</a:t>
            </a:r>
            <a:r>
              <a:rPr lang="ko-KR" altLang="en-US" sz="700" dirty="0" smtClean="0">
                <a:solidFill>
                  <a:srgbClr val="FF0000"/>
                </a:solidFill>
              </a:rPr>
              <a:t> 참조</a:t>
            </a:r>
            <a:r>
              <a:rPr lang="en-US" altLang="ko-KR" sz="700" dirty="0" smtClean="0">
                <a:solidFill>
                  <a:srgbClr val="FF0000"/>
                </a:solidFill>
              </a:rPr>
              <a:t>) </a:t>
            </a:r>
            <a:r>
              <a:rPr lang="ko-KR" altLang="en-US" sz="700" dirty="0" smtClean="0">
                <a:solidFill>
                  <a:srgbClr val="FF0000"/>
                </a:solidFill>
              </a:rPr>
              <a:t>선택 </a:t>
            </a:r>
            <a:r>
              <a:rPr lang="ko-KR" altLang="en-US" sz="700" dirty="0" err="1" smtClean="0">
                <a:solidFill>
                  <a:srgbClr val="FF0000"/>
                </a:solidFill>
              </a:rPr>
              <a:t>콤보박스</a:t>
            </a:r>
            <a:r>
              <a:rPr lang="ko-KR" altLang="en-US" sz="700" dirty="0" smtClean="0">
                <a:solidFill>
                  <a:srgbClr val="FF0000"/>
                </a:solidFill>
              </a:rPr>
              <a:t> 제공처리</a:t>
            </a:r>
            <a:endParaRPr lang="ko-KR" altLang="en-US" sz="700" dirty="0">
              <a:solidFill>
                <a:srgbClr val="FF0000"/>
              </a:solidFill>
            </a:endParaRPr>
          </a:p>
        </p:txBody>
      </p:sp>
      <p:sp>
        <p:nvSpPr>
          <p:cNvPr id="196" name="직사각형 195"/>
          <p:cNvSpPr/>
          <p:nvPr/>
        </p:nvSpPr>
        <p:spPr>
          <a:xfrm>
            <a:off x="-3398484" y="2188602"/>
            <a:ext cx="3255341" cy="445909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b="1" dirty="0" smtClean="0">
                <a:solidFill>
                  <a:srgbClr val="000000"/>
                </a:solidFill>
              </a:rPr>
              <a:t>CUR  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기본값  표시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(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외화표기 처리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)</a:t>
            </a:r>
          </a:p>
          <a:p>
            <a:r>
              <a:rPr lang="ko-KR" altLang="en-US" sz="700" b="1" dirty="0" smtClean="0">
                <a:solidFill>
                  <a:srgbClr val="000000"/>
                </a:solidFill>
              </a:rPr>
              <a:t>사용자 선택 가능 처리</a:t>
            </a:r>
            <a:endParaRPr lang="en-US" altLang="ko-KR" sz="700" b="1" dirty="0" smtClean="0">
              <a:solidFill>
                <a:srgbClr val="000000"/>
              </a:solidFill>
            </a:endParaRPr>
          </a:p>
          <a:p>
            <a:r>
              <a:rPr lang="en-US" altLang="ko-KR" sz="700" b="1" dirty="0" smtClean="0">
                <a:solidFill>
                  <a:srgbClr val="000000"/>
                </a:solidFill>
              </a:rPr>
              <a:t>KRW </a:t>
            </a:r>
            <a:r>
              <a:rPr lang="ko-KR" altLang="en-US" sz="700" b="1" dirty="0" err="1" smtClean="0">
                <a:solidFill>
                  <a:srgbClr val="000000"/>
                </a:solidFill>
              </a:rPr>
              <a:t>선택시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 외화 표기를 안하며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, 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원화 합계 금액 표기 처리</a:t>
            </a:r>
            <a:endParaRPr lang="en-US" altLang="ko-KR" sz="700" b="1" dirty="0">
              <a:solidFill>
                <a:srgbClr val="000000"/>
              </a:solidFill>
            </a:endParaRPr>
          </a:p>
        </p:txBody>
      </p:sp>
      <p:sp>
        <p:nvSpPr>
          <p:cNvPr id="198" name="타원 197"/>
          <p:cNvSpPr/>
          <p:nvPr/>
        </p:nvSpPr>
        <p:spPr>
          <a:xfrm>
            <a:off x="-3751366" y="2168860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1-4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5117244" y="501138"/>
            <a:ext cx="4001699" cy="653603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 smtClean="0">
                <a:solidFill>
                  <a:srgbClr val="FF0066"/>
                </a:solidFill>
              </a:rPr>
              <a:t>통관정</a:t>
            </a:r>
            <a:r>
              <a:rPr lang="ko-KR" altLang="en-US" sz="700" dirty="0">
                <a:solidFill>
                  <a:srgbClr val="FF0066"/>
                </a:solidFill>
              </a:rPr>
              <a:t>산</a:t>
            </a:r>
            <a:r>
              <a:rPr lang="ko-KR" altLang="en-US" sz="700" dirty="0" smtClean="0">
                <a:solidFill>
                  <a:srgbClr val="FF0066"/>
                </a:solidFill>
              </a:rPr>
              <a:t> 지출 </a:t>
            </a:r>
            <a:r>
              <a:rPr lang="ko-KR" altLang="en-US" sz="700" dirty="0" err="1" smtClean="0">
                <a:solidFill>
                  <a:srgbClr val="FF0066"/>
                </a:solidFill>
              </a:rPr>
              <a:t>입력시</a:t>
            </a:r>
            <a:r>
              <a:rPr lang="ko-KR" altLang="en-US" sz="700" dirty="0" smtClean="0">
                <a:solidFill>
                  <a:srgbClr val="FF0066"/>
                </a:solidFill>
              </a:rPr>
              <a:t> 필수 입력사항 체크</a:t>
            </a:r>
            <a:endParaRPr lang="en-US" altLang="ko-KR" sz="700" dirty="0" smtClean="0">
              <a:solidFill>
                <a:srgbClr val="FF0066"/>
              </a:solidFill>
            </a:endParaRPr>
          </a:p>
          <a:p>
            <a:r>
              <a:rPr lang="en-US" altLang="ko-KR" sz="700" dirty="0" smtClean="0">
                <a:solidFill>
                  <a:srgbClr val="FF0066"/>
                </a:solidFill>
              </a:rPr>
              <a:t>CUR, Ex-Rate, </a:t>
            </a:r>
            <a:r>
              <a:rPr lang="ko-KR" altLang="en-US" sz="700" dirty="0" err="1" smtClean="0">
                <a:solidFill>
                  <a:srgbClr val="FF0066"/>
                </a:solidFill>
              </a:rPr>
              <a:t>지출처</a:t>
            </a:r>
            <a:r>
              <a:rPr lang="en-US" altLang="ko-KR" sz="700" dirty="0">
                <a:solidFill>
                  <a:srgbClr val="FF0066"/>
                </a:solidFill>
              </a:rPr>
              <a:t> </a:t>
            </a:r>
            <a:r>
              <a:rPr lang="en-US" altLang="ko-KR" sz="700" dirty="0" smtClean="0">
                <a:solidFill>
                  <a:srgbClr val="FF0066"/>
                </a:solidFill>
              </a:rPr>
              <a:t>, </a:t>
            </a:r>
            <a:r>
              <a:rPr lang="ko-KR" altLang="en-US" sz="700" dirty="0" smtClean="0">
                <a:solidFill>
                  <a:srgbClr val="FF0066"/>
                </a:solidFill>
              </a:rPr>
              <a:t>상기 항목은 통관정산</a:t>
            </a:r>
            <a:r>
              <a:rPr lang="en-US" altLang="ko-KR" sz="700" dirty="0" smtClean="0">
                <a:solidFill>
                  <a:srgbClr val="FF0066"/>
                </a:solidFill>
              </a:rPr>
              <a:t> </a:t>
            </a:r>
            <a:r>
              <a:rPr lang="ko-KR" altLang="en-US" sz="700" dirty="0" err="1" smtClean="0">
                <a:solidFill>
                  <a:srgbClr val="FF0066"/>
                </a:solidFill>
              </a:rPr>
              <a:t>저장시</a:t>
            </a:r>
            <a:r>
              <a:rPr lang="ko-KR" altLang="en-US" sz="700" dirty="0" smtClean="0">
                <a:solidFill>
                  <a:srgbClr val="FF0066"/>
                </a:solidFill>
              </a:rPr>
              <a:t> 입력사항 체크하여 </a:t>
            </a:r>
            <a:r>
              <a:rPr lang="ko-KR" altLang="en-US" sz="700" dirty="0" err="1" smtClean="0">
                <a:solidFill>
                  <a:srgbClr val="FF0066"/>
                </a:solidFill>
              </a:rPr>
              <a:t>경고메세지</a:t>
            </a:r>
            <a:r>
              <a:rPr lang="ko-KR" altLang="en-US" sz="700" dirty="0" smtClean="0">
                <a:solidFill>
                  <a:srgbClr val="FF0066"/>
                </a:solidFill>
              </a:rPr>
              <a:t> 출력처리</a:t>
            </a:r>
            <a:endParaRPr lang="en-US" altLang="ko-KR" sz="700" dirty="0" smtClean="0">
              <a:solidFill>
                <a:srgbClr val="FF0066"/>
              </a:solidFill>
            </a:endParaRPr>
          </a:p>
          <a:p>
            <a:r>
              <a:rPr lang="ko-KR" altLang="en-US" sz="700" dirty="0" smtClean="0">
                <a:solidFill>
                  <a:srgbClr val="FF0066"/>
                </a:solidFill>
              </a:rPr>
              <a:t>통관정산</a:t>
            </a:r>
            <a:r>
              <a:rPr lang="en-US" altLang="ko-KR" sz="700" dirty="0" smtClean="0">
                <a:solidFill>
                  <a:srgbClr val="FF0066"/>
                </a:solidFill>
              </a:rPr>
              <a:t> </a:t>
            </a:r>
            <a:r>
              <a:rPr lang="ko-KR" altLang="en-US" sz="700" dirty="0" smtClean="0">
                <a:solidFill>
                  <a:srgbClr val="FF0066"/>
                </a:solidFill>
              </a:rPr>
              <a:t>신규 </a:t>
            </a:r>
            <a:r>
              <a:rPr lang="ko-KR" altLang="en-US" sz="700" dirty="0" err="1" smtClean="0">
                <a:solidFill>
                  <a:srgbClr val="FF0066"/>
                </a:solidFill>
              </a:rPr>
              <a:t>입력시</a:t>
            </a:r>
            <a:r>
              <a:rPr lang="ko-KR" altLang="en-US" sz="700" dirty="0" smtClean="0">
                <a:solidFill>
                  <a:srgbClr val="FF0066"/>
                </a:solidFill>
              </a:rPr>
              <a:t> </a:t>
            </a:r>
            <a:r>
              <a:rPr lang="en-US" altLang="ko-KR" sz="700" dirty="0">
                <a:solidFill>
                  <a:srgbClr val="FF0066"/>
                </a:solidFill>
              </a:rPr>
              <a:t> </a:t>
            </a:r>
            <a:r>
              <a:rPr lang="ko-KR" altLang="en-US" sz="700" dirty="0" smtClean="0">
                <a:solidFill>
                  <a:srgbClr val="FF0066"/>
                </a:solidFill>
              </a:rPr>
              <a:t>시스템에서 환율일자</a:t>
            </a:r>
            <a:r>
              <a:rPr lang="en-US" altLang="ko-KR" sz="700" dirty="0" smtClean="0">
                <a:solidFill>
                  <a:srgbClr val="FF0066"/>
                </a:solidFill>
              </a:rPr>
              <a:t>(</a:t>
            </a:r>
            <a:r>
              <a:rPr lang="ko-KR" altLang="en-US" sz="700" dirty="0" smtClean="0">
                <a:solidFill>
                  <a:srgbClr val="FF0066"/>
                </a:solidFill>
              </a:rPr>
              <a:t>시스템 일자 표기 처리</a:t>
            </a:r>
            <a:r>
              <a:rPr lang="en-US" altLang="ko-KR" sz="700" dirty="0" smtClean="0">
                <a:solidFill>
                  <a:srgbClr val="FF0066"/>
                </a:solidFill>
              </a:rPr>
              <a:t>), </a:t>
            </a:r>
            <a:r>
              <a:rPr lang="en-US" altLang="ko-KR" dirty="0" smtClean="0">
                <a:solidFill>
                  <a:srgbClr val="0000FF"/>
                </a:solidFill>
              </a:rPr>
              <a:t>CUR (KRW </a:t>
            </a:r>
            <a:r>
              <a:rPr lang="ko-KR" altLang="en-US" dirty="0" smtClean="0">
                <a:solidFill>
                  <a:srgbClr val="0000FF"/>
                </a:solidFill>
              </a:rPr>
              <a:t>기본적용</a:t>
            </a:r>
            <a:r>
              <a:rPr lang="en-US" altLang="ko-KR" dirty="0" smtClean="0">
                <a:solidFill>
                  <a:srgbClr val="0000FF"/>
                </a:solidFill>
              </a:rPr>
              <a:t>) , Ex-Rate “1” </a:t>
            </a:r>
            <a:r>
              <a:rPr lang="ko-KR" altLang="en-US" dirty="0" smtClean="0">
                <a:solidFill>
                  <a:srgbClr val="0000FF"/>
                </a:solidFill>
              </a:rPr>
              <a:t>기본 적용 처리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r>
              <a:rPr lang="ko-KR" altLang="en-US" sz="700" dirty="0" err="1" smtClean="0">
                <a:solidFill>
                  <a:srgbClr val="0000FF"/>
                </a:solidFill>
              </a:rPr>
              <a:t>지출처</a:t>
            </a:r>
            <a:r>
              <a:rPr lang="ko-KR" altLang="en-US" sz="700" dirty="0" smtClean="0">
                <a:solidFill>
                  <a:srgbClr val="0000FF"/>
                </a:solidFill>
              </a:rPr>
              <a:t> 항목은 </a:t>
            </a:r>
            <a:r>
              <a:rPr lang="en-US" altLang="ko-KR" sz="700" dirty="0" smtClean="0">
                <a:solidFill>
                  <a:srgbClr val="0000FF"/>
                </a:solidFill>
              </a:rPr>
              <a:t>1-5 </a:t>
            </a:r>
            <a:r>
              <a:rPr lang="ko-KR" altLang="en-US" sz="700" dirty="0" smtClean="0">
                <a:solidFill>
                  <a:srgbClr val="0000FF"/>
                </a:solidFill>
              </a:rPr>
              <a:t>항목 설명 참조</a:t>
            </a:r>
          </a:p>
        </p:txBody>
      </p:sp>
      <p:sp>
        <p:nvSpPr>
          <p:cNvPr id="228" name="직사각형 227"/>
          <p:cNvSpPr/>
          <p:nvPr/>
        </p:nvSpPr>
        <p:spPr>
          <a:xfrm>
            <a:off x="603629" y="3103534"/>
            <a:ext cx="2384455" cy="227504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rgbClr val="FF0000"/>
                </a:solidFill>
              </a:rPr>
              <a:t>거래처 코드 버튼 </a:t>
            </a:r>
            <a:r>
              <a:rPr lang="ko-KR" altLang="en-US" sz="700" dirty="0" err="1">
                <a:solidFill>
                  <a:srgbClr val="FF0000"/>
                </a:solidFill>
              </a:rPr>
              <a:t>클릭시</a:t>
            </a:r>
            <a:r>
              <a:rPr lang="ko-KR" altLang="en-US" sz="700" dirty="0">
                <a:solidFill>
                  <a:srgbClr val="FF0000"/>
                </a:solidFill>
              </a:rPr>
              <a:t> </a:t>
            </a:r>
            <a:endParaRPr lang="en-US" altLang="ko-KR" sz="700" dirty="0">
              <a:solidFill>
                <a:srgbClr val="FF0000"/>
              </a:solidFill>
            </a:endParaRPr>
          </a:p>
          <a:p>
            <a:r>
              <a:rPr lang="ko-KR" altLang="en-US" sz="700" dirty="0">
                <a:solidFill>
                  <a:srgbClr val="FF0000"/>
                </a:solidFill>
              </a:rPr>
              <a:t>거래처 코드 </a:t>
            </a:r>
            <a:r>
              <a:rPr lang="ko-KR" altLang="en-US" sz="700" dirty="0" err="1">
                <a:solidFill>
                  <a:srgbClr val="FF0000"/>
                </a:solidFill>
              </a:rPr>
              <a:t>조회시</a:t>
            </a:r>
            <a:r>
              <a:rPr lang="ko-KR" altLang="en-US" sz="700" dirty="0">
                <a:solidFill>
                  <a:srgbClr val="FF0000"/>
                </a:solidFill>
              </a:rPr>
              <a:t> </a:t>
            </a:r>
            <a:r>
              <a:rPr lang="en-US" altLang="ko-KR" sz="700" dirty="0">
                <a:solidFill>
                  <a:srgbClr val="FF0000"/>
                </a:solidFill>
              </a:rPr>
              <a:t> </a:t>
            </a:r>
            <a:r>
              <a:rPr lang="ko-KR" altLang="en-US" sz="700" dirty="0">
                <a:solidFill>
                  <a:srgbClr val="FF0000"/>
                </a:solidFill>
              </a:rPr>
              <a:t>거래처 유형이 전체 기본값 처리</a:t>
            </a:r>
            <a:endParaRPr lang="en-US" altLang="ko-KR" sz="700" dirty="0">
              <a:solidFill>
                <a:srgbClr val="FF0000"/>
              </a:solidFill>
            </a:endParaRPr>
          </a:p>
        </p:txBody>
      </p:sp>
      <p:sp>
        <p:nvSpPr>
          <p:cNvPr id="245" name="타원 244"/>
          <p:cNvSpPr/>
          <p:nvPr/>
        </p:nvSpPr>
        <p:spPr>
          <a:xfrm>
            <a:off x="6804508" y="3069213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1-6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252" name="직사각형 251"/>
          <p:cNvSpPr/>
          <p:nvPr/>
        </p:nvSpPr>
        <p:spPr bwMode="auto">
          <a:xfrm>
            <a:off x="8321006" y="1597495"/>
            <a:ext cx="1463028" cy="17471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FFFFFF">
                    <a:lumMod val="50000"/>
                  </a:srgbClr>
                </a:solidFill>
              </a:rPr>
              <a:t>HANSUNG CORP.</a:t>
            </a: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58" name="직사각형 257"/>
          <p:cNvSpPr/>
          <p:nvPr/>
        </p:nvSpPr>
        <p:spPr>
          <a:xfrm>
            <a:off x="8895058" y="1409264"/>
            <a:ext cx="1221817" cy="448259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b="1" dirty="0">
                <a:solidFill>
                  <a:srgbClr val="FF0000"/>
                </a:solidFill>
              </a:rPr>
              <a:t>통관정산 </a:t>
            </a:r>
            <a:r>
              <a:rPr lang="ko-KR" altLang="en-US" sz="700" b="1" dirty="0" err="1">
                <a:solidFill>
                  <a:srgbClr val="FF0000"/>
                </a:solidFill>
              </a:rPr>
              <a:t>메인화면</a:t>
            </a:r>
            <a:r>
              <a:rPr lang="ko-KR" altLang="en-US" sz="700" b="1" dirty="0">
                <a:solidFill>
                  <a:srgbClr val="FF0000"/>
                </a:solidFill>
              </a:rPr>
              <a:t> 수출은 </a:t>
            </a:r>
            <a:r>
              <a:rPr lang="en-US" altLang="ko-KR" sz="700" b="1" dirty="0">
                <a:solidFill>
                  <a:srgbClr val="FF0000"/>
                </a:solidFill>
              </a:rPr>
              <a:t>Shipper, </a:t>
            </a:r>
            <a:r>
              <a:rPr lang="ko-KR" altLang="en-US" sz="700" b="1" dirty="0">
                <a:solidFill>
                  <a:srgbClr val="FF0000"/>
                </a:solidFill>
              </a:rPr>
              <a:t>수입은 </a:t>
            </a:r>
            <a:r>
              <a:rPr lang="en-US" altLang="ko-KR" sz="700" b="1" dirty="0">
                <a:solidFill>
                  <a:srgbClr val="FF0000"/>
                </a:solidFill>
              </a:rPr>
              <a:t>Consignee </a:t>
            </a:r>
            <a:r>
              <a:rPr lang="ko-KR" altLang="en-US" sz="700" b="1" dirty="0">
                <a:solidFill>
                  <a:srgbClr val="FF0000"/>
                </a:solidFill>
              </a:rPr>
              <a:t>항목 연동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처리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(HOUSE B/L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연</a:t>
            </a:r>
            <a:r>
              <a:rPr lang="ko-KR" altLang="en-US" sz="700" b="1" dirty="0">
                <a:solidFill>
                  <a:srgbClr val="FF0000"/>
                </a:solidFill>
              </a:rPr>
              <a:t>동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)</a:t>
            </a:r>
            <a:endParaRPr lang="ko-KR" altLang="en-US" sz="700" dirty="0">
              <a:solidFill>
                <a:srgbClr val="FF0000"/>
              </a:solidFill>
            </a:endParaRPr>
          </a:p>
        </p:txBody>
      </p:sp>
      <p:sp>
        <p:nvSpPr>
          <p:cNvPr id="263" name="직사각형 262"/>
          <p:cNvSpPr/>
          <p:nvPr/>
        </p:nvSpPr>
        <p:spPr>
          <a:xfrm>
            <a:off x="2383683" y="6201308"/>
            <a:ext cx="2586267" cy="288032"/>
          </a:xfrm>
          <a:prstGeom prst="rect">
            <a:avLst/>
          </a:prstGeom>
          <a:noFill/>
          <a:ln w="254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4-3 .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그리드</a:t>
            </a:r>
            <a:r>
              <a:rPr lang="ko-KR" altLang="en-US" b="1" dirty="0" smtClean="0">
                <a:solidFill>
                  <a:srgbClr val="FF0000"/>
                </a:solidFill>
              </a:rPr>
              <a:t> 항목 입력된 합계 값 </a:t>
            </a:r>
            <a:r>
              <a:rPr lang="en-US" altLang="ko-KR" b="1" dirty="0" smtClean="0">
                <a:solidFill>
                  <a:srgbClr val="FF0000"/>
                </a:solidFill>
              </a:rPr>
              <a:t>Sum </a:t>
            </a:r>
            <a:r>
              <a:rPr lang="ko-KR" altLang="en-US" b="1" dirty="0" smtClean="0">
                <a:solidFill>
                  <a:srgbClr val="FF0000"/>
                </a:solidFill>
              </a:rPr>
              <a:t>표시 처리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비활성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입력불가능</a:t>
            </a:r>
            <a:r>
              <a:rPr lang="en-US" altLang="ko-KR" b="1" dirty="0">
                <a:solidFill>
                  <a:srgbClr val="FF0000"/>
                </a:solidFill>
              </a:rPr>
              <a:t>) </a:t>
            </a:r>
            <a:r>
              <a:rPr lang="ko-KR" altLang="en-US" b="1" dirty="0" smtClean="0">
                <a:solidFill>
                  <a:srgbClr val="FF0000"/>
                </a:solidFill>
              </a:rPr>
              <a:t>처리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sp>
        <p:nvSpPr>
          <p:cNvPr id="277" name="직사각형 276"/>
          <p:cNvSpPr/>
          <p:nvPr/>
        </p:nvSpPr>
        <p:spPr>
          <a:xfrm>
            <a:off x="2370683" y="5776522"/>
            <a:ext cx="7413351" cy="343662"/>
          </a:xfrm>
          <a:prstGeom prst="rect">
            <a:avLst/>
          </a:prstGeom>
          <a:noFill/>
          <a:ln w="254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 smtClean="0">
              <a:solidFill>
                <a:srgbClr val="0000FF"/>
              </a:solidFill>
            </a:endParaRPr>
          </a:p>
        </p:txBody>
      </p:sp>
      <p:pic>
        <p:nvPicPr>
          <p:cNvPr id="163" name="그림 1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072" y="2897407"/>
            <a:ext cx="180229" cy="172036"/>
          </a:xfrm>
          <a:prstGeom prst="rect">
            <a:avLst/>
          </a:prstGeom>
        </p:spPr>
      </p:pic>
      <p:sp>
        <p:nvSpPr>
          <p:cNvPr id="170" name="타원 169"/>
          <p:cNvSpPr/>
          <p:nvPr/>
        </p:nvSpPr>
        <p:spPr>
          <a:xfrm>
            <a:off x="291690" y="5901115"/>
            <a:ext cx="413088" cy="2423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 smtClean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85" name="직사각형 184"/>
          <p:cNvSpPr/>
          <p:nvPr/>
        </p:nvSpPr>
        <p:spPr>
          <a:xfrm>
            <a:off x="-3420628" y="3969060"/>
            <a:ext cx="3253939" cy="2830412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3 </a:t>
            </a:r>
            <a:r>
              <a:rPr lang="ko-KR" altLang="en-US" b="1" dirty="0" smtClean="0">
                <a:solidFill>
                  <a:srgbClr val="FF0000"/>
                </a:solidFill>
              </a:rPr>
              <a:t>버튼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클릭시</a:t>
            </a:r>
            <a:r>
              <a:rPr lang="ko-KR" altLang="en-US" b="1" dirty="0" smtClean="0">
                <a:solidFill>
                  <a:srgbClr val="FF0000"/>
                </a:solidFill>
              </a:rPr>
              <a:t> 기능 설명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sz="700" dirty="0" smtClean="0">
              <a:solidFill>
                <a:srgbClr val="000000"/>
              </a:solidFill>
            </a:endParaRPr>
          </a:p>
          <a:p>
            <a:r>
              <a:rPr lang="en-US" altLang="ko-KR" sz="700" dirty="0" smtClean="0">
                <a:solidFill>
                  <a:srgbClr val="000000"/>
                </a:solidFill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</a:rPr>
              <a:t>통관정산 </a:t>
            </a:r>
            <a:r>
              <a:rPr lang="ko-KR" altLang="en-US" sz="700" dirty="0" err="1" smtClean="0">
                <a:solidFill>
                  <a:srgbClr val="000000"/>
                </a:solidFill>
              </a:rPr>
              <a:t>메인화면에서</a:t>
            </a:r>
            <a:r>
              <a:rPr lang="ko-KR" altLang="en-US" sz="700" dirty="0" smtClean="0">
                <a:solidFill>
                  <a:srgbClr val="000000"/>
                </a:solidFill>
              </a:rPr>
              <a:t>  호출된  </a:t>
            </a:r>
            <a:r>
              <a:rPr lang="en-US" altLang="ko-KR" sz="700" dirty="0" smtClean="0">
                <a:solidFill>
                  <a:srgbClr val="000000"/>
                </a:solidFill>
              </a:rPr>
              <a:t> B/L 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운임 및 </a:t>
            </a:r>
            <a:r>
              <a:rPr lang="ko-KR" altLang="en-US" sz="700" b="1" dirty="0">
                <a:solidFill>
                  <a:srgbClr val="000000"/>
                </a:solidFill>
              </a:rPr>
              <a:t>부대운임 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내용을 비용항목에 동일하게 호출 처리</a:t>
            </a:r>
            <a:endParaRPr lang="en-US" altLang="ko-KR" sz="700" b="1" dirty="0" smtClean="0">
              <a:solidFill>
                <a:srgbClr val="000000"/>
              </a:solidFill>
            </a:endParaRPr>
          </a:p>
          <a:p>
            <a:endParaRPr lang="en-US" altLang="ko-KR" sz="700" b="1" dirty="0">
              <a:solidFill>
                <a:srgbClr val="000000"/>
              </a:solidFill>
            </a:endParaRPr>
          </a:p>
          <a:p>
            <a:r>
              <a:rPr lang="ko-KR" altLang="en-US" sz="700" dirty="0">
                <a:solidFill>
                  <a:srgbClr val="0000FF"/>
                </a:solidFill>
              </a:rPr>
              <a:t>조건 </a:t>
            </a:r>
            <a:r>
              <a:rPr lang="en-US" altLang="ko-KR" sz="700" dirty="0">
                <a:solidFill>
                  <a:srgbClr val="0000FF"/>
                </a:solidFill>
              </a:rPr>
              <a:t>1 : </a:t>
            </a:r>
            <a:r>
              <a:rPr lang="ko-KR" altLang="en-US" sz="700" dirty="0">
                <a:solidFill>
                  <a:srgbClr val="0000FF"/>
                </a:solidFill>
              </a:rPr>
              <a:t>통관정산 </a:t>
            </a:r>
            <a:r>
              <a:rPr lang="en-US" altLang="ko-KR" sz="700" dirty="0">
                <a:solidFill>
                  <a:srgbClr val="0000FF"/>
                </a:solidFill>
              </a:rPr>
              <a:t>House BL </a:t>
            </a:r>
            <a:r>
              <a:rPr lang="ko-KR" altLang="en-US" sz="700" dirty="0" err="1">
                <a:solidFill>
                  <a:srgbClr val="0000FF"/>
                </a:solidFill>
              </a:rPr>
              <a:t>호출시</a:t>
            </a:r>
            <a:r>
              <a:rPr lang="ko-KR" altLang="en-US" sz="700" dirty="0">
                <a:solidFill>
                  <a:srgbClr val="0000FF"/>
                </a:solidFill>
              </a:rPr>
              <a:t>  </a:t>
            </a:r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en-US" altLang="ko-KR" sz="700" dirty="0">
                <a:solidFill>
                  <a:srgbClr val="0000FF"/>
                </a:solidFill>
              </a:rPr>
              <a:t>1. </a:t>
            </a:r>
            <a:r>
              <a:rPr lang="ko-KR" altLang="en-US" sz="700" dirty="0" err="1">
                <a:solidFill>
                  <a:srgbClr val="0000FF"/>
                </a:solidFill>
              </a:rPr>
              <a:t>수출인경우</a:t>
            </a:r>
            <a:r>
              <a:rPr lang="ko-KR" altLang="en-US" sz="700" dirty="0">
                <a:solidFill>
                  <a:srgbClr val="0000FF"/>
                </a:solidFill>
              </a:rPr>
              <a:t> </a:t>
            </a:r>
            <a:r>
              <a:rPr lang="en-US" altLang="ko-KR" sz="700" dirty="0">
                <a:solidFill>
                  <a:srgbClr val="0000FF"/>
                </a:solidFill>
              </a:rPr>
              <a:t>MASTER B/L </a:t>
            </a:r>
            <a:r>
              <a:rPr lang="ko-KR" altLang="en-US" sz="700" dirty="0">
                <a:solidFill>
                  <a:srgbClr val="0000FF"/>
                </a:solidFill>
              </a:rPr>
              <a:t>지출항목 </a:t>
            </a:r>
            <a:r>
              <a:rPr lang="ko-KR" altLang="en-US" sz="700" dirty="0" err="1">
                <a:solidFill>
                  <a:srgbClr val="0000FF"/>
                </a:solidFill>
              </a:rPr>
              <a:t>존재시</a:t>
            </a:r>
            <a:r>
              <a:rPr lang="ko-KR" altLang="en-US" sz="700" dirty="0">
                <a:solidFill>
                  <a:srgbClr val="0000FF"/>
                </a:solidFill>
              </a:rPr>
              <a:t> 지출항목 호출 처리</a:t>
            </a:r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en-US" altLang="ko-KR" sz="700" dirty="0">
                <a:solidFill>
                  <a:srgbClr val="0000FF"/>
                </a:solidFill>
              </a:rPr>
              <a:t>-&gt; MASTER B/L </a:t>
            </a:r>
            <a:r>
              <a:rPr lang="ko-KR" altLang="en-US" sz="700" dirty="0">
                <a:solidFill>
                  <a:srgbClr val="0000FF"/>
                </a:solidFill>
              </a:rPr>
              <a:t>지출항목이 </a:t>
            </a:r>
            <a:r>
              <a:rPr lang="ko-KR" altLang="en-US" sz="700" dirty="0" err="1">
                <a:solidFill>
                  <a:srgbClr val="0000FF"/>
                </a:solidFill>
              </a:rPr>
              <a:t>없을시</a:t>
            </a:r>
            <a:r>
              <a:rPr lang="ko-KR" altLang="en-US" sz="700" dirty="0">
                <a:solidFill>
                  <a:srgbClr val="0000FF"/>
                </a:solidFill>
              </a:rPr>
              <a:t> </a:t>
            </a:r>
            <a:r>
              <a:rPr lang="en-US" altLang="ko-KR" sz="700" dirty="0">
                <a:solidFill>
                  <a:srgbClr val="0000FF"/>
                </a:solidFill>
              </a:rPr>
              <a:t>HOUSE B/L </a:t>
            </a:r>
            <a:r>
              <a:rPr lang="ko-KR" altLang="en-US" sz="700" dirty="0">
                <a:solidFill>
                  <a:srgbClr val="0000FF"/>
                </a:solidFill>
              </a:rPr>
              <a:t>지출 항목 호출 처리 </a:t>
            </a:r>
            <a:r>
              <a:rPr lang="en-US" altLang="ko-KR" sz="700" dirty="0">
                <a:solidFill>
                  <a:srgbClr val="0000FF"/>
                </a:solidFill>
              </a:rPr>
              <a:t>-&gt; HOUSE B/L </a:t>
            </a:r>
            <a:r>
              <a:rPr lang="ko-KR" altLang="en-US" sz="700" dirty="0">
                <a:solidFill>
                  <a:srgbClr val="0000FF"/>
                </a:solidFill>
              </a:rPr>
              <a:t>지출항목 </a:t>
            </a:r>
            <a:r>
              <a:rPr lang="ko-KR" altLang="en-US" sz="700" dirty="0" err="1">
                <a:solidFill>
                  <a:srgbClr val="0000FF"/>
                </a:solidFill>
              </a:rPr>
              <a:t>없을시</a:t>
            </a:r>
            <a:r>
              <a:rPr lang="ko-KR" altLang="en-US" sz="700" dirty="0">
                <a:solidFill>
                  <a:srgbClr val="0000FF"/>
                </a:solidFill>
              </a:rPr>
              <a:t> 통관정산 비용항목 공백 처리</a:t>
            </a:r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en-US" altLang="ko-KR" sz="700" b="1" dirty="0">
                <a:solidFill>
                  <a:srgbClr val="FF0000"/>
                </a:solidFill>
              </a:rPr>
              <a:t>2. </a:t>
            </a:r>
            <a:r>
              <a:rPr lang="ko-KR" altLang="en-US" sz="700" b="1" dirty="0">
                <a:solidFill>
                  <a:srgbClr val="FF0000"/>
                </a:solidFill>
              </a:rPr>
              <a:t>수입인 경우 수출과 동일처리 적용</a:t>
            </a:r>
            <a:endParaRPr lang="en-US" altLang="ko-KR" sz="700" b="1" dirty="0">
              <a:solidFill>
                <a:srgbClr val="FF0000"/>
              </a:solidFill>
            </a:endParaRPr>
          </a:p>
          <a:p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ko-KR" altLang="en-US" sz="700" dirty="0">
                <a:solidFill>
                  <a:srgbClr val="0000FF"/>
                </a:solidFill>
              </a:rPr>
              <a:t>조건 </a:t>
            </a:r>
            <a:r>
              <a:rPr lang="en-US" altLang="ko-KR" sz="700" dirty="0">
                <a:solidFill>
                  <a:srgbClr val="0000FF"/>
                </a:solidFill>
              </a:rPr>
              <a:t>2 : MASTER DIRECT </a:t>
            </a:r>
            <a:r>
              <a:rPr lang="ko-KR" altLang="en-US" sz="700" dirty="0">
                <a:solidFill>
                  <a:srgbClr val="0000FF"/>
                </a:solidFill>
              </a:rPr>
              <a:t>건 경우 </a:t>
            </a:r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en-US" altLang="ko-KR" sz="700" dirty="0">
                <a:solidFill>
                  <a:srgbClr val="0000FF"/>
                </a:solidFill>
              </a:rPr>
              <a:t>1. </a:t>
            </a:r>
            <a:r>
              <a:rPr lang="ko-KR" altLang="en-US" sz="700" dirty="0">
                <a:solidFill>
                  <a:srgbClr val="0000FF"/>
                </a:solidFill>
              </a:rPr>
              <a:t>조건 </a:t>
            </a:r>
            <a:r>
              <a:rPr lang="en-US" altLang="ko-KR" sz="700" dirty="0">
                <a:solidFill>
                  <a:srgbClr val="0000FF"/>
                </a:solidFill>
              </a:rPr>
              <a:t>1 </a:t>
            </a:r>
            <a:r>
              <a:rPr lang="ko-KR" altLang="en-US" sz="700" dirty="0">
                <a:solidFill>
                  <a:srgbClr val="0000FF"/>
                </a:solidFill>
              </a:rPr>
              <a:t>인 경우와 동일하게 처리 적용</a:t>
            </a:r>
            <a:endParaRPr lang="en-US" altLang="ko-KR" sz="700" dirty="0">
              <a:solidFill>
                <a:srgbClr val="0000FF"/>
              </a:solidFill>
            </a:endParaRPr>
          </a:p>
          <a:p>
            <a:endParaRPr lang="en-US" altLang="ko-KR" sz="700" b="1" dirty="0">
              <a:solidFill>
                <a:srgbClr val="FF0000"/>
              </a:solidFill>
            </a:endParaRPr>
          </a:p>
          <a:p>
            <a:r>
              <a:rPr lang="ko-KR" altLang="en-US" sz="700" b="1" dirty="0">
                <a:solidFill>
                  <a:srgbClr val="FF0000"/>
                </a:solidFill>
              </a:rPr>
              <a:t>조건 </a:t>
            </a:r>
            <a:r>
              <a:rPr lang="en-US" altLang="ko-KR" sz="700" b="1" dirty="0">
                <a:solidFill>
                  <a:srgbClr val="FF0000"/>
                </a:solidFill>
              </a:rPr>
              <a:t>3 : </a:t>
            </a:r>
            <a:r>
              <a:rPr lang="ko-KR" altLang="en-US" sz="700" b="1" dirty="0">
                <a:solidFill>
                  <a:srgbClr val="FF0000"/>
                </a:solidFill>
              </a:rPr>
              <a:t>통관정산 </a:t>
            </a:r>
            <a:r>
              <a:rPr lang="ko-KR" altLang="en-US" sz="700" b="1" dirty="0" err="1">
                <a:solidFill>
                  <a:srgbClr val="FF0000"/>
                </a:solidFill>
              </a:rPr>
              <a:t>신규입력시</a:t>
            </a:r>
            <a:r>
              <a:rPr lang="ko-KR" altLang="en-US" sz="700" b="1" dirty="0">
                <a:solidFill>
                  <a:srgbClr val="FF0000"/>
                </a:solidFill>
              </a:rPr>
              <a:t> </a:t>
            </a:r>
            <a:endParaRPr lang="en-US" altLang="ko-KR" sz="700" b="1" dirty="0">
              <a:solidFill>
                <a:srgbClr val="FF0000"/>
              </a:solidFill>
            </a:endParaRPr>
          </a:p>
          <a:p>
            <a:r>
              <a:rPr lang="en-US" altLang="ko-KR" sz="700" b="1" dirty="0">
                <a:solidFill>
                  <a:srgbClr val="FF0000"/>
                </a:solidFill>
              </a:rPr>
              <a:t> </a:t>
            </a:r>
            <a:r>
              <a:rPr lang="ko-KR" altLang="en-US" sz="700" b="1" dirty="0">
                <a:solidFill>
                  <a:srgbClr val="FF0000"/>
                </a:solidFill>
              </a:rPr>
              <a:t>지출항목 </a:t>
            </a:r>
            <a:r>
              <a:rPr lang="en-US" altLang="ko-KR" sz="700" b="1" dirty="0">
                <a:solidFill>
                  <a:srgbClr val="FF0000"/>
                </a:solidFill>
              </a:rPr>
              <a:t> </a:t>
            </a:r>
            <a:r>
              <a:rPr lang="ko-KR" altLang="en-US" sz="700" b="1" dirty="0">
                <a:solidFill>
                  <a:srgbClr val="FF0000"/>
                </a:solidFill>
              </a:rPr>
              <a:t>공백처리</a:t>
            </a:r>
            <a:endParaRPr lang="en-US" altLang="ko-KR" sz="700" b="1" dirty="0">
              <a:solidFill>
                <a:srgbClr val="FF0000"/>
              </a:solidFill>
            </a:endParaRPr>
          </a:p>
          <a:p>
            <a:endParaRPr lang="en-US" altLang="ko-KR" sz="700" b="1" dirty="0" smtClean="0">
              <a:solidFill>
                <a:srgbClr val="0000FF"/>
              </a:solidFill>
            </a:endParaRPr>
          </a:p>
          <a:p>
            <a:r>
              <a:rPr lang="ko-KR" altLang="en-US" sz="700" b="1" dirty="0" smtClean="0">
                <a:solidFill>
                  <a:srgbClr val="0000FF"/>
                </a:solidFill>
              </a:rPr>
              <a:t>예외처리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 :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사용자가 수기로 입력된 상태에서  비용자료를 </a:t>
            </a:r>
            <a:r>
              <a:rPr lang="ko-KR" altLang="en-US" sz="700" b="1" dirty="0" err="1" smtClean="0">
                <a:solidFill>
                  <a:srgbClr val="0000FF"/>
                </a:solidFill>
              </a:rPr>
              <a:t>호출시</a:t>
            </a:r>
            <a:endParaRPr lang="en-US" altLang="ko-KR" sz="700" b="1" dirty="0" smtClean="0">
              <a:solidFill>
                <a:srgbClr val="0000FF"/>
              </a:solidFill>
            </a:endParaRPr>
          </a:p>
          <a:p>
            <a:r>
              <a:rPr lang="ko-KR" altLang="en-US" sz="700" b="1" dirty="0" smtClean="0">
                <a:solidFill>
                  <a:srgbClr val="0000FF"/>
                </a:solidFill>
              </a:rPr>
              <a:t>사용자 마지막 입력된 </a:t>
            </a:r>
            <a:r>
              <a:rPr lang="ko-KR" altLang="en-US" sz="700" b="1" dirty="0" err="1" smtClean="0">
                <a:solidFill>
                  <a:srgbClr val="0000FF"/>
                </a:solidFill>
              </a:rPr>
              <a:t>그다음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 </a:t>
            </a:r>
            <a:r>
              <a:rPr lang="en-US" altLang="ko-KR" sz="700" b="1" dirty="0" smtClean="0">
                <a:solidFill>
                  <a:srgbClr val="0000FF"/>
                </a:solidFill>
              </a:rPr>
              <a:t>Low </a:t>
            </a:r>
            <a:r>
              <a:rPr lang="ko-KR" altLang="en-US" sz="700" b="1" dirty="0" smtClean="0">
                <a:solidFill>
                  <a:srgbClr val="0000FF"/>
                </a:solidFill>
              </a:rPr>
              <a:t>항목에  비용자료 호출 처리</a:t>
            </a:r>
            <a:endParaRPr lang="en-US" altLang="ko-KR" sz="700" b="1" dirty="0" smtClean="0">
              <a:solidFill>
                <a:srgbClr val="0000FF"/>
              </a:solidFill>
            </a:endParaRPr>
          </a:p>
          <a:p>
            <a:endParaRPr lang="en-US" altLang="ko-KR" sz="700" b="1" dirty="0" smtClean="0">
              <a:solidFill>
                <a:srgbClr val="FF0000"/>
              </a:solidFill>
            </a:endParaRPr>
          </a:p>
          <a:p>
            <a:r>
              <a:rPr lang="ko-KR" altLang="en-US" sz="700" b="1" dirty="0" smtClean="0">
                <a:solidFill>
                  <a:srgbClr val="FF0000"/>
                </a:solidFill>
              </a:rPr>
              <a:t>조건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2  :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비</a:t>
            </a:r>
            <a:r>
              <a:rPr lang="ko-KR" altLang="en-US" sz="700" b="1" dirty="0">
                <a:solidFill>
                  <a:srgbClr val="FF0000"/>
                </a:solidFill>
              </a:rPr>
              <a:t>용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자료를 호출한 이후에 사용자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입력시</a:t>
            </a:r>
            <a:endParaRPr lang="en-US" altLang="ko-KR" sz="700" b="1" dirty="0" smtClean="0">
              <a:solidFill>
                <a:srgbClr val="FF0000"/>
              </a:solidFill>
            </a:endParaRPr>
          </a:p>
          <a:p>
            <a:r>
              <a:rPr lang="ko-KR" altLang="en-US" sz="700" b="1" dirty="0" smtClean="0">
                <a:solidFill>
                  <a:srgbClr val="FF0000"/>
                </a:solidFill>
              </a:rPr>
              <a:t>호출된 비용항목 다름 </a:t>
            </a:r>
            <a:r>
              <a:rPr lang="en-US" altLang="ko-KR" sz="700" b="1" dirty="0" smtClean="0">
                <a:solidFill>
                  <a:srgbClr val="FF0000"/>
                </a:solidFill>
              </a:rPr>
              <a:t>Low 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항목부터 입력 가능 처리</a:t>
            </a:r>
            <a:endParaRPr lang="en-US" altLang="ko-KR" sz="700" b="1" dirty="0" smtClean="0">
              <a:solidFill>
                <a:srgbClr val="FF0000"/>
              </a:solidFill>
            </a:endParaRPr>
          </a:p>
          <a:p>
            <a:endParaRPr lang="en-US" altLang="ko-KR" sz="700" b="1" dirty="0">
              <a:solidFill>
                <a:srgbClr val="FF0000"/>
              </a:solidFill>
            </a:endParaRPr>
          </a:p>
          <a:p>
            <a:r>
              <a:rPr lang="ko-KR" altLang="en-US" sz="700" b="1" dirty="0" err="1" smtClean="0">
                <a:solidFill>
                  <a:srgbClr val="FF0000"/>
                </a:solidFill>
              </a:rPr>
              <a:t>순섣대로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조건이 맞지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않을시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 등록된 비용 자료 없다는 메시지 출력 처리 후  공란 유지</a:t>
            </a:r>
            <a:endParaRPr lang="en-US" altLang="ko-KR" sz="700" b="1" dirty="0" smtClean="0">
              <a:solidFill>
                <a:srgbClr val="FF0000"/>
              </a:solidFill>
            </a:endParaRPr>
          </a:p>
        </p:txBody>
      </p:sp>
      <p:sp>
        <p:nvSpPr>
          <p:cNvPr id="190" name="모서리가 둥근 직사각형 189"/>
          <p:cNvSpPr/>
          <p:nvPr/>
        </p:nvSpPr>
        <p:spPr>
          <a:xfrm>
            <a:off x="2111612" y="3652911"/>
            <a:ext cx="1086359" cy="226069"/>
          </a:xfrm>
          <a:prstGeom prst="roundRect">
            <a:avLst/>
          </a:prstGeom>
          <a:solidFill>
            <a:srgbClr val="0066FF"/>
          </a:solidFill>
          <a:ln w="3175">
            <a:solidFill>
              <a:schemeClr val="bg2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FFFFFF"/>
                </a:solidFill>
              </a:rPr>
              <a:t>비용 적용</a:t>
            </a:r>
          </a:p>
        </p:txBody>
      </p:sp>
      <p:sp>
        <p:nvSpPr>
          <p:cNvPr id="205" name="타원 204"/>
          <p:cNvSpPr/>
          <p:nvPr/>
        </p:nvSpPr>
        <p:spPr>
          <a:xfrm>
            <a:off x="1899210" y="3494890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rgbClr val="000000"/>
                </a:solidFill>
              </a:rPr>
              <a:t>3</a:t>
            </a:r>
            <a:endParaRPr lang="en-US" altLang="ko-KR" sz="1000" b="1" dirty="0" smtClean="0">
              <a:solidFill>
                <a:srgbClr val="000000"/>
              </a:solidFill>
            </a:endParaRPr>
          </a:p>
        </p:txBody>
      </p:sp>
      <p:sp>
        <p:nvSpPr>
          <p:cNvPr id="208" name="타원 207"/>
          <p:cNvSpPr/>
          <p:nvPr/>
        </p:nvSpPr>
        <p:spPr>
          <a:xfrm>
            <a:off x="-3780668" y="3897052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 smtClean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09" name="직사각형 208"/>
          <p:cNvSpPr/>
          <p:nvPr/>
        </p:nvSpPr>
        <p:spPr>
          <a:xfrm>
            <a:off x="-3419359" y="2672683"/>
            <a:ext cx="3253939" cy="504289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rgbClr val="0000FF"/>
                </a:solidFill>
              </a:rPr>
              <a:t>1-5. </a:t>
            </a:r>
            <a:r>
              <a:rPr lang="ko-KR" altLang="en-US" sz="700" dirty="0" smtClean="0">
                <a:solidFill>
                  <a:srgbClr val="0000FF"/>
                </a:solidFill>
              </a:rPr>
              <a:t>환율일자 </a:t>
            </a:r>
            <a:r>
              <a:rPr lang="en-US" altLang="ko-KR" sz="700" dirty="0">
                <a:solidFill>
                  <a:srgbClr val="0000FF"/>
                </a:solidFill>
              </a:rPr>
              <a:t>: </a:t>
            </a:r>
            <a:r>
              <a:rPr lang="ko-KR" altLang="en-US" sz="700" dirty="0">
                <a:solidFill>
                  <a:srgbClr val="0000FF"/>
                </a:solidFill>
              </a:rPr>
              <a:t>현재 시스템일자</a:t>
            </a:r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en-US" altLang="ko-KR" sz="700" dirty="0">
                <a:solidFill>
                  <a:srgbClr val="0000FF"/>
                </a:solidFill>
              </a:rPr>
              <a:t>CUR : </a:t>
            </a:r>
            <a:r>
              <a:rPr lang="ko-KR" altLang="en-US" sz="700" dirty="0">
                <a:solidFill>
                  <a:srgbClr val="0000FF"/>
                </a:solidFill>
              </a:rPr>
              <a:t> </a:t>
            </a:r>
            <a:r>
              <a:rPr lang="en-US" altLang="ko-KR" sz="700" dirty="0">
                <a:solidFill>
                  <a:srgbClr val="0000FF"/>
                </a:solidFill>
              </a:rPr>
              <a:t>KRW </a:t>
            </a:r>
          </a:p>
          <a:p>
            <a:r>
              <a:rPr lang="en-US" altLang="ko-KR" sz="700" dirty="0">
                <a:solidFill>
                  <a:srgbClr val="0000FF"/>
                </a:solidFill>
              </a:rPr>
              <a:t>Ex-Rate : 1</a:t>
            </a:r>
          </a:p>
          <a:p>
            <a:r>
              <a:rPr lang="en-US" altLang="ko-KR" sz="700" dirty="0">
                <a:solidFill>
                  <a:srgbClr val="0000FF"/>
                </a:solidFill>
              </a:rPr>
              <a:t>USD : </a:t>
            </a:r>
            <a:r>
              <a:rPr lang="ko-KR" altLang="en-US" sz="700" dirty="0">
                <a:solidFill>
                  <a:srgbClr val="0000FF"/>
                </a:solidFill>
              </a:rPr>
              <a:t>공백 </a:t>
            </a:r>
            <a:endParaRPr lang="en-US" altLang="ko-KR" sz="700" dirty="0">
              <a:solidFill>
                <a:srgbClr val="0000FF"/>
              </a:solidFill>
            </a:endParaRPr>
          </a:p>
          <a:p>
            <a:endParaRPr lang="en-US" altLang="ko-KR" sz="700" b="1" dirty="0" smtClean="0">
              <a:solidFill>
                <a:srgbClr val="FF0000"/>
              </a:solidFill>
            </a:endParaRPr>
          </a:p>
        </p:txBody>
      </p:sp>
      <p:graphicFrame>
        <p:nvGraphicFramePr>
          <p:cNvPr id="210" name="표 2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278560"/>
              </p:ext>
            </p:extLst>
          </p:nvPr>
        </p:nvGraphicFramePr>
        <p:xfrm>
          <a:off x="251780" y="4236396"/>
          <a:ext cx="9327540" cy="12649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8819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702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3521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8809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3521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99898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99898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76442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570634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xmlns="" val="168285622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27694214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1522849287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xmlns="" val="1178847013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xmlns="" val="1548411095"/>
                    </a:ext>
                  </a:extLst>
                </a:gridCol>
                <a:gridCol w="794592"/>
              </a:tblGrid>
              <a:tr h="196383"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CODE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CUR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Ex—Rate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smtClean="0">
                          <a:solidFill>
                            <a:schemeClr val="tx1"/>
                          </a:solidFill>
                        </a:rPr>
                        <a:t>부과유형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AMOUNT[CUR]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AMOUNT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VAT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TOTAL AMOUNT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ACCOUNT CODE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Y/N</a:t>
                      </a:r>
                    </a:p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(Vat)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smtClean="0">
                          <a:solidFill>
                            <a:schemeClr val="tx1"/>
                          </a:solidFill>
                        </a:rPr>
                        <a:t>선급여부</a:t>
                      </a:r>
                      <a:endParaRPr lang="en-US" altLang="ko-KR" sz="6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(Y/N)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smtClean="0">
                          <a:solidFill>
                            <a:schemeClr val="tx1"/>
                          </a:solidFill>
                        </a:rPr>
                        <a:t>지출번호</a:t>
                      </a:r>
                      <a:endParaRPr lang="ko-KR" alt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66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2"/>
                          </a:solidFill>
                        </a:rPr>
                        <a:t>AFC</a:t>
                      </a:r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aseline="0" dirty="0" smtClean="0">
                          <a:solidFill>
                            <a:schemeClr val="tx2"/>
                          </a:solidFill>
                        </a:rPr>
                        <a:t>Freight Charge</a:t>
                      </a:r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2"/>
                          </a:solidFill>
                        </a:rPr>
                        <a:t>USD</a:t>
                      </a:r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2"/>
                          </a:solidFill>
                        </a:rPr>
                        <a:t>1150.5</a:t>
                      </a:r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2"/>
                          </a:solidFill>
                        </a:rPr>
                        <a:t>2250.00</a:t>
                      </a:r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2"/>
                          </a:solidFill>
                        </a:rPr>
                        <a:t>2,588,625</a:t>
                      </a:r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2"/>
                          </a:solidFill>
                        </a:rPr>
                        <a:t>2,588,625</a:t>
                      </a:r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2"/>
                          </a:solidFill>
                        </a:rPr>
                        <a:t>0121000201</a:t>
                      </a:r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solidFill>
                            <a:schemeClr val="tx2"/>
                          </a:solidFill>
                        </a:rPr>
                        <a:t>N</a:t>
                      </a:r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66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966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66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>
                          <a:solidFill>
                            <a:schemeClr val="tx2"/>
                          </a:solidFill>
                        </a:rPr>
                        <a:t>4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66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>
                          <a:solidFill>
                            <a:schemeClr val="tx2"/>
                          </a:solidFill>
                        </a:rPr>
                        <a:t>5</a:t>
                      </a: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12" name="직사각형 211"/>
          <p:cNvSpPr/>
          <p:nvPr/>
        </p:nvSpPr>
        <p:spPr bwMode="auto">
          <a:xfrm>
            <a:off x="2690191" y="4509700"/>
            <a:ext cx="145996" cy="20651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grpSp>
        <p:nvGrpSpPr>
          <p:cNvPr id="213" name="그룹 212"/>
          <p:cNvGrpSpPr/>
          <p:nvPr/>
        </p:nvGrpSpPr>
        <p:grpSpPr>
          <a:xfrm>
            <a:off x="9579320" y="4226895"/>
            <a:ext cx="194596" cy="1434005"/>
            <a:chOff x="10426336" y="3937810"/>
            <a:chExt cx="194596" cy="1644228"/>
          </a:xfrm>
        </p:grpSpPr>
        <p:sp>
          <p:nvSpPr>
            <p:cNvPr id="217" name="직사각형 216"/>
            <p:cNvSpPr/>
            <p:nvPr/>
          </p:nvSpPr>
          <p:spPr bwMode="auto">
            <a:xfrm>
              <a:off x="10426336" y="4105968"/>
              <a:ext cx="194596" cy="13471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ko-KR" altLang="en-US" sz="600" dirty="0">
                <a:solidFill>
                  <a:srgbClr val="000000"/>
                </a:solidFill>
              </a:endParaRPr>
            </a:p>
          </p:txBody>
        </p:sp>
        <p:sp>
          <p:nvSpPr>
            <p:cNvPr id="218" name="직사각형 217"/>
            <p:cNvSpPr/>
            <p:nvPr/>
          </p:nvSpPr>
          <p:spPr bwMode="auto">
            <a:xfrm flipV="1">
              <a:off x="10426336" y="3937810"/>
              <a:ext cx="194596" cy="17277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ko-KR" sz="600" dirty="0">
                  <a:solidFill>
                    <a:srgbClr val="000000"/>
                  </a:solidFill>
                </a:rPr>
                <a:t>▼</a:t>
              </a:r>
              <a:endParaRPr lang="ko-KR" altLang="en-US" sz="600" dirty="0">
                <a:solidFill>
                  <a:srgbClr val="000000"/>
                </a:solidFill>
              </a:endParaRPr>
            </a:p>
          </p:txBody>
        </p:sp>
        <p:sp>
          <p:nvSpPr>
            <p:cNvPr id="219" name="직사각형 218"/>
            <p:cNvSpPr/>
            <p:nvPr/>
          </p:nvSpPr>
          <p:spPr bwMode="auto">
            <a:xfrm rot="10800000" flipV="1">
              <a:off x="10426336" y="5438332"/>
              <a:ext cx="194596" cy="14370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ko-KR" sz="600" dirty="0">
                  <a:solidFill>
                    <a:srgbClr val="000000"/>
                  </a:solidFill>
                </a:rPr>
                <a:t>▼</a:t>
              </a:r>
              <a:endParaRPr lang="ko-KR" altLang="en-US" sz="6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27" name="그룹 226"/>
          <p:cNvGrpSpPr/>
          <p:nvPr/>
        </p:nvGrpSpPr>
        <p:grpSpPr>
          <a:xfrm>
            <a:off x="249794" y="5505075"/>
            <a:ext cx="9311149" cy="155825"/>
            <a:chOff x="600589" y="5930188"/>
            <a:chExt cx="8867085" cy="155824"/>
          </a:xfrm>
        </p:grpSpPr>
        <p:sp>
          <p:nvSpPr>
            <p:cNvPr id="235" name="직사각형 234"/>
            <p:cNvSpPr/>
            <p:nvPr/>
          </p:nvSpPr>
          <p:spPr bwMode="auto">
            <a:xfrm rot="5400000">
              <a:off x="4923399" y="1716426"/>
              <a:ext cx="155703" cy="85834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ko-KR" altLang="en-US" sz="600" dirty="0">
                <a:solidFill>
                  <a:srgbClr val="000000"/>
                </a:solidFill>
              </a:endParaRPr>
            </a:p>
          </p:txBody>
        </p:sp>
        <p:sp>
          <p:nvSpPr>
            <p:cNvPr id="237" name="직사각형 236"/>
            <p:cNvSpPr/>
            <p:nvPr/>
          </p:nvSpPr>
          <p:spPr bwMode="auto">
            <a:xfrm rot="5400000" flipV="1">
              <a:off x="9302478" y="5920817"/>
              <a:ext cx="155703" cy="1746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ko-KR" sz="600" dirty="0">
                  <a:solidFill>
                    <a:srgbClr val="000000"/>
                  </a:solidFill>
                </a:rPr>
                <a:t>▼</a:t>
              </a:r>
              <a:endParaRPr lang="ko-KR" altLang="en-US" sz="600" dirty="0">
                <a:solidFill>
                  <a:srgbClr val="000000"/>
                </a:solidFill>
              </a:endParaRPr>
            </a:p>
          </p:txBody>
        </p:sp>
        <p:sp>
          <p:nvSpPr>
            <p:cNvPr id="238" name="직사각형 237"/>
            <p:cNvSpPr/>
            <p:nvPr/>
          </p:nvSpPr>
          <p:spPr bwMode="auto">
            <a:xfrm rot="16200000" flipV="1">
              <a:off x="594686" y="5936091"/>
              <a:ext cx="155824" cy="14401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sz="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ko-KR" sz="600" dirty="0">
                  <a:solidFill>
                    <a:srgbClr val="000000"/>
                  </a:solidFill>
                </a:rPr>
                <a:t>▼</a:t>
              </a:r>
              <a:endParaRPr lang="ko-KR" altLang="en-US" sz="6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46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3891" y="4540450"/>
            <a:ext cx="142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7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85693" y="4738984"/>
            <a:ext cx="142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8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89792" y="4937519"/>
            <a:ext cx="142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7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77495" y="5136054"/>
            <a:ext cx="142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81594" y="5334588"/>
            <a:ext cx="142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8" name="그림 277"/>
          <p:cNvPicPr/>
          <p:nvPr/>
        </p:nvPicPr>
        <p:blipFill rotWithShape="1">
          <a:blip r:embed="rId7"/>
          <a:srcRect l="14590" t="44075" r="83163" b="41796"/>
          <a:stretch/>
        </p:blipFill>
        <p:spPr>
          <a:xfrm>
            <a:off x="1150890" y="4518625"/>
            <a:ext cx="126902" cy="206519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79" name="타원 278"/>
          <p:cNvSpPr/>
          <p:nvPr/>
        </p:nvSpPr>
        <p:spPr>
          <a:xfrm>
            <a:off x="913081" y="4026229"/>
            <a:ext cx="263246" cy="2596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4-1</a:t>
            </a:r>
          </a:p>
        </p:txBody>
      </p:sp>
      <p:sp>
        <p:nvSpPr>
          <p:cNvPr id="281" name="타원 280"/>
          <p:cNvSpPr/>
          <p:nvPr/>
        </p:nvSpPr>
        <p:spPr>
          <a:xfrm>
            <a:off x="1475916" y="4041068"/>
            <a:ext cx="263246" cy="2596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4-2</a:t>
            </a:r>
          </a:p>
        </p:txBody>
      </p:sp>
      <p:sp>
        <p:nvSpPr>
          <p:cNvPr id="283" name="타원 282"/>
          <p:cNvSpPr/>
          <p:nvPr/>
        </p:nvSpPr>
        <p:spPr>
          <a:xfrm>
            <a:off x="2520032" y="4036123"/>
            <a:ext cx="263246" cy="2596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4-3</a:t>
            </a:r>
          </a:p>
        </p:txBody>
      </p:sp>
      <p:sp>
        <p:nvSpPr>
          <p:cNvPr id="284" name="타원 283"/>
          <p:cNvSpPr/>
          <p:nvPr/>
        </p:nvSpPr>
        <p:spPr>
          <a:xfrm>
            <a:off x="3754749" y="3995260"/>
            <a:ext cx="263246" cy="2596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4-6</a:t>
            </a:r>
          </a:p>
        </p:txBody>
      </p:sp>
      <p:sp>
        <p:nvSpPr>
          <p:cNvPr id="285" name="타원 284"/>
          <p:cNvSpPr/>
          <p:nvPr/>
        </p:nvSpPr>
        <p:spPr>
          <a:xfrm>
            <a:off x="4525038" y="4003143"/>
            <a:ext cx="263246" cy="2596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4-7</a:t>
            </a:r>
          </a:p>
        </p:txBody>
      </p:sp>
      <p:sp>
        <p:nvSpPr>
          <p:cNvPr id="286" name="타원 285"/>
          <p:cNvSpPr/>
          <p:nvPr/>
        </p:nvSpPr>
        <p:spPr>
          <a:xfrm>
            <a:off x="3024088" y="4016335"/>
            <a:ext cx="263246" cy="2596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4-4</a:t>
            </a:r>
          </a:p>
        </p:txBody>
      </p:sp>
      <p:sp>
        <p:nvSpPr>
          <p:cNvPr id="287" name="직사각형 286"/>
          <p:cNvSpPr/>
          <p:nvPr/>
        </p:nvSpPr>
        <p:spPr>
          <a:xfrm>
            <a:off x="146274" y="3978223"/>
            <a:ext cx="9554809" cy="1604763"/>
          </a:xfrm>
          <a:prstGeom prst="rect">
            <a:avLst/>
          </a:prstGeom>
          <a:noFill/>
          <a:ln w="254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288" name="직사각형 287"/>
          <p:cNvSpPr/>
          <p:nvPr/>
        </p:nvSpPr>
        <p:spPr bwMode="auto">
          <a:xfrm>
            <a:off x="4102228" y="4498969"/>
            <a:ext cx="145996" cy="20651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89" name="타원 288"/>
          <p:cNvSpPr/>
          <p:nvPr/>
        </p:nvSpPr>
        <p:spPr>
          <a:xfrm>
            <a:off x="5076316" y="4002325"/>
            <a:ext cx="263246" cy="2596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4-8</a:t>
            </a:r>
          </a:p>
        </p:txBody>
      </p:sp>
      <p:sp>
        <p:nvSpPr>
          <p:cNvPr id="290" name="타원 289"/>
          <p:cNvSpPr/>
          <p:nvPr/>
        </p:nvSpPr>
        <p:spPr>
          <a:xfrm>
            <a:off x="5724388" y="3969891"/>
            <a:ext cx="354120" cy="315585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4-9</a:t>
            </a:r>
          </a:p>
        </p:txBody>
      </p:sp>
      <p:sp>
        <p:nvSpPr>
          <p:cNvPr id="291" name="타원 290"/>
          <p:cNvSpPr/>
          <p:nvPr/>
        </p:nvSpPr>
        <p:spPr>
          <a:xfrm>
            <a:off x="6198360" y="3962271"/>
            <a:ext cx="354120" cy="315585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4-10</a:t>
            </a:r>
          </a:p>
        </p:txBody>
      </p:sp>
      <p:sp>
        <p:nvSpPr>
          <p:cNvPr id="292" name="타원 291"/>
          <p:cNvSpPr/>
          <p:nvPr/>
        </p:nvSpPr>
        <p:spPr>
          <a:xfrm>
            <a:off x="7026452" y="3977511"/>
            <a:ext cx="354120" cy="315585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4-11</a:t>
            </a:r>
          </a:p>
        </p:txBody>
      </p:sp>
      <p:sp>
        <p:nvSpPr>
          <p:cNvPr id="293" name="타원 292"/>
          <p:cNvSpPr/>
          <p:nvPr/>
        </p:nvSpPr>
        <p:spPr>
          <a:xfrm>
            <a:off x="7782536" y="3969891"/>
            <a:ext cx="354120" cy="315585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4-12</a:t>
            </a:r>
          </a:p>
        </p:txBody>
      </p:sp>
      <p:sp>
        <p:nvSpPr>
          <p:cNvPr id="294" name="직사각형 293"/>
          <p:cNvSpPr/>
          <p:nvPr/>
        </p:nvSpPr>
        <p:spPr>
          <a:xfrm>
            <a:off x="6375420" y="4733163"/>
            <a:ext cx="969148" cy="227846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 smtClean="0">
                <a:solidFill>
                  <a:srgbClr val="FF0000"/>
                </a:solidFill>
              </a:rPr>
              <a:t>4-12</a:t>
            </a:r>
          </a:p>
          <a:p>
            <a:r>
              <a:rPr lang="ko-KR" altLang="en-US" sz="700" dirty="0" smtClean="0">
                <a:solidFill>
                  <a:srgbClr val="FF0000"/>
                </a:solidFill>
              </a:rPr>
              <a:t>입력 비활성 처리</a:t>
            </a:r>
            <a:endParaRPr lang="ko-KR" altLang="en-US" sz="700" dirty="0">
              <a:solidFill>
                <a:srgbClr val="FF0000"/>
              </a:solidFill>
            </a:endParaRPr>
          </a:p>
        </p:txBody>
      </p:sp>
      <p:sp>
        <p:nvSpPr>
          <p:cNvPr id="295" name="타원 294"/>
          <p:cNvSpPr/>
          <p:nvPr/>
        </p:nvSpPr>
        <p:spPr>
          <a:xfrm>
            <a:off x="9121011" y="3986653"/>
            <a:ext cx="354120" cy="315585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4-14</a:t>
            </a:r>
          </a:p>
        </p:txBody>
      </p:sp>
      <p:sp>
        <p:nvSpPr>
          <p:cNvPr id="203" name="타원 202"/>
          <p:cNvSpPr/>
          <p:nvPr/>
        </p:nvSpPr>
        <p:spPr>
          <a:xfrm>
            <a:off x="2163176" y="5531080"/>
            <a:ext cx="263246" cy="2596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4-3</a:t>
            </a:r>
          </a:p>
        </p:txBody>
      </p:sp>
      <p:sp>
        <p:nvSpPr>
          <p:cNvPr id="296" name="타원 295"/>
          <p:cNvSpPr/>
          <p:nvPr/>
        </p:nvSpPr>
        <p:spPr>
          <a:xfrm>
            <a:off x="8316676" y="3969060"/>
            <a:ext cx="354120" cy="315585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4-13</a:t>
            </a:r>
          </a:p>
        </p:txBody>
      </p:sp>
    </p:spTree>
    <p:extLst>
      <p:ext uri="{BB962C8B-B14F-4D97-AF65-F5344CB8AC3E}">
        <p14:creationId xmlns:p14="http://schemas.microsoft.com/office/powerpoint/2010/main" val="3333498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직사각형 61"/>
          <p:cNvSpPr/>
          <p:nvPr/>
        </p:nvSpPr>
        <p:spPr>
          <a:xfrm>
            <a:off x="165628" y="526101"/>
            <a:ext cx="9699219" cy="18456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117" name="제목 21"/>
          <p:cNvSpPr txBox="1">
            <a:spLocks/>
          </p:cNvSpPr>
          <p:nvPr/>
        </p:nvSpPr>
        <p:spPr>
          <a:xfrm>
            <a:off x="1027167" y="261213"/>
            <a:ext cx="2060048" cy="251463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1000" dirty="0">
                <a:solidFill>
                  <a:srgbClr val="000000"/>
                </a:solidFill>
              </a:rPr>
              <a:t>입력</a:t>
            </a:r>
            <a:r>
              <a:rPr lang="en-US" altLang="ko-KR" sz="1000" dirty="0">
                <a:solidFill>
                  <a:srgbClr val="000000"/>
                </a:solidFill>
              </a:rPr>
              <a:t>/</a:t>
            </a:r>
            <a:r>
              <a:rPr lang="ko-KR" altLang="en-US" sz="1000" dirty="0">
                <a:solidFill>
                  <a:srgbClr val="000000"/>
                </a:solidFill>
              </a:rPr>
              <a:t>조회</a:t>
            </a:r>
            <a:r>
              <a:rPr lang="en-US" altLang="ko-KR" sz="1000" dirty="0">
                <a:solidFill>
                  <a:srgbClr val="000000"/>
                </a:solidFill>
              </a:rPr>
              <a:t>/</a:t>
            </a:r>
            <a:r>
              <a:rPr lang="ko-KR" altLang="en-US" sz="1000" dirty="0">
                <a:solidFill>
                  <a:srgbClr val="000000"/>
                </a:solidFill>
              </a:rPr>
              <a:t>삭제</a:t>
            </a:r>
            <a:r>
              <a:rPr lang="en-US" altLang="ko-KR" sz="1000" dirty="0">
                <a:solidFill>
                  <a:srgbClr val="000000"/>
                </a:solidFill>
              </a:rPr>
              <a:t>/</a:t>
            </a:r>
            <a:r>
              <a:rPr lang="ko-KR" altLang="en-US" sz="1000" dirty="0">
                <a:solidFill>
                  <a:srgbClr val="000000"/>
                </a:solidFill>
              </a:rPr>
              <a:t>수정</a:t>
            </a:r>
            <a:endParaRPr lang="ko-KR" altLang="en-US" sz="1000" kern="0" dirty="0">
              <a:solidFill>
                <a:srgbClr val="000000"/>
              </a:solidFill>
            </a:endParaRPr>
          </a:p>
        </p:txBody>
      </p:sp>
      <p:sp>
        <p:nvSpPr>
          <p:cNvPr id="61" name="제목 60"/>
          <p:cNvSpPr>
            <a:spLocks noGrp="1"/>
          </p:cNvSpPr>
          <p:nvPr>
            <p:ph type="title" idx="4294967295"/>
          </p:nvPr>
        </p:nvSpPr>
        <p:spPr>
          <a:xfrm>
            <a:off x="5884486" y="44624"/>
            <a:ext cx="2034484" cy="238038"/>
          </a:xfrm>
          <a:prstGeom prst="rect">
            <a:avLst/>
          </a:prstGeom>
        </p:spPr>
        <p:txBody>
          <a:bodyPr/>
          <a:lstStyle/>
          <a:p>
            <a:r>
              <a:rPr lang="ko-KR" altLang="en-US" sz="1100" dirty="0"/>
              <a:t>통관정산 비용 정산</a:t>
            </a:r>
            <a:r>
              <a:rPr lang="en-US" altLang="ko-KR" sz="1100" dirty="0" smtClean="0"/>
              <a:t>(2/2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grpSp>
        <p:nvGrpSpPr>
          <p:cNvPr id="57" name="그룹 56"/>
          <p:cNvGrpSpPr/>
          <p:nvPr/>
        </p:nvGrpSpPr>
        <p:grpSpPr>
          <a:xfrm>
            <a:off x="179772" y="986935"/>
            <a:ext cx="2115027" cy="236513"/>
            <a:chOff x="920300" y="3392022"/>
            <a:chExt cx="900100" cy="236513"/>
          </a:xfrm>
        </p:grpSpPr>
        <p:sp>
          <p:nvSpPr>
            <p:cNvPr id="58" name="한쪽 모서리가 둥근 사각형 57"/>
            <p:cNvSpPr/>
            <p:nvPr/>
          </p:nvSpPr>
          <p:spPr bwMode="auto">
            <a:xfrm flipH="1">
              <a:off x="920300" y="3392022"/>
              <a:ext cx="796099" cy="236513"/>
            </a:xfrm>
            <a:prstGeom prst="round1Rect">
              <a:avLst>
                <a:gd name="adj" fmla="val 31877"/>
              </a:avLst>
            </a:prstGeom>
            <a:solidFill>
              <a:srgbClr val="004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  <p:sp>
          <p:nvSpPr>
            <p:cNvPr id="59" name="TextBox 53"/>
            <p:cNvSpPr txBox="1"/>
            <p:nvPr/>
          </p:nvSpPr>
          <p:spPr>
            <a:xfrm>
              <a:off x="1055245" y="3429000"/>
              <a:ext cx="765155" cy="197233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509544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1019088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528632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2038176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547721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3057265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566810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4076354" algn="l" defTabSz="1019088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lnSpc>
                  <a:spcPts val="800"/>
                </a:lnSpc>
              </a:pPr>
              <a:r>
                <a:rPr lang="en-US" altLang="ko-KR" dirty="0" smtClean="0">
                  <a:solidFill>
                    <a:srgbClr val="FFFFFF"/>
                  </a:solidFill>
                  <a:latin typeface="Rix모던고딕 B" pitchFamily="18" charset="-127"/>
                  <a:ea typeface="Rix모던고딕 B" pitchFamily="18" charset="-127"/>
                </a:rPr>
                <a:t>Other Information</a:t>
              </a:r>
              <a:endParaRPr lang="ko-KR" altLang="en-US" dirty="0">
                <a:solidFill>
                  <a:srgbClr val="FFFFFF"/>
                </a:solidFill>
                <a:latin typeface="Rix모던고딕 B" pitchFamily="18" charset="-127"/>
                <a:ea typeface="Rix모던고딕 B" pitchFamily="18" charset="-127"/>
              </a:endParaRPr>
            </a:p>
          </p:txBody>
        </p:sp>
      </p:grpSp>
      <p:sp>
        <p:nvSpPr>
          <p:cNvPr id="74" name="모서리가 둥근 직사각형 73"/>
          <p:cNvSpPr/>
          <p:nvPr/>
        </p:nvSpPr>
        <p:spPr>
          <a:xfrm>
            <a:off x="179772" y="1239274"/>
            <a:ext cx="9654665" cy="893582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05219" y="1354204"/>
            <a:ext cx="5501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지 출 서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92" name="모서리가 둥근 직사각형 91"/>
          <p:cNvSpPr/>
          <p:nvPr/>
        </p:nvSpPr>
        <p:spPr>
          <a:xfrm>
            <a:off x="254160" y="1342832"/>
            <a:ext cx="9188644" cy="459243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05219" y="1572897"/>
            <a:ext cx="5501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계 산 서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204108" y="1365650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출금처리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95" name="직사각형 94"/>
          <p:cNvSpPr/>
          <p:nvPr/>
        </p:nvSpPr>
        <p:spPr bwMode="auto">
          <a:xfrm>
            <a:off x="3793139" y="1388864"/>
            <a:ext cx="2279988" cy="17702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204108" y="1584343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미지급</a:t>
            </a:r>
            <a:r>
              <a:rPr lang="ko-KR" altLang="en-US" dirty="0">
                <a:solidFill>
                  <a:srgbClr val="000000"/>
                </a:solidFill>
              </a:rPr>
              <a:t>금</a:t>
            </a:r>
          </a:p>
        </p:txBody>
      </p:sp>
      <p:sp>
        <p:nvSpPr>
          <p:cNvPr id="107" name="직사각형 106"/>
          <p:cNvSpPr/>
          <p:nvPr/>
        </p:nvSpPr>
        <p:spPr bwMode="auto">
          <a:xfrm>
            <a:off x="3793139" y="1607557"/>
            <a:ext cx="2279987" cy="17702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8" name="직사각형 107"/>
          <p:cNvSpPr/>
          <p:nvPr/>
        </p:nvSpPr>
        <p:spPr bwMode="auto">
          <a:xfrm>
            <a:off x="894250" y="1377418"/>
            <a:ext cx="2279988" cy="17702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8" name="직사각형 117"/>
          <p:cNvSpPr/>
          <p:nvPr/>
        </p:nvSpPr>
        <p:spPr bwMode="auto">
          <a:xfrm>
            <a:off x="894250" y="1596111"/>
            <a:ext cx="2279987" cy="17702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6150515" y="1383559"/>
            <a:ext cx="5437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</a:rPr>
              <a:t>Remark</a:t>
            </a:r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21" name="표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164055"/>
              </p:ext>
            </p:extLst>
          </p:nvPr>
        </p:nvGraphicFramePr>
        <p:xfrm>
          <a:off x="6644019" y="1419344"/>
          <a:ext cx="2733487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33487"/>
              </a:tblGrid>
              <a:tr h="16520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 dirty="0" smtClean="0"/>
                        <a:t> </a:t>
                      </a:r>
                      <a:endParaRPr lang="ko-KR" altLang="en-US" sz="500" dirty="0"/>
                    </a:p>
                  </a:txBody>
                  <a:tcPr/>
                </a:tc>
              </a:tr>
              <a:tr h="165203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9" name="타원 208"/>
          <p:cNvSpPr/>
          <p:nvPr/>
        </p:nvSpPr>
        <p:spPr>
          <a:xfrm>
            <a:off x="12350" y="692696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 smtClean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10" name="직사각형 209"/>
          <p:cNvSpPr/>
          <p:nvPr/>
        </p:nvSpPr>
        <p:spPr>
          <a:xfrm>
            <a:off x="2170909" y="978996"/>
            <a:ext cx="2736247" cy="228527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 smtClean="0">
                <a:solidFill>
                  <a:srgbClr val="FF0066"/>
                </a:solidFill>
              </a:rPr>
              <a:t>비활성 항목</a:t>
            </a:r>
            <a:r>
              <a:rPr lang="en-US" altLang="ko-KR" sz="700" dirty="0" smtClean="0">
                <a:solidFill>
                  <a:srgbClr val="FF0066"/>
                </a:solidFill>
              </a:rPr>
              <a:t>(</a:t>
            </a:r>
            <a:r>
              <a:rPr lang="ko-KR" altLang="en-US" sz="700" dirty="0" smtClean="0">
                <a:solidFill>
                  <a:srgbClr val="FF0066"/>
                </a:solidFill>
              </a:rPr>
              <a:t>사용자 입력 불가능</a:t>
            </a:r>
            <a:r>
              <a:rPr lang="en-US" altLang="ko-KR" sz="700" dirty="0" smtClean="0">
                <a:solidFill>
                  <a:srgbClr val="FF0066"/>
                </a:solidFill>
              </a:rPr>
              <a:t>) </a:t>
            </a:r>
            <a:r>
              <a:rPr lang="ko-KR" altLang="en-US" sz="700" dirty="0" smtClean="0">
                <a:solidFill>
                  <a:srgbClr val="FF0066"/>
                </a:solidFill>
              </a:rPr>
              <a:t>처리</a:t>
            </a:r>
          </a:p>
        </p:txBody>
      </p:sp>
      <p:sp>
        <p:nvSpPr>
          <p:cNvPr id="211" name="직사각형 210"/>
          <p:cNvSpPr/>
          <p:nvPr/>
        </p:nvSpPr>
        <p:spPr>
          <a:xfrm>
            <a:off x="176652" y="1281354"/>
            <a:ext cx="5973864" cy="677689"/>
          </a:xfrm>
          <a:prstGeom prst="rect">
            <a:avLst/>
          </a:prstGeom>
          <a:noFill/>
          <a:ln w="254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212" name="직사각형 211"/>
          <p:cNvSpPr/>
          <p:nvPr/>
        </p:nvSpPr>
        <p:spPr>
          <a:xfrm>
            <a:off x="6208532" y="1283561"/>
            <a:ext cx="3300798" cy="67548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213" name="직사각형 212"/>
          <p:cNvSpPr/>
          <p:nvPr/>
        </p:nvSpPr>
        <p:spPr>
          <a:xfrm>
            <a:off x="6156493" y="791551"/>
            <a:ext cx="2736247" cy="374943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 smtClean="0">
                <a:solidFill>
                  <a:srgbClr val="FF0066"/>
                </a:solidFill>
              </a:rPr>
              <a:t>사용자 입력 가능 텍스트 박스 제공</a:t>
            </a:r>
            <a:endParaRPr lang="en-US" altLang="ko-KR" sz="700" dirty="0" smtClean="0">
              <a:solidFill>
                <a:srgbClr val="FF0066"/>
              </a:solidFill>
            </a:endParaRPr>
          </a:p>
          <a:p>
            <a:r>
              <a:rPr lang="ko-KR" altLang="en-US" sz="700" dirty="0" smtClean="0">
                <a:solidFill>
                  <a:srgbClr val="FF0066"/>
                </a:solidFill>
              </a:rPr>
              <a:t>통관정산 </a:t>
            </a:r>
            <a:r>
              <a:rPr lang="en-US" altLang="ko-KR" sz="700" dirty="0" smtClean="0">
                <a:solidFill>
                  <a:srgbClr val="FF0066"/>
                </a:solidFill>
              </a:rPr>
              <a:t> </a:t>
            </a:r>
            <a:r>
              <a:rPr lang="ko-KR" altLang="en-US" sz="700" dirty="0" err="1" smtClean="0">
                <a:solidFill>
                  <a:srgbClr val="FF0066"/>
                </a:solidFill>
              </a:rPr>
              <a:t>저장시</a:t>
            </a:r>
            <a:r>
              <a:rPr lang="ko-KR" altLang="en-US" sz="700" dirty="0" smtClean="0">
                <a:solidFill>
                  <a:srgbClr val="FF0066"/>
                </a:solidFill>
              </a:rPr>
              <a:t>  </a:t>
            </a:r>
            <a:r>
              <a:rPr lang="en-US" altLang="ko-KR" sz="700" dirty="0" smtClean="0">
                <a:solidFill>
                  <a:srgbClr val="FF0066"/>
                </a:solidFill>
              </a:rPr>
              <a:t>REMARK </a:t>
            </a:r>
            <a:r>
              <a:rPr lang="ko-KR" altLang="en-US" sz="700" dirty="0" smtClean="0">
                <a:solidFill>
                  <a:srgbClr val="FF0066"/>
                </a:solidFill>
              </a:rPr>
              <a:t>항목 같이 저장</a:t>
            </a:r>
            <a:endParaRPr lang="en-US" altLang="ko-KR" sz="700" dirty="0" smtClean="0">
              <a:solidFill>
                <a:srgbClr val="FF0066"/>
              </a:solidFill>
            </a:endParaRPr>
          </a:p>
          <a:p>
            <a:r>
              <a:rPr lang="ko-KR" altLang="en-US" sz="700" dirty="0" smtClean="0">
                <a:solidFill>
                  <a:srgbClr val="FF0066"/>
                </a:solidFill>
              </a:rPr>
              <a:t>지출확정시 </a:t>
            </a:r>
            <a:r>
              <a:rPr lang="en-US" altLang="ko-KR" sz="700" dirty="0" smtClean="0">
                <a:solidFill>
                  <a:srgbClr val="FF0066"/>
                </a:solidFill>
              </a:rPr>
              <a:t>REMARK </a:t>
            </a:r>
            <a:r>
              <a:rPr lang="ko-KR" altLang="en-US" sz="700" dirty="0" smtClean="0">
                <a:solidFill>
                  <a:srgbClr val="FF0066"/>
                </a:solidFill>
              </a:rPr>
              <a:t>항목도 비활성 처리 </a:t>
            </a:r>
            <a:r>
              <a:rPr lang="en-US" altLang="ko-KR" sz="700" dirty="0" smtClean="0">
                <a:solidFill>
                  <a:srgbClr val="FF0066"/>
                </a:solidFill>
              </a:rPr>
              <a:t>(</a:t>
            </a:r>
            <a:r>
              <a:rPr lang="ko-KR" altLang="en-US" sz="700" dirty="0" smtClean="0">
                <a:solidFill>
                  <a:srgbClr val="FF0066"/>
                </a:solidFill>
              </a:rPr>
              <a:t>수정불가능</a:t>
            </a:r>
            <a:r>
              <a:rPr lang="en-US" altLang="ko-KR" sz="700" dirty="0" smtClean="0">
                <a:solidFill>
                  <a:srgbClr val="FF0066"/>
                </a:solidFill>
              </a:rPr>
              <a:t>)</a:t>
            </a:r>
            <a:endParaRPr lang="ko-KR" altLang="en-US" sz="700" dirty="0" smtClean="0">
              <a:solidFill>
                <a:srgbClr val="FF0066"/>
              </a:solidFill>
            </a:endParaRPr>
          </a:p>
        </p:txBody>
      </p:sp>
      <p:sp>
        <p:nvSpPr>
          <p:cNvPr id="146" name="직사각형 145"/>
          <p:cNvSpPr/>
          <p:nvPr/>
        </p:nvSpPr>
        <p:spPr bwMode="auto">
          <a:xfrm>
            <a:off x="-1908461" y="107200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err="1" smtClean="0">
                <a:solidFill>
                  <a:srgbClr val="000000"/>
                </a:solidFill>
              </a:rPr>
              <a:t>포워</a:t>
            </a:r>
            <a:r>
              <a:rPr lang="ko-KR" altLang="en-US" dirty="0" err="1">
                <a:solidFill>
                  <a:srgbClr val="000000"/>
                </a:solidFill>
              </a:rPr>
              <a:t>더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47" name="직사각형 146"/>
          <p:cNvSpPr/>
          <p:nvPr/>
        </p:nvSpPr>
        <p:spPr bwMode="auto">
          <a:xfrm>
            <a:off x="-1101291" y="107201"/>
            <a:ext cx="117717" cy="1754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48" name="직사각형 147"/>
          <p:cNvSpPr/>
          <p:nvPr/>
        </p:nvSpPr>
        <p:spPr bwMode="auto">
          <a:xfrm>
            <a:off x="-1908460" y="276071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err="1" smtClean="0">
                <a:solidFill>
                  <a:srgbClr val="000000"/>
                </a:solidFill>
              </a:rPr>
              <a:t>포워더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49" name="직사각형 148"/>
          <p:cNvSpPr/>
          <p:nvPr/>
        </p:nvSpPr>
        <p:spPr bwMode="auto">
          <a:xfrm>
            <a:off x="-1908460" y="430973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mtClean="0">
                <a:solidFill>
                  <a:srgbClr val="000000"/>
                </a:solidFill>
              </a:rPr>
              <a:t>관세사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92" name="직사각형 191"/>
          <p:cNvSpPr/>
          <p:nvPr/>
        </p:nvSpPr>
        <p:spPr bwMode="auto">
          <a:xfrm>
            <a:off x="-1908460" y="606435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창고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93" name="직사각형 192"/>
          <p:cNvSpPr/>
          <p:nvPr/>
        </p:nvSpPr>
        <p:spPr bwMode="auto">
          <a:xfrm>
            <a:off x="-1908460" y="761337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운송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94" name="직사각형 193"/>
          <p:cNvSpPr/>
          <p:nvPr/>
        </p:nvSpPr>
        <p:spPr bwMode="auto">
          <a:xfrm>
            <a:off x="-1908460" y="936799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기타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95" name="타원 194"/>
          <p:cNvSpPr/>
          <p:nvPr/>
        </p:nvSpPr>
        <p:spPr>
          <a:xfrm>
            <a:off x="-1016957" y="-22619"/>
            <a:ext cx="296629" cy="259637"/>
          </a:xfrm>
          <a:prstGeom prst="ellipse">
            <a:avLst/>
          </a:prstGeom>
          <a:solidFill>
            <a:srgbClr val="0000FF"/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4-6</a:t>
            </a:r>
          </a:p>
        </p:txBody>
      </p:sp>
    </p:spTree>
    <p:extLst>
      <p:ext uri="{BB962C8B-B14F-4D97-AF65-F5344CB8AC3E}">
        <p14:creationId xmlns:p14="http://schemas.microsoft.com/office/powerpoint/2010/main" val="2962538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240973" y="1865221"/>
            <a:ext cx="5667480" cy="360623"/>
            <a:chOff x="2188537" y="2168860"/>
            <a:chExt cx="4291936" cy="360623"/>
          </a:xfrm>
        </p:grpSpPr>
        <p:sp>
          <p:nvSpPr>
            <p:cNvPr id="5" name="직사각형 4"/>
            <p:cNvSpPr/>
            <p:nvPr/>
          </p:nvSpPr>
          <p:spPr>
            <a:xfrm>
              <a:off x="2217079" y="2205447"/>
              <a:ext cx="4263394" cy="324036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b="1" dirty="0" err="1" smtClean="0">
                <a:solidFill>
                  <a:srgbClr val="000000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2188537" y="2168860"/>
              <a:ext cx="4263394" cy="3240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800" b="1" dirty="0" err="1" smtClean="0">
                  <a:solidFill>
                    <a:srgbClr val="000000"/>
                  </a:solidFill>
                </a:rPr>
                <a:t>수출입물류통관예상서</a:t>
              </a:r>
              <a:endParaRPr lang="ko-KR" altLang="en-US" sz="1800" b="1" dirty="0" smtClean="0">
                <a:solidFill>
                  <a:srgbClr val="000000"/>
                </a:solidFill>
              </a:endParaRPr>
            </a:p>
          </p:txBody>
        </p:sp>
      </p:grpSp>
      <p:cxnSp>
        <p:nvCxnSpPr>
          <p:cNvPr id="7" name="직선 연결선 6"/>
          <p:cNvCxnSpPr/>
          <p:nvPr/>
        </p:nvCxnSpPr>
        <p:spPr>
          <a:xfrm>
            <a:off x="1040666" y="2503637"/>
            <a:ext cx="8068098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40665" y="2272805"/>
            <a:ext cx="80680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smtClean="0">
                <a:solidFill>
                  <a:srgbClr val="000000"/>
                </a:solidFill>
              </a:rPr>
              <a:t>수신처</a:t>
            </a:r>
            <a:endParaRPr lang="ko-KR" altLang="en-US" sz="900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4427" y="2503637"/>
            <a:ext cx="80636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000000"/>
                </a:solidFill>
              </a:rPr>
              <a:t>담당자</a:t>
            </a:r>
            <a:r>
              <a:rPr lang="en-US" altLang="ko-KR" b="1" dirty="0" smtClean="0">
                <a:solidFill>
                  <a:srgbClr val="000000"/>
                </a:solidFill>
              </a:rPr>
              <a:t>.</a:t>
            </a:r>
            <a:r>
              <a:rPr lang="en-US" altLang="ko-KR" dirty="0" smtClean="0">
                <a:solidFill>
                  <a:srgbClr val="000000"/>
                </a:solidFill>
              </a:rPr>
              <a:t>                                                                                                                                   </a:t>
            </a:r>
            <a:r>
              <a:rPr lang="ko-KR" altLang="en-US" b="1" dirty="0" smtClean="0">
                <a:solidFill>
                  <a:srgbClr val="000000"/>
                </a:solidFill>
              </a:rPr>
              <a:t>전화번호 </a:t>
            </a:r>
            <a:r>
              <a:rPr lang="en-US" altLang="ko-KR" b="1" dirty="0" smtClean="0">
                <a:solidFill>
                  <a:srgbClr val="000000"/>
                </a:solidFill>
              </a:rPr>
              <a:t>/ </a:t>
            </a:r>
            <a:r>
              <a:rPr lang="ko-KR" altLang="en-US" b="1" dirty="0" smtClean="0">
                <a:solidFill>
                  <a:srgbClr val="000000"/>
                </a:solidFill>
              </a:rPr>
              <a:t>팩스번호</a:t>
            </a:r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772546"/>
              </p:ext>
            </p:extLst>
          </p:nvPr>
        </p:nvGraphicFramePr>
        <p:xfrm>
          <a:off x="1040664" y="2719080"/>
          <a:ext cx="8068099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045">
                  <a:extLst>
                    <a:ext uri="{9D8B030D-6E8A-4147-A177-3AD203B41FA5}">
                      <a16:colId xmlns="" xmlns:a16="http://schemas.microsoft.com/office/drawing/2014/main" val="441257011"/>
                    </a:ext>
                  </a:extLst>
                </a:gridCol>
                <a:gridCol w="2370004">
                  <a:extLst>
                    <a:ext uri="{9D8B030D-6E8A-4147-A177-3AD203B41FA5}">
                      <a16:colId xmlns="" xmlns:a16="http://schemas.microsoft.com/office/drawing/2014/main" val="3743984869"/>
                    </a:ext>
                  </a:extLst>
                </a:gridCol>
                <a:gridCol w="2017025">
                  <a:extLst>
                    <a:ext uri="{9D8B030D-6E8A-4147-A177-3AD203B41FA5}">
                      <a16:colId xmlns="" xmlns:a16="http://schemas.microsoft.com/office/drawing/2014/main" val="3971089817"/>
                    </a:ext>
                  </a:extLst>
                </a:gridCol>
                <a:gridCol w="2017025">
                  <a:extLst>
                    <a:ext uri="{9D8B030D-6E8A-4147-A177-3AD203B41FA5}">
                      <a16:colId xmlns="" xmlns:a16="http://schemas.microsoft.com/office/drawing/2014/main" val="39944169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baseline="0" dirty="0" smtClean="0">
                          <a:solidFill>
                            <a:sysClr val="windowText" lastClr="000000"/>
                          </a:solidFill>
                        </a:rPr>
                        <a:t>JOB NO.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청구일자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090068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등록일자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청구서 번호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666066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 smtClean="0">
                          <a:solidFill>
                            <a:sysClr val="windowText" lastClr="000000"/>
                          </a:solidFill>
                        </a:rPr>
                        <a:t>M.B/L NO.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err="1" smtClean="0">
                          <a:solidFill>
                            <a:sysClr val="windowText" lastClr="000000"/>
                          </a:solidFill>
                        </a:rPr>
                        <a:t>면허일자</a:t>
                      </a:r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800" b="1" dirty="0" smtClean="0">
                          <a:solidFill>
                            <a:sysClr val="windowText" lastClr="000000"/>
                          </a:solidFill>
                        </a:rPr>
                        <a:t>/ </a:t>
                      </a:r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번호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88145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 smtClean="0">
                          <a:solidFill>
                            <a:sysClr val="windowText" lastClr="000000"/>
                          </a:solidFill>
                        </a:rPr>
                        <a:t>H.B/L NO.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err="1" smtClean="0">
                          <a:solidFill>
                            <a:sysClr val="windowText" lastClr="000000"/>
                          </a:solidFill>
                        </a:rPr>
                        <a:t>운송일자</a:t>
                      </a:r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800" b="1" dirty="0" smtClean="0">
                          <a:solidFill>
                            <a:sysClr val="windowText" lastClr="000000"/>
                          </a:solidFill>
                        </a:rPr>
                        <a:t>/ </a:t>
                      </a:r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장소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618426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수 량 </a:t>
                      </a:r>
                      <a:r>
                        <a:rPr lang="en-US" altLang="ko-KR" sz="800" b="1" dirty="0" smtClean="0">
                          <a:solidFill>
                            <a:sysClr val="windowText" lastClr="000000"/>
                          </a:solidFill>
                        </a:rPr>
                        <a:t>/ </a:t>
                      </a:r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중량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err="1" smtClean="0">
                          <a:solidFill>
                            <a:sysClr val="windowText" lastClr="000000"/>
                          </a:solidFill>
                        </a:rPr>
                        <a:t>신고가격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991799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용           적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과세가격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786645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컨테이너 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품      명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90411538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295258"/>
              </p:ext>
            </p:extLst>
          </p:nvPr>
        </p:nvGraphicFramePr>
        <p:xfrm>
          <a:off x="1044426" y="4279974"/>
          <a:ext cx="8063685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921">
                  <a:extLst>
                    <a:ext uri="{9D8B030D-6E8A-4147-A177-3AD203B41FA5}">
                      <a16:colId xmlns="" xmlns:a16="http://schemas.microsoft.com/office/drawing/2014/main" val="2916517811"/>
                    </a:ext>
                  </a:extLst>
                </a:gridCol>
                <a:gridCol w="615976">
                  <a:extLst>
                    <a:ext uri="{9D8B030D-6E8A-4147-A177-3AD203B41FA5}">
                      <a16:colId xmlns="" xmlns:a16="http://schemas.microsoft.com/office/drawing/2014/main" val="2247694756"/>
                    </a:ext>
                  </a:extLst>
                </a:gridCol>
                <a:gridCol w="671974">
                  <a:extLst>
                    <a:ext uri="{9D8B030D-6E8A-4147-A177-3AD203B41FA5}">
                      <a16:colId xmlns="" xmlns:a16="http://schemas.microsoft.com/office/drawing/2014/main" val="3600599289"/>
                    </a:ext>
                  </a:extLst>
                </a:gridCol>
                <a:gridCol w="797700">
                  <a:extLst>
                    <a:ext uri="{9D8B030D-6E8A-4147-A177-3AD203B41FA5}">
                      <a16:colId xmlns="" xmlns:a16="http://schemas.microsoft.com/office/drawing/2014/main" val="2158196774"/>
                    </a:ext>
                  </a:extLst>
                </a:gridCol>
                <a:gridCol w="1399945">
                  <a:extLst>
                    <a:ext uri="{9D8B030D-6E8A-4147-A177-3AD203B41FA5}">
                      <a16:colId xmlns="" xmlns:a16="http://schemas.microsoft.com/office/drawing/2014/main" val="340375179"/>
                    </a:ext>
                  </a:extLst>
                </a:gridCol>
                <a:gridCol w="1301680">
                  <a:extLst>
                    <a:ext uri="{9D8B030D-6E8A-4147-A177-3AD203B41FA5}">
                      <a16:colId xmlns="" xmlns:a16="http://schemas.microsoft.com/office/drawing/2014/main" val="1686432599"/>
                    </a:ext>
                  </a:extLst>
                </a:gridCol>
                <a:gridCol w="1260489">
                  <a:extLst>
                    <a:ext uri="{9D8B030D-6E8A-4147-A177-3AD203B41FA5}">
                      <a16:colId xmlns="" xmlns:a16="http://schemas.microsoft.com/office/drawing/2014/main" val="19529575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ysClr val="windowText" lastClr="000000"/>
                          </a:solidFill>
                        </a:rPr>
                        <a:t>운임명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ysClr val="windowText" lastClr="000000"/>
                          </a:solidFill>
                        </a:rPr>
                        <a:t>부과유형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CUR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AMT</a:t>
                      </a:r>
                      <a:r>
                        <a:rPr lang="en-US" altLang="ko-KR" sz="700" b="1" baseline="0" dirty="0" smtClean="0">
                          <a:solidFill>
                            <a:sysClr val="windowText" lastClr="000000"/>
                          </a:solidFill>
                        </a:rPr>
                        <a:t> (CUR)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EX.RATE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AMOUNT (KRW)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VAT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09585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57588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SUB TOTAL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85658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TOTAL</a:t>
                      </a:r>
                      <a:r>
                        <a:rPr lang="en-US" altLang="ko-KR" sz="700" b="1" baseline="0" dirty="0" smtClean="0">
                          <a:solidFill>
                            <a:sysClr val="windowText" lastClr="000000"/>
                          </a:solidFill>
                        </a:rPr>
                        <a:t> :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   (KRW)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3854665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104034" y="491160"/>
            <a:ext cx="9865096" cy="2735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graphicFrame>
        <p:nvGraphicFramePr>
          <p:cNvPr id="30" name="표 29"/>
          <p:cNvGraphicFramePr>
            <a:graphicFrameLocks noGrp="1"/>
          </p:cNvGraphicFramePr>
          <p:nvPr>
            <p:extLst/>
          </p:nvPr>
        </p:nvGraphicFramePr>
        <p:xfrm>
          <a:off x="1040664" y="5462348"/>
          <a:ext cx="8068100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8100">
                  <a:extLst>
                    <a:ext uri="{9D8B030D-6E8A-4147-A177-3AD203B41FA5}">
                      <a16:colId xmlns="" xmlns:a16="http://schemas.microsoft.com/office/drawing/2014/main" val="3600599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REMARK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09585358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1040666" y="698235"/>
            <a:ext cx="8068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u="sng" dirty="0" smtClean="0">
                <a:solidFill>
                  <a:srgbClr val="000000"/>
                </a:solidFill>
              </a:rPr>
              <a:t>ENCOM CO.,LTD.</a:t>
            </a:r>
            <a:endParaRPr lang="ko-KR" altLang="en-US" sz="2000" b="1" u="sng" dirty="0">
              <a:solidFill>
                <a:srgbClr val="00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40666" y="1097516"/>
            <a:ext cx="8068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000000"/>
                </a:solidFill>
              </a:rPr>
              <a:t>54, </a:t>
            </a:r>
            <a:r>
              <a:rPr lang="en-US" altLang="ko-KR" dirty="0" err="1">
                <a:solidFill>
                  <a:srgbClr val="000000"/>
                </a:solidFill>
              </a:rPr>
              <a:t>Gwangjang-ro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en-US" altLang="ko-KR" dirty="0" err="1">
                <a:solidFill>
                  <a:srgbClr val="000000"/>
                </a:solidFill>
              </a:rPr>
              <a:t>Sasang-gu</a:t>
            </a:r>
            <a:r>
              <a:rPr lang="en-US" altLang="ko-KR" dirty="0">
                <a:solidFill>
                  <a:srgbClr val="000000"/>
                </a:solidFill>
              </a:rPr>
              <a:t>, Busan, Republic of Korea </a:t>
            </a:r>
            <a:endParaRPr lang="en-US" altLang="ko-KR" dirty="0" smtClean="0">
              <a:solidFill>
                <a:srgbClr val="000000"/>
              </a:solidFill>
            </a:endParaRPr>
          </a:p>
          <a:p>
            <a:pPr algn="ctr"/>
            <a:r>
              <a:rPr lang="en-US" altLang="ko-KR" dirty="0" smtClean="0">
                <a:solidFill>
                  <a:srgbClr val="000000"/>
                </a:solidFill>
              </a:rPr>
              <a:t>Tel : 051-932-0001       Fax : 02-2111-6111       e-mail : test@encom.co.kr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smtClean="0">
                <a:solidFill>
                  <a:srgbClr val="000000"/>
                </a:solidFill>
              </a:rPr>
              <a:t>      URL:www.encom.co.kr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34" name="직선 연결선 33"/>
          <p:cNvCxnSpPr/>
          <p:nvPr/>
        </p:nvCxnSpPr>
        <p:spPr>
          <a:xfrm>
            <a:off x="1040666" y="1649197"/>
            <a:ext cx="8068098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40665" y="1436070"/>
            <a:ext cx="11860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000000"/>
                </a:solidFill>
              </a:rPr>
              <a:t>Printed By : X.</a:t>
            </a:r>
            <a:r>
              <a:rPr lang="ko-KR" altLang="en-US" b="1" dirty="0" err="1" smtClean="0">
                <a:solidFill>
                  <a:srgbClr val="000000"/>
                </a:solidFill>
              </a:rPr>
              <a:t>엔컴</a:t>
            </a:r>
            <a:endParaRPr lang="ko-KR" altLang="en-US" b="1" dirty="0">
              <a:solidFill>
                <a:srgbClr val="00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40666" y="1649197"/>
            <a:ext cx="13353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000000"/>
                </a:solidFill>
              </a:rPr>
              <a:t>(AIR OUTBOUND)</a:t>
            </a:r>
            <a:endParaRPr lang="ko-KR" altLang="en-US" b="1" dirty="0">
              <a:solidFill>
                <a:srgbClr val="00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64648" y="1436070"/>
            <a:ext cx="10441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000000"/>
                </a:solidFill>
              </a:rPr>
              <a:t>Date : 2017-01-01</a:t>
            </a:r>
            <a:endParaRPr lang="ko-KR" altLang="en-US" b="1" dirty="0">
              <a:solidFill>
                <a:srgbClr val="00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908452" y="1651513"/>
            <a:ext cx="11996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000000"/>
                </a:solidFill>
              </a:rPr>
              <a:t> Branch : </a:t>
            </a:r>
            <a:endParaRPr lang="ko-KR" altLang="en-US" b="1" dirty="0">
              <a:solidFill>
                <a:srgbClr val="00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344568" y="5072454"/>
            <a:ext cx="1763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b="1" dirty="0" err="1" smtClean="0">
                <a:solidFill>
                  <a:srgbClr val="000000"/>
                </a:solidFill>
              </a:rPr>
              <a:t>이월금액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 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:       (KRW)</a:t>
            </a:r>
          </a:p>
          <a:p>
            <a:r>
              <a:rPr lang="ko-KR" altLang="en-US" sz="700" b="1" dirty="0" smtClean="0">
                <a:solidFill>
                  <a:srgbClr val="000000"/>
                </a:solidFill>
              </a:rPr>
              <a:t>이월잔액  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:       (KRW)</a:t>
            </a:r>
          </a:p>
        </p:txBody>
      </p:sp>
      <p:cxnSp>
        <p:nvCxnSpPr>
          <p:cNvPr id="41" name="직선 연결선 40"/>
          <p:cNvCxnSpPr/>
          <p:nvPr/>
        </p:nvCxnSpPr>
        <p:spPr>
          <a:xfrm>
            <a:off x="6516476" y="5380231"/>
            <a:ext cx="2591635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1044427" y="5841268"/>
            <a:ext cx="8068098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726211" y="6125752"/>
            <a:ext cx="11822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000000"/>
                </a:solidFill>
              </a:rPr>
              <a:t>Signature :</a:t>
            </a:r>
            <a:endParaRPr lang="ko-KR" altLang="en-US" b="1" dirty="0">
              <a:solidFill>
                <a:srgbClr val="000000"/>
              </a:solidFill>
            </a:endParaRPr>
          </a:p>
        </p:txBody>
      </p:sp>
      <p:cxnSp>
        <p:nvCxnSpPr>
          <p:cNvPr id="45" name="직선 연결선 44"/>
          <p:cNvCxnSpPr/>
          <p:nvPr/>
        </p:nvCxnSpPr>
        <p:spPr>
          <a:xfrm>
            <a:off x="7452580" y="6341196"/>
            <a:ext cx="1655531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044427" y="5877272"/>
            <a:ext cx="26637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</a:rPr>
              <a:t>☞ 입금 계좌번호 ☜</a:t>
            </a:r>
            <a:endParaRPr lang="en-US" altLang="ko-KR" dirty="0">
              <a:solidFill>
                <a:srgbClr val="000000"/>
              </a:solidFill>
            </a:endParaRPr>
          </a:p>
          <a:p>
            <a:r>
              <a:rPr lang="en-US" altLang="ko-KR" dirty="0" smtClean="0">
                <a:solidFill>
                  <a:srgbClr val="000000"/>
                </a:solidFill>
              </a:rPr>
              <a:t>-------------------------------------</a:t>
            </a:r>
            <a:r>
              <a:rPr lang="en-US" altLang="ko-KR" dirty="0">
                <a:solidFill>
                  <a:srgbClr val="000000"/>
                </a:solidFill>
              </a:rPr>
              <a:t>------------------------------------</a:t>
            </a:r>
          </a:p>
          <a:p>
            <a:r>
              <a:rPr lang="en-US" altLang="ko-KR" dirty="0">
                <a:solidFill>
                  <a:srgbClr val="000000"/>
                </a:solidFill>
              </a:rPr>
              <a:t>  </a:t>
            </a:r>
            <a:r>
              <a:rPr lang="ko-KR" altLang="en-US" dirty="0">
                <a:solidFill>
                  <a:srgbClr val="000000"/>
                </a:solidFill>
              </a:rPr>
              <a:t>우리은행          </a:t>
            </a: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en-US" altLang="ko-KR" dirty="0" smtClean="0">
                <a:solidFill>
                  <a:srgbClr val="000000"/>
                </a:solidFill>
              </a:rPr>
              <a:t>170-04-107755</a:t>
            </a:r>
            <a:endParaRPr lang="en-US" altLang="ko-KR" dirty="0">
              <a:solidFill>
                <a:srgbClr val="000000"/>
              </a:solidFill>
            </a:endParaRPr>
          </a:p>
          <a:p>
            <a:r>
              <a:rPr lang="en-US" altLang="ko-KR" dirty="0">
                <a:solidFill>
                  <a:srgbClr val="000000"/>
                </a:solidFill>
              </a:rPr>
              <a:t>  </a:t>
            </a:r>
            <a:r>
              <a:rPr lang="ko-KR" altLang="en-US" dirty="0">
                <a:solidFill>
                  <a:srgbClr val="000000"/>
                </a:solidFill>
              </a:rPr>
              <a:t>외환은행</a:t>
            </a:r>
            <a:r>
              <a:rPr lang="en-US" altLang="ko-KR" dirty="0">
                <a:solidFill>
                  <a:srgbClr val="000000"/>
                </a:solidFill>
              </a:rPr>
              <a:t>          : </a:t>
            </a:r>
            <a:r>
              <a:rPr lang="en-US" altLang="ko-KR" dirty="0" smtClean="0">
                <a:solidFill>
                  <a:srgbClr val="000000"/>
                </a:solidFill>
              </a:rPr>
              <a:t>048-22-01711-3</a:t>
            </a:r>
          </a:p>
          <a:p>
            <a:endParaRPr lang="en-US" altLang="ko-KR" dirty="0" smtClean="0">
              <a:solidFill>
                <a:srgbClr val="000000"/>
              </a:solidFill>
            </a:endParaRPr>
          </a:p>
          <a:p>
            <a:r>
              <a:rPr lang="en-US" altLang="ko-KR" dirty="0" smtClean="0">
                <a:solidFill>
                  <a:srgbClr val="000000"/>
                </a:solidFill>
              </a:rPr>
              <a:t>  </a:t>
            </a:r>
            <a:r>
              <a:rPr lang="ko-KR" altLang="en-US" dirty="0" smtClean="0">
                <a:solidFill>
                  <a:srgbClr val="000000"/>
                </a:solidFill>
              </a:rPr>
              <a:t>예  </a:t>
            </a:r>
            <a:r>
              <a:rPr lang="ko-KR" altLang="en-US" dirty="0">
                <a:solidFill>
                  <a:srgbClr val="000000"/>
                </a:solidFill>
              </a:rPr>
              <a:t>금  주  </a:t>
            </a:r>
            <a:r>
              <a:rPr lang="en-US" altLang="ko-KR" dirty="0">
                <a:solidFill>
                  <a:srgbClr val="000000"/>
                </a:solidFill>
              </a:rPr>
              <a:t>:  (</a:t>
            </a:r>
            <a:r>
              <a:rPr lang="ko-KR" altLang="en-US" dirty="0">
                <a:solidFill>
                  <a:srgbClr val="000000"/>
                </a:solidFill>
              </a:rPr>
              <a:t>주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  <a:r>
              <a:rPr lang="ko-KR" altLang="en-US" dirty="0" err="1" smtClean="0">
                <a:solidFill>
                  <a:srgbClr val="000000"/>
                </a:solidFill>
              </a:rPr>
              <a:t>엔컴물류</a:t>
            </a:r>
            <a:endParaRPr lang="en-US" altLang="ko-KR" dirty="0" smtClean="0">
              <a:solidFill>
                <a:srgbClr val="000000"/>
              </a:solidFill>
            </a:endParaRPr>
          </a:p>
          <a:p>
            <a:r>
              <a:rPr lang="en-US" altLang="ko-KR" dirty="0" smtClean="0">
                <a:solidFill>
                  <a:srgbClr val="000000"/>
                </a:solidFill>
              </a:rPr>
              <a:t>-------------------------------------</a:t>
            </a:r>
            <a:r>
              <a:rPr lang="en-US" altLang="ko-KR" dirty="0">
                <a:solidFill>
                  <a:srgbClr val="000000"/>
                </a:solidFill>
              </a:rPr>
              <a:t>------------------------------------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 idx="4294967295"/>
          </p:nvPr>
        </p:nvSpPr>
        <p:spPr>
          <a:xfrm>
            <a:off x="5868404" y="53091"/>
            <a:ext cx="2040049" cy="216522"/>
          </a:xfrm>
          <a:prstGeom prst="rect">
            <a:avLst/>
          </a:prstGeom>
        </p:spPr>
        <p:txBody>
          <a:bodyPr/>
          <a:lstStyle/>
          <a:p>
            <a:r>
              <a:rPr lang="ko-KR" altLang="en-US" sz="1000" dirty="0" smtClean="0"/>
              <a:t>수출입물류통관예상서 </a:t>
            </a:r>
            <a:r>
              <a:rPr lang="ko-KR" altLang="en-US" sz="1000" dirty="0" err="1" smtClean="0"/>
              <a:t>레포트</a:t>
            </a:r>
            <a:endParaRPr lang="ko-KR" altLang="en-US" sz="1000" dirty="0"/>
          </a:p>
        </p:txBody>
      </p:sp>
      <p:sp>
        <p:nvSpPr>
          <p:cNvPr id="40" name="제목 21"/>
          <p:cNvSpPr txBox="1">
            <a:spLocks/>
          </p:cNvSpPr>
          <p:nvPr/>
        </p:nvSpPr>
        <p:spPr>
          <a:xfrm>
            <a:off x="1007864" y="244063"/>
            <a:ext cx="2060048" cy="251463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1100" kern="0" dirty="0" smtClean="0">
                <a:solidFill>
                  <a:srgbClr val="000000"/>
                </a:solidFill>
              </a:rPr>
              <a:t>조회</a:t>
            </a:r>
            <a:r>
              <a:rPr lang="en-US" altLang="ko-KR" sz="1100" kern="0" dirty="0" smtClean="0">
                <a:solidFill>
                  <a:srgbClr val="000000"/>
                </a:solidFill>
              </a:rPr>
              <a:t>/</a:t>
            </a:r>
            <a:r>
              <a:rPr lang="ko-KR" altLang="en-US" sz="1100" kern="0" dirty="0" smtClean="0">
                <a:solidFill>
                  <a:srgbClr val="000000"/>
                </a:solidFill>
              </a:rPr>
              <a:t>출력</a:t>
            </a:r>
            <a:endParaRPr lang="ko-KR" altLang="en-US" sz="1100" kern="0" dirty="0">
              <a:solidFill>
                <a:srgbClr val="000000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-3406174" y="474048"/>
            <a:ext cx="3254431" cy="224187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청구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저장후</a:t>
            </a:r>
            <a:r>
              <a:rPr lang="ko-KR" altLang="en-US" b="1" dirty="0" smtClean="0">
                <a:solidFill>
                  <a:srgbClr val="FF0000"/>
                </a:solidFill>
              </a:rPr>
              <a:t> 확정 전   청구서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레포트</a:t>
            </a:r>
            <a:endParaRPr lang="en-US" altLang="ko-KR" sz="700" b="1" dirty="0" smtClean="0">
              <a:solidFill>
                <a:srgbClr val="FF0000"/>
              </a:solidFill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-3744664" y="260648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rgbClr val="000000"/>
                </a:solidFill>
              </a:rPr>
              <a:t>1</a:t>
            </a:r>
            <a:endParaRPr lang="en-US" altLang="ko-KR" sz="1000" b="1" dirty="0" smtClean="0">
              <a:solidFill>
                <a:srgbClr val="000000"/>
              </a:solidFill>
            </a:endParaRPr>
          </a:p>
        </p:txBody>
      </p:sp>
      <p:sp>
        <p:nvSpPr>
          <p:cNvPr id="47" name="타원 46"/>
          <p:cNvSpPr/>
          <p:nvPr/>
        </p:nvSpPr>
        <p:spPr>
          <a:xfrm>
            <a:off x="-3738677" y="83671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1-1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-3398203" y="933186"/>
            <a:ext cx="3253939" cy="1570451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rgbClr val="0000FF"/>
                </a:solidFill>
              </a:rPr>
              <a:t>1-1. </a:t>
            </a:r>
            <a:r>
              <a:rPr lang="ko-KR" altLang="en-US" sz="700" dirty="0" smtClean="0">
                <a:solidFill>
                  <a:srgbClr val="0000FF"/>
                </a:solidFill>
              </a:rPr>
              <a:t>등록일자 </a:t>
            </a:r>
            <a:r>
              <a:rPr lang="en-US" altLang="ko-KR" sz="700" dirty="0" smtClean="0">
                <a:solidFill>
                  <a:srgbClr val="0000FF"/>
                </a:solidFill>
              </a:rPr>
              <a:t>: </a:t>
            </a:r>
            <a:r>
              <a:rPr lang="ko-KR" altLang="en-US" sz="700" dirty="0" smtClean="0">
                <a:solidFill>
                  <a:srgbClr val="0000FF"/>
                </a:solidFill>
              </a:rPr>
              <a:t>통관정산 등록 일자 연계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1-2. </a:t>
            </a:r>
            <a:r>
              <a:rPr lang="ko-KR" altLang="en-US" sz="700" dirty="0" smtClean="0">
                <a:solidFill>
                  <a:srgbClr val="0000FF"/>
                </a:solidFill>
              </a:rPr>
              <a:t>청구서 번호 </a:t>
            </a:r>
            <a:r>
              <a:rPr lang="en-US" altLang="ko-KR" sz="700" dirty="0" smtClean="0">
                <a:solidFill>
                  <a:srgbClr val="0000FF"/>
                </a:solidFill>
              </a:rPr>
              <a:t>: </a:t>
            </a:r>
            <a:r>
              <a:rPr lang="ko-KR" altLang="en-US" sz="700" dirty="0" smtClean="0">
                <a:solidFill>
                  <a:srgbClr val="0000FF"/>
                </a:solidFill>
              </a:rPr>
              <a:t>공백 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endParaRPr lang="en-US" altLang="ko-KR" sz="700" dirty="0" smtClean="0">
              <a:solidFill>
                <a:srgbClr val="0000FF"/>
              </a:solidFill>
            </a:endParaRPr>
          </a:p>
          <a:p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1-3. </a:t>
            </a:r>
            <a:r>
              <a:rPr lang="ko-KR" altLang="en-US" sz="700" dirty="0" smtClean="0">
                <a:solidFill>
                  <a:srgbClr val="0000FF"/>
                </a:solidFill>
              </a:rPr>
              <a:t>용적 </a:t>
            </a:r>
            <a:r>
              <a:rPr lang="en-US" altLang="ko-KR" sz="700" dirty="0" smtClean="0">
                <a:solidFill>
                  <a:srgbClr val="0000FF"/>
                </a:solidFill>
              </a:rPr>
              <a:t>, </a:t>
            </a:r>
            <a:r>
              <a:rPr lang="ko-KR" altLang="en-US" sz="700" dirty="0" smtClean="0">
                <a:solidFill>
                  <a:srgbClr val="0000FF"/>
                </a:solidFill>
              </a:rPr>
              <a:t>컨테이너 </a:t>
            </a:r>
            <a:r>
              <a:rPr lang="en-US" altLang="ko-KR" sz="700" dirty="0" smtClean="0">
                <a:solidFill>
                  <a:srgbClr val="0000FF"/>
                </a:solidFill>
              </a:rPr>
              <a:t>-&gt; </a:t>
            </a:r>
          </a:p>
          <a:p>
            <a:r>
              <a:rPr lang="ko-KR" altLang="en-US" sz="700" dirty="0" smtClean="0">
                <a:solidFill>
                  <a:srgbClr val="0000FF"/>
                </a:solidFill>
              </a:rPr>
              <a:t>항공수출</a:t>
            </a:r>
            <a:r>
              <a:rPr lang="en-US" altLang="ko-KR" sz="700" dirty="0" smtClean="0">
                <a:solidFill>
                  <a:srgbClr val="0000FF"/>
                </a:solidFill>
              </a:rPr>
              <a:t>, </a:t>
            </a:r>
            <a:r>
              <a:rPr lang="ko-KR" altLang="en-US" sz="700" dirty="0" smtClean="0">
                <a:solidFill>
                  <a:srgbClr val="0000FF"/>
                </a:solidFill>
              </a:rPr>
              <a:t>항공수입 인 경우 공백 처리 또는 항목 화면표시 삭제 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ko-KR" altLang="en-US" sz="700" dirty="0" smtClean="0">
                <a:solidFill>
                  <a:srgbClr val="0000FF"/>
                </a:solidFill>
              </a:rPr>
              <a:t>컨테이너 </a:t>
            </a:r>
            <a:r>
              <a:rPr lang="en-US" altLang="ko-KR" sz="700" dirty="0" smtClean="0">
                <a:solidFill>
                  <a:srgbClr val="0000FF"/>
                </a:solidFill>
              </a:rPr>
              <a:t>-&gt; </a:t>
            </a:r>
            <a:r>
              <a:rPr lang="ko-KR" altLang="en-US" sz="700" dirty="0" smtClean="0">
                <a:solidFill>
                  <a:srgbClr val="0000FF"/>
                </a:solidFill>
              </a:rPr>
              <a:t>컨테이너 유형 및 </a:t>
            </a:r>
            <a:r>
              <a:rPr lang="en-US" altLang="ko-KR" sz="700" dirty="0" smtClean="0">
                <a:solidFill>
                  <a:srgbClr val="0000FF"/>
                </a:solidFill>
              </a:rPr>
              <a:t>FCL </a:t>
            </a:r>
            <a:r>
              <a:rPr lang="ko-KR" altLang="en-US" sz="700" dirty="0" smtClean="0">
                <a:solidFill>
                  <a:srgbClr val="0000FF"/>
                </a:solidFill>
              </a:rPr>
              <a:t>인 경우 컨테이너 종류 및 개수 표시 처리</a:t>
            </a:r>
            <a:endParaRPr lang="en-US" altLang="ko-KR" sz="700" dirty="0">
              <a:solidFill>
                <a:srgbClr val="0000FF"/>
              </a:solidFill>
            </a:endParaRPr>
          </a:p>
          <a:p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ko-KR" altLang="en-US" sz="700" b="1" dirty="0" smtClean="0">
                <a:solidFill>
                  <a:srgbClr val="FF0000"/>
                </a:solidFill>
              </a:rPr>
              <a:t>그 외 항목 통관정산 항목 연계 처리 후 출력물에 표시 처리</a:t>
            </a:r>
            <a:endParaRPr lang="en-US" altLang="ko-KR" sz="700" b="1" dirty="0" smtClean="0">
              <a:solidFill>
                <a:srgbClr val="FF0000"/>
              </a:solidFill>
            </a:endParaRPr>
          </a:p>
          <a:p>
            <a:endParaRPr lang="en-US" altLang="ko-KR" sz="700" dirty="0">
              <a:solidFill>
                <a:srgbClr val="0000FF"/>
              </a:solidFill>
            </a:endParaRPr>
          </a:p>
          <a:p>
            <a:endParaRPr lang="en-US" altLang="ko-KR" sz="700" b="1" dirty="0" smtClean="0">
              <a:solidFill>
                <a:srgbClr val="FF0000"/>
              </a:solidFill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791840" y="285293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1-1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50" name="타원 49"/>
          <p:cNvSpPr/>
          <p:nvPr/>
        </p:nvSpPr>
        <p:spPr>
          <a:xfrm>
            <a:off x="5868404" y="2893227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1-2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-3736197" y="117228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1-2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727972" y="375303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1-3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-3736197" y="149632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1-3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7519663" y="6453336"/>
            <a:ext cx="1521363" cy="132563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rgbClr val="FF0066"/>
                </a:solidFill>
              </a:rPr>
              <a:t>자사정보 </a:t>
            </a:r>
            <a:r>
              <a:rPr lang="en-US" altLang="ko-KR" dirty="0" smtClean="0">
                <a:solidFill>
                  <a:srgbClr val="FF0066"/>
                </a:solidFill>
              </a:rPr>
              <a:t>: </a:t>
            </a:r>
            <a:r>
              <a:rPr lang="ko-KR" altLang="en-US" dirty="0" smtClean="0">
                <a:solidFill>
                  <a:srgbClr val="FF0066"/>
                </a:solidFill>
              </a:rPr>
              <a:t>서명 이미지 연계</a:t>
            </a:r>
          </a:p>
        </p:txBody>
      </p:sp>
    </p:spTree>
    <p:extLst>
      <p:ext uri="{BB962C8B-B14F-4D97-AF65-F5344CB8AC3E}">
        <p14:creationId xmlns:p14="http://schemas.microsoft.com/office/powerpoint/2010/main" val="2209322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240973" y="1865221"/>
            <a:ext cx="5667480" cy="360623"/>
            <a:chOff x="2188537" y="2168860"/>
            <a:chExt cx="4291936" cy="360623"/>
          </a:xfrm>
        </p:grpSpPr>
        <p:sp>
          <p:nvSpPr>
            <p:cNvPr id="5" name="직사각형 4"/>
            <p:cNvSpPr/>
            <p:nvPr/>
          </p:nvSpPr>
          <p:spPr>
            <a:xfrm>
              <a:off x="2217079" y="2205447"/>
              <a:ext cx="4263394" cy="324036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b="1" dirty="0" err="1" smtClean="0">
                <a:solidFill>
                  <a:srgbClr val="000000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2188537" y="2168860"/>
              <a:ext cx="4263394" cy="3240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800" b="1" dirty="0" smtClean="0">
                  <a:solidFill>
                    <a:srgbClr val="000000"/>
                  </a:solidFill>
                </a:rPr>
                <a:t>수출입물류통관정산서</a:t>
              </a:r>
            </a:p>
          </p:txBody>
        </p:sp>
      </p:grp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28982"/>
              </p:ext>
            </p:extLst>
          </p:nvPr>
        </p:nvGraphicFramePr>
        <p:xfrm>
          <a:off x="1044426" y="4279974"/>
          <a:ext cx="8063685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921">
                  <a:extLst>
                    <a:ext uri="{9D8B030D-6E8A-4147-A177-3AD203B41FA5}">
                      <a16:colId xmlns="" xmlns:a16="http://schemas.microsoft.com/office/drawing/2014/main" val="2916517811"/>
                    </a:ext>
                  </a:extLst>
                </a:gridCol>
                <a:gridCol w="615976">
                  <a:extLst>
                    <a:ext uri="{9D8B030D-6E8A-4147-A177-3AD203B41FA5}">
                      <a16:colId xmlns="" xmlns:a16="http://schemas.microsoft.com/office/drawing/2014/main" val="2247694756"/>
                    </a:ext>
                  </a:extLst>
                </a:gridCol>
                <a:gridCol w="671974">
                  <a:extLst>
                    <a:ext uri="{9D8B030D-6E8A-4147-A177-3AD203B41FA5}">
                      <a16:colId xmlns="" xmlns:a16="http://schemas.microsoft.com/office/drawing/2014/main" val="3600599289"/>
                    </a:ext>
                  </a:extLst>
                </a:gridCol>
                <a:gridCol w="797700">
                  <a:extLst>
                    <a:ext uri="{9D8B030D-6E8A-4147-A177-3AD203B41FA5}">
                      <a16:colId xmlns="" xmlns:a16="http://schemas.microsoft.com/office/drawing/2014/main" val="2158196774"/>
                    </a:ext>
                  </a:extLst>
                </a:gridCol>
                <a:gridCol w="1399945">
                  <a:extLst>
                    <a:ext uri="{9D8B030D-6E8A-4147-A177-3AD203B41FA5}">
                      <a16:colId xmlns="" xmlns:a16="http://schemas.microsoft.com/office/drawing/2014/main" val="340375179"/>
                    </a:ext>
                  </a:extLst>
                </a:gridCol>
                <a:gridCol w="1301680">
                  <a:extLst>
                    <a:ext uri="{9D8B030D-6E8A-4147-A177-3AD203B41FA5}">
                      <a16:colId xmlns="" xmlns:a16="http://schemas.microsoft.com/office/drawing/2014/main" val="1686432599"/>
                    </a:ext>
                  </a:extLst>
                </a:gridCol>
                <a:gridCol w="1260489">
                  <a:extLst>
                    <a:ext uri="{9D8B030D-6E8A-4147-A177-3AD203B41FA5}">
                      <a16:colId xmlns="" xmlns:a16="http://schemas.microsoft.com/office/drawing/2014/main" val="19529575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ysClr val="windowText" lastClr="000000"/>
                          </a:solidFill>
                        </a:rPr>
                        <a:t>운임명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ysClr val="windowText" lastClr="000000"/>
                          </a:solidFill>
                        </a:rPr>
                        <a:t>부과유형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CUR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AMT</a:t>
                      </a:r>
                      <a:r>
                        <a:rPr lang="en-US" altLang="ko-KR" sz="700" b="1" baseline="0" dirty="0" smtClean="0">
                          <a:solidFill>
                            <a:sysClr val="windowText" lastClr="000000"/>
                          </a:solidFill>
                        </a:rPr>
                        <a:t> (CUR)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EX.RATE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AMOUNT (KRW)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VAT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09585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57588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SUB TOTAL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85658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TOTAL</a:t>
                      </a:r>
                      <a:r>
                        <a:rPr lang="en-US" altLang="ko-KR" sz="700" b="1" baseline="0" dirty="0" smtClean="0">
                          <a:solidFill>
                            <a:sysClr val="windowText" lastClr="000000"/>
                          </a:solidFill>
                        </a:rPr>
                        <a:t> :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   (KRW)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3854665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104034" y="491160"/>
            <a:ext cx="9865096" cy="2735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graphicFrame>
        <p:nvGraphicFramePr>
          <p:cNvPr id="30" name="표 29"/>
          <p:cNvGraphicFramePr>
            <a:graphicFrameLocks noGrp="1"/>
          </p:cNvGraphicFramePr>
          <p:nvPr>
            <p:extLst/>
          </p:nvPr>
        </p:nvGraphicFramePr>
        <p:xfrm>
          <a:off x="1040664" y="5462348"/>
          <a:ext cx="8068100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8100">
                  <a:extLst>
                    <a:ext uri="{9D8B030D-6E8A-4147-A177-3AD203B41FA5}">
                      <a16:colId xmlns="" xmlns:a16="http://schemas.microsoft.com/office/drawing/2014/main" val="3600599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REMARK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09585358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1040666" y="698235"/>
            <a:ext cx="8068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u="sng" dirty="0" smtClean="0">
                <a:solidFill>
                  <a:srgbClr val="000000"/>
                </a:solidFill>
              </a:rPr>
              <a:t>ENCOM CO.,LTD.</a:t>
            </a:r>
            <a:endParaRPr lang="ko-KR" altLang="en-US" sz="2000" b="1" u="sng" dirty="0">
              <a:solidFill>
                <a:srgbClr val="00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40666" y="1097516"/>
            <a:ext cx="8068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000000"/>
                </a:solidFill>
              </a:rPr>
              <a:t>54, </a:t>
            </a:r>
            <a:r>
              <a:rPr lang="en-US" altLang="ko-KR" dirty="0" err="1">
                <a:solidFill>
                  <a:srgbClr val="000000"/>
                </a:solidFill>
              </a:rPr>
              <a:t>Gwangjang-ro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en-US" altLang="ko-KR" dirty="0" err="1">
                <a:solidFill>
                  <a:srgbClr val="000000"/>
                </a:solidFill>
              </a:rPr>
              <a:t>Sasang-gu</a:t>
            </a:r>
            <a:r>
              <a:rPr lang="en-US" altLang="ko-KR" dirty="0">
                <a:solidFill>
                  <a:srgbClr val="000000"/>
                </a:solidFill>
              </a:rPr>
              <a:t>, Busan, Republic of Korea </a:t>
            </a:r>
            <a:endParaRPr lang="en-US" altLang="ko-KR" dirty="0" smtClean="0">
              <a:solidFill>
                <a:srgbClr val="000000"/>
              </a:solidFill>
            </a:endParaRPr>
          </a:p>
          <a:p>
            <a:pPr algn="ctr"/>
            <a:r>
              <a:rPr lang="en-US" altLang="ko-KR" dirty="0" smtClean="0">
                <a:solidFill>
                  <a:srgbClr val="000000"/>
                </a:solidFill>
              </a:rPr>
              <a:t>Tel : 051-932-0001       Fax : 02-2111-6111       e-mail : test@encom.co.kr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smtClean="0">
                <a:solidFill>
                  <a:srgbClr val="000000"/>
                </a:solidFill>
              </a:rPr>
              <a:t>      URL:www.encom.co.kr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34" name="직선 연결선 33"/>
          <p:cNvCxnSpPr/>
          <p:nvPr/>
        </p:nvCxnSpPr>
        <p:spPr>
          <a:xfrm>
            <a:off x="1040666" y="1649197"/>
            <a:ext cx="8068098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40665" y="1436070"/>
            <a:ext cx="11860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000000"/>
                </a:solidFill>
              </a:rPr>
              <a:t>Printed By : X.</a:t>
            </a:r>
            <a:r>
              <a:rPr lang="ko-KR" altLang="en-US" b="1" dirty="0" err="1" smtClean="0">
                <a:solidFill>
                  <a:srgbClr val="000000"/>
                </a:solidFill>
              </a:rPr>
              <a:t>엔컴</a:t>
            </a:r>
            <a:endParaRPr lang="ko-KR" altLang="en-US" b="1" dirty="0">
              <a:solidFill>
                <a:srgbClr val="00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40666" y="1649197"/>
            <a:ext cx="13353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000000"/>
                </a:solidFill>
              </a:rPr>
              <a:t>(AIR OUTBOUND)</a:t>
            </a:r>
            <a:endParaRPr lang="ko-KR" altLang="en-US" b="1" dirty="0">
              <a:solidFill>
                <a:srgbClr val="00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64648" y="1436070"/>
            <a:ext cx="10441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000000"/>
                </a:solidFill>
              </a:rPr>
              <a:t>Date : 2017-01-01</a:t>
            </a:r>
            <a:endParaRPr lang="ko-KR" altLang="en-US" b="1" dirty="0">
              <a:solidFill>
                <a:srgbClr val="00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908452" y="1651513"/>
            <a:ext cx="11996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000000"/>
                </a:solidFill>
              </a:rPr>
              <a:t> Branch : </a:t>
            </a:r>
            <a:endParaRPr lang="ko-KR" altLang="en-US" b="1" dirty="0">
              <a:solidFill>
                <a:srgbClr val="00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344568" y="5072454"/>
            <a:ext cx="1763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b="1" dirty="0" err="1" smtClean="0">
                <a:solidFill>
                  <a:srgbClr val="000000"/>
                </a:solidFill>
              </a:rPr>
              <a:t>이월금액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 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:       (KRW)</a:t>
            </a:r>
          </a:p>
          <a:p>
            <a:r>
              <a:rPr lang="ko-KR" altLang="en-US" sz="700" b="1" dirty="0" smtClean="0">
                <a:solidFill>
                  <a:srgbClr val="000000"/>
                </a:solidFill>
              </a:rPr>
              <a:t>총 합 계  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:       (KRW)</a:t>
            </a:r>
          </a:p>
        </p:txBody>
      </p:sp>
      <p:cxnSp>
        <p:nvCxnSpPr>
          <p:cNvPr id="41" name="직선 연결선 40"/>
          <p:cNvCxnSpPr/>
          <p:nvPr/>
        </p:nvCxnSpPr>
        <p:spPr>
          <a:xfrm>
            <a:off x="6516476" y="5380231"/>
            <a:ext cx="2591635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1044427" y="5841268"/>
            <a:ext cx="8068098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726211" y="6125752"/>
            <a:ext cx="11822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000000"/>
                </a:solidFill>
              </a:rPr>
              <a:t>Signature :</a:t>
            </a:r>
            <a:endParaRPr lang="ko-KR" altLang="en-US" b="1" dirty="0">
              <a:solidFill>
                <a:srgbClr val="000000"/>
              </a:solidFill>
            </a:endParaRPr>
          </a:p>
        </p:txBody>
      </p:sp>
      <p:cxnSp>
        <p:nvCxnSpPr>
          <p:cNvPr id="45" name="직선 연결선 44"/>
          <p:cNvCxnSpPr/>
          <p:nvPr/>
        </p:nvCxnSpPr>
        <p:spPr>
          <a:xfrm>
            <a:off x="7452580" y="6341196"/>
            <a:ext cx="1655531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044427" y="5877272"/>
            <a:ext cx="26637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</a:rPr>
              <a:t>☞ 입금 계좌번호 ☜</a:t>
            </a:r>
            <a:endParaRPr lang="en-US" altLang="ko-KR" dirty="0">
              <a:solidFill>
                <a:srgbClr val="000000"/>
              </a:solidFill>
            </a:endParaRPr>
          </a:p>
          <a:p>
            <a:r>
              <a:rPr lang="en-US" altLang="ko-KR" dirty="0" smtClean="0">
                <a:solidFill>
                  <a:srgbClr val="000000"/>
                </a:solidFill>
              </a:rPr>
              <a:t>-------------------------------------</a:t>
            </a:r>
            <a:r>
              <a:rPr lang="en-US" altLang="ko-KR" dirty="0">
                <a:solidFill>
                  <a:srgbClr val="000000"/>
                </a:solidFill>
              </a:rPr>
              <a:t>------------------------------------</a:t>
            </a:r>
          </a:p>
          <a:p>
            <a:r>
              <a:rPr lang="en-US" altLang="ko-KR" dirty="0">
                <a:solidFill>
                  <a:srgbClr val="000000"/>
                </a:solidFill>
              </a:rPr>
              <a:t>  </a:t>
            </a:r>
            <a:r>
              <a:rPr lang="ko-KR" altLang="en-US" dirty="0">
                <a:solidFill>
                  <a:srgbClr val="000000"/>
                </a:solidFill>
              </a:rPr>
              <a:t>우리은행          </a:t>
            </a: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en-US" altLang="ko-KR" dirty="0" smtClean="0">
                <a:solidFill>
                  <a:srgbClr val="000000"/>
                </a:solidFill>
              </a:rPr>
              <a:t>170-04-107755</a:t>
            </a:r>
            <a:endParaRPr lang="en-US" altLang="ko-KR" dirty="0">
              <a:solidFill>
                <a:srgbClr val="000000"/>
              </a:solidFill>
            </a:endParaRPr>
          </a:p>
          <a:p>
            <a:r>
              <a:rPr lang="en-US" altLang="ko-KR" dirty="0">
                <a:solidFill>
                  <a:srgbClr val="000000"/>
                </a:solidFill>
              </a:rPr>
              <a:t>  </a:t>
            </a:r>
            <a:r>
              <a:rPr lang="ko-KR" altLang="en-US" dirty="0">
                <a:solidFill>
                  <a:srgbClr val="000000"/>
                </a:solidFill>
              </a:rPr>
              <a:t>외환은행</a:t>
            </a:r>
            <a:r>
              <a:rPr lang="en-US" altLang="ko-KR" dirty="0">
                <a:solidFill>
                  <a:srgbClr val="000000"/>
                </a:solidFill>
              </a:rPr>
              <a:t>          : </a:t>
            </a:r>
            <a:r>
              <a:rPr lang="en-US" altLang="ko-KR" dirty="0" smtClean="0">
                <a:solidFill>
                  <a:srgbClr val="000000"/>
                </a:solidFill>
              </a:rPr>
              <a:t>048-22-01711-3</a:t>
            </a:r>
          </a:p>
          <a:p>
            <a:endParaRPr lang="en-US" altLang="ko-KR" dirty="0" smtClean="0">
              <a:solidFill>
                <a:srgbClr val="000000"/>
              </a:solidFill>
            </a:endParaRPr>
          </a:p>
          <a:p>
            <a:r>
              <a:rPr lang="en-US" altLang="ko-KR" dirty="0" smtClean="0">
                <a:solidFill>
                  <a:srgbClr val="000000"/>
                </a:solidFill>
              </a:rPr>
              <a:t>  </a:t>
            </a:r>
            <a:r>
              <a:rPr lang="ko-KR" altLang="en-US" dirty="0" smtClean="0">
                <a:solidFill>
                  <a:srgbClr val="000000"/>
                </a:solidFill>
              </a:rPr>
              <a:t>예  </a:t>
            </a:r>
            <a:r>
              <a:rPr lang="ko-KR" altLang="en-US" dirty="0">
                <a:solidFill>
                  <a:srgbClr val="000000"/>
                </a:solidFill>
              </a:rPr>
              <a:t>금  주  </a:t>
            </a:r>
            <a:r>
              <a:rPr lang="en-US" altLang="ko-KR" dirty="0">
                <a:solidFill>
                  <a:srgbClr val="000000"/>
                </a:solidFill>
              </a:rPr>
              <a:t>:  (</a:t>
            </a:r>
            <a:r>
              <a:rPr lang="ko-KR" altLang="en-US" dirty="0">
                <a:solidFill>
                  <a:srgbClr val="000000"/>
                </a:solidFill>
              </a:rPr>
              <a:t>주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  <a:r>
              <a:rPr lang="ko-KR" altLang="en-US" dirty="0" err="1" smtClean="0">
                <a:solidFill>
                  <a:srgbClr val="000000"/>
                </a:solidFill>
              </a:rPr>
              <a:t>엔컴물류</a:t>
            </a:r>
            <a:endParaRPr lang="en-US" altLang="ko-KR" dirty="0" smtClean="0">
              <a:solidFill>
                <a:srgbClr val="000000"/>
              </a:solidFill>
            </a:endParaRPr>
          </a:p>
          <a:p>
            <a:r>
              <a:rPr lang="en-US" altLang="ko-KR" dirty="0" smtClean="0">
                <a:solidFill>
                  <a:srgbClr val="000000"/>
                </a:solidFill>
              </a:rPr>
              <a:t>-------------------------------------</a:t>
            </a:r>
            <a:r>
              <a:rPr lang="en-US" altLang="ko-KR" dirty="0">
                <a:solidFill>
                  <a:srgbClr val="000000"/>
                </a:solidFill>
              </a:rPr>
              <a:t>------------------------------------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 idx="4294967295"/>
          </p:nvPr>
        </p:nvSpPr>
        <p:spPr>
          <a:xfrm>
            <a:off x="5868404" y="44624"/>
            <a:ext cx="2040049" cy="216522"/>
          </a:xfrm>
          <a:prstGeom prst="rect">
            <a:avLst/>
          </a:prstGeom>
        </p:spPr>
        <p:txBody>
          <a:bodyPr/>
          <a:lstStyle/>
          <a:p>
            <a:r>
              <a:rPr lang="ko-KR" altLang="en-US" sz="1000" dirty="0" smtClean="0"/>
              <a:t>수출입물류통관정산서</a:t>
            </a:r>
            <a:r>
              <a:rPr lang="en-US" altLang="ko-KR" sz="1000" baseline="0" dirty="0" smtClean="0"/>
              <a:t> </a:t>
            </a:r>
            <a:r>
              <a:rPr lang="ko-KR" altLang="en-US" sz="1000" baseline="0" dirty="0" err="1" smtClean="0"/>
              <a:t>레포트</a:t>
            </a:r>
            <a:endParaRPr lang="ko-KR" altLang="en-US" sz="1000" dirty="0"/>
          </a:p>
        </p:txBody>
      </p:sp>
      <p:sp>
        <p:nvSpPr>
          <p:cNvPr id="40" name="제목 21"/>
          <p:cNvSpPr txBox="1">
            <a:spLocks/>
          </p:cNvSpPr>
          <p:nvPr/>
        </p:nvSpPr>
        <p:spPr>
          <a:xfrm>
            <a:off x="1007864" y="244063"/>
            <a:ext cx="2060048" cy="251463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1100" kern="0" dirty="0" smtClean="0">
                <a:solidFill>
                  <a:srgbClr val="000000"/>
                </a:solidFill>
              </a:rPr>
              <a:t>조회</a:t>
            </a:r>
            <a:r>
              <a:rPr lang="en-US" altLang="ko-KR" sz="1100" kern="0" dirty="0" smtClean="0">
                <a:solidFill>
                  <a:srgbClr val="000000"/>
                </a:solidFill>
              </a:rPr>
              <a:t>/</a:t>
            </a:r>
            <a:r>
              <a:rPr lang="ko-KR" altLang="en-US" sz="1100" kern="0" dirty="0" smtClean="0">
                <a:solidFill>
                  <a:srgbClr val="000000"/>
                </a:solidFill>
              </a:rPr>
              <a:t>출력</a:t>
            </a:r>
            <a:endParaRPr lang="ko-KR" altLang="en-US" sz="1100" kern="0" dirty="0">
              <a:solidFill>
                <a:srgbClr val="000000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-3406174" y="474048"/>
            <a:ext cx="3254431" cy="224187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청구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저장후</a:t>
            </a:r>
            <a:r>
              <a:rPr lang="ko-KR" altLang="en-US" b="1" dirty="0" smtClean="0">
                <a:solidFill>
                  <a:srgbClr val="FF0000"/>
                </a:solidFill>
              </a:rPr>
              <a:t>  청구확정 된   청구서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레포트</a:t>
            </a:r>
            <a:endParaRPr lang="en-US" altLang="ko-KR" sz="700" b="1" dirty="0" smtClean="0">
              <a:solidFill>
                <a:srgbClr val="FF0000"/>
              </a:solidFill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-3744664" y="260648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rgbClr val="000000"/>
                </a:solidFill>
              </a:rPr>
              <a:t>1</a:t>
            </a:r>
            <a:endParaRPr lang="en-US" altLang="ko-KR" sz="1000" b="1" dirty="0" smtClean="0">
              <a:solidFill>
                <a:srgbClr val="000000"/>
              </a:solidFill>
            </a:endParaRPr>
          </a:p>
        </p:txBody>
      </p:sp>
      <p:sp>
        <p:nvSpPr>
          <p:cNvPr id="47" name="타원 46"/>
          <p:cNvSpPr/>
          <p:nvPr/>
        </p:nvSpPr>
        <p:spPr>
          <a:xfrm>
            <a:off x="-3738677" y="83671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1-1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-3398203" y="933186"/>
            <a:ext cx="3253939" cy="1570451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rgbClr val="0000FF"/>
                </a:solidFill>
              </a:rPr>
              <a:t>1-1. </a:t>
            </a:r>
            <a:r>
              <a:rPr lang="ko-KR" altLang="en-US" sz="700" dirty="0" smtClean="0">
                <a:solidFill>
                  <a:srgbClr val="0000FF"/>
                </a:solidFill>
              </a:rPr>
              <a:t>등록일자 </a:t>
            </a:r>
            <a:r>
              <a:rPr lang="en-US" altLang="ko-KR" sz="700" dirty="0" smtClean="0">
                <a:solidFill>
                  <a:srgbClr val="0000FF"/>
                </a:solidFill>
              </a:rPr>
              <a:t>: </a:t>
            </a:r>
            <a:r>
              <a:rPr lang="ko-KR" altLang="en-US" sz="700" dirty="0" smtClean="0">
                <a:solidFill>
                  <a:srgbClr val="0000FF"/>
                </a:solidFill>
              </a:rPr>
              <a:t>통관정산 등록 일자 연계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1-2. </a:t>
            </a:r>
            <a:r>
              <a:rPr lang="ko-KR" altLang="en-US" sz="700" dirty="0" smtClean="0">
                <a:solidFill>
                  <a:srgbClr val="0000FF"/>
                </a:solidFill>
              </a:rPr>
              <a:t>청구서 번호 </a:t>
            </a:r>
            <a:r>
              <a:rPr lang="en-US" altLang="ko-KR" sz="700" dirty="0" smtClean="0">
                <a:solidFill>
                  <a:srgbClr val="0000FF"/>
                </a:solidFill>
              </a:rPr>
              <a:t>: </a:t>
            </a:r>
            <a:r>
              <a:rPr lang="ko-KR" altLang="en-US" sz="700" dirty="0" smtClean="0">
                <a:solidFill>
                  <a:srgbClr val="0000FF"/>
                </a:solidFill>
              </a:rPr>
              <a:t>확정된 청구서 번호 표시 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endParaRPr lang="en-US" altLang="ko-KR" sz="700" dirty="0" smtClean="0">
              <a:solidFill>
                <a:srgbClr val="0000FF"/>
              </a:solidFill>
            </a:endParaRPr>
          </a:p>
          <a:p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1-3. </a:t>
            </a:r>
            <a:r>
              <a:rPr lang="ko-KR" altLang="en-US" sz="700" dirty="0" smtClean="0">
                <a:solidFill>
                  <a:srgbClr val="0000FF"/>
                </a:solidFill>
              </a:rPr>
              <a:t>용적 </a:t>
            </a:r>
            <a:r>
              <a:rPr lang="en-US" altLang="ko-KR" sz="700" dirty="0" smtClean="0">
                <a:solidFill>
                  <a:srgbClr val="0000FF"/>
                </a:solidFill>
              </a:rPr>
              <a:t>, </a:t>
            </a:r>
            <a:r>
              <a:rPr lang="ko-KR" altLang="en-US" sz="700" dirty="0" smtClean="0">
                <a:solidFill>
                  <a:srgbClr val="0000FF"/>
                </a:solidFill>
              </a:rPr>
              <a:t>컨테이너 </a:t>
            </a:r>
            <a:r>
              <a:rPr lang="en-US" altLang="ko-KR" sz="700" dirty="0" smtClean="0">
                <a:solidFill>
                  <a:srgbClr val="0000FF"/>
                </a:solidFill>
              </a:rPr>
              <a:t>-&gt; </a:t>
            </a:r>
          </a:p>
          <a:p>
            <a:r>
              <a:rPr lang="ko-KR" altLang="en-US" sz="700" dirty="0" smtClean="0">
                <a:solidFill>
                  <a:srgbClr val="0000FF"/>
                </a:solidFill>
              </a:rPr>
              <a:t>항공수출</a:t>
            </a:r>
            <a:r>
              <a:rPr lang="en-US" altLang="ko-KR" sz="700" dirty="0" smtClean="0">
                <a:solidFill>
                  <a:srgbClr val="0000FF"/>
                </a:solidFill>
              </a:rPr>
              <a:t>, </a:t>
            </a:r>
            <a:r>
              <a:rPr lang="ko-KR" altLang="en-US" sz="700" dirty="0" smtClean="0">
                <a:solidFill>
                  <a:srgbClr val="0000FF"/>
                </a:solidFill>
              </a:rPr>
              <a:t>항공수입 인 경우 공백 처리 또는 항목 화면표시 삭제 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ko-KR" altLang="en-US" sz="700" dirty="0" smtClean="0">
                <a:solidFill>
                  <a:srgbClr val="0000FF"/>
                </a:solidFill>
              </a:rPr>
              <a:t>컨테이너 </a:t>
            </a:r>
            <a:r>
              <a:rPr lang="en-US" altLang="ko-KR" sz="700" dirty="0" smtClean="0">
                <a:solidFill>
                  <a:srgbClr val="0000FF"/>
                </a:solidFill>
              </a:rPr>
              <a:t>-&gt; </a:t>
            </a:r>
            <a:r>
              <a:rPr lang="ko-KR" altLang="en-US" sz="700" dirty="0" smtClean="0">
                <a:solidFill>
                  <a:srgbClr val="0000FF"/>
                </a:solidFill>
              </a:rPr>
              <a:t>컨테이너 유형 및 </a:t>
            </a:r>
            <a:r>
              <a:rPr lang="en-US" altLang="ko-KR" sz="700" dirty="0" smtClean="0">
                <a:solidFill>
                  <a:srgbClr val="0000FF"/>
                </a:solidFill>
              </a:rPr>
              <a:t>FCL </a:t>
            </a:r>
            <a:r>
              <a:rPr lang="ko-KR" altLang="en-US" sz="700" dirty="0" smtClean="0">
                <a:solidFill>
                  <a:srgbClr val="0000FF"/>
                </a:solidFill>
              </a:rPr>
              <a:t>인 경우 컨테이너 종류 및 개수 표시 처리</a:t>
            </a:r>
            <a:endParaRPr lang="en-US" altLang="ko-KR" sz="700" dirty="0">
              <a:solidFill>
                <a:srgbClr val="0000FF"/>
              </a:solidFill>
            </a:endParaRPr>
          </a:p>
          <a:p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ko-KR" altLang="en-US" sz="700" b="1" dirty="0" smtClean="0">
                <a:solidFill>
                  <a:srgbClr val="FF0000"/>
                </a:solidFill>
              </a:rPr>
              <a:t>그 외 항목 통관정산 항목 연계 처리 후 출력물에 표시 처리</a:t>
            </a:r>
            <a:endParaRPr lang="en-US" altLang="ko-KR" sz="700" b="1" dirty="0" smtClean="0">
              <a:solidFill>
                <a:srgbClr val="FF0000"/>
              </a:solidFill>
            </a:endParaRPr>
          </a:p>
          <a:p>
            <a:endParaRPr lang="en-US" altLang="ko-KR" sz="700" dirty="0">
              <a:solidFill>
                <a:srgbClr val="0000FF"/>
              </a:solidFill>
            </a:endParaRPr>
          </a:p>
          <a:p>
            <a:endParaRPr lang="en-US" altLang="ko-KR" sz="700" b="1" dirty="0" smtClean="0">
              <a:solidFill>
                <a:srgbClr val="FF0000"/>
              </a:solidFill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-3736197" y="117228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1-2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50" name="타원 49"/>
          <p:cNvSpPr/>
          <p:nvPr/>
        </p:nvSpPr>
        <p:spPr>
          <a:xfrm>
            <a:off x="-3736197" y="149632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1-3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cxnSp>
        <p:nvCxnSpPr>
          <p:cNvPr id="51" name="직선 연결선 50"/>
          <p:cNvCxnSpPr/>
          <p:nvPr/>
        </p:nvCxnSpPr>
        <p:spPr>
          <a:xfrm>
            <a:off x="1040666" y="2503637"/>
            <a:ext cx="8068098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40665" y="2272805"/>
            <a:ext cx="80680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smtClean="0">
                <a:solidFill>
                  <a:srgbClr val="000000"/>
                </a:solidFill>
              </a:rPr>
              <a:t>수신처</a:t>
            </a:r>
            <a:endParaRPr lang="ko-KR" altLang="en-US" sz="900" dirty="0">
              <a:solidFill>
                <a:srgbClr val="00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44427" y="2503637"/>
            <a:ext cx="80636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000000"/>
                </a:solidFill>
              </a:rPr>
              <a:t>담당자</a:t>
            </a:r>
            <a:r>
              <a:rPr lang="en-US" altLang="ko-KR" b="1" dirty="0" smtClean="0">
                <a:solidFill>
                  <a:srgbClr val="000000"/>
                </a:solidFill>
              </a:rPr>
              <a:t>.</a:t>
            </a:r>
            <a:r>
              <a:rPr lang="en-US" altLang="ko-KR" dirty="0" smtClean="0">
                <a:solidFill>
                  <a:srgbClr val="000000"/>
                </a:solidFill>
              </a:rPr>
              <a:t>                                                                                                                                   </a:t>
            </a:r>
            <a:r>
              <a:rPr lang="ko-KR" altLang="en-US" b="1" dirty="0" smtClean="0">
                <a:solidFill>
                  <a:srgbClr val="000000"/>
                </a:solidFill>
              </a:rPr>
              <a:t>전화번호 </a:t>
            </a:r>
            <a:r>
              <a:rPr lang="en-US" altLang="ko-KR" b="1" dirty="0" smtClean="0">
                <a:solidFill>
                  <a:srgbClr val="000000"/>
                </a:solidFill>
              </a:rPr>
              <a:t>/ </a:t>
            </a:r>
            <a:r>
              <a:rPr lang="ko-KR" altLang="en-US" b="1" dirty="0" smtClean="0">
                <a:solidFill>
                  <a:srgbClr val="000000"/>
                </a:solidFill>
              </a:rPr>
              <a:t>팩스번호</a:t>
            </a:r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054455"/>
              </p:ext>
            </p:extLst>
          </p:nvPr>
        </p:nvGraphicFramePr>
        <p:xfrm>
          <a:off x="1040664" y="2719080"/>
          <a:ext cx="8068099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045">
                  <a:extLst>
                    <a:ext uri="{9D8B030D-6E8A-4147-A177-3AD203B41FA5}">
                      <a16:colId xmlns="" xmlns:a16="http://schemas.microsoft.com/office/drawing/2014/main" val="441257011"/>
                    </a:ext>
                  </a:extLst>
                </a:gridCol>
                <a:gridCol w="2370004">
                  <a:extLst>
                    <a:ext uri="{9D8B030D-6E8A-4147-A177-3AD203B41FA5}">
                      <a16:colId xmlns="" xmlns:a16="http://schemas.microsoft.com/office/drawing/2014/main" val="3743984869"/>
                    </a:ext>
                  </a:extLst>
                </a:gridCol>
                <a:gridCol w="2017025">
                  <a:extLst>
                    <a:ext uri="{9D8B030D-6E8A-4147-A177-3AD203B41FA5}">
                      <a16:colId xmlns="" xmlns:a16="http://schemas.microsoft.com/office/drawing/2014/main" val="3971089817"/>
                    </a:ext>
                  </a:extLst>
                </a:gridCol>
                <a:gridCol w="2017025">
                  <a:extLst>
                    <a:ext uri="{9D8B030D-6E8A-4147-A177-3AD203B41FA5}">
                      <a16:colId xmlns="" xmlns:a16="http://schemas.microsoft.com/office/drawing/2014/main" val="39944169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baseline="0" dirty="0" smtClean="0">
                          <a:solidFill>
                            <a:sysClr val="windowText" lastClr="000000"/>
                          </a:solidFill>
                        </a:rPr>
                        <a:t>JOB NO.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청구일자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090068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등록일자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청구서 번호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666066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 smtClean="0">
                          <a:solidFill>
                            <a:sysClr val="windowText" lastClr="000000"/>
                          </a:solidFill>
                        </a:rPr>
                        <a:t>M.B/L NO.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err="1" smtClean="0">
                          <a:solidFill>
                            <a:sysClr val="windowText" lastClr="000000"/>
                          </a:solidFill>
                        </a:rPr>
                        <a:t>면허일자</a:t>
                      </a:r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800" b="1" dirty="0" smtClean="0">
                          <a:solidFill>
                            <a:sysClr val="windowText" lastClr="000000"/>
                          </a:solidFill>
                        </a:rPr>
                        <a:t>/ </a:t>
                      </a:r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번호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88145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 smtClean="0">
                          <a:solidFill>
                            <a:sysClr val="windowText" lastClr="000000"/>
                          </a:solidFill>
                        </a:rPr>
                        <a:t>H.B/L NO.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err="1" smtClean="0">
                          <a:solidFill>
                            <a:sysClr val="windowText" lastClr="000000"/>
                          </a:solidFill>
                        </a:rPr>
                        <a:t>운송일자</a:t>
                      </a:r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800" b="1" dirty="0" smtClean="0">
                          <a:solidFill>
                            <a:sysClr val="windowText" lastClr="000000"/>
                          </a:solidFill>
                        </a:rPr>
                        <a:t>/ </a:t>
                      </a:r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장소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618426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수 량 </a:t>
                      </a:r>
                      <a:r>
                        <a:rPr lang="en-US" altLang="ko-KR" sz="800" b="1" dirty="0" smtClean="0">
                          <a:solidFill>
                            <a:sysClr val="windowText" lastClr="000000"/>
                          </a:solidFill>
                        </a:rPr>
                        <a:t>/ </a:t>
                      </a:r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중량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err="1" smtClean="0">
                          <a:solidFill>
                            <a:sysClr val="windowText" lastClr="000000"/>
                          </a:solidFill>
                        </a:rPr>
                        <a:t>신고가격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991799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용           적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과세가격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786645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컨테이너 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품      명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90411538"/>
                  </a:ext>
                </a:extLst>
              </a:tr>
            </a:tbl>
          </a:graphicData>
        </a:graphic>
      </p:graphicFrame>
      <p:sp>
        <p:nvSpPr>
          <p:cNvPr id="55" name="타원 54"/>
          <p:cNvSpPr/>
          <p:nvPr/>
        </p:nvSpPr>
        <p:spPr>
          <a:xfrm>
            <a:off x="791840" y="285293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1-1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5868404" y="2893227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1-2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57" name="타원 56"/>
          <p:cNvSpPr/>
          <p:nvPr/>
        </p:nvSpPr>
        <p:spPr>
          <a:xfrm>
            <a:off x="727972" y="375303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1-3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7519663" y="6453336"/>
            <a:ext cx="1521363" cy="132563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rgbClr val="FF0066"/>
                </a:solidFill>
              </a:rPr>
              <a:t>자사정보 </a:t>
            </a:r>
            <a:r>
              <a:rPr lang="en-US" altLang="ko-KR" dirty="0" smtClean="0">
                <a:solidFill>
                  <a:srgbClr val="FF0066"/>
                </a:solidFill>
              </a:rPr>
              <a:t>: </a:t>
            </a:r>
            <a:r>
              <a:rPr lang="ko-KR" altLang="en-US" dirty="0" smtClean="0">
                <a:solidFill>
                  <a:srgbClr val="FF0066"/>
                </a:solidFill>
              </a:rPr>
              <a:t>서명 이미지 연계</a:t>
            </a:r>
          </a:p>
        </p:txBody>
      </p:sp>
    </p:spTree>
    <p:extLst>
      <p:ext uri="{BB962C8B-B14F-4D97-AF65-F5344CB8AC3E}">
        <p14:creationId xmlns:p14="http://schemas.microsoft.com/office/powerpoint/2010/main" val="1503030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296653" y="2060848"/>
            <a:ext cx="3556119" cy="360623"/>
            <a:chOff x="2188537" y="2168860"/>
            <a:chExt cx="4291936" cy="360623"/>
          </a:xfrm>
        </p:grpSpPr>
        <p:sp>
          <p:nvSpPr>
            <p:cNvPr id="5" name="직사각형 4"/>
            <p:cNvSpPr/>
            <p:nvPr/>
          </p:nvSpPr>
          <p:spPr>
            <a:xfrm>
              <a:off x="2217079" y="2205447"/>
              <a:ext cx="4263394" cy="324036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b="1" dirty="0" err="1" smtClean="0">
                <a:solidFill>
                  <a:srgbClr val="000000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2188537" y="2168860"/>
              <a:ext cx="4263394" cy="3240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 smtClean="0">
                  <a:solidFill>
                    <a:srgbClr val="000000"/>
                  </a:solidFill>
                </a:rPr>
                <a:t>통관지출결의서</a:t>
              </a:r>
              <a:endParaRPr lang="ko-KR" altLang="en-US" sz="1800" b="1" dirty="0" smtClean="0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117853"/>
              </p:ext>
            </p:extLst>
          </p:nvPr>
        </p:nvGraphicFramePr>
        <p:xfrm>
          <a:off x="1044426" y="4458897"/>
          <a:ext cx="8063685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921">
                  <a:extLst>
                    <a:ext uri="{9D8B030D-6E8A-4147-A177-3AD203B41FA5}">
                      <a16:colId xmlns="" xmlns:a16="http://schemas.microsoft.com/office/drawing/2014/main" val="2916517811"/>
                    </a:ext>
                  </a:extLst>
                </a:gridCol>
                <a:gridCol w="615976">
                  <a:extLst>
                    <a:ext uri="{9D8B030D-6E8A-4147-A177-3AD203B41FA5}">
                      <a16:colId xmlns="" xmlns:a16="http://schemas.microsoft.com/office/drawing/2014/main" val="2247694756"/>
                    </a:ext>
                  </a:extLst>
                </a:gridCol>
                <a:gridCol w="671974">
                  <a:extLst>
                    <a:ext uri="{9D8B030D-6E8A-4147-A177-3AD203B41FA5}">
                      <a16:colId xmlns="" xmlns:a16="http://schemas.microsoft.com/office/drawing/2014/main" val="3600599289"/>
                    </a:ext>
                  </a:extLst>
                </a:gridCol>
                <a:gridCol w="797700">
                  <a:extLst>
                    <a:ext uri="{9D8B030D-6E8A-4147-A177-3AD203B41FA5}">
                      <a16:colId xmlns="" xmlns:a16="http://schemas.microsoft.com/office/drawing/2014/main" val="2158196774"/>
                    </a:ext>
                  </a:extLst>
                </a:gridCol>
                <a:gridCol w="1399945">
                  <a:extLst>
                    <a:ext uri="{9D8B030D-6E8A-4147-A177-3AD203B41FA5}">
                      <a16:colId xmlns="" xmlns:a16="http://schemas.microsoft.com/office/drawing/2014/main" val="340375179"/>
                    </a:ext>
                  </a:extLst>
                </a:gridCol>
                <a:gridCol w="1301680">
                  <a:extLst>
                    <a:ext uri="{9D8B030D-6E8A-4147-A177-3AD203B41FA5}">
                      <a16:colId xmlns="" xmlns:a16="http://schemas.microsoft.com/office/drawing/2014/main" val="1686432599"/>
                    </a:ext>
                  </a:extLst>
                </a:gridCol>
                <a:gridCol w="1260489">
                  <a:extLst>
                    <a:ext uri="{9D8B030D-6E8A-4147-A177-3AD203B41FA5}">
                      <a16:colId xmlns="" xmlns:a16="http://schemas.microsoft.com/office/drawing/2014/main" val="19529575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ysClr val="windowText" lastClr="000000"/>
                          </a:solidFill>
                        </a:rPr>
                        <a:t>운임명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ysClr val="windowText" lastClr="000000"/>
                          </a:solidFill>
                        </a:rPr>
                        <a:t>부과유형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CUR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AMT</a:t>
                      </a:r>
                      <a:r>
                        <a:rPr lang="en-US" altLang="ko-KR" sz="700" b="1" baseline="0" dirty="0" smtClean="0">
                          <a:solidFill>
                            <a:sysClr val="windowText" lastClr="000000"/>
                          </a:solidFill>
                        </a:rPr>
                        <a:t> (CUR)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EX.RATE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AMOUNT (KRW)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VAT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09585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57588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SUB TOTAL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85658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TOTAL</a:t>
                      </a:r>
                      <a:r>
                        <a:rPr lang="en-US" altLang="ko-KR" sz="700" b="1" baseline="0" dirty="0" smtClean="0">
                          <a:solidFill>
                            <a:sysClr val="windowText" lastClr="000000"/>
                          </a:solidFill>
                        </a:rPr>
                        <a:t> :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   (KRW)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3854665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104034" y="491160"/>
            <a:ext cx="9865096" cy="2735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664370"/>
              </p:ext>
            </p:extLst>
          </p:nvPr>
        </p:nvGraphicFramePr>
        <p:xfrm>
          <a:off x="1040664" y="5610288"/>
          <a:ext cx="8068100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8100">
                  <a:extLst>
                    <a:ext uri="{9D8B030D-6E8A-4147-A177-3AD203B41FA5}">
                      <a16:colId xmlns="" xmlns:a16="http://schemas.microsoft.com/office/drawing/2014/main" val="3600599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1" dirty="0" smtClean="0">
                          <a:solidFill>
                            <a:sysClr val="windowText" lastClr="000000"/>
                          </a:solidFill>
                        </a:rPr>
                        <a:t>REMARK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09585358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1040666" y="893862"/>
            <a:ext cx="8068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u="sng" dirty="0" smtClean="0">
                <a:solidFill>
                  <a:srgbClr val="000000"/>
                </a:solidFill>
              </a:rPr>
              <a:t>ENCOM CO.,LTD.</a:t>
            </a:r>
            <a:endParaRPr lang="ko-KR" altLang="en-US" sz="2000" b="1" u="sng" dirty="0">
              <a:solidFill>
                <a:srgbClr val="00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40666" y="1293143"/>
            <a:ext cx="8068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000000"/>
                </a:solidFill>
              </a:rPr>
              <a:t>54, </a:t>
            </a:r>
            <a:r>
              <a:rPr lang="en-US" altLang="ko-KR" dirty="0" err="1">
                <a:solidFill>
                  <a:srgbClr val="000000"/>
                </a:solidFill>
              </a:rPr>
              <a:t>Gwangjang-ro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en-US" altLang="ko-KR" dirty="0" err="1">
                <a:solidFill>
                  <a:srgbClr val="000000"/>
                </a:solidFill>
              </a:rPr>
              <a:t>Sasang-gu</a:t>
            </a:r>
            <a:r>
              <a:rPr lang="en-US" altLang="ko-KR" dirty="0">
                <a:solidFill>
                  <a:srgbClr val="000000"/>
                </a:solidFill>
              </a:rPr>
              <a:t>, Busan, Republic of Korea </a:t>
            </a:r>
            <a:endParaRPr lang="en-US" altLang="ko-KR" dirty="0" smtClean="0">
              <a:solidFill>
                <a:srgbClr val="000000"/>
              </a:solidFill>
            </a:endParaRPr>
          </a:p>
          <a:p>
            <a:pPr algn="ctr"/>
            <a:r>
              <a:rPr lang="en-US" altLang="ko-KR" dirty="0" smtClean="0">
                <a:solidFill>
                  <a:srgbClr val="000000"/>
                </a:solidFill>
              </a:rPr>
              <a:t>Tel : 051-932-0001       Fax : 02-2111-6111       e-mail : test@encom.co.kr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en-US" altLang="ko-KR" dirty="0" smtClean="0">
                <a:solidFill>
                  <a:srgbClr val="000000"/>
                </a:solidFill>
              </a:rPr>
              <a:t>      URL:www.encom.co.kr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34" name="직선 연결선 33"/>
          <p:cNvCxnSpPr/>
          <p:nvPr/>
        </p:nvCxnSpPr>
        <p:spPr>
          <a:xfrm>
            <a:off x="1040666" y="1844824"/>
            <a:ext cx="8068098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40665" y="1631697"/>
            <a:ext cx="11860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000000"/>
                </a:solidFill>
              </a:rPr>
              <a:t>Printed By : X.</a:t>
            </a:r>
            <a:r>
              <a:rPr lang="ko-KR" altLang="en-US" b="1" dirty="0" err="1" smtClean="0">
                <a:solidFill>
                  <a:srgbClr val="000000"/>
                </a:solidFill>
              </a:rPr>
              <a:t>엔컴</a:t>
            </a:r>
            <a:endParaRPr lang="ko-KR" altLang="en-US" b="1" dirty="0">
              <a:solidFill>
                <a:srgbClr val="00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40666" y="1844824"/>
            <a:ext cx="13353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000000"/>
                </a:solidFill>
              </a:rPr>
              <a:t>(AIR OUTBOUND)</a:t>
            </a:r>
            <a:endParaRPr lang="ko-KR" altLang="en-US" b="1" dirty="0">
              <a:solidFill>
                <a:srgbClr val="00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64648" y="1631697"/>
            <a:ext cx="10441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000000"/>
                </a:solidFill>
              </a:rPr>
              <a:t>Date : 2017-01-01</a:t>
            </a:r>
            <a:endParaRPr lang="ko-KR" altLang="en-US" b="1" dirty="0">
              <a:solidFill>
                <a:srgbClr val="00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908452" y="1847140"/>
            <a:ext cx="11996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000000"/>
                </a:solidFill>
              </a:rPr>
              <a:t> Branch : </a:t>
            </a:r>
            <a:endParaRPr lang="ko-KR" altLang="en-US" b="1" dirty="0">
              <a:solidFill>
                <a:srgbClr val="00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344568" y="5235136"/>
            <a:ext cx="1763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b="1" dirty="0" err="1" smtClean="0">
                <a:solidFill>
                  <a:srgbClr val="000000"/>
                </a:solidFill>
              </a:rPr>
              <a:t>이월금액</a:t>
            </a:r>
            <a:r>
              <a:rPr lang="ko-KR" altLang="en-US" sz="700" b="1" dirty="0" smtClean="0">
                <a:solidFill>
                  <a:srgbClr val="000000"/>
                </a:solidFill>
              </a:rPr>
              <a:t> 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:       (KRW)</a:t>
            </a:r>
          </a:p>
          <a:p>
            <a:r>
              <a:rPr lang="ko-KR" altLang="en-US" sz="700" b="1" dirty="0" smtClean="0">
                <a:solidFill>
                  <a:srgbClr val="000000"/>
                </a:solidFill>
              </a:rPr>
              <a:t>총 합 계  </a:t>
            </a:r>
            <a:r>
              <a:rPr lang="en-US" altLang="ko-KR" sz="700" b="1" dirty="0" smtClean="0">
                <a:solidFill>
                  <a:srgbClr val="000000"/>
                </a:solidFill>
              </a:rPr>
              <a:t>:       (KRW)</a:t>
            </a:r>
          </a:p>
        </p:txBody>
      </p:sp>
      <p:cxnSp>
        <p:nvCxnSpPr>
          <p:cNvPr id="41" name="직선 연결선 40"/>
          <p:cNvCxnSpPr/>
          <p:nvPr/>
        </p:nvCxnSpPr>
        <p:spPr>
          <a:xfrm>
            <a:off x="6516476" y="5542913"/>
            <a:ext cx="2591635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1040666" y="6300795"/>
            <a:ext cx="8068098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726211" y="6357423"/>
            <a:ext cx="11822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000000"/>
                </a:solidFill>
              </a:rPr>
              <a:t>Signature :</a:t>
            </a:r>
            <a:endParaRPr lang="ko-KR" altLang="en-US" b="1" dirty="0">
              <a:solidFill>
                <a:srgbClr val="000000"/>
              </a:solidFill>
            </a:endParaRPr>
          </a:p>
        </p:txBody>
      </p:sp>
      <p:cxnSp>
        <p:nvCxnSpPr>
          <p:cNvPr id="45" name="직선 연결선 44"/>
          <p:cNvCxnSpPr/>
          <p:nvPr/>
        </p:nvCxnSpPr>
        <p:spPr>
          <a:xfrm>
            <a:off x="7452580" y="6572867"/>
            <a:ext cx="1655531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5868404" y="44624"/>
            <a:ext cx="2040048" cy="216522"/>
          </a:xfrm>
          <a:prstGeom prst="rect">
            <a:avLst/>
          </a:prstGeom>
        </p:spPr>
        <p:txBody>
          <a:bodyPr/>
          <a:lstStyle/>
          <a:p>
            <a:r>
              <a:rPr lang="ko-KR" altLang="en-US" sz="1100" dirty="0" smtClean="0"/>
              <a:t>통관지출결의서 </a:t>
            </a:r>
            <a:r>
              <a:rPr lang="ko-KR" altLang="en-US" sz="1100" dirty="0" err="1" smtClean="0"/>
              <a:t>레포트</a:t>
            </a:r>
            <a:endParaRPr lang="ko-KR" altLang="en-US" sz="1100" dirty="0"/>
          </a:p>
        </p:txBody>
      </p:sp>
      <p:sp>
        <p:nvSpPr>
          <p:cNvPr id="31" name="제목 21"/>
          <p:cNvSpPr txBox="1">
            <a:spLocks/>
          </p:cNvSpPr>
          <p:nvPr/>
        </p:nvSpPr>
        <p:spPr>
          <a:xfrm>
            <a:off x="1007864" y="244063"/>
            <a:ext cx="2060048" cy="251463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1100" kern="0" dirty="0" smtClean="0">
                <a:solidFill>
                  <a:srgbClr val="000000"/>
                </a:solidFill>
              </a:rPr>
              <a:t>조회</a:t>
            </a:r>
            <a:r>
              <a:rPr lang="en-US" altLang="ko-KR" sz="1100" kern="0" dirty="0" smtClean="0">
                <a:solidFill>
                  <a:srgbClr val="000000"/>
                </a:solidFill>
              </a:rPr>
              <a:t>/</a:t>
            </a:r>
            <a:r>
              <a:rPr lang="ko-KR" altLang="en-US" sz="1100" kern="0" dirty="0" smtClean="0">
                <a:solidFill>
                  <a:srgbClr val="000000"/>
                </a:solidFill>
              </a:rPr>
              <a:t>출력</a:t>
            </a:r>
            <a:endParaRPr lang="ko-KR" altLang="en-US" sz="1100" kern="0" dirty="0">
              <a:solidFill>
                <a:srgbClr val="000000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-3406174" y="474048"/>
            <a:ext cx="3254431" cy="224187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700" b="1" dirty="0" smtClean="0">
                <a:solidFill>
                  <a:srgbClr val="FF0000"/>
                </a:solidFill>
              </a:rPr>
              <a:t>통관 지출 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작성후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통관지출결의서 </a:t>
            </a:r>
            <a:r>
              <a:rPr lang="ko-KR" altLang="en-US" sz="700" b="1" dirty="0" err="1" smtClean="0">
                <a:solidFill>
                  <a:srgbClr val="FF0000"/>
                </a:solidFill>
              </a:rPr>
              <a:t>레포트</a:t>
            </a:r>
            <a:r>
              <a:rPr lang="ko-KR" altLang="en-US" sz="700" b="1" dirty="0" smtClean="0">
                <a:solidFill>
                  <a:srgbClr val="FF0000"/>
                </a:solidFill>
              </a:rPr>
              <a:t>  </a:t>
            </a:r>
            <a:endParaRPr lang="en-US" altLang="ko-KR" sz="700" b="1" dirty="0" smtClean="0">
              <a:solidFill>
                <a:srgbClr val="FF0000"/>
              </a:solidFill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-3744664" y="260648"/>
            <a:ext cx="346425" cy="31604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1000" b="1" dirty="0">
                <a:solidFill>
                  <a:srgbClr val="000000"/>
                </a:solidFill>
              </a:rPr>
              <a:t>1</a:t>
            </a:r>
            <a:endParaRPr lang="en-US" altLang="ko-KR" sz="1000" b="1" dirty="0" smtClean="0">
              <a:solidFill>
                <a:srgbClr val="000000"/>
              </a:solidFill>
            </a:endParaRPr>
          </a:p>
        </p:txBody>
      </p:sp>
      <p:cxnSp>
        <p:nvCxnSpPr>
          <p:cNvPr id="46" name="직선 연결선 45"/>
          <p:cNvCxnSpPr/>
          <p:nvPr/>
        </p:nvCxnSpPr>
        <p:spPr>
          <a:xfrm>
            <a:off x="1040666" y="2692145"/>
            <a:ext cx="8068098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40665" y="2461313"/>
            <a:ext cx="80680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smtClean="0">
                <a:solidFill>
                  <a:srgbClr val="000000"/>
                </a:solidFill>
              </a:rPr>
              <a:t>수신처</a:t>
            </a:r>
            <a:endParaRPr lang="ko-KR" altLang="en-US" sz="900" dirty="0">
              <a:solidFill>
                <a:srgbClr val="00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44427" y="2692145"/>
            <a:ext cx="80636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000000"/>
                </a:solidFill>
              </a:rPr>
              <a:t>담당자</a:t>
            </a:r>
            <a:r>
              <a:rPr lang="en-US" altLang="ko-KR" b="1" dirty="0" smtClean="0">
                <a:solidFill>
                  <a:srgbClr val="000000"/>
                </a:solidFill>
              </a:rPr>
              <a:t>.</a:t>
            </a:r>
            <a:r>
              <a:rPr lang="en-US" altLang="ko-KR" dirty="0" smtClean="0">
                <a:solidFill>
                  <a:srgbClr val="000000"/>
                </a:solidFill>
              </a:rPr>
              <a:t>                                                                                                                                   </a:t>
            </a:r>
            <a:r>
              <a:rPr lang="ko-KR" altLang="en-US" b="1" dirty="0" smtClean="0">
                <a:solidFill>
                  <a:srgbClr val="000000"/>
                </a:solidFill>
              </a:rPr>
              <a:t>전화번호 </a:t>
            </a:r>
            <a:r>
              <a:rPr lang="en-US" altLang="ko-KR" b="1" dirty="0" smtClean="0">
                <a:solidFill>
                  <a:srgbClr val="000000"/>
                </a:solidFill>
              </a:rPr>
              <a:t>/ </a:t>
            </a:r>
            <a:r>
              <a:rPr lang="ko-KR" altLang="en-US" b="1" dirty="0" smtClean="0">
                <a:solidFill>
                  <a:srgbClr val="000000"/>
                </a:solidFill>
              </a:rPr>
              <a:t>팩스번호</a:t>
            </a:r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49" name="표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254038"/>
              </p:ext>
            </p:extLst>
          </p:nvPr>
        </p:nvGraphicFramePr>
        <p:xfrm>
          <a:off x="1040664" y="2907588"/>
          <a:ext cx="8068099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045">
                  <a:extLst>
                    <a:ext uri="{9D8B030D-6E8A-4147-A177-3AD203B41FA5}">
                      <a16:colId xmlns="" xmlns:a16="http://schemas.microsoft.com/office/drawing/2014/main" val="441257011"/>
                    </a:ext>
                  </a:extLst>
                </a:gridCol>
                <a:gridCol w="2370004">
                  <a:extLst>
                    <a:ext uri="{9D8B030D-6E8A-4147-A177-3AD203B41FA5}">
                      <a16:colId xmlns="" xmlns:a16="http://schemas.microsoft.com/office/drawing/2014/main" val="3743984869"/>
                    </a:ext>
                  </a:extLst>
                </a:gridCol>
                <a:gridCol w="2017025">
                  <a:extLst>
                    <a:ext uri="{9D8B030D-6E8A-4147-A177-3AD203B41FA5}">
                      <a16:colId xmlns="" xmlns:a16="http://schemas.microsoft.com/office/drawing/2014/main" val="3971089817"/>
                    </a:ext>
                  </a:extLst>
                </a:gridCol>
                <a:gridCol w="2017025">
                  <a:extLst>
                    <a:ext uri="{9D8B030D-6E8A-4147-A177-3AD203B41FA5}">
                      <a16:colId xmlns="" xmlns:a16="http://schemas.microsoft.com/office/drawing/2014/main" val="39944169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baseline="0" dirty="0" smtClean="0">
                          <a:solidFill>
                            <a:sysClr val="windowText" lastClr="000000"/>
                          </a:solidFill>
                        </a:rPr>
                        <a:t>JOB NO.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지출 일자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090068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등록일자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지출결의서 번호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666066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 smtClean="0">
                          <a:solidFill>
                            <a:sysClr val="windowText" lastClr="000000"/>
                          </a:solidFill>
                        </a:rPr>
                        <a:t>M.B/L NO.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err="1" smtClean="0">
                          <a:solidFill>
                            <a:sysClr val="windowText" lastClr="000000"/>
                          </a:solidFill>
                        </a:rPr>
                        <a:t>면허일자</a:t>
                      </a:r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800" b="1" dirty="0" smtClean="0">
                          <a:solidFill>
                            <a:sysClr val="windowText" lastClr="000000"/>
                          </a:solidFill>
                        </a:rPr>
                        <a:t>/ </a:t>
                      </a:r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번호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88145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 smtClean="0">
                          <a:solidFill>
                            <a:sysClr val="windowText" lastClr="000000"/>
                          </a:solidFill>
                        </a:rPr>
                        <a:t>H.B/L NO.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err="1" smtClean="0">
                          <a:solidFill>
                            <a:sysClr val="windowText" lastClr="000000"/>
                          </a:solidFill>
                        </a:rPr>
                        <a:t>운송일자</a:t>
                      </a:r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800" b="1" dirty="0" smtClean="0">
                          <a:solidFill>
                            <a:sysClr val="windowText" lastClr="000000"/>
                          </a:solidFill>
                        </a:rPr>
                        <a:t>/ </a:t>
                      </a:r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장소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618426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수 량 </a:t>
                      </a:r>
                      <a:r>
                        <a:rPr lang="en-US" altLang="ko-KR" sz="800" b="1" dirty="0" smtClean="0">
                          <a:solidFill>
                            <a:sysClr val="windowText" lastClr="000000"/>
                          </a:solidFill>
                        </a:rPr>
                        <a:t>/ </a:t>
                      </a:r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중량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err="1" smtClean="0">
                          <a:solidFill>
                            <a:sysClr val="windowText" lastClr="000000"/>
                          </a:solidFill>
                        </a:rPr>
                        <a:t>신고가격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991799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용           적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과세가격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786645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컨테이너 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smtClean="0">
                          <a:solidFill>
                            <a:sysClr val="windowText" lastClr="000000"/>
                          </a:solidFill>
                        </a:rPr>
                        <a:t>품      명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90411538"/>
                  </a:ext>
                </a:extLst>
              </a:tr>
            </a:tbl>
          </a:graphicData>
        </a:graphic>
      </p:graphicFrame>
      <p:sp>
        <p:nvSpPr>
          <p:cNvPr id="50" name="타원 49"/>
          <p:cNvSpPr/>
          <p:nvPr/>
        </p:nvSpPr>
        <p:spPr>
          <a:xfrm>
            <a:off x="791840" y="3041444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1-1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6084428" y="3081735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1-2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727972" y="3941544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1-3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-3738677" y="83671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1-1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-3398203" y="933186"/>
            <a:ext cx="3253939" cy="1570451"/>
          </a:xfrm>
          <a:prstGeom prst="rect">
            <a:avLst/>
          </a:prstGeom>
          <a:solidFill>
            <a:srgbClr val="FFC000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700" dirty="0" smtClean="0">
                <a:solidFill>
                  <a:srgbClr val="0000FF"/>
                </a:solidFill>
              </a:rPr>
              <a:t>1-1. </a:t>
            </a:r>
            <a:r>
              <a:rPr lang="ko-KR" altLang="en-US" sz="700" dirty="0" smtClean="0">
                <a:solidFill>
                  <a:srgbClr val="0000FF"/>
                </a:solidFill>
              </a:rPr>
              <a:t>등록일자 </a:t>
            </a:r>
            <a:r>
              <a:rPr lang="en-US" altLang="ko-KR" sz="700" dirty="0" smtClean="0">
                <a:solidFill>
                  <a:srgbClr val="0000FF"/>
                </a:solidFill>
              </a:rPr>
              <a:t>: </a:t>
            </a:r>
            <a:r>
              <a:rPr lang="ko-KR" altLang="en-US" sz="700" dirty="0" smtClean="0">
                <a:solidFill>
                  <a:srgbClr val="0000FF"/>
                </a:solidFill>
              </a:rPr>
              <a:t>통관정산 등록 일자 연계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1-2. </a:t>
            </a:r>
            <a:r>
              <a:rPr lang="ko-KR" altLang="en-US" sz="700" dirty="0" smtClean="0">
                <a:solidFill>
                  <a:srgbClr val="0000FF"/>
                </a:solidFill>
              </a:rPr>
              <a:t>지출결의서 번호 </a:t>
            </a:r>
            <a:r>
              <a:rPr lang="en-US" altLang="ko-KR" sz="700" dirty="0" smtClean="0">
                <a:solidFill>
                  <a:srgbClr val="0000FF"/>
                </a:solidFill>
              </a:rPr>
              <a:t>: </a:t>
            </a:r>
            <a:r>
              <a:rPr lang="ko-KR" altLang="en-US" sz="700" dirty="0" smtClean="0">
                <a:solidFill>
                  <a:srgbClr val="0000FF"/>
                </a:solidFill>
              </a:rPr>
              <a:t> 확정 전  공백처리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en-US" altLang="ko-KR" sz="700" dirty="0">
                <a:solidFill>
                  <a:srgbClr val="0000FF"/>
                </a:solidFill>
              </a:rPr>
              <a:t> </a:t>
            </a:r>
            <a:r>
              <a:rPr lang="en-US" altLang="ko-KR" sz="700" dirty="0" smtClean="0">
                <a:solidFill>
                  <a:srgbClr val="0000FF"/>
                </a:solidFill>
              </a:rPr>
              <a:t>      </a:t>
            </a:r>
            <a:r>
              <a:rPr lang="ko-KR" altLang="en-US" sz="700" dirty="0" err="1" smtClean="0">
                <a:solidFill>
                  <a:srgbClr val="0000FF"/>
                </a:solidFill>
              </a:rPr>
              <a:t>지출확정후</a:t>
            </a:r>
            <a:r>
              <a:rPr lang="ko-KR" altLang="en-US" sz="700" dirty="0" smtClean="0">
                <a:solidFill>
                  <a:srgbClr val="0000FF"/>
                </a:solidFill>
              </a:rPr>
              <a:t>  번호 표시 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endParaRPr lang="en-US" altLang="ko-KR" sz="700" dirty="0" smtClean="0">
              <a:solidFill>
                <a:srgbClr val="0000FF"/>
              </a:solidFill>
            </a:endParaRPr>
          </a:p>
          <a:p>
            <a:endParaRPr lang="en-US" altLang="ko-KR" sz="700" dirty="0">
              <a:solidFill>
                <a:srgbClr val="0000FF"/>
              </a:solidFill>
            </a:endParaRPr>
          </a:p>
          <a:p>
            <a:r>
              <a:rPr lang="en-US" altLang="ko-KR" sz="700" dirty="0" smtClean="0">
                <a:solidFill>
                  <a:srgbClr val="0000FF"/>
                </a:solidFill>
              </a:rPr>
              <a:t>1-3. </a:t>
            </a:r>
            <a:r>
              <a:rPr lang="ko-KR" altLang="en-US" sz="700" dirty="0" smtClean="0">
                <a:solidFill>
                  <a:srgbClr val="0000FF"/>
                </a:solidFill>
              </a:rPr>
              <a:t>용적 </a:t>
            </a:r>
            <a:r>
              <a:rPr lang="en-US" altLang="ko-KR" sz="700" dirty="0" smtClean="0">
                <a:solidFill>
                  <a:srgbClr val="0000FF"/>
                </a:solidFill>
              </a:rPr>
              <a:t>, </a:t>
            </a:r>
            <a:r>
              <a:rPr lang="ko-KR" altLang="en-US" sz="700" dirty="0" smtClean="0">
                <a:solidFill>
                  <a:srgbClr val="0000FF"/>
                </a:solidFill>
              </a:rPr>
              <a:t>컨테이너 </a:t>
            </a:r>
            <a:r>
              <a:rPr lang="en-US" altLang="ko-KR" sz="700" dirty="0" smtClean="0">
                <a:solidFill>
                  <a:srgbClr val="0000FF"/>
                </a:solidFill>
              </a:rPr>
              <a:t>-&gt; </a:t>
            </a:r>
          </a:p>
          <a:p>
            <a:r>
              <a:rPr lang="ko-KR" altLang="en-US" sz="700" dirty="0" smtClean="0">
                <a:solidFill>
                  <a:srgbClr val="0000FF"/>
                </a:solidFill>
              </a:rPr>
              <a:t>항공수출</a:t>
            </a:r>
            <a:r>
              <a:rPr lang="en-US" altLang="ko-KR" sz="700" dirty="0" smtClean="0">
                <a:solidFill>
                  <a:srgbClr val="0000FF"/>
                </a:solidFill>
              </a:rPr>
              <a:t>, </a:t>
            </a:r>
            <a:r>
              <a:rPr lang="ko-KR" altLang="en-US" sz="700" dirty="0" smtClean="0">
                <a:solidFill>
                  <a:srgbClr val="0000FF"/>
                </a:solidFill>
              </a:rPr>
              <a:t>항공수입 인 경우 공백 처리 또는 항목 화면표시 삭제 처리</a:t>
            </a:r>
            <a:endParaRPr lang="en-US" altLang="ko-KR" sz="700" dirty="0" smtClean="0">
              <a:solidFill>
                <a:srgbClr val="0000FF"/>
              </a:solidFill>
            </a:endParaRPr>
          </a:p>
          <a:p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ko-KR" altLang="en-US" sz="700" dirty="0" smtClean="0">
                <a:solidFill>
                  <a:srgbClr val="0000FF"/>
                </a:solidFill>
              </a:rPr>
              <a:t>컨테이너 </a:t>
            </a:r>
            <a:r>
              <a:rPr lang="en-US" altLang="ko-KR" sz="700" dirty="0" smtClean="0">
                <a:solidFill>
                  <a:srgbClr val="0000FF"/>
                </a:solidFill>
              </a:rPr>
              <a:t>-&gt; </a:t>
            </a:r>
            <a:r>
              <a:rPr lang="ko-KR" altLang="en-US" sz="700" dirty="0" smtClean="0">
                <a:solidFill>
                  <a:srgbClr val="0000FF"/>
                </a:solidFill>
              </a:rPr>
              <a:t>컨테이너 유형 및 </a:t>
            </a:r>
            <a:r>
              <a:rPr lang="en-US" altLang="ko-KR" sz="700" dirty="0" smtClean="0">
                <a:solidFill>
                  <a:srgbClr val="0000FF"/>
                </a:solidFill>
              </a:rPr>
              <a:t>FCL </a:t>
            </a:r>
            <a:r>
              <a:rPr lang="ko-KR" altLang="en-US" sz="700" dirty="0" smtClean="0">
                <a:solidFill>
                  <a:srgbClr val="0000FF"/>
                </a:solidFill>
              </a:rPr>
              <a:t>인 경우 컨테이너 종류 및 개수 표시 처리</a:t>
            </a:r>
            <a:endParaRPr lang="en-US" altLang="ko-KR" sz="700" dirty="0">
              <a:solidFill>
                <a:srgbClr val="0000FF"/>
              </a:solidFill>
            </a:endParaRPr>
          </a:p>
          <a:p>
            <a:endParaRPr lang="en-US" altLang="ko-KR" sz="700" dirty="0" smtClean="0">
              <a:solidFill>
                <a:srgbClr val="0000FF"/>
              </a:solidFill>
            </a:endParaRPr>
          </a:p>
          <a:p>
            <a:r>
              <a:rPr lang="ko-KR" altLang="en-US" sz="700" b="1" dirty="0" smtClean="0">
                <a:solidFill>
                  <a:srgbClr val="FF0000"/>
                </a:solidFill>
              </a:rPr>
              <a:t>그 외 항목 통관정산 항목 연계 처리 후 출력물에 표시 처리</a:t>
            </a:r>
            <a:endParaRPr lang="en-US" altLang="ko-KR" sz="700" b="1" dirty="0" smtClean="0">
              <a:solidFill>
                <a:srgbClr val="FF0000"/>
              </a:solidFill>
            </a:endParaRPr>
          </a:p>
          <a:p>
            <a:endParaRPr lang="en-US" altLang="ko-KR" sz="700" dirty="0">
              <a:solidFill>
                <a:srgbClr val="0000FF"/>
              </a:solidFill>
            </a:endParaRPr>
          </a:p>
          <a:p>
            <a:endParaRPr lang="en-US" altLang="ko-KR" sz="700" b="1" dirty="0" smtClean="0">
              <a:solidFill>
                <a:srgbClr val="FF0000"/>
              </a:solidFill>
            </a:endParaRPr>
          </a:p>
        </p:txBody>
      </p:sp>
      <p:sp>
        <p:nvSpPr>
          <p:cNvPr id="55" name="타원 54"/>
          <p:cNvSpPr/>
          <p:nvPr/>
        </p:nvSpPr>
        <p:spPr>
          <a:xfrm>
            <a:off x="-3736197" y="1172286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1-2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-3736197" y="149632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1-3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7519663" y="6608805"/>
            <a:ext cx="1521363" cy="132563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rgbClr val="FF0066"/>
                </a:solidFill>
              </a:rPr>
              <a:t>자사정보 </a:t>
            </a:r>
            <a:r>
              <a:rPr lang="en-US" altLang="ko-KR" dirty="0" smtClean="0">
                <a:solidFill>
                  <a:srgbClr val="FF0066"/>
                </a:solidFill>
              </a:rPr>
              <a:t>: </a:t>
            </a:r>
            <a:r>
              <a:rPr lang="ko-KR" altLang="en-US" dirty="0" smtClean="0">
                <a:solidFill>
                  <a:srgbClr val="FF0066"/>
                </a:solidFill>
              </a:rPr>
              <a:t>서명 이미지 연계</a:t>
            </a:r>
          </a:p>
        </p:txBody>
      </p:sp>
    </p:spTree>
    <p:extLst>
      <p:ext uri="{BB962C8B-B14F-4D97-AF65-F5344CB8AC3E}">
        <p14:creationId xmlns:p14="http://schemas.microsoft.com/office/powerpoint/2010/main" val="1719118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04034" y="491160"/>
            <a:ext cx="9865096" cy="2735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3" name="제목 21"/>
          <p:cNvSpPr txBox="1">
            <a:spLocks/>
          </p:cNvSpPr>
          <p:nvPr/>
        </p:nvSpPr>
        <p:spPr>
          <a:xfrm>
            <a:off x="997894" y="253760"/>
            <a:ext cx="2060048" cy="251463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1000" dirty="0">
                <a:solidFill>
                  <a:srgbClr val="000000"/>
                </a:solidFill>
              </a:rPr>
              <a:t>입력</a:t>
            </a:r>
            <a:r>
              <a:rPr lang="en-US" altLang="ko-KR" sz="1000" dirty="0">
                <a:solidFill>
                  <a:srgbClr val="000000"/>
                </a:solidFill>
              </a:rPr>
              <a:t>/</a:t>
            </a:r>
            <a:r>
              <a:rPr lang="ko-KR" altLang="en-US" sz="1000" dirty="0">
                <a:solidFill>
                  <a:srgbClr val="000000"/>
                </a:solidFill>
              </a:rPr>
              <a:t>조회</a:t>
            </a:r>
            <a:r>
              <a:rPr lang="en-US" altLang="ko-KR" sz="1000" dirty="0">
                <a:solidFill>
                  <a:srgbClr val="000000"/>
                </a:solidFill>
              </a:rPr>
              <a:t>/</a:t>
            </a:r>
            <a:r>
              <a:rPr lang="ko-KR" altLang="en-US" sz="1000" dirty="0">
                <a:solidFill>
                  <a:srgbClr val="000000"/>
                </a:solidFill>
              </a:rPr>
              <a:t>삭제</a:t>
            </a:r>
            <a:r>
              <a:rPr lang="en-US" altLang="ko-KR" sz="1000" dirty="0">
                <a:solidFill>
                  <a:srgbClr val="000000"/>
                </a:solidFill>
              </a:rPr>
              <a:t>/</a:t>
            </a:r>
            <a:r>
              <a:rPr lang="ko-KR" altLang="en-US" sz="1000" dirty="0">
                <a:solidFill>
                  <a:srgbClr val="000000"/>
                </a:solidFill>
              </a:rPr>
              <a:t>수정</a:t>
            </a:r>
            <a:endParaRPr lang="ko-KR" altLang="en-US" sz="1000" kern="0" dirty="0">
              <a:solidFill>
                <a:srgbClr val="000000"/>
              </a:solidFill>
            </a:endParaRPr>
          </a:p>
          <a:p>
            <a:pPr algn="l"/>
            <a:endParaRPr lang="ko-KR" altLang="en-US" sz="1000" kern="0" dirty="0">
              <a:solidFill>
                <a:srgbClr val="000000"/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 idx="4294967295"/>
          </p:nvPr>
        </p:nvSpPr>
        <p:spPr>
          <a:xfrm>
            <a:off x="5868404" y="30063"/>
            <a:ext cx="2052228" cy="230585"/>
          </a:xfrm>
          <a:prstGeom prst="rect">
            <a:avLst/>
          </a:prstGeom>
        </p:spPr>
        <p:txBody>
          <a:bodyPr/>
          <a:lstStyle/>
          <a:p>
            <a:r>
              <a:rPr lang="ko-KR" altLang="en-US" sz="1100" dirty="0" smtClean="0"/>
              <a:t>통관정산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목록</a:t>
            </a:r>
            <a:endParaRPr lang="ko-KR" altLang="en-US" sz="1100" dirty="0"/>
          </a:p>
        </p:txBody>
      </p:sp>
      <p:graphicFrame>
        <p:nvGraphicFramePr>
          <p:cNvPr id="85" name="표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135338"/>
              </p:ext>
            </p:extLst>
          </p:nvPr>
        </p:nvGraphicFramePr>
        <p:xfrm>
          <a:off x="229478" y="2456892"/>
          <a:ext cx="8997038" cy="12198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4633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56084">
                  <a:extLst>
                    <a:ext uri="{9D8B030D-6E8A-4147-A177-3AD203B41FA5}">
                      <a16:colId xmlns="" xmlns:a16="http://schemas.microsoft.com/office/drawing/2014/main" val="3496174177"/>
                    </a:ext>
                  </a:extLst>
                </a:gridCol>
                <a:gridCol w="72008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48072"/>
                <a:gridCol w="72008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="" xmlns:a16="http://schemas.microsoft.com/office/drawing/2014/main" val="1916353763"/>
                    </a:ext>
                  </a:extLst>
                </a:gridCol>
                <a:gridCol w="540060"/>
                <a:gridCol w="504056"/>
                <a:gridCol w="57606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648072"/>
                <a:gridCol w="54006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576064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562932"/>
                <a:gridCol w="562932"/>
              </a:tblGrid>
              <a:tr h="1825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입출항일자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통관수리일자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거래처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</a:rPr>
                        <a:t>JOB.NO.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</a:rPr>
                        <a:t>M.B/L NO.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</a:rPr>
                        <a:t>H.B/L NO.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smtClean="0">
                          <a:solidFill>
                            <a:schemeClr val="tx1"/>
                          </a:solidFill>
                        </a:rPr>
                        <a:t>WT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solidFill>
                            <a:schemeClr val="tx1"/>
                          </a:solidFill>
                        </a:rPr>
                        <a:t>CBM</a:t>
                      </a:r>
                      <a:endParaRPr lang="ko-KR" altLang="en-US" sz="7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청구번호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청구일자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청구금액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</a:rPr>
                        <a:t>운임료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운송료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창고료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0434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0434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0434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0434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04340"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6" name="직사각형 85"/>
          <p:cNvSpPr/>
          <p:nvPr/>
        </p:nvSpPr>
        <p:spPr bwMode="auto">
          <a:xfrm>
            <a:off x="941410" y="1426120"/>
            <a:ext cx="853452" cy="18254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800" dirty="0" smtClean="0">
                <a:solidFill>
                  <a:srgbClr val="000000"/>
                </a:solidFill>
              </a:rPr>
              <a:t>2017-01-01</a:t>
            </a:r>
            <a:endParaRPr lang="ko-KR" altLang="en-US" sz="800" dirty="0">
              <a:solidFill>
                <a:srgbClr val="000000"/>
              </a:solidFill>
            </a:endParaRPr>
          </a:p>
        </p:txBody>
      </p:sp>
      <p:pic>
        <p:nvPicPr>
          <p:cNvPr id="87" name="Picture 12"/>
          <p:cNvPicPr>
            <a:picLocks noChangeAspect="1" noChangeArrowheads="1"/>
          </p:cNvPicPr>
          <p:nvPr/>
        </p:nvPicPr>
        <p:blipFill>
          <a:blip r:embed="rId2" cstate="print"/>
          <a:srcRect l="75599"/>
          <a:stretch>
            <a:fillRect/>
          </a:stretch>
        </p:blipFill>
        <p:spPr bwMode="auto">
          <a:xfrm>
            <a:off x="1827632" y="1436582"/>
            <a:ext cx="262278" cy="150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8" name="TextBox 87"/>
          <p:cNvSpPr txBox="1"/>
          <p:nvPr/>
        </p:nvSpPr>
        <p:spPr>
          <a:xfrm>
            <a:off x="2056522" y="1396976"/>
            <a:ext cx="2265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</a:rPr>
              <a:t>~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89" name="직사각형 88"/>
          <p:cNvSpPr/>
          <p:nvPr/>
        </p:nvSpPr>
        <p:spPr bwMode="auto">
          <a:xfrm>
            <a:off x="2313175" y="1426120"/>
            <a:ext cx="853452" cy="18185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800" dirty="0" smtClean="0">
                <a:solidFill>
                  <a:srgbClr val="000000"/>
                </a:solidFill>
              </a:rPr>
              <a:t>2017-01-01</a:t>
            </a:r>
            <a:endParaRPr lang="ko-KR" altLang="en-US" sz="800" dirty="0">
              <a:solidFill>
                <a:srgbClr val="000000"/>
              </a:solidFill>
            </a:endParaRPr>
          </a:p>
        </p:txBody>
      </p:sp>
      <p:pic>
        <p:nvPicPr>
          <p:cNvPr id="90" name="Picture 12"/>
          <p:cNvPicPr>
            <a:picLocks noChangeAspect="1" noChangeArrowheads="1"/>
          </p:cNvPicPr>
          <p:nvPr/>
        </p:nvPicPr>
        <p:blipFill>
          <a:blip r:embed="rId2" cstate="print"/>
          <a:srcRect l="75599"/>
          <a:stretch>
            <a:fillRect/>
          </a:stretch>
        </p:blipFill>
        <p:spPr bwMode="auto">
          <a:xfrm>
            <a:off x="3193858" y="1436582"/>
            <a:ext cx="262278" cy="150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3" name="직사각형 92"/>
          <p:cNvSpPr/>
          <p:nvPr/>
        </p:nvSpPr>
        <p:spPr bwMode="auto">
          <a:xfrm>
            <a:off x="1681712" y="1420369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94" name="직사각형 93"/>
          <p:cNvSpPr/>
          <p:nvPr/>
        </p:nvSpPr>
        <p:spPr bwMode="auto">
          <a:xfrm>
            <a:off x="3052499" y="1420369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97" name="표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0902"/>
              </p:ext>
            </p:extLst>
          </p:nvPr>
        </p:nvGraphicFramePr>
        <p:xfrm>
          <a:off x="195738" y="1304764"/>
          <a:ext cx="9665758" cy="7891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4114"/>
                <a:gridCol w="2628292"/>
                <a:gridCol w="612068"/>
                <a:gridCol w="1116124"/>
                <a:gridCol w="648072"/>
                <a:gridCol w="396044"/>
                <a:gridCol w="720080"/>
                <a:gridCol w="756084"/>
                <a:gridCol w="576064"/>
                <a:gridCol w="1508816"/>
              </a:tblGrid>
              <a:tr h="39457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/>
                        <a:t>일자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BOUND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업무유형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/>
                        <a:t>무역조건</a:t>
                      </a:r>
                      <a:endParaRPr lang="ko-KR" altLang="en-US" sz="7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9457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/>
                        <a:t>거래처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/>
                        <a:t>NO</a:t>
                      </a:r>
                      <a:endParaRPr lang="ko-KR" altLang="en-US" sz="700" dirty="0" smtClean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smtClean="0"/>
                        <a:t>입력사원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 smtClean="0"/>
                        <a:t>본지사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9" name="직사각형 98"/>
          <p:cNvSpPr/>
          <p:nvPr/>
        </p:nvSpPr>
        <p:spPr bwMode="auto">
          <a:xfrm>
            <a:off x="4287199" y="1434505"/>
            <a:ext cx="853452" cy="18254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 smtClean="0">
                <a:solidFill>
                  <a:srgbClr val="000000"/>
                </a:solidFill>
              </a:rPr>
              <a:t>전체</a:t>
            </a:r>
            <a:endParaRPr lang="ko-KR" altLang="en-US" sz="800" dirty="0">
              <a:solidFill>
                <a:srgbClr val="000000"/>
              </a:solidFill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5027501" y="1428754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01" name="직사각형 100"/>
          <p:cNvSpPr/>
          <p:nvPr/>
        </p:nvSpPr>
        <p:spPr bwMode="auto">
          <a:xfrm>
            <a:off x="969669" y="1818542"/>
            <a:ext cx="853452" cy="18254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 smtClean="0">
                <a:solidFill>
                  <a:srgbClr val="000000"/>
                </a:solidFill>
              </a:rPr>
              <a:t>거래처 코드</a:t>
            </a:r>
            <a:endParaRPr lang="ko-KR" altLang="en-US" sz="800" dirty="0">
              <a:solidFill>
                <a:srgbClr val="000000"/>
              </a:solidFill>
            </a:endParaRPr>
          </a:p>
        </p:txBody>
      </p:sp>
      <p:pic>
        <p:nvPicPr>
          <p:cNvPr id="102" name="그림 101"/>
          <p:cNvPicPr/>
          <p:nvPr/>
        </p:nvPicPr>
        <p:blipFill rotWithShape="1">
          <a:blip r:embed="rId3"/>
          <a:srcRect l="14590" t="44075" r="83163" b="41796"/>
          <a:stretch/>
        </p:blipFill>
        <p:spPr>
          <a:xfrm>
            <a:off x="1907964" y="1776947"/>
            <a:ext cx="169691" cy="254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3" name="직사각형 102"/>
          <p:cNvSpPr/>
          <p:nvPr/>
        </p:nvSpPr>
        <p:spPr bwMode="auto">
          <a:xfrm>
            <a:off x="2192823" y="1816435"/>
            <a:ext cx="1263314" cy="18464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 smtClean="0">
                <a:solidFill>
                  <a:srgbClr val="000000"/>
                </a:solidFill>
              </a:rPr>
              <a:t>거래처 명</a:t>
            </a:r>
            <a:endParaRPr lang="ko-KR" altLang="en-US" sz="800" dirty="0">
              <a:solidFill>
                <a:srgbClr val="000000"/>
              </a:solidFill>
            </a:endParaRPr>
          </a:p>
        </p:txBody>
      </p:sp>
      <p:pic>
        <p:nvPicPr>
          <p:cNvPr id="10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63848" y="2697443"/>
            <a:ext cx="159929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9" name="직사각형 118"/>
          <p:cNvSpPr/>
          <p:nvPr/>
        </p:nvSpPr>
        <p:spPr bwMode="auto">
          <a:xfrm>
            <a:off x="-1261748" y="1026806"/>
            <a:ext cx="90159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등록일자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20" name="직사각형 119"/>
          <p:cNvSpPr/>
          <p:nvPr/>
        </p:nvSpPr>
        <p:spPr bwMode="auto">
          <a:xfrm>
            <a:off x="-474850" y="1026807"/>
            <a:ext cx="114562" cy="1754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21" name="직사각형 120"/>
          <p:cNvSpPr/>
          <p:nvPr/>
        </p:nvSpPr>
        <p:spPr bwMode="auto">
          <a:xfrm>
            <a:off x="-1260388" y="1195677"/>
            <a:ext cx="9001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등록일자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22" name="직사각형 121"/>
          <p:cNvSpPr/>
          <p:nvPr/>
        </p:nvSpPr>
        <p:spPr bwMode="auto">
          <a:xfrm>
            <a:off x="-1260388" y="1350579"/>
            <a:ext cx="9001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입출항일자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23" name="타원 122"/>
          <p:cNvSpPr/>
          <p:nvPr/>
        </p:nvSpPr>
        <p:spPr>
          <a:xfrm>
            <a:off x="-1532894" y="775415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1-1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24" name="직사각형 123"/>
          <p:cNvSpPr/>
          <p:nvPr/>
        </p:nvSpPr>
        <p:spPr bwMode="auto">
          <a:xfrm>
            <a:off x="-1260388" y="1525346"/>
            <a:ext cx="9001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통관수리일자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29" name="직사각형 128"/>
          <p:cNvSpPr/>
          <p:nvPr/>
        </p:nvSpPr>
        <p:spPr bwMode="auto">
          <a:xfrm>
            <a:off x="-1261749" y="1988202"/>
            <a:ext cx="894377" cy="17546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ALL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30" name="직사각형 129"/>
          <p:cNvSpPr/>
          <p:nvPr/>
        </p:nvSpPr>
        <p:spPr bwMode="auto">
          <a:xfrm>
            <a:off x="-482063" y="1988204"/>
            <a:ext cx="114562" cy="1754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31" name="직사각형 130"/>
          <p:cNvSpPr/>
          <p:nvPr/>
        </p:nvSpPr>
        <p:spPr bwMode="auto">
          <a:xfrm>
            <a:off x="-1260388" y="2157074"/>
            <a:ext cx="9001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ALL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32" name="직사각형 131"/>
          <p:cNvSpPr/>
          <p:nvPr/>
        </p:nvSpPr>
        <p:spPr bwMode="auto">
          <a:xfrm>
            <a:off x="-1260388" y="2311976"/>
            <a:ext cx="9001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항공수입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33" name="타원 132"/>
          <p:cNvSpPr/>
          <p:nvPr/>
        </p:nvSpPr>
        <p:spPr>
          <a:xfrm>
            <a:off x="-1584424" y="185636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1-2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34" name="직사각형 133"/>
          <p:cNvSpPr/>
          <p:nvPr/>
        </p:nvSpPr>
        <p:spPr bwMode="auto">
          <a:xfrm>
            <a:off x="-1260388" y="2486743"/>
            <a:ext cx="9001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항공수출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35" name="직사각형 134"/>
          <p:cNvSpPr/>
          <p:nvPr/>
        </p:nvSpPr>
        <p:spPr bwMode="auto">
          <a:xfrm>
            <a:off x="170571" y="900626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FFFFFF"/>
                </a:solidFill>
              </a:rPr>
              <a:t>조</a:t>
            </a:r>
            <a:r>
              <a:rPr lang="ko-KR" altLang="en-US" sz="800" dirty="0">
                <a:solidFill>
                  <a:srgbClr val="FFFFFF"/>
                </a:solidFill>
              </a:rPr>
              <a:t>회</a:t>
            </a:r>
          </a:p>
        </p:txBody>
      </p:sp>
      <p:sp>
        <p:nvSpPr>
          <p:cNvPr id="136" name="직사각형 135"/>
          <p:cNvSpPr/>
          <p:nvPr/>
        </p:nvSpPr>
        <p:spPr bwMode="auto">
          <a:xfrm>
            <a:off x="925121" y="903013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800" dirty="0" smtClean="0">
                <a:solidFill>
                  <a:srgbClr val="FFFFFF"/>
                </a:solidFill>
              </a:rPr>
              <a:t>신규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137" name="직사각형 136"/>
          <p:cNvSpPr/>
          <p:nvPr/>
        </p:nvSpPr>
        <p:spPr bwMode="auto">
          <a:xfrm>
            <a:off x="1682739" y="901820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700" dirty="0" smtClean="0">
                <a:solidFill>
                  <a:srgbClr val="FFFFFF"/>
                </a:solidFill>
              </a:rPr>
              <a:t>삭제</a:t>
            </a:r>
            <a:endParaRPr lang="ko-KR" altLang="en-US" sz="700" dirty="0">
              <a:solidFill>
                <a:srgbClr val="FFFFFF"/>
              </a:solidFill>
            </a:endParaRPr>
          </a:p>
        </p:txBody>
      </p:sp>
      <p:sp>
        <p:nvSpPr>
          <p:cNvPr id="138" name="직사각형 137"/>
          <p:cNvSpPr/>
          <p:nvPr/>
        </p:nvSpPr>
        <p:spPr bwMode="auto">
          <a:xfrm>
            <a:off x="2437289" y="904207"/>
            <a:ext cx="694811" cy="256541"/>
          </a:xfrm>
          <a:prstGeom prst="rect">
            <a:avLst/>
          </a:prstGeom>
          <a:solidFill>
            <a:srgbClr val="0066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700" dirty="0" smtClean="0">
                <a:solidFill>
                  <a:srgbClr val="FFFFFF"/>
                </a:solidFill>
              </a:rPr>
              <a:t>출력</a:t>
            </a:r>
            <a:endParaRPr lang="ko-KR" altLang="en-US" sz="700" dirty="0">
              <a:solidFill>
                <a:srgbClr val="FFFFFF"/>
              </a:solidFill>
            </a:endParaRPr>
          </a:p>
        </p:txBody>
      </p:sp>
      <p:sp>
        <p:nvSpPr>
          <p:cNvPr id="51" name="직사각형 50"/>
          <p:cNvSpPr/>
          <p:nvPr/>
        </p:nvSpPr>
        <p:spPr bwMode="auto">
          <a:xfrm>
            <a:off x="4284228" y="1809027"/>
            <a:ext cx="805616" cy="17633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800" dirty="0" smtClean="0">
                <a:solidFill>
                  <a:schemeClr val="tx1"/>
                </a:solidFill>
              </a:rPr>
              <a:t>JOB NO.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 bwMode="auto">
          <a:xfrm>
            <a:off x="5154308" y="1815356"/>
            <a:ext cx="1051844" cy="16861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 bwMode="auto">
          <a:xfrm>
            <a:off x="4962702" y="1809027"/>
            <a:ext cx="125094" cy="17494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 bwMode="auto">
          <a:xfrm>
            <a:off x="6022546" y="1426119"/>
            <a:ext cx="853452" cy="18254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 smtClean="0">
                <a:solidFill>
                  <a:srgbClr val="000000"/>
                </a:solidFill>
              </a:rPr>
              <a:t>전체</a:t>
            </a:r>
            <a:endParaRPr lang="ko-KR" altLang="en-US" sz="800" dirty="0">
              <a:solidFill>
                <a:srgbClr val="000000"/>
              </a:solidFill>
            </a:endParaRPr>
          </a:p>
        </p:txBody>
      </p:sp>
      <p:sp>
        <p:nvSpPr>
          <p:cNvPr id="62" name="직사각형 61"/>
          <p:cNvSpPr/>
          <p:nvPr/>
        </p:nvSpPr>
        <p:spPr bwMode="auto">
          <a:xfrm>
            <a:off x="6762848" y="1420368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63" name="직사각형 62"/>
          <p:cNvSpPr/>
          <p:nvPr/>
        </p:nvSpPr>
        <p:spPr bwMode="auto">
          <a:xfrm>
            <a:off x="7858290" y="1427428"/>
            <a:ext cx="853452" cy="18254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 smtClean="0">
                <a:solidFill>
                  <a:srgbClr val="000000"/>
                </a:solidFill>
              </a:rPr>
              <a:t>전체</a:t>
            </a:r>
            <a:endParaRPr lang="ko-KR" altLang="en-US" sz="800" dirty="0">
              <a:solidFill>
                <a:srgbClr val="000000"/>
              </a:solidFill>
            </a:endParaRPr>
          </a:p>
        </p:txBody>
      </p:sp>
      <p:sp>
        <p:nvSpPr>
          <p:cNvPr id="64" name="직사각형 63"/>
          <p:cNvSpPr/>
          <p:nvPr/>
        </p:nvSpPr>
        <p:spPr bwMode="auto">
          <a:xfrm>
            <a:off x="8598592" y="1421677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67" name="직사각형 66"/>
          <p:cNvSpPr/>
          <p:nvPr/>
        </p:nvSpPr>
        <p:spPr bwMode="auto">
          <a:xfrm>
            <a:off x="7067180" y="1797988"/>
            <a:ext cx="637428" cy="20309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 smtClean="0">
                <a:solidFill>
                  <a:srgbClr val="000000"/>
                </a:solidFill>
              </a:rPr>
              <a:t>홍길동</a:t>
            </a:r>
            <a:endParaRPr lang="ko-KR" altLang="en-US" sz="800" dirty="0">
              <a:solidFill>
                <a:srgbClr val="000000"/>
              </a:solidFill>
            </a:endParaRPr>
          </a:p>
        </p:txBody>
      </p:sp>
      <p:sp>
        <p:nvSpPr>
          <p:cNvPr id="68" name="직사각형 67"/>
          <p:cNvSpPr/>
          <p:nvPr/>
        </p:nvSpPr>
        <p:spPr bwMode="auto">
          <a:xfrm>
            <a:off x="7596596" y="1800704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69" name="직사각형 68"/>
          <p:cNvSpPr/>
          <p:nvPr/>
        </p:nvSpPr>
        <p:spPr bwMode="auto">
          <a:xfrm>
            <a:off x="8496696" y="1797988"/>
            <a:ext cx="637428" cy="20309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800" dirty="0" smtClean="0">
                <a:solidFill>
                  <a:srgbClr val="000000"/>
                </a:solidFill>
              </a:rPr>
              <a:t>본사</a:t>
            </a:r>
            <a:endParaRPr lang="ko-KR" altLang="en-US" sz="800" dirty="0">
              <a:solidFill>
                <a:srgbClr val="000000"/>
              </a:solidFill>
            </a:endParaRPr>
          </a:p>
        </p:txBody>
      </p:sp>
      <p:sp>
        <p:nvSpPr>
          <p:cNvPr id="70" name="직사각형 69"/>
          <p:cNvSpPr/>
          <p:nvPr/>
        </p:nvSpPr>
        <p:spPr bwMode="auto">
          <a:xfrm>
            <a:off x="9026112" y="1800704"/>
            <a:ext cx="114128" cy="18121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71" name="표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341021"/>
              </p:ext>
            </p:extLst>
          </p:nvPr>
        </p:nvGraphicFramePr>
        <p:xfrm>
          <a:off x="232710" y="3973376"/>
          <a:ext cx="8578692" cy="12198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56084">
                  <a:extLst>
                    <a:ext uri="{9D8B030D-6E8A-4147-A177-3AD203B41FA5}">
                      <a16:colId xmlns="" xmlns:a16="http://schemas.microsoft.com/office/drawing/2014/main" val="3496174177"/>
                    </a:ext>
                  </a:extLst>
                </a:gridCol>
                <a:gridCol w="72008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48072"/>
                <a:gridCol w="72008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="" xmlns:a16="http://schemas.microsoft.com/office/drawing/2014/main" val="1916353763"/>
                    </a:ext>
                  </a:extLst>
                </a:gridCol>
                <a:gridCol w="57606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540060"/>
                <a:gridCol w="559130"/>
                <a:gridCol w="612068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556994"/>
                <a:gridCol w="54006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576064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562932"/>
                <a:gridCol w="562932"/>
              </a:tblGrid>
              <a:tr h="1825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solidFill>
                            <a:schemeClr val="tx1"/>
                          </a:solidFill>
                        </a:rPr>
                        <a:t>통관료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합계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지출합계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실적금액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지출일자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이월금액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입금일자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입금금액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합계금액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청구금액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합계잔액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송금일자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송금금액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chemeClr val="tx1"/>
                          </a:solidFill>
                        </a:rPr>
                        <a:t>이월잔액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0434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0434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04340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04340"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043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1" name="타원 140"/>
          <p:cNvSpPr/>
          <p:nvPr/>
        </p:nvSpPr>
        <p:spPr>
          <a:xfrm>
            <a:off x="4122210" y="1138000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1-2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123723" y="568500"/>
            <a:ext cx="1621197" cy="191235"/>
          </a:xfrm>
          <a:prstGeom prst="rect">
            <a:avLst/>
          </a:prstGeom>
          <a:solidFill>
            <a:srgbClr val="FFCC66"/>
          </a:solidFill>
          <a:ln w="3175"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rgbClr val="000000"/>
                </a:solidFill>
              </a:rPr>
              <a:t>통관정산</a:t>
            </a:r>
          </a:p>
        </p:txBody>
      </p:sp>
      <p:sp>
        <p:nvSpPr>
          <p:cNvPr id="144" name="직사각형 143"/>
          <p:cNvSpPr/>
          <p:nvPr/>
        </p:nvSpPr>
        <p:spPr bwMode="auto">
          <a:xfrm>
            <a:off x="-1260388" y="1700808"/>
            <a:ext cx="9001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실적일자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84" name="타원 83"/>
          <p:cNvSpPr/>
          <p:nvPr/>
        </p:nvSpPr>
        <p:spPr>
          <a:xfrm>
            <a:off x="539812" y="1214443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1-1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45" name="직사각형 144"/>
          <p:cNvSpPr/>
          <p:nvPr/>
        </p:nvSpPr>
        <p:spPr bwMode="auto">
          <a:xfrm>
            <a:off x="-1260388" y="2662205"/>
            <a:ext cx="9001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해상수입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46" name="직사각형 145"/>
          <p:cNvSpPr/>
          <p:nvPr/>
        </p:nvSpPr>
        <p:spPr bwMode="auto">
          <a:xfrm>
            <a:off x="-1260388" y="2842225"/>
            <a:ext cx="9001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해상수출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47" name="타원 146"/>
          <p:cNvSpPr/>
          <p:nvPr/>
        </p:nvSpPr>
        <p:spPr>
          <a:xfrm>
            <a:off x="5860528" y="1163163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1-3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48" name="직사각형 147"/>
          <p:cNvSpPr/>
          <p:nvPr/>
        </p:nvSpPr>
        <p:spPr bwMode="auto">
          <a:xfrm>
            <a:off x="-1287963" y="3165019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통관</a:t>
            </a:r>
            <a:r>
              <a:rPr lang="en-US" altLang="ko-KR" dirty="0" smtClean="0">
                <a:solidFill>
                  <a:srgbClr val="000000"/>
                </a:solidFill>
              </a:rPr>
              <a:t>B/L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49" name="직사각형 148"/>
          <p:cNvSpPr/>
          <p:nvPr/>
        </p:nvSpPr>
        <p:spPr bwMode="auto">
          <a:xfrm>
            <a:off x="-480793" y="3165020"/>
            <a:ext cx="117717" cy="1754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0" name="직사각형 149"/>
          <p:cNvSpPr/>
          <p:nvPr/>
        </p:nvSpPr>
        <p:spPr bwMode="auto">
          <a:xfrm>
            <a:off x="-1287962" y="3333890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통관</a:t>
            </a:r>
            <a:r>
              <a:rPr lang="en-US" altLang="ko-KR" dirty="0" smtClean="0">
                <a:solidFill>
                  <a:srgbClr val="000000"/>
                </a:solidFill>
              </a:rPr>
              <a:t>B/L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1" name="직사각형 150"/>
          <p:cNvSpPr/>
          <p:nvPr/>
        </p:nvSpPr>
        <p:spPr bwMode="auto">
          <a:xfrm>
            <a:off x="-1287962" y="3488792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운송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2" name="직사각형 151"/>
          <p:cNvSpPr/>
          <p:nvPr/>
        </p:nvSpPr>
        <p:spPr bwMode="auto">
          <a:xfrm>
            <a:off x="-1287962" y="3658378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창고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3" name="직사각형 152"/>
          <p:cNvSpPr/>
          <p:nvPr/>
        </p:nvSpPr>
        <p:spPr bwMode="auto">
          <a:xfrm>
            <a:off x="-1285175" y="3838398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 smtClean="0">
                <a:solidFill>
                  <a:srgbClr val="000000"/>
                </a:solidFill>
              </a:rPr>
              <a:t>기</a:t>
            </a:r>
            <a:r>
              <a:rPr lang="ko-KR" altLang="en-US" dirty="0">
                <a:solidFill>
                  <a:srgbClr val="000000"/>
                </a:solidFill>
              </a:rPr>
              <a:t>타</a:t>
            </a:r>
          </a:p>
        </p:txBody>
      </p:sp>
      <p:sp>
        <p:nvSpPr>
          <p:cNvPr id="154" name="타원 153"/>
          <p:cNvSpPr/>
          <p:nvPr/>
        </p:nvSpPr>
        <p:spPr>
          <a:xfrm>
            <a:off x="-1664899" y="3164925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>
                <a:solidFill>
                  <a:srgbClr val="FFFFFF"/>
                </a:solidFill>
              </a:rPr>
              <a:t>1</a:t>
            </a:r>
            <a:r>
              <a:rPr lang="en-US" altLang="ko-KR" sz="700" b="1" dirty="0" smtClean="0">
                <a:solidFill>
                  <a:srgbClr val="FFFFFF"/>
                </a:solidFill>
              </a:rPr>
              <a:t>-3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55" name="직사각형 154"/>
          <p:cNvSpPr/>
          <p:nvPr/>
        </p:nvSpPr>
        <p:spPr bwMode="auto">
          <a:xfrm>
            <a:off x="10620932" y="1709855"/>
            <a:ext cx="822159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CFR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6" name="직사각형 155"/>
          <p:cNvSpPr/>
          <p:nvPr/>
        </p:nvSpPr>
        <p:spPr bwMode="auto">
          <a:xfrm>
            <a:off x="11338622" y="1709856"/>
            <a:ext cx="104469" cy="1754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7" name="직사각형 156"/>
          <p:cNvSpPr/>
          <p:nvPr/>
        </p:nvSpPr>
        <p:spPr bwMode="auto">
          <a:xfrm>
            <a:off x="10622292" y="1878726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CFR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8" name="직사각형 157"/>
          <p:cNvSpPr/>
          <p:nvPr/>
        </p:nvSpPr>
        <p:spPr bwMode="auto">
          <a:xfrm>
            <a:off x="10622292" y="2033628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CIF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9" name="직사각형 158"/>
          <p:cNvSpPr/>
          <p:nvPr/>
        </p:nvSpPr>
        <p:spPr bwMode="auto">
          <a:xfrm>
            <a:off x="10622292" y="2209090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CIP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60" name="직사각형 159"/>
          <p:cNvSpPr/>
          <p:nvPr/>
        </p:nvSpPr>
        <p:spPr bwMode="auto">
          <a:xfrm>
            <a:off x="10622292" y="2363992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CPT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61" name="직사각형 160"/>
          <p:cNvSpPr/>
          <p:nvPr/>
        </p:nvSpPr>
        <p:spPr bwMode="auto">
          <a:xfrm>
            <a:off x="10622292" y="2539454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DAF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62" name="직사각형 161"/>
          <p:cNvSpPr/>
          <p:nvPr/>
        </p:nvSpPr>
        <p:spPr bwMode="auto">
          <a:xfrm>
            <a:off x="10622292" y="2694356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DDP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63" name="직사각형 162"/>
          <p:cNvSpPr/>
          <p:nvPr/>
        </p:nvSpPr>
        <p:spPr bwMode="auto">
          <a:xfrm>
            <a:off x="10622292" y="2861332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DDU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64" name="직사각형 163"/>
          <p:cNvSpPr/>
          <p:nvPr/>
        </p:nvSpPr>
        <p:spPr bwMode="auto">
          <a:xfrm>
            <a:off x="10628880" y="3032695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DEQ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65" name="직사각형 164"/>
          <p:cNvSpPr/>
          <p:nvPr/>
        </p:nvSpPr>
        <p:spPr bwMode="auto">
          <a:xfrm>
            <a:off x="10628880" y="3187597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DES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66" name="직사각형 165"/>
          <p:cNvSpPr/>
          <p:nvPr/>
        </p:nvSpPr>
        <p:spPr bwMode="auto">
          <a:xfrm>
            <a:off x="10628880" y="3363059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EXW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67" name="직사각형 166"/>
          <p:cNvSpPr/>
          <p:nvPr/>
        </p:nvSpPr>
        <p:spPr bwMode="auto">
          <a:xfrm>
            <a:off x="10628880" y="3517961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FAX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68" name="직사각형 167"/>
          <p:cNvSpPr/>
          <p:nvPr/>
        </p:nvSpPr>
        <p:spPr bwMode="auto">
          <a:xfrm>
            <a:off x="10628880" y="3684937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FCA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69" name="직사각형 168"/>
          <p:cNvSpPr/>
          <p:nvPr/>
        </p:nvSpPr>
        <p:spPr bwMode="auto">
          <a:xfrm>
            <a:off x="10628880" y="3868019"/>
            <a:ext cx="820800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FOB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70" name="타원 169"/>
          <p:cNvSpPr/>
          <p:nvPr/>
        </p:nvSpPr>
        <p:spPr>
          <a:xfrm>
            <a:off x="10304844" y="1496322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1-4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71" name="타원 170"/>
          <p:cNvSpPr/>
          <p:nvPr/>
        </p:nvSpPr>
        <p:spPr>
          <a:xfrm>
            <a:off x="8442403" y="1163163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1-4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72" name="직사각형 171"/>
          <p:cNvSpPr/>
          <p:nvPr/>
        </p:nvSpPr>
        <p:spPr bwMode="auto">
          <a:xfrm>
            <a:off x="11825899" y="1680900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JOB NO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73" name="직사각형 172"/>
          <p:cNvSpPr/>
          <p:nvPr/>
        </p:nvSpPr>
        <p:spPr bwMode="auto">
          <a:xfrm>
            <a:off x="12633069" y="1680901"/>
            <a:ext cx="117717" cy="17546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rgbClr val="000000"/>
                </a:solidFill>
              </a:rPr>
              <a:t>▼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74" name="직사각형 173"/>
          <p:cNvSpPr/>
          <p:nvPr/>
        </p:nvSpPr>
        <p:spPr bwMode="auto">
          <a:xfrm>
            <a:off x="11825900" y="1849771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rgbClr val="000000"/>
                </a:solidFill>
              </a:rPr>
              <a:t>JOB NO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75" name="직사각형 174"/>
          <p:cNvSpPr/>
          <p:nvPr/>
        </p:nvSpPr>
        <p:spPr bwMode="auto">
          <a:xfrm>
            <a:off x="11825900" y="2004673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M B/L NO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76" name="직사각형 175"/>
          <p:cNvSpPr/>
          <p:nvPr/>
        </p:nvSpPr>
        <p:spPr bwMode="auto">
          <a:xfrm>
            <a:off x="11825900" y="2174259"/>
            <a:ext cx="924887" cy="175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 smtClean="0">
                <a:solidFill>
                  <a:srgbClr val="000000"/>
                </a:solidFill>
              </a:rPr>
              <a:t>H B/L NO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78" name="타원 177"/>
          <p:cNvSpPr/>
          <p:nvPr/>
        </p:nvSpPr>
        <p:spPr>
          <a:xfrm>
            <a:off x="11504651" y="1495330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1-5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79" name="직사각형 178"/>
          <p:cNvSpPr/>
          <p:nvPr/>
        </p:nvSpPr>
        <p:spPr>
          <a:xfrm>
            <a:off x="1011910" y="2048241"/>
            <a:ext cx="1944575" cy="285845"/>
          </a:xfrm>
          <a:prstGeom prst="rect">
            <a:avLst/>
          </a:prstGeom>
          <a:solidFill>
            <a:schemeClr val="bg1"/>
          </a:solidFill>
          <a:ln w="31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rgbClr val="0000FF"/>
                </a:solidFill>
              </a:rPr>
              <a:t>거래처 코드 </a:t>
            </a:r>
            <a:r>
              <a:rPr lang="ko-KR" altLang="en-US" dirty="0" err="1" smtClean="0">
                <a:solidFill>
                  <a:srgbClr val="0000FF"/>
                </a:solidFill>
              </a:rPr>
              <a:t>조회시</a:t>
            </a:r>
            <a:r>
              <a:rPr lang="ko-KR" altLang="en-US" dirty="0" smtClean="0">
                <a:solidFill>
                  <a:srgbClr val="0000FF"/>
                </a:solidFill>
              </a:rPr>
              <a:t> 화주  기본조회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r>
              <a:rPr lang="ko-KR" altLang="en-US" dirty="0" smtClean="0">
                <a:solidFill>
                  <a:srgbClr val="FF0000"/>
                </a:solidFill>
              </a:rPr>
              <a:t>화주코드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한</a:t>
            </a:r>
            <a:r>
              <a:rPr lang="ko-KR" altLang="en-US" dirty="0">
                <a:solidFill>
                  <a:srgbClr val="FF0000"/>
                </a:solidFill>
              </a:rPr>
              <a:t>글</a:t>
            </a:r>
            <a:r>
              <a:rPr lang="ko-KR" altLang="en-US" dirty="0" smtClean="0">
                <a:solidFill>
                  <a:srgbClr val="FF0000"/>
                </a:solidFill>
              </a:rPr>
              <a:t> 상호 조회</a:t>
            </a:r>
          </a:p>
        </p:txBody>
      </p:sp>
      <p:sp>
        <p:nvSpPr>
          <p:cNvPr id="180" name="직사각형 179"/>
          <p:cNvSpPr/>
          <p:nvPr/>
        </p:nvSpPr>
        <p:spPr>
          <a:xfrm>
            <a:off x="8122657" y="2420887"/>
            <a:ext cx="1103859" cy="273469"/>
          </a:xfrm>
          <a:prstGeom prst="rect">
            <a:avLst/>
          </a:prstGeom>
          <a:noFill/>
          <a:ln w="254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 smtClean="0">
              <a:solidFill>
                <a:srgbClr val="0000FF"/>
              </a:solidFill>
            </a:endParaRPr>
          </a:p>
        </p:txBody>
      </p:sp>
      <p:sp>
        <p:nvSpPr>
          <p:cNvPr id="181" name="타원 180"/>
          <p:cNvSpPr/>
          <p:nvPr/>
        </p:nvSpPr>
        <p:spPr>
          <a:xfrm>
            <a:off x="8024137" y="2180397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1-6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82" name="타원 181"/>
          <p:cNvSpPr/>
          <p:nvPr/>
        </p:nvSpPr>
        <p:spPr>
          <a:xfrm>
            <a:off x="4125181" y="2014481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1-5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10622292" y="4274999"/>
            <a:ext cx="3130988" cy="778233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rgbClr val="0000FF"/>
                </a:solidFill>
                <a:latin typeface="Rix고딕 M"/>
                <a:ea typeface="Rix고딕 M"/>
              </a:rPr>
              <a:t>◯ </a:t>
            </a:r>
            <a:r>
              <a:rPr lang="ko-KR" altLang="en-US" dirty="0" smtClean="0">
                <a:solidFill>
                  <a:srgbClr val="0000FF"/>
                </a:solidFill>
              </a:rPr>
              <a:t>통관정산 청구 자료 연계 처리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endParaRPr lang="en-US" altLang="ko-KR" sz="700" dirty="0" smtClean="0">
              <a:solidFill>
                <a:srgbClr val="FF0066"/>
              </a:solidFill>
            </a:endParaRPr>
          </a:p>
          <a:p>
            <a:r>
              <a:rPr lang="ko-KR" altLang="en-US" sz="700" dirty="0" err="1" smtClean="0">
                <a:solidFill>
                  <a:srgbClr val="FF0066"/>
                </a:solidFill>
              </a:rPr>
              <a:t>운임료</a:t>
            </a:r>
            <a:r>
              <a:rPr lang="ko-KR" altLang="en-US" sz="700" dirty="0" smtClean="0">
                <a:solidFill>
                  <a:srgbClr val="FF0066"/>
                </a:solidFill>
              </a:rPr>
              <a:t> </a:t>
            </a:r>
            <a:r>
              <a:rPr lang="en-US" altLang="ko-KR" sz="700" dirty="0" smtClean="0">
                <a:solidFill>
                  <a:srgbClr val="FF0066"/>
                </a:solidFill>
              </a:rPr>
              <a:t>: </a:t>
            </a:r>
            <a:r>
              <a:rPr lang="ko-KR" altLang="en-US" sz="700" dirty="0" smtClean="0">
                <a:solidFill>
                  <a:srgbClr val="FF0066"/>
                </a:solidFill>
              </a:rPr>
              <a:t>부과유형 </a:t>
            </a:r>
            <a:r>
              <a:rPr lang="en-US" altLang="ko-KR" sz="700" dirty="0" smtClean="0">
                <a:solidFill>
                  <a:srgbClr val="FF0066"/>
                </a:solidFill>
              </a:rPr>
              <a:t>(</a:t>
            </a:r>
            <a:r>
              <a:rPr lang="ko-KR" altLang="en-US" sz="700" dirty="0" err="1" smtClean="0">
                <a:solidFill>
                  <a:srgbClr val="FF0066"/>
                </a:solidFill>
              </a:rPr>
              <a:t>포워더</a:t>
            </a:r>
            <a:r>
              <a:rPr lang="en-US" altLang="ko-KR" sz="700" dirty="0" smtClean="0">
                <a:solidFill>
                  <a:srgbClr val="FF0066"/>
                </a:solidFill>
              </a:rPr>
              <a:t>)</a:t>
            </a:r>
          </a:p>
          <a:p>
            <a:r>
              <a:rPr lang="ko-KR" altLang="en-US" sz="700" dirty="0" smtClean="0">
                <a:solidFill>
                  <a:srgbClr val="FF0066"/>
                </a:solidFill>
              </a:rPr>
              <a:t>운송료 </a:t>
            </a:r>
            <a:r>
              <a:rPr lang="en-US" altLang="ko-KR" sz="700" dirty="0">
                <a:solidFill>
                  <a:srgbClr val="FF0066"/>
                </a:solidFill>
              </a:rPr>
              <a:t>: </a:t>
            </a:r>
            <a:r>
              <a:rPr lang="ko-KR" altLang="en-US" sz="700" dirty="0">
                <a:solidFill>
                  <a:srgbClr val="FF0066"/>
                </a:solidFill>
              </a:rPr>
              <a:t>부과유형 </a:t>
            </a:r>
            <a:r>
              <a:rPr lang="en-US" altLang="ko-KR" sz="700" dirty="0" smtClean="0">
                <a:solidFill>
                  <a:srgbClr val="FF0066"/>
                </a:solidFill>
              </a:rPr>
              <a:t>(</a:t>
            </a:r>
            <a:r>
              <a:rPr lang="ko-KR" altLang="en-US" sz="700" dirty="0" smtClean="0">
                <a:solidFill>
                  <a:srgbClr val="FF0066"/>
                </a:solidFill>
              </a:rPr>
              <a:t>운송</a:t>
            </a:r>
            <a:r>
              <a:rPr lang="en-US" altLang="ko-KR" sz="700" dirty="0" smtClean="0">
                <a:solidFill>
                  <a:srgbClr val="FF0066"/>
                </a:solidFill>
              </a:rPr>
              <a:t>)</a:t>
            </a:r>
            <a:endParaRPr lang="ko-KR" altLang="en-US" sz="700" dirty="0">
              <a:solidFill>
                <a:srgbClr val="FF0066"/>
              </a:solidFill>
            </a:endParaRPr>
          </a:p>
          <a:p>
            <a:r>
              <a:rPr lang="ko-KR" altLang="en-US" sz="700" dirty="0" smtClean="0">
                <a:solidFill>
                  <a:srgbClr val="FF0066"/>
                </a:solidFill>
              </a:rPr>
              <a:t>창고료 </a:t>
            </a:r>
            <a:r>
              <a:rPr lang="en-US" altLang="ko-KR" sz="700" dirty="0">
                <a:solidFill>
                  <a:srgbClr val="FF0066"/>
                </a:solidFill>
              </a:rPr>
              <a:t>: </a:t>
            </a:r>
            <a:r>
              <a:rPr lang="ko-KR" altLang="en-US" sz="700" dirty="0">
                <a:solidFill>
                  <a:srgbClr val="FF0066"/>
                </a:solidFill>
              </a:rPr>
              <a:t>부과유형 </a:t>
            </a:r>
            <a:r>
              <a:rPr lang="en-US" altLang="ko-KR" sz="700" dirty="0" smtClean="0">
                <a:solidFill>
                  <a:srgbClr val="FF0066"/>
                </a:solidFill>
              </a:rPr>
              <a:t>(</a:t>
            </a:r>
            <a:r>
              <a:rPr lang="ko-KR" altLang="en-US" sz="700" dirty="0" smtClean="0">
                <a:solidFill>
                  <a:srgbClr val="FF0066"/>
                </a:solidFill>
              </a:rPr>
              <a:t>창고</a:t>
            </a:r>
            <a:r>
              <a:rPr lang="en-US" altLang="ko-KR" sz="700" dirty="0" smtClean="0">
                <a:solidFill>
                  <a:srgbClr val="FF0066"/>
                </a:solidFill>
              </a:rPr>
              <a:t>)</a:t>
            </a:r>
          </a:p>
          <a:p>
            <a:r>
              <a:rPr lang="ko-KR" altLang="en-US" sz="700" dirty="0" err="1" smtClean="0">
                <a:solidFill>
                  <a:srgbClr val="FF0066"/>
                </a:solidFill>
              </a:rPr>
              <a:t>통관료</a:t>
            </a:r>
            <a:r>
              <a:rPr lang="ko-KR" altLang="en-US" sz="700" dirty="0" smtClean="0">
                <a:solidFill>
                  <a:srgbClr val="FF0066"/>
                </a:solidFill>
              </a:rPr>
              <a:t> </a:t>
            </a:r>
            <a:r>
              <a:rPr lang="en-US" altLang="ko-KR" sz="700" dirty="0">
                <a:solidFill>
                  <a:srgbClr val="FF0066"/>
                </a:solidFill>
              </a:rPr>
              <a:t>: </a:t>
            </a:r>
            <a:r>
              <a:rPr lang="ko-KR" altLang="en-US" sz="700" dirty="0">
                <a:solidFill>
                  <a:srgbClr val="FF0066"/>
                </a:solidFill>
              </a:rPr>
              <a:t>부과유형 </a:t>
            </a:r>
            <a:r>
              <a:rPr lang="ko-KR" altLang="en-US" sz="700" dirty="0" smtClean="0">
                <a:solidFill>
                  <a:srgbClr val="FF0066"/>
                </a:solidFill>
              </a:rPr>
              <a:t>통</a:t>
            </a:r>
            <a:r>
              <a:rPr lang="ko-KR" altLang="en-US" sz="700" dirty="0">
                <a:solidFill>
                  <a:srgbClr val="FF0066"/>
                </a:solidFill>
              </a:rPr>
              <a:t>관</a:t>
            </a:r>
            <a:r>
              <a:rPr lang="en-US" altLang="ko-KR" sz="700" dirty="0" smtClean="0">
                <a:solidFill>
                  <a:srgbClr val="FF0066"/>
                </a:solidFill>
              </a:rPr>
              <a:t>)</a:t>
            </a:r>
            <a:endParaRPr lang="ko-KR" altLang="en-US" sz="700" dirty="0">
              <a:solidFill>
                <a:srgbClr val="FF0066"/>
              </a:solidFill>
            </a:endParaRPr>
          </a:p>
        </p:txBody>
      </p:sp>
      <p:sp>
        <p:nvSpPr>
          <p:cNvPr id="184" name="타원 183"/>
          <p:cNvSpPr/>
          <p:nvPr/>
        </p:nvSpPr>
        <p:spPr>
          <a:xfrm>
            <a:off x="10296896" y="4101013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1-6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3744169" y="3978223"/>
            <a:ext cx="5071242" cy="1277683"/>
          </a:xfrm>
          <a:prstGeom prst="rect">
            <a:avLst/>
          </a:prstGeom>
          <a:noFill/>
          <a:ln w="254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sp>
        <p:nvSpPr>
          <p:cNvPr id="186" name="타원 185"/>
          <p:cNvSpPr/>
          <p:nvPr/>
        </p:nvSpPr>
        <p:spPr>
          <a:xfrm>
            <a:off x="3582151" y="3685639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1-7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  <p:sp>
        <p:nvSpPr>
          <p:cNvPr id="187" name="직사각형 186"/>
          <p:cNvSpPr/>
          <p:nvPr/>
        </p:nvSpPr>
        <p:spPr>
          <a:xfrm>
            <a:off x="10622292" y="5243056"/>
            <a:ext cx="3130988" cy="462212"/>
          </a:xfrm>
          <a:prstGeom prst="rect">
            <a:avLst/>
          </a:prstGeom>
          <a:solidFill>
            <a:srgbClr val="FFFF00"/>
          </a:solidFill>
          <a:ln w="317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rgbClr val="0000FF"/>
                </a:solidFill>
                <a:latin typeface="Rix고딕 M"/>
                <a:ea typeface="Rix고딕 M"/>
              </a:rPr>
              <a:t>◯ </a:t>
            </a:r>
            <a:r>
              <a:rPr lang="ko-KR" altLang="en-US" dirty="0" smtClean="0">
                <a:solidFill>
                  <a:srgbClr val="0000FF"/>
                </a:solidFill>
              </a:rPr>
              <a:t>통관정산 청구 </a:t>
            </a:r>
            <a:r>
              <a:rPr lang="en-US" altLang="ko-KR" dirty="0" smtClean="0">
                <a:solidFill>
                  <a:srgbClr val="0000FF"/>
                </a:solidFill>
              </a:rPr>
              <a:t>OTHER INFORMATION </a:t>
            </a:r>
            <a:r>
              <a:rPr lang="ko-KR" altLang="en-US" dirty="0" smtClean="0">
                <a:solidFill>
                  <a:srgbClr val="0000FF"/>
                </a:solidFill>
              </a:rPr>
              <a:t>자료 연계 처리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r>
              <a:rPr lang="ko-KR" altLang="en-US" sz="700" dirty="0" smtClean="0">
                <a:solidFill>
                  <a:srgbClr val="FF0066"/>
                </a:solidFill>
              </a:rPr>
              <a:t>통관정산  자료 각 항목  동일 항목 연계 처리</a:t>
            </a:r>
            <a:endParaRPr lang="ko-KR" altLang="en-US" sz="700" dirty="0">
              <a:solidFill>
                <a:srgbClr val="FF0066"/>
              </a:solidFill>
            </a:endParaRPr>
          </a:p>
        </p:txBody>
      </p:sp>
      <p:sp>
        <p:nvSpPr>
          <p:cNvPr id="188" name="타원 187"/>
          <p:cNvSpPr/>
          <p:nvPr/>
        </p:nvSpPr>
        <p:spPr>
          <a:xfrm>
            <a:off x="10296896" y="5069069"/>
            <a:ext cx="324036" cy="24049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43200" rtlCol="0" anchor="ctr"/>
          <a:lstStyle/>
          <a:p>
            <a:pPr algn="ctr"/>
            <a:r>
              <a:rPr lang="en-US" altLang="ko-KR" sz="700" b="1" dirty="0" smtClean="0">
                <a:solidFill>
                  <a:srgbClr val="FFFFFF"/>
                </a:solidFill>
              </a:rPr>
              <a:t>1-7</a:t>
            </a:r>
            <a:endParaRPr lang="ko-KR" altLang="en-US" sz="700" b="1" dirty="0" err="1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6109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04034" y="491160"/>
            <a:ext cx="9865096" cy="2735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401071" y="1215513"/>
            <a:ext cx="9238228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01071" y="1002386"/>
            <a:ext cx="10441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</a:rPr>
              <a:t>Employee : X.</a:t>
            </a:r>
            <a:r>
              <a:rPr lang="ko-KR" altLang="en-US" dirty="0" err="1" smtClean="0">
                <a:solidFill>
                  <a:srgbClr val="000000"/>
                </a:solidFill>
              </a:rPr>
              <a:t>엔컴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1071" y="1215513"/>
            <a:ext cx="10441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</a:rPr>
              <a:t>(ALL)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3347" y="1002386"/>
            <a:ext cx="10441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</a:rPr>
              <a:t>Date : 2017-01-01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93347" y="1241348"/>
            <a:ext cx="10441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</a:rPr>
              <a:t>Branch:         ALL</a:t>
            </a:r>
            <a:endParaRPr lang="ko-KR" altLang="en-US" dirty="0">
              <a:solidFill>
                <a:srgbClr val="000000"/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2188536" y="641763"/>
            <a:ext cx="5734225" cy="360623"/>
            <a:chOff x="2188536" y="2168860"/>
            <a:chExt cx="5734225" cy="360623"/>
          </a:xfrm>
        </p:grpSpPr>
        <p:sp>
          <p:nvSpPr>
            <p:cNvPr id="9" name="직사각형 8"/>
            <p:cNvSpPr/>
            <p:nvPr/>
          </p:nvSpPr>
          <p:spPr>
            <a:xfrm>
              <a:off x="2226669" y="2205447"/>
              <a:ext cx="5696092" cy="324036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b="1" dirty="0" err="1" smtClean="0">
                <a:solidFill>
                  <a:srgbClr val="000000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188536" y="2168860"/>
              <a:ext cx="5696092" cy="3240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800" b="1" dirty="0" smtClean="0">
                  <a:solidFill>
                    <a:srgbClr val="000000"/>
                  </a:solidFill>
                </a:rPr>
                <a:t>통관정산실적</a:t>
              </a:r>
              <a:r>
                <a:rPr lang="en-US" altLang="ko-KR" sz="1800" b="1" dirty="0" smtClean="0">
                  <a:solidFill>
                    <a:srgbClr val="000000"/>
                  </a:solidFill>
                </a:rPr>
                <a:t>(</a:t>
              </a:r>
              <a:r>
                <a:rPr lang="ko-KR" altLang="en-US" sz="1800" b="1" dirty="0" smtClean="0">
                  <a:solidFill>
                    <a:srgbClr val="000000"/>
                  </a:solidFill>
                </a:rPr>
                <a:t>상세</a:t>
              </a:r>
              <a:r>
                <a:rPr lang="en-US" altLang="ko-KR" sz="1800" b="1" dirty="0" smtClean="0">
                  <a:solidFill>
                    <a:srgbClr val="000000"/>
                  </a:solidFill>
                </a:rPr>
                <a:t>)</a:t>
              </a:r>
              <a:endParaRPr lang="ko-KR" altLang="en-US" sz="1800" b="1" dirty="0" err="1" smtClean="0">
                <a:solidFill>
                  <a:srgbClr val="000000"/>
                </a:solidFill>
              </a:endParaRPr>
            </a:p>
          </p:txBody>
        </p:sp>
      </p:grpSp>
      <p:cxnSp>
        <p:nvCxnSpPr>
          <p:cNvPr id="11" name="직선 연결선 10"/>
          <p:cNvCxnSpPr/>
          <p:nvPr/>
        </p:nvCxnSpPr>
        <p:spPr>
          <a:xfrm>
            <a:off x="401071" y="1666323"/>
            <a:ext cx="9238228" cy="0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1070" y="1453196"/>
            <a:ext cx="2118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</a:rPr>
              <a:t>PERIOD.          2017-01-01 ~ 2017-01-01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1071" y="1666323"/>
            <a:ext cx="35787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</a:rPr>
              <a:t>OPTION.          BUSINESSTYPE(ALL,ALL,ALL),Puncher(ALL),Customer()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186451"/>
              </p:ext>
            </p:extLst>
          </p:nvPr>
        </p:nvGraphicFramePr>
        <p:xfrm>
          <a:off x="401070" y="1899428"/>
          <a:ext cx="9238223" cy="59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826">
                  <a:extLst>
                    <a:ext uri="{9D8B030D-6E8A-4147-A177-3AD203B41FA5}">
                      <a16:colId xmlns="" xmlns:a16="http://schemas.microsoft.com/office/drawing/2014/main" val="2741362183"/>
                    </a:ext>
                  </a:extLst>
                </a:gridCol>
                <a:gridCol w="828092">
                  <a:extLst>
                    <a:ext uri="{9D8B030D-6E8A-4147-A177-3AD203B41FA5}">
                      <a16:colId xmlns="" xmlns:a16="http://schemas.microsoft.com/office/drawing/2014/main" val="1193695820"/>
                    </a:ext>
                  </a:extLst>
                </a:gridCol>
                <a:gridCol w="684076">
                  <a:extLst>
                    <a:ext uri="{9D8B030D-6E8A-4147-A177-3AD203B41FA5}">
                      <a16:colId xmlns="" xmlns:a16="http://schemas.microsoft.com/office/drawing/2014/main" val="3678692248"/>
                    </a:ext>
                  </a:extLst>
                </a:gridCol>
                <a:gridCol w="576064">
                  <a:extLst>
                    <a:ext uri="{9D8B030D-6E8A-4147-A177-3AD203B41FA5}">
                      <a16:colId xmlns="" xmlns:a16="http://schemas.microsoft.com/office/drawing/2014/main" val="3498877726"/>
                    </a:ext>
                  </a:extLst>
                </a:gridCol>
                <a:gridCol w="504056">
                  <a:extLst>
                    <a:ext uri="{9D8B030D-6E8A-4147-A177-3AD203B41FA5}">
                      <a16:colId xmlns="" xmlns:a16="http://schemas.microsoft.com/office/drawing/2014/main" val="726103344"/>
                    </a:ext>
                  </a:extLst>
                </a:gridCol>
                <a:gridCol w="503243">
                  <a:extLst>
                    <a:ext uri="{9D8B030D-6E8A-4147-A177-3AD203B41FA5}">
                      <a16:colId xmlns="" xmlns:a16="http://schemas.microsoft.com/office/drawing/2014/main" val="144729672"/>
                    </a:ext>
                  </a:extLst>
                </a:gridCol>
                <a:gridCol w="768447">
                  <a:extLst>
                    <a:ext uri="{9D8B030D-6E8A-4147-A177-3AD203B41FA5}">
                      <a16:colId xmlns="" xmlns:a16="http://schemas.microsoft.com/office/drawing/2014/main" val="833609629"/>
                    </a:ext>
                  </a:extLst>
                </a:gridCol>
                <a:gridCol w="639917">
                  <a:extLst>
                    <a:ext uri="{9D8B030D-6E8A-4147-A177-3AD203B41FA5}">
                      <a16:colId xmlns="" xmlns:a16="http://schemas.microsoft.com/office/drawing/2014/main" val="2420555216"/>
                    </a:ext>
                  </a:extLst>
                </a:gridCol>
                <a:gridCol w="639917">
                  <a:extLst>
                    <a:ext uri="{9D8B030D-6E8A-4147-A177-3AD203B41FA5}">
                      <a16:colId xmlns="" xmlns:a16="http://schemas.microsoft.com/office/drawing/2014/main" val="4036249562"/>
                    </a:ext>
                  </a:extLst>
                </a:gridCol>
                <a:gridCol w="639917">
                  <a:extLst>
                    <a:ext uri="{9D8B030D-6E8A-4147-A177-3AD203B41FA5}">
                      <a16:colId xmlns="" xmlns:a16="http://schemas.microsoft.com/office/drawing/2014/main" val="1877211924"/>
                    </a:ext>
                  </a:extLst>
                </a:gridCol>
                <a:gridCol w="639917">
                  <a:extLst>
                    <a:ext uri="{9D8B030D-6E8A-4147-A177-3AD203B41FA5}">
                      <a16:colId xmlns="" xmlns:a16="http://schemas.microsoft.com/office/drawing/2014/main" val="2193927322"/>
                    </a:ext>
                  </a:extLst>
                </a:gridCol>
                <a:gridCol w="639917">
                  <a:extLst>
                    <a:ext uri="{9D8B030D-6E8A-4147-A177-3AD203B41FA5}">
                      <a16:colId xmlns="" xmlns:a16="http://schemas.microsoft.com/office/drawing/2014/main" val="2948811925"/>
                    </a:ext>
                  </a:extLst>
                </a:gridCol>
                <a:gridCol w="639917">
                  <a:extLst>
                    <a:ext uri="{9D8B030D-6E8A-4147-A177-3AD203B41FA5}">
                      <a16:colId xmlns="" xmlns:a16="http://schemas.microsoft.com/office/drawing/2014/main" val="905580895"/>
                    </a:ext>
                  </a:extLst>
                </a:gridCol>
                <a:gridCol w="639917">
                  <a:extLst>
                    <a:ext uri="{9D8B030D-6E8A-4147-A177-3AD203B41FA5}">
                      <a16:colId xmlns="" xmlns:a16="http://schemas.microsoft.com/office/drawing/2014/main" val="20109509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</a:rPr>
                        <a:t>OB/ARDATE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</a:rPr>
                        <a:t>CUSTOMER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</a:rPr>
                        <a:t>JOB.NO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</a:rPr>
                        <a:t>H.B/L NO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</a:rPr>
                        <a:t>CWT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</a:rPr>
                        <a:t>GWT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</a:rPr>
                        <a:t>INVOICE NO.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tx1"/>
                          </a:solidFill>
                        </a:rPr>
                        <a:t>운임료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</a:rPr>
                        <a:t>운송료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</a:rPr>
                        <a:t>창고료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tx1"/>
                          </a:solidFill>
                        </a:rPr>
                        <a:t>통관료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</a:rPr>
                        <a:t>COST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</a:rPr>
                        <a:t>PROFIT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7832772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2017-01-01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TEST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CA0811002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YHTX02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10.00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10.00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CAOIDS-058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10,100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31,000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41,100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132,000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1009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GRAND</a:t>
                      </a:r>
                      <a:r>
                        <a:rPr lang="en-US" altLang="ko-KR" sz="700" b="0" baseline="0" dirty="0" smtClean="0">
                          <a:solidFill>
                            <a:schemeClr val="tx1"/>
                          </a:solidFill>
                        </a:rPr>
                        <a:t> TOTAL :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COUNT(5)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10.00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10.00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10,100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31,000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41,100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132,000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95902526"/>
                  </a:ext>
                </a:extLst>
              </a:tr>
            </a:tbl>
          </a:graphicData>
        </a:graphic>
      </p:graphicFrame>
      <p:cxnSp>
        <p:nvCxnSpPr>
          <p:cNvPr id="21" name="직선 연결선 20"/>
          <p:cNvCxnSpPr/>
          <p:nvPr/>
        </p:nvCxnSpPr>
        <p:spPr>
          <a:xfrm>
            <a:off x="467804" y="6237312"/>
            <a:ext cx="9238228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93346" y="6237312"/>
            <a:ext cx="10441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rgbClr val="000000"/>
                </a:solidFill>
              </a:rPr>
              <a:t>PAGE.         1  /  1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979845" y="277462"/>
            <a:ext cx="356188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00" b="1" dirty="0" smtClean="0"/>
              <a:t>1.1.1</a:t>
            </a:r>
            <a:endParaRPr lang="ko-KR" altLang="en-US" sz="600" b="1" dirty="0"/>
          </a:p>
        </p:txBody>
      </p:sp>
      <p:sp>
        <p:nvSpPr>
          <p:cNvPr id="19" name="제목 21"/>
          <p:cNvSpPr txBox="1">
            <a:spLocks/>
          </p:cNvSpPr>
          <p:nvPr/>
        </p:nvSpPr>
        <p:spPr>
          <a:xfrm>
            <a:off x="1007864" y="244063"/>
            <a:ext cx="2060048" cy="251463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1100" kern="0" dirty="0" smtClean="0">
                <a:solidFill>
                  <a:srgbClr val="000000"/>
                </a:solidFill>
              </a:rPr>
              <a:t>조회</a:t>
            </a:r>
            <a:r>
              <a:rPr lang="en-US" altLang="ko-KR" sz="1100" kern="0" dirty="0" smtClean="0">
                <a:solidFill>
                  <a:srgbClr val="000000"/>
                </a:solidFill>
              </a:rPr>
              <a:t>/</a:t>
            </a:r>
            <a:r>
              <a:rPr lang="ko-KR" altLang="en-US" sz="1100" kern="0" dirty="0" smtClean="0">
                <a:solidFill>
                  <a:srgbClr val="000000"/>
                </a:solidFill>
              </a:rPr>
              <a:t>출력</a:t>
            </a:r>
            <a:endParaRPr lang="ko-KR" altLang="en-US" sz="11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66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04034" y="491160"/>
            <a:ext cx="9865096" cy="2735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401071" y="1215513"/>
            <a:ext cx="9238228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01071" y="1002386"/>
            <a:ext cx="10441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</a:rPr>
              <a:t>Employee : X.</a:t>
            </a:r>
            <a:r>
              <a:rPr lang="ko-KR" altLang="en-US" dirty="0" err="1" smtClean="0">
                <a:solidFill>
                  <a:srgbClr val="000000"/>
                </a:solidFill>
              </a:rPr>
              <a:t>엔컴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1071" y="1215513"/>
            <a:ext cx="10441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</a:rPr>
              <a:t>(ALL)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3347" y="1002386"/>
            <a:ext cx="10441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</a:rPr>
              <a:t>Date : 2017-01-01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93347" y="1241348"/>
            <a:ext cx="10441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</a:rPr>
              <a:t>Branch:         ALL</a:t>
            </a:r>
            <a:endParaRPr lang="ko-KR" altLang="en-US" dirty="0">
              <a:solidFill>
                <a:srgbClr val="000000"/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2188536" y="641763"/>
            <a:ext cx="5734225" cy="360623"/>
            <a:chOff x="2188536" y="2168860"/>
            <a:chExt cx="5734225" cy="360623"/>
          </a:xfrm>
        </p:grpSpPr>
        <p:sp>
          <p:nvSpPr>
            <p:cNvPr id="9" name="직사각형 8"/>
            <p:cNvSpPr/>
            <p:nvPr/>
          </p:nvSpPr>
          <p:spPr>
            <a:xfrm>
              <a:off x="2226669" y="2205447"/>
              <a:ext cx="5696092" cy="324036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b="1" dirty="0" err="1" smtClean="0">
                <a:solidFill>
                  <a:srgbClr val="000000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188536" y="2168860"/>
              <a:ext cx="5696092" cy="3240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800" b="1" dirty="0" smtClean="0">
                  <a:solidFill>
                    <a:srgbClr val="000000"/>
                  </a:solidFill>
                </a:rPr>
                <a:t>통관정산실적</a:t>
              </a:r>
              <a:r>
                <a:rPr lang="en-US" altLang="ko-KR" sz="1800" b="1" dirty="0" smtClean="0">
                  <a:solidFill>
                    <a:srgbClr val="000000"/>
                  </a:solidFill>
                </a:rPr>
                <a:t>(</a:t>
              </a:r>
              <a:r>
                <a:rPr lang="ko-KR" altLang="en-US" sz="1800" b="1" dirty="0" smtClean="0">
                  <a:solidFill>
                    <a:srgbClr val="000000"/>
                  </a:solidFill>
                </a:rPr>
                <a:t>집계</a:t>
              </a:r>
              <a:r>
                <a:rPr lang="en-US" altLang="ko-KR" sz="1800" b="1" dirty="0" smtClean="0">
                  <a:solidFill>
                    <a:srgbClr val="000000"/>
                  </a:solidFill>
                </a:rPr>
                <a:t>)</a:t>
              </a:r>
              <a:endParaRPr lang="ko-KR" altLang="en-US" sz="1800" b="1" dirty="0" err="1" smtClean="0">
                <a:solidFill>
                  <a:srgbClr val="000000"/>
                </a:solidFill>
              </a:endParaRPr>
            </a:p>
          </p:txBody>
        </p:sp>
      </p:grpSp>
      <p:cxnSp>
        <p:nvCxnSpPr>
          <p:cNvPr id="11" name="직선 연결선 10"/>
          <p:cNvCxnSpPr/>
          <p:nvPr/>
        </p:nvCxnSpPr>
        <p:spPr>
          <a:xfrm>
            <a:off x="401071" y="1666323"/>
            <a:ext cx="9238228" cy="0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467804" y="6237312"/>
            <a:ext cx="9238228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93346" y="6237312"/>
            <a:ext cx="10441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rgbClr val="000000"/>
                </a:solidFill>
              </a:rPr>
              <a:t>PAGE.         1  /  1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979845" y="277462"/>
            <a:ext cx="356188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00" b="1" dirty="0" smtClean="0"/>
              <a:t>1.1.1</a:t>
            </a:r>
            <a:endParaRPr lang="ko-KR" altLang="en-US" sz="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401070" y="1453196"/>
            <a:ext cx="2118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</a:rPr>
              <a:t>PERIOD.          2017-01-01 ~ 2017-01-01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01071" y="1666323"/>
            <a:ext cx="35787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</a:rPr>
              <a:t>OPTION.          BUSINESSTYPE(ALL,ALL,ALL),Puncher(ALL),Customer()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524632"/>
              </p:ext>
            </p:extLst>
          </p:nvPr>
        </p:nvGraphicFramePr>
        <p:xfrm>
          <a:off x="401070" y="1899428"/>
          <a:ext cx="9236391" cy="59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522">
                  <a:extLst>
                    <a:ext uri="{9D8B030D-6E8A-4147-A177-3AD203B41FA5}">
                      <a16:colId xmlns="" xmlns:a16="http://schemas.microsoft.com/office/drawing/2014/main" val="2741362183"/>
                    </a:ext>
                  </a:extLst>
                </a:gridCol>
                <a:gridCol w="961072">
                  <a:extLst>
                    <a:ext uri="{9D8B030D-6E8A-4147-A177-3AD203B41FA5}">
                      <a16:colId xmlns="" xmlns:a16="http://schemas.microsoft.com/office/drawing/2014/main" val="1193695820"/>
                    </a:ext>
                  </a:extLst>
                </a:gridCol>
                <a:gridCol w="793929">
                  <a:extLst>
                    <a:ext uri="{9D8B030D-6E8A-4147-A177-3AD203B41FA5}">
                      <a16:colId xmlns="" xmlns:a16="http://schemas.microsoft.com/office/drawing/2014/main" val="3678692248"/>
                    </a:ext>
                  </a:extLst>
                </a:gridCol>
                <a:gridCol w="668572">
                  <a:extLst>
                    <a:ext uri="{9D8B030D-6E8A-4147-A177-3AD203B41FA5}">
                      <a16:colId xmlns="" xmlns:a16="http://schemas.microsoft.com/office/drawing/2014/main" val="3498877726"/>
                    </a:ext>
                  </a:extLst>
                </a:gridCol>
                <a:gridCol w="585000">
                  <a:extLst>
                    <a:ext uri="{9D8B030D-6E8A-4147-A177-3AD203B41FA5}">
                      <a16:colId xmlns="" xmlns:a16="http://schemas.microsoft.com/office/drawing/2014/main" val="726103344"/>
                    </a:ext>
                  </a:extLst>
                </a:gridCol>
                <a:gridCol w="584057">
                  <a:extLst>
                    <a:ext uri="{9D8B030D-6E8A-4147-A177-3AD203B41FA5}">
                      <a16:colId xmlns="" xmlns:a16="http://schemas.microsoft.com/office/drawing/2014/main" val="144729672"/>
                    </a:ext>
                  </a:extLst>
                </a:gridCol>
                <a:gridCol w="891849">
                  <a:extLst>
                    <a:ext uri="{9D8B030D-6E8A-4147-A177-3AD203B41FA5}">
                      <a16:colId xmlns="" xmlns:a16="http://schemas.microsoft.com/office/drawing/2014/main" val="833609629"/>
                    </a:ext>
                  </a:extLst>
                </a:gridCol>
                <a:gridCol w="742678">
                  <a:extLst>
                    <a:ext uri="{9D8B030D-6E8A-4147-A177-3AD203B41FA5}">
                      <a16:colId xmlns="" xmlns:a16="http://schemas.microsoft.com/office/drawing/2014/main" val="2420555216"/>
                    </a:ext>
                  </a:extLst>
                </a:gridCol>
                <a:gridCol w="742678">
                  <a:extLst>
                    <a:ext uri="{9D8B030D-6E8A-4147-A177-3AD203B41FA5}">
                      <a16:colId xmlns="" xmlns:a16="http://schemas.microsoft.com/office/drawing/2014/main" val="4036249562"/>
                    </a:ext>
                  </a:extLst>
                </a:gridCol>
                <a:gridCol w="742678">
                  <a:extLst>
                    <a:ext uri="{9D8B030D-6E8A-4147-A177-3AD203B41FA5}">
                      <a16:colId xmlns="" xmlns:a16="http://schemas.microsoft.com/office/drawing/2014/main" val="1877211924"/>
                    </a:ext>
                  </a:extLst>
                </a:gridCol>
                <a:gridCol w="742678">
                  <a:extLst>
                    <a:ext uri="{9D8B030D-6E8A-4147-A177-3AD203B41FA5}">
                      <a16:colId xmlns="" xmlns:a16="http://schemas.microsoft.com/office/drawing/2014/main" val="2193927322"/>
                    </a:ext>
                  </a:extLst>
                </a:gridCol>
                <a:gridCol w="742678">
                  <a:extLst>
                    <a:ext uri="{9D8B030D-6E8A-4147-A177-3AD203B41FA5}">
                      <a16:colId xmlns="" xmlns:a16="http://schemas.microsoft.com/office/drawing/2014/main" val="2948811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</a:rPr>
                        <a:t>CODE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</a:rPr>
                        <a:t>CUSTOMER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</a:rPr>
                        <a:t>건수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tx1"/>
                          </a:solidFill>
                        </a:rPr>
                        <a:t>운임료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</a:rPr>
                        <a:t>운송료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</a:rPr>
                        <a:t>창고료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 smtClean="0">
                          <a:solidFill>
                            <a:schemeClr val="tx1"/>
                          </a:solidFill>
                        </a:rPr>
                        <a:t>통관료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</a:rPr>
                        <a:t>COST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chemeClr val="tx1"/>
                          </a:solidFill>
                        </a:rPr>
                        <a:t>PROFIT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</a:rPr>
                        <a:t>입금액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smtClean="0">
                          <a:solidFill>
                            <a:schemeClr val="tx1"/>
                          </a:solidFill>
                        </a:rPr>
                        <a:t>잔액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7832772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COOKIE1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 smtClean="0">
                          <a:solidFill>
                            <a:schemeClr val="tx1"/>
                          </a:solidFill>
                        </a:rPr>
                        <a:t>화주 주식회사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1,500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1,500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1,100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1009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GRAND TOTAL :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COUNT(3)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700" b="0" dirty="0" smtClean="0">
                          <a:solidFill>
                            <a:schemeClr val="tx1"/>
                          </a:solidFill>
                        </a:rPr>
                        <a:t>건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1,500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1,500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1,100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95902526"/>
                  </a:ext>
                </a:extLst>
              </a:tr>
            </a:tbl>
          </a:graphicData>
        </a:graphic>
      </p:graphicFrame>
      <p:sp>
        <p:nvSpPr>
          <p:cNvPr id="19" name="제목 21"/>
          <p:cNvSpPr txBox="1">
            <a:spLocks/>
          </p:cNvSpPr>
          <p:nvPr/>
        </p:nvSpPr>
        <p:spPr>
          <a:xfrm>
            <a:off x="1007864" y="244063"/>
            <a:ext cx="2060048" cy="251463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1100" kern="0" dirty="0" smtClean="0">
                <a:solidFill>
                  <a:srgbClr val="000000"/>
                </a:solidFill>
              </a:rPr>
              <a:t>조회</a:t>
            </a:r>
            <a:r>
              <a:rPr lang="en-US" altLang="ko-KR" sz="1100" kern="0" dirty="0" smtClean="0">
                <a:solidFill>
                  <a:srgbClr val="000000"/>
                </a:solidFill>
              </a:rPr>
              <a:t>/</a:t>
            </a:r>
            <a:r>
              <a:rPr lang="ko-KR" altLang="en-US" sz="1100" kern="0" dirty="0" smtClean="0">
                <a:solidFill>
                  <a:srgbClr val="000000"/>
                </a:solidFill>
              </a:rPr>
              <a:t>출력</a:t>
            </a:r>
            <a:endParaRPr lang="ko-KR" altLang="en-US" sz="11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981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4034" y="491160"/>
            <a:ext cx="9865096" cy="2735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 err="1" smtClean="0">
              <a:solidFill>
                <a:srgbClr val="000000"/>
              </a:solidFill>
            </a:endParaRPr>
          </a:p>
        </p:txBody>
      </p:sp>
      <p:cxnSp>
        <p:nvCxnSpPr>
          <p:cNvPr id="2" name="직선 연결선 1"/>
          <p:cNvCxnSpPr/>
          <p:nvPr/>
        </p:nvCxnSpPr>
        <p:spPr>
          <a:xfrm>
            <a:off x="401071" y="1215513"/>
            <a:ext cx="9238228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1071" y="1002386"/>
            <a:ext cx="10441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</a:rPr>
              <a:t>Employee : X.</a:t>
            </a:r>
            <a:r>
              <a:rPr lang="ko-KR" altLang="en-US" dirty="0" err="1" smtClean="0">
                <a:solidFill>
                  <a:srgbClr val="000000"/>
                </a:solidFill>
              </a:rPr>
              <a:t>엔컴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1071" y="1215513"/>
            <a:ext cx="10441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</a:rPr>
              <a:t>(ALL)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93347" y="1002386"/>
            <a:ext cx="10441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</a:rPr>
              <a:t>Date : 2017-01-01</a:t>
            </a:r>
            <a:endParaRPr lang="ko-KR" altLang="en-US" dirty="0">
              <a:solidFill>
                <a:srgbClr val="000000"/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2188536" y="641763"/>
            <a:ext cx="5734225" cy="360623"/>
            <a:chOff x="2188536" y="2168860"/>
            <a:chExt cx="5734225" cy="360623"/>
          </a:xfrm>
        </p:grpSpPr>
        <p:sp>
          <p:nvSpPr>
            <p:cNvPr id="7" name="직사각형 6"/>
            <p:cNvSpPr/>
            <p:nvPr/>
          </p:nvSpPr>
          <p:spPr>
            <a:xfrm>
              <a:off x="2226669" y="2205447"/>
              <a:ext cx="5696092" cy="324036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b="1" dirty="0" err="1" smtClean="0">
                <a:solidFill>
                  <a:srgbClr val="000000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188536" y="2168860"/>
              <a:ext cx="5696092" cy="3240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800" b="1" dirty="0" smtClean="0">
                  <a:solidFill>
                    <a:srgbClr val="000000"/>
                  </a:solidFill>
                </a:rPr>
                <a:t>통관정산목록</a:t>
              </a:r>
            </a:p>
          </p:txBody>
        </p:sp>
      </p:grpSp>
      <p:cxnSp>
        <p:nvCxnSpPr>
          <p:cNvPr id="9" name="직선 연결선 8"/>
          <p:cNvCxnSpPr/>
          <p:nvPr/>
        </p:nvCxnSpPr>
        <p:spPr>
          <a:xfrm>
            <a:off x="401071" y="1666323"/>
            <a:ext cx="9238228" cy="0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103566"/>
              </p:ext>
            </p:extLst>
          </p:nvPr>
        </p:nvGraphicFramePr>
        <p:xfrm>
          <a:off x="401073" y="1904006"/>
          <a:ext cx="9236391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831">
                  <a:extLst>
                    <a:ext uri="{9D8B030D-6E8A-4147-A177-3AD203B41FA5}">
                      <a16:colId xmlns="" xmlns:a16="http://schemas.microsoft.com/office/drawing/2014/main" val="1978571613"/>
                    </a:ext>
                  </a:extLst>
                </a:gridCol>
                <a:gridCol w="756084">
                  <a:extLst>
                    <a:ext uri="{9D8B030D-6E8A-4147-A177-3AD203B41FA5}">
                      <a16:colId xmlns="" xmlns:a16="http://schemas.microsoft.com/office/drawing/2014/main" val="1106368301"/>
                    </a:ext>
                  </a:extLst>
                </a:gridCol>
                <a:gridCol w="626123">
                  <a:extLst>
                    <a:ext uri="{9D8B030D-6E8A-4147-A177-3AD203B41FA5}">
                      <a16:colId xmlns="" xmlns:a16="http://schemas.microsoft.com/office/drawing/2014/main" val="120054045"/>
                    </a:ext>
                  </a:extLst>
                </a:gridCol>
                <a:gridCol w="742029">
                  <a:extLst>
                    <a:ext uri="{9D8B030D-6E8A-4147-A177-3AD203B41FA5}">
                      <a16:colId xmlns="" xmlns:a16="http://schemas.microsoft.com/office/drawing/2014/main" val="1090746566"/>
                    </a:ext>
                  </a:extLst>
                </a:gridCol>
                <a:gridCol w="510217">
                  <a:extLst>
                    <a:ext uri="{9D8B030D-6E8A-4147-A177-3AD203B41FA5}">
                      <a16:colId xmlns="" xmlns:a16="http://schemas.microsoft.com/office/drawing/2014/main" val="3642682209"/>
                    </a:ext>
                  </a:extLst>
                </a:gridCol>
                <a:gridCol w="626123">
                  <a:extLst>
                    <a:ext uri="{9D8B030D-6E8A-4147-A177-3AD203B41FA5}">
                      <a16:colId xmlns="" xmlns:a16="http://schemas.microsoft.com/office/drawing/2014/main" val="1747058633"/>
                    </a:ext>
                  </a:extLst>
                </a:gridCol>
                <a:gridCol w="626123">
                  <a:extLst>
                    <a:ext uri="{9D8B030D-6E8A-4147-A177-3AD203B41FA5}">
                      <a16:colId xmlns="" xmlns:a16="http://schemas.microsoft.com/office/drawing/2014/main" val="3878246047"/>
                    </a:ext>
                  </a:extLst>
                </a:gridCol>
                <a:gridCol w="541793">
                  <a:extLst>
                    <a:ext uri="{9D8B030D-6E8A-4147-A177-3AD203B41FA5}">
                      <a16:colId xmlns="" xmlns:a16="http://schemas.microsoft.com/office/drawing/2014/main" val="1821370044"/>
                    </a:ext>
                  </a:extLst>
                </a:gridCol>
                <a:gridCol w="576064">
                  <a:extLst>
                    <a:ext uri="{9D8B030D-6E8A-4147-A177-3AD203B41FA5}">
                      <a16:colId xmlns="" xmlns:a16="http://schemas.microsoft.com/office/drawing/2014/main" val="2306344590"/>
                    </a:ext>
                  </a:extLst>
                </a:gridCol>
                <a:gridCol w="576064">
                  <a:extLst>
                    <a:ext uri="{9D8B030D-6E8A-4147-A177-3AD203B41FA5}">
                      <a16:colId xmlns="" xmlns:a16="http://schemas.microsoft.com/office/drawing/2014/main" val="1116699433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648024558"/>
                    </a:ext>
                  </a:extLst>
                </a:gridCol>
                <a:gridCol w="828092">
                  <a:extLst>
                    <a:ext uri="{9D8B030D-6E8A-4147-A177-3AD203B41FA5}">
                      <a16:colId xmlns="" xmlns:a16="http://schemas.microsoft.com/office/drawing/2014/main" val="425333380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3977888762"/>
                    </a:ext>
                  </a:extLst>
                </a:gridCol>
                <a:gridCol w="636712">
                  <a:extLst>
                    <a:ext uri="{9D8B030D-6E8A-4147-A177-3AD203B41FA5}">
                      <a16:colId xmlns="" xmlns:a16="http://schemas.microsoft.com/office/drawing/2014/main" val="40917229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OB/AR.DATE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CUSTOMER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JOB.NO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H.B/L NO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CWT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GWT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</a:rPr>
                        <a:t>운임료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</a:rPr>
                        <a:t>운송료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</a:rPr>
                        <a:t>창고료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</a:rPr>
                        <a:t>통관료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</a:rPr>
                        <a:t>입금일자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</a:rPr>
                        <a:t>입금액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smtClean="0">
                          <a:solidFill>
                            <a:schemeClr val="tx1"/>
                          </a:solidFill>
                        </a:rPr>
                        <a:t>잔액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00868637"/>
                  </a:ext>
                </a:extLst>
              </a:tr>
              <a:tr h="1422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2017-01-01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 smtClean="0">
                          <a:solidFill>
                            <a:schemeClr val="tx1"/>
                          </a:solidFill>
                        </a:rPr>
                        <a:t>어이비엑스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CA081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TEST123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10.00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10.00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101,000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31,000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132,000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2017-01-01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120,000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-12,000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74598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GRAND</a:t>
                      </a:r>
                      <a:r>
                        <a:rPr lang="en-US" altLang="ko-KR" sz="800" b="0" baseline="0" dirty="0" smtClean="0">
                          <a:solidFill>
                            <a:schemeClr val="tx1"/>
                          </a:solidFill>
                        </a:rPr>
                        <a:t> TOTAL :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COUNT(5)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10.00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10.00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101,000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31,000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132,000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120,000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</a:rPr>
                        <a:t>-12,000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44590181"/>
                  </a:ext>
                </a:extLst>
              </a:tr>
            </a:tbl>
          </a:graphicData>
        </a:graphic>
      </p:graphicFrame>
      <p:sp>
        <p:nvSpPr>
          <p:cNvPr id="17" name="직사각형 16"/>
          <p:cNvSpPr/>
          <p:nvPr/>
        </p:nvSpPr>
        <p:spPr>
          <a:xfrm>
            <a:off x="3979845" y="277462"/>
            <a:ext cx="356188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00" b="1" dirty="0" smtClean="0"/>
              <a:t>1.1.1</a:t>
            </a:r>
            <a:endParaRPr lang="ko-KR" altLang="en-US" sz="600" b="1" dirty="0"/>
          </a:p>
        </p:txBody>
      </p:sp>
      <p:cxnSp>
        <p:nvCxnSpPr>
          <p:cNvPr id="18" name="직선 연결선 17"/>
          <p:cNvCxnSpPr/>
          <p:nvPr/>
        </p:nvCxnSpPr>
        <p:spPr>
          <a:xfrm>
            <a:off x="467804" y="6237312"/>
            <a:ext cx="9238228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93346" y="6237312"/>
            <a:ext cx="10441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rgbClr val="000000"/>
                </a:solidFill>
              </a:rPr>
              <a:t>PAGE.         1  /  1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93347" y="1241348"/>
            <a:ext cx="10441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</a:rPr>
              <a:t>Branch:         ALL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01070" y="1453196"/>
            <a:ext cx="2118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</a:rPr>
              <a:t>PERIOD.          2017-01-01 ~ 2017-01-01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1071" y="1666323"/>
            <a:ext cx="35787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</a:rPr>
              <a:t>OPTION.          BUSINESSTYPE(ALL,ALL,ALL),Puncher(ALL),Customer()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5" name="제목 21"/>
          <p:cNvSpPr txBox="1">
            <a:spLocks/>
          </p:cNvSpPr>
          <p:nvPr/>
        </p:nvSpPr>
        <p:spPr>
          <a:xfrm>
            <a:off x="1007864" y="244063"/>
            <a:ext cx="2060048" cy="251463"/>
          </a:xfrm>
          <a:prstGeom prst="rect">
            <a:avLst/>
          </a:prstGeom>
        </p:spPr>
        <p:txBody>
          <a:bodyPr/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/>
            <a:r>
              <a:rPr lang="ko-KR" altLang="en-US" sz="1100" kern="0" dirty="0" smtClean="0">
                <a:solidFill>
                  <a:srgbClr val="000000"/>
                </a:solidFill>
              </a:rPr>
              <a:t>조회</a:t>
            </a:r>
            <a:r>
              <a:rPr lang="en-US" altLang="ko-KR" sz="1100" kern="0" dirty="0" smtClean="0">
                <a:solidFill>
                  <a:srgbClr val="000000"/>
                </a:solidFill>
              </a:rPr>
              <a:t>/</a:t>
            </a:r>
            <a:r>
              <a:rPr lang="ko-KR" altLang="en-US" sz="1100" kern="0" dirty="0" smtClean="0">
                <a:solidFill>
                  <a:srgbClr val="000000"/>
                </a:solidFill>
              </a:rPr>
              <a:t>출력</a:t>
            </a:r>
            <a:endParaRPr lang="ko-KR" altLang="en-US" sz="11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191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2DBPMRbQEK4PwqppxHtX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Ne9y31qx0OExXY5K1tKhA"/>
</p:tagLst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bg2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보고서 양식-HiLo(201101)">
  <a:themeElements>
    <a:clrScheme name="보고서 양식-HiLo(201101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보고서 양식-HiLo(201101)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tx1">
              <a:gamma/>
              <a:shade val="60000"/>
              <a:invGamma/>
            </a:schemeClr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sz="17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noFill/>
        <a:ln w="9525">
          <a:solidFill>
            <a:srgbClr val="333333"/>
          </a:solidFill>
          <a:miter lim="800000"/>
          <a:headEnd/>
          <a:tailEnd type="stealth" w="med" len="med"/>
        </a:ln>
      </a:spPr>
      <a:bodyPr/>
      <a:lstStyle/>
    </a:lnDef>
  </a:objectDefaults>
  <a:extraClrSchemeLst>
    <a:extraClrScheme>
      <a:clrScheme name="보고서 양식-HiLo(201101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보고서 양식-HiLo(201101)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보고서 양식-HiLo(201101)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보고서 양식-HiLo(201101)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보고서 양식-HiLo(201101)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보고서 양식-HiLo(201101)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보고서 양식-HiLo(201101)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보고서 양식-HiLo(201101)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보고서 양식-HiLo(201101)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보고서 양식-HiLo(201101)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보고서 양식-HiLo(201101)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보고서 양식-HiLo(201101)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bg2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8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bg2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7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bg2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9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bg2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bg2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0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bg2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60349</TotalTime>
  <Words>6568</Words>
  <Application>Microsoft Office PowerPoint</Application>
  <PresentationFormat>사용자 지정</PresentationFormat>
  <Paragraphs>1675</Paragraphs>
  <Slides>15</Slides>
  <Notes>12</Notes>
  <HiddenSlides>0</HiddenSlides>
  <MMClips>0</MMClips>
  <ScaleCrop>false</ScaleCrop>
  <HeadingPairs>
    <vt:vector size="4" baseType="variant">
      <vt:variant>
        <vt:lpstr>테마</vt:lpstr>
      </vt:variant>
      <vt:variant>
        <vt:i4>8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기본 디자인</vt:lpstr>
      <vt:lpstr>보고서 양식-HiLo(201101)</vt:lpstr>
      <vt:lpstr>6_기본 디자인</vt:lpstr>
      <vt:lpstr>8_기본 디자인</vt:lpstr>
      <vt:lpstr>7_기본 디자인</vt:lpstr>
      <vt:lpstr>9_기본 디자인</vt:lpstr>
      <vt:lpstr>1_기본 디자인</vt:lpstr>
      <vt:lpstr>10_기본 디자인</vt:lpstr>
      <vt:lpstr>PowerPoint 프레젠테이션</vt:lpstr>
      <vt:lpstr>PowerPoint 프레젠테이션</vt:lpstr>
      <vt:lpstr>통관정산 메인화면(1/2)</vt:lpstr>
      <vt:lpstr>HBL 메인화면(1/3)</vt:lpstr>
      <vt:lpstr>통관정산 청구 정산(1/2)</vt:lpstr>
      <vt:lpstr>통관정산 청구 정산(2/2)</vt:lpstr>
      <vt:lpstr>통관정산 비용 정산(1/2)</vt:lpstr>
      <vt:lpstr>통관정산 비용 정산(2/2)</vt:lpstr>
      <vt:lpstr>수출입물류통관예상서 레포트</vt:lpstr>
      <vt:lpstr>수출입물류통관정산서 레포트</vt:lpstr>
      <vt:lpstr>통관지출결의서 레포트</vt:lpstr>
      <vt:lpstr>통관정산 목록</vt:lpstr>
      <vt:lpstr>PowerPoint 프레젠테이션</vt:lpstr>
      <vt:lpstr>PowerPoint 프레젠테이션</vt:lpstr>
      <vt:lpstr>PowerPoint 프레젠테이션</vt:lpstr>
    </vt:vector>
  </TitlesOfParts>
  <Company>nklkg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htrfyn</dc:creator>
  <cp:lastModifiedBy>허철원</cp:lastModifiedBy>
  <cp:revision>3071</cp:revision>
  <cp:lastPrinted>2012-07-25T06:04:23Z</cp:lastPrinted>
  <dcterms:created xsi:type="dcterms:W3CDTF">2006-04-26T01:16:56Z</dcterms:created>
  <dcterms:modified xsi:type="dcterms:W3CDTF">2020-04-09T06:17:15Z</dcterms:modified>
</cp:coreProperties>
</file>