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613" r:id="rId2"/>
    <p:sldMasterId id="2147484617" r:id="rId3"/>
  </p:sldMasterIdLst>
  <p:notesMasterIdLst>
    <p:notesMasterId r:id="rId21"/>
  </p:notesMasterIdLst>
  <p:handoutMasterIdLst>
    <p:handoutMasterId r:id="rId22"/>
  </p:handoutMasterIdLst>
  <p:sldIdLst>
    <p:sldId id="536" r:id="rId4"/>
    <p:sldId id="537" r:id="rId5"/>
    <p:sldId id="584" r:id="rId6"/>
    <p:sldId id="586" r:id="rId7"/>
    <p:sldId id="587" r:id="rId8"/>
    <p:sldId id="589" r:id="rId9"/>
    <p:sldId id="588" r:id="rId10"/>
    <p:sldId id="571" r:id="rId11"/>
    <p:sldId id="595" r:id="rId12"/>
    <p:sldId id="596" r:id="rId13"/>
    <p:sldId id="597" r:id="rId14"/>
    <p:sldId id="598" r:id="rId15"/>
    <p:sldId id="591" r:id="rId16"/>
    <p:sldId id="593" r:id="rId17"/>
    <p:sldId id="594" r:id="rId18"/>
    <p:sldId id="592" r:id="rId19"/>
    <p:sldId id="590" r:id="rId20"/>
  </p:sldIdLst>
  <p:sldSz cx="10080625" cy="6858000"/>
  <p:notesSz cx="6858000" cy="10001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5pPr>
    <a:lvl6pPr marL="22860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6pPr>
    <a:lvl7pPr marL="27432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7pPr>
    <a:lvl8pPr marL="32004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8pPr>
    <a:lvl9pPr marL="36576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orient="horz" pos="3521">
          <p15:clr>
            <a:srgbClr val="A4A3A4"/>
          </p15:clr>
        </p15:guide>
        <p15:guide id="4" pos="4082">
          <p15:clr>
            <a:srgbClr val="A4A3A4"/>
          </p15:clr>
        </p15:guide>
        <p15:guide id="5" pos="113">
          <p15:clr>
            <a:srgbClr val="A4A3A4"/>
          </p15:clr>
        </p15:guide>
        <p15:guide id="6" pos="4785">
          <p15:clr>
            <a:srgbClr val="A4A3A4"/>
          </p15:clr>
        </p15:guide>
        <p15:guide id="7" pos="4671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929">
          <p15:clr>
            <a:srgbClr val="A4A3A4"/>
          </p15:clr>
        </p15:guide>
        <p15:guide id="10" orient="horz" pos="436">
          <p15:clr>
            <a:srgbClr val="A4A3A4"/>
          </p15:clr>
        </p15:guide>
        <p15:guide id="11" orient="horz" pos="3339">
          <p15:clr>
            <a:srgbClr val="A4A3A4"/>
          </p15:clr>
        </p15:guide>
        <p15:guide id="12" pos="45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lo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99CCFF"/>
    <a:srgbClr val="FF9900"/>
    <a:srgbClr val="DDEAFF"/>
    <a:srgbClr val="003399"/>
    <a:srgbClr val="003366"/>
    <a:srgbClr val="D3E5F9"/>
    <a:srgbClr val="FFCC6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62" autoAdjust="0"/>
    <p:restoredTop sz="89423" autoAdjust="0"/>
  </p:normalViewPr>
  <p:slideViewPr>
    <p:cSldViewPr snapToObjects="1" showGuides="1">
      <p:cViewPr varScale="1">
        <p:scale>
          <a:sx n="107" d="100"/>
          <a:sy n="107" d="100"/>
        </p:scale>
        <p:origin x="2328" y="77"/>
      </p:cViewPr>
      <p:guideLst>
        <p:guide orient="horz" pos="3612"/>
        <p:guide orient="horz" pos="527"/>
        <p:guide orient="horz" pos="3521"/>
        <p:guide pos="4082"/>
        <p:guide pos="113"/>
        <p:guide pos="4785"/>
        <p:guide pos="4671"/>
        <p:guide orient="horz" pos="3067"/>
        <p:guide orient="horz" pos="3929"/>
        <p:guide orient="horz" pos="436"/>
        <p:guide orient="horz" pos="3339"/>
        <p:guide pos="45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Objects="1" showGuides="1">
      <p:cViewPr>
        <p:scale>
          <a:sx n="100" d="100"/>
          <a:sy n="100" d="100"/>
        </p:scale>
        <p:origin x="-3552" y="1158"/>
      </p:cViewPr>
      <p:guideLst>
        <p:guide orient="horz" pos="314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29CEB7A-0FD7-402D-9DEE-A41DD0476E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6498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73100" y="750888"/>
            <a:ext cx="5511800" cy="3749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51388"/>
            <a:ext cx="54864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59C9AA-EB12-41C5-9B5B-FF8AA1A382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96201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A45F9285-D553-47AC-A1F0-A983A84B1917}" type="slidenum">
              <a:rPr lang="en-US" altLang="ko-KR" sz="1200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 sz="1200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74688" y="750888"/>
            <a:ext cx="5508625" cy="37496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50314"/>
            <a:ext cx="5029200" cy="45008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8380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AutoNum type="arabicPeriod"/>
            </a:pPr>
            <a:r>
              <a:rPr lang="ko-KR" altLang="en-US" sz="1200" dirty="0"/>
              <a:t>기능</a:t>
            </a:r>
            <a:endParaRPr lang="en-US" altLang="ko-KR" sz="1200" dirty="0"/>
          </a:p>
          <a:p>
            <a:pPr marL="0" indent="0">
              <a:buFont typeface="Wingdings" pitchFamily="2" charset="2"/>
              <a:buNone/>
            </a:pPr>
            <a:r>
              <a:rPr lang="en-US" altLang="ko-KR" sz="1200" baseline="0" dirty="0"/>
              <a:t>    </a:t>
            </a:r>
            <a:r>
              <a:rPr lang="ko-KR" altLang="en-US" sz="1200" baseline="0" dirty="0"/>
              <a:t>번호체계 설정</a:t>
            </a:r>
            <a:endParaRPr lang="en-US" altLang="ko-KR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4649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6. Master Air Way Bill </a:t>
            </a:r>
            <a:r>
              <a:rPr lang="ko-KR" altLang="en-US" sz="600" dirty="0">
                <a:solidFill>
                  <a:prstClr val="black"/>
                </a:solidFill>
              </a:rPr>
              <a:t>고유번호가 표시됨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7. Master Air Way Bill </a:t>
            </a:r>
            <a:r>
              <a:rPr lang="ko-KR" altLang="en-US" sz="600" dirty="0">
                <a:solidFill>
                  <a:prstClr val="black"/>
                </a:solidFill>
              </a:rPr>
              <a:t>에 속한 </a:t>
            </a:r>
            <a:r>
              <a:rPr lang="en-US" altLang="ko-KR" sz="600" dirty="0">
                <a:solidFill>
                  <a:prstClr val="black"/>
                </a:solidFill>
              </a:rPr>
              <a:t>House Air Way Bill </a:t>
            </a:r>
            <a:r>
              <a:rPr lang="ko-KR" altLang="en-US" sz="600" dirty="0">
                <a:solidFill>
                  <a:prstClr val="black"/>
                </a:solidFill>
              </a:rPr>
              <a:t>항목의 개수가 표시됨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8. </a:t>
            </a:r>
            <a:r>
              <a:rPr lang="ko-KR" altLang="en-US" sz="600" dirty="0">
                <a:solidFill>
                  <a:prstClr val="black"/>
                </a:solidFill>
              </a:rPr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1) </a:t>
            </a:r>
            <a:r>
              <a:rPr lang="ko-KR" altLang="en-US" sz="600" dirty="0" err="1">
                <a:solidFill>
                  <a:prstClr val="black"/>
                </a:solidFill>
              </a:rPr>
              <a:t>적하목록을</a:t>
            </a:r>
            <a:r>
              <a:rPr lang="ko-KR" altLang="en-US" sz="600" dirty="0">
                <a:solidFill>
                  <a:prstClr val="black"/>
                </a:solidFill>
              </a:rPr>
              <a:t> 전송하기 전에 신고항목이 누락되거나 잘못 입력된 곳이 있는지 검증하기 위해 사용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2) </a:t>
            </a:r>
            <a:r>
              <a:rPr lang="ko-KR" altLang="en-US" sz="600" dirty="0">
                <a:solidFill>
                  <a:prstClr val="black"/>
                </a:solidFill>
              </a:rPr>
              <a:t>검증 결과를 표시함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3) </a:t>
            </a:r>
            <a:r>
              <a:rPr lang="ko-KR" altLang="en-US" sz="600" dirty="0" err="1">
                <a:solidFill>
                  <a:prstClr val="black"/>
                </a:solidFill>
              </a:rPr>
              <a:t>적하목록을</a:t>
            </a:r>
            <a:r>
              <a:rPr lang="ko-KR" altLang="en-US" sz="600" dirty="0">
                <a:solidFill>
                  <a:prstClr val="black"/>
                </a:solidFill>
              </a:rPr>
              <a:t> 전송한 후 전송된 신고서가 </a:t>
            </a:r>
            <a:r>
              <a:rPr lang="en-US" altLang="ko-KR" sz="600" dirty="0">
                <a:solidFill>
                  <a:prstClr val="black"/>
                </a:solidFill>
              </a:rPr>
              <a:t>MFCS</a:t>
            </a:r>
            <a:r>
              <a:rPr lang="ko-KR" altLang="en-US" sz="600" dirty="0">
                <a:solidFill>
                  <a:prstClr val="black"/>
                </a:solidFill>
              </a:rPr>
              <a:t>에 취합이 정상적으로 이루어지고 있는지 상태확인을 할 때 사용하는 버튼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srgbClr val="FF0000"/>
                </a:solidFill>
              </a:rPr>
              <a:t>4) </a:t>
            </a:r>
            <a:r>
              <a:rPr lang="ko-KR" altLang="en-US" sz="600" dirty="0" err="1">
                <a:solidFill>
                  <a:srgbClr val="FF0000"/>
                </a:solidFill>
              </a:rPr>
              <a:t>적하목록</a:t>
            </a:r>
            <a:r>
              <a:rPr lang="ko-KR" altLang="en-US" sz="600" dirty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5) </a:t>
            </a:r>
            <a:r>
              <a:rPr lang="ko-KR" altLang="en-US" sz="600" dirty="0">
                <a:solidFill>
                  <a:prstClr val="black"/>
                </a:solidFill>
              </a:rPr>
              <a:t>검색된 데이터를 엑셀 파일 형태로 저장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9. </a:t>
            </a:r>
            <a:r>
              <a:rPr lang="ko-KR" altLang="en-US" sz="600" dirty="0">
                <a:solidFill>
                  <a:prstClr val="black"/>
                </a:solidFill>
              </a:rPr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1) Manifest Reference No.: </a:t>
            </a:r>
            <a:r>
              <a:rPr lang="ko-KR" altLang="en-US" sz="600" dirty="0" err="1">
                <a:solidFill>
                  <a:prstClr val="black"/>
                </a:solidFill>
              </a:rPr>
              <a:t>적하목록</a:t>
            </a:r>
            <a:r>
              <a:rPr lang="ko-KR" altLang="en-US" sz="600" dirty="0">
                <a:solidFill>
                  <a:prstClr val="black"/>
                </a:solidFill>
              </a:rPr>
              <a:t> 관리번호 입력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2) </a:t>
            </a:r>
            <a:r>
              <a:rPr lang="ko-KR" altLang="en-US" sz="600" dirty="0">
                <a:solidFill>
                  <a:prstClr val="black"/>
                </a:solidFill>
              </a:rPr>
              <a:t>중계사업자</a:t>
            </a:r>
            <a:r>
              <a:rPr lang="en-US" altLang="ko-KR" sz="600" dirty="0">
                <a:solidFill>
                  <a:prstClr val="black"/>
                </a:solidFill>
              </a:rPr>
              <a:t>: </a:t>
            </a:r>
            <a:r>
              <a:rPr lang="ko-KR" altLang="en-US" sz="600" dirty="0" err="1">
                <a:solidFill>
                  <a:prstClr val="black"/>
                </a:solidFill>
              </a:rPr>
              <a:t>적하목록</a:t>
            </a:r>
            <a:r>
              <a:rPr lang="ko-KR" altLang="en-US" sz="600" dirty="0">
                <a:solidFill>
                  <a:prstClr val="black"/>
                </a:solidFill>
              </a:rPr>
              <a:t> 중계사업자 </a:t>
            </a:r>
            <a:r>
              <a:rPr lang="en-US" altLang="ko-KR" sz="600" dirty="0">
                <a:solidFill>
                  <a:prstClr val="black"/>
                </a:solidFill>
              </a:rPr>
              <a:t>KTNET </a:t>
            </a:r>
            <a:r>
              <a:rPr lang="ko-KR" altLang="en-US" sz="600" dirty="0">
                <a:solidFill>
                  <a:prstClr val="black"/>
                </a:solidFill>
              </a:rPr>
              <a:t>또는 </a:t>
            </a:r>
            <a:r>
              <a:rPr lang="en-US" altLang="ko-KR" sz="600" dirty="0">
                <a:solidFill>
                  <a:prstClr val="black"/>
                </a:solidFill>
              </a:rPr>
              <a:t>KCENT </a:t>
            </a:r>
            <a:r>
              <a:rPr lang="ko-KR" altLang="en-US" sz="600" dirty="0">
                <a:solidFill>
                  <a:prstClr val="black"/>
                </a:solidFill>
              </a:rPr>
              <a:t>을 선택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3) Master AWB No.: Master AWB</a:t>
            </a:r>
            <a:r>
              <a:rPr lang="ko-KR" altLang="en-US" sz="600" dirty="0">
                <a:solidFill>
                  <a:prstClr val="black"/>
                </a:solidFill>
              </a:rPr>
              <a:t>번호 입력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4) Carrier/Flight No.: </a:t>
            </a:r>
            <a:r>
              <a:rPr lang="ko-KR" altLang="en-US" sz="600" dirty="0">
                <a:solidFill>
                  <a:prstClr val="black"/>
                </a:solidFill>
              </a:rPr>
              <a:t>항공사</a:t>
            </a:r>
            <a:r>
              <a:rPr lang="en-US" altLang="ko-KR" sz="600" dirty="0">
                <a:solidFill>
                  <a:prstClr val="black"/>
                </a:solidFill>
              </a:rPr>
              <a:t>/ </a:t>
            </a:r>
            <a:r>
              <a:rPr lang="ko-KR" altLang="en-US" sz="600" dirty="0" err="1">
                <a:solidFill>
                  <a:prstClr val="black"/>
                </a:solidFill>
              </a:rPr>
              <a:t>편명</a:t>
            </a:r>
            <a:r>
              <a:rPr lang="ko-KR" altLang="en-US" sz="600" dirty="0">
                <a:solidFill>
                  <a:prstClr val="black"/>
                </a:solidFill>
              </a:rPr>
              <a:t> 중 </a:t>
            </a:r>
            <a:r>
              <a:rPr lang="en-US" altLang="ko-KR" sz="600" dirty="0">
                <a:solidFill>
                  <a:prstClr val="black"/>
                </a:solidFill>
              </a:rPr>
              <a:t>Tail</a:t>
            </a:r>
            <a:r>
              <a:rPr lang="ko-KR" altLang="en-US" sz="600" dirty="0">
                <a:solidFill>
                  <a:prstClr val="black"/>
                </a:solidFill>
              </a:rPr>
              <a:t>번호 입력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5) Port of Departure: </a:t>
            </a:r>
            <a:r>
              <a:rPr lang="ko-KR" altLang="en-US" sz="600" dirty="0" err="1">
                <a:solidFill>
                  <a:prstClr val="black"/>
                </a:solidFill>
              </a:rPr>
              <a:t>출발항</a:t>
            </a:r>
            <a:r>
              <a:rPr lang="en-US" altLang="ko-KR" sz="600" dirty="0">
                <a:solidFill>
                  <a:prstClr val="black"/>
                </a:solidFill>
              </a:rPr>
              <a:t>,</a:t>
            </a:r>
            <a:r>
              <a:rPr lang="ko-KR" altLang="en-US" sz="600" dirty="0">
                <a:solidFill>
                  <a:prstClr val="black"/>
                </a:solidFill>
              </a:rPr>
              <a:t>출발지 공항코드 입력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6) Port of Destination: </a:t>
            </a:r>
            <a:r>
              <a:rPr lang="ko-KR" altLang="en-US" sz="600" dirty="0">
                <a:solidFill>
                  <a:prstClr val="black"/>
                </a:solidFill>
              </a:rPr>
              <a:t>도착항</a:t>
            </a:r>
            <a:r>
              <a:rPr lang="en-US" altLang="ko-KR" sz="600" dirty="0">
                <a:solidFill>
                  <a:prstClr val="black"/>
                </a:solidFill>
              </a:rPr>
              <a:t>,</a:t>
            </a:r>
            <a:r>
              <a:rPr lang="ko-KR" altLang="en-US" sz="600" dirty="0">
                <a:solidFill>
                  <a:prstClr val="black"/>
                </a:solidFill>
              </a:rPr>
              <a:t>도착지 공항코드 입력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7) Date of Departure: </a:t>
            </a:r>
            <a:r>
              <a:rPr lang="ko-KR" altLang="en-US" sz="600" dirty="0">
                <a:solidFill>
                  <a:prstClr val="black"/>
                </a:solidFill>
              </a:rPr>
              <a:t>출발일자 입력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8) PKG’S/ </a:t>
            </a:r>
            <a:r>
              <a:rPr lang="en-US" altLang="ko-KR" sz="600" dirty="0" err="1">
                <a:solidFill>
                  <a:prstClr val="black"/>
                </a:solidFill>
              </a:rPr>
              <a:t>G.Weight</a:t>
            </a:r>
            <a:r>
              <a:rPr lang="en-US" altLang="ko-KR" sz="600" dirty="0">
                <a:solidFill>
                  <a:prstClr val="black"/>
                </a:solidFill>
              </a:rPr>
              <a:t>: </a:t>
            </a:r>
            <a:r>
              <a:rPr lang="ko-KR" altLang="en-US" sz="600" dirty="0">
                <a:solidFill>
                  <a:prstClr val="black"/>
                </a:solidFill>
              </a:rPr>
              <a:t>수량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>
                <a:solidFill>
                  <a:prstClr val="black"/>
                </a:solidFill>
              </a:rPr>
              <a:t>10. Grid</a:t>
            </a:r>
            <a:r>
              <a:rPr lang="ko-KR" altLang="en-US" sz="600" dirty="0">
                <a:solidFill>
                  <a:prstClr val="black"/>
                </a:solidFill>
              </a:rPr>
              <a:t>에서 선택된 항목의 상세 정보가 표시됨</a:t>
            </a:r>
            <a:r>
              <a:rPr lang="en-US" altLang="ko-KR" sz="600" dirty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>
              <a:solidFill>
                <a:prstClr val="black"/>
              </a:solidFill>
            </a:endParaRP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>
                <a:solidFill>
                  <a:prstClr val="black"/>
                </a:solidFill>
              </a:rPr>
              <a:t>Abbreviation(</a:t>
            </a:r>
            <a:r>
              <a:rPr lang="ko-KR" altLang="en-US" sz="600" b="1" dirty="0">
                <a:solidFill>
                  <a:prstClr val="black"/>
                </a:solidFill>
              </a:rPr>
              <a:t>약어</a:t>
            </a:r>
            <a:r>
              <a:rPr lang="en-US" altLang="ko-KR" sz="600" b="1" dirty="0">
                <a:solidFill>
                  <a:prstClr val="black"/>
                </a:solidFill>
              </a:rPr>
              <a:t>)</a:t>
            </a:r>
          </a:p>
          <a:p>
            <a:pPr marL="108000"/>
            <a:endParaRPr lang="en-US" altLang="ko-KR" sz="600" dirty="0">
              <a:solidFill>
                <a:prstClr val="black"/>
              </a:solidFill>
            </a:endParaRPr>
          </a:p>
          <a:p>
            <a:pPr marL="108000"/>
            <a:endParaRPr lang="ko-KR" altLang="en-US" sz="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79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6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72CF4-CF31-4D6D-8177-FA8ABBB8111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 / 89</a:t>
            </a:r>
          </a:p>
        </p:txBody>
      </p:sp>
    </p:spTree>
    <p:extLst>
      <p:ext uri="{BB962C8B-B14F-4D97-AF65-F5344CB8AC3E}">
        <p14:creationId xmlns:p14="http://schemas.microsoft.com/office/powerpoint/2010/main" val="247510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33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3621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535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8961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>
                <a:latin typeface="굴림체" pitchFamily="49" charset="-127"/>
                <a:ea typeface="굴림체" pitchFamily="49" charset="-127"/>
              </a:rPr>
              <a:t>Page Name</a:t>
            </a: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>
                <a:latin typeface="굴림체" pitchFamily="49" charset="-127"/>
                <a:ea typeface="굴림체" pitchFamily="49" charset="-127"/>
              </a:rPr>
              <a:t>Directory</a:t>
            </a: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aseline="0" dirty="0" err="1"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baseline="0" dirty="0"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baseline="0" dirty="0">
                <a:latin typeface="굴림체" pitchFamily="49" charset="-127"/>
                <a:ea typeface="굴림체" pitchFamily="49" charset="-127"/>
              </a:rPr>
              <a:t>서비스</a:t>
            </a:r>
            <a:endParaRPr lang="ko-KR" altLang="en-US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>
                <a:latin typeface="굴림체" pitchFamily="49" charset="-127"/>
                <a:ea typeface="굴림체" pitchFamily="49" charset="-127"/>
              </a:rPr>
              <a:t>2021/06/21</a:t>
            </a: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chemeClr val="bg1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chemeClr val="bg1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chemeClr val="bg1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07" r:id="rId2"/>
    <p:sldLayoutId id="2147484610" r:id="rId3"/>
    <p:sldLayoutId id="2147484611" r:id="rId4"/>
    <p:sldLayoutId id="214748461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Line 4"/>
          <p:cNvSpPr>
            <a:spLocks noChangeShapeType="1"/>
          </p:cNvSpPr>
          <p:nvPr userDrawn="1"/>
        </p:nvSpPr>
        <p:spPr bwMode="auto">
          <a:xfrm>
            <a:off x="0" y="549275"/>
            <a:ext cx="10080625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ko-KR" altLang="en-US" sz="1200" b="1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465201" y="6515100"/>
            <a:ext cx="1148610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latin typeface="Century Gothic" pitchFamily="34" charset="0"/>
                <a:ea typeface="돋움체" pitchFamily="49" charset="-127"/>
              </a:defRPr>
            </a:lvl1pPr>
          </a:lstStyle>
          <a:p>
            <a:pPr>
              <a:defRPr/>
            </a:pPr>
            <a:fld id="{AFEBEF0B-4912-4BA3-B85C-9D69C82B00B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40995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4" r:id="rId1"/>
    <p:sldLayoutId id="2147484615" r:id="rId2"/>
    <p:sldLayoutId id="2147484616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8961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Page Name</a:t>
            </a: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Directory</a:t>
            </a: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dirty="0">
                <a:latin typeface="굴림체" pitchFamily="49" charset="-127"/>
                <a:ea typeface="굴림체" pitchFamily="49" charset="-127"/>
              </a:rPr>
              <a:t>2021/06/21</a:t>
            </a: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074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0472" y="188640"/>
            <a:ext cx="9505056" cy="648072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86"/>
          <a:stretch/>
        </p:blipFill>
        <p:spPr>
          <a:xfrm>
            <a:off x="-1" y="0"/>
            <a:ext cx="10080625" cy="68580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-15551" y="5301208"/>
            <a:ext cx="9937103" cy="155679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0000">
                <a:schemeClr val="bg1">
                  <a:alpha val="80000"/>
                </a:schemeClr>
              </a:gs>
              <a:gs pos="93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502074" y="448950"/>
            <a:ext cx="858211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spAutoFit/>
          </a:bodyPr>
          <a:lstStyle/>
          <a:p>
            <a:pPr algn="r"/>
            <a:r>
              <a:rPr lang="en-US" altLang="ko-KR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FMS Project</a:t>
            </a:r>
            <a:r>
              <a:rPr lang="ko-KR" altLang="en-US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 </a:t>
            </a:r>
            <a:r>
              <a:rPr lang="en-US" altLang="ko-KR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_</a:t>
            </a:r>
            <a:r>
              <a:rPr lang="ko-KR" altLang="en-US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공통관리</a:t>
            </a:r>
            <a:r>
              <a:rPr lang="en-US" altLang="ko-KR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_</a:t>
            </a:r>
            <a:r>
              <a:rPr lang="ko-KR" altLang="en-US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기초관리</a:t>
            </a:r>
            <a:r>
              <a:rPr lang="en-US" altLang="ko-KR" sz="2400" b="1" i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_</a:t>
            </a:r>
            <a:r>
              <a:rPr lang="ko-KR" altLang="en-US" sz="2400" b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화면설계서</a:t>
            </a:r>
            <a:endParaRPr lang="ko-KR" altLang="en-US" sz="2400" b="1" dirty="0">
              <a:solidFill>
                <a:schemeClr val="bg2"/>
              </a:solidFill>
              <a:latin typeface="돋움" pitchFamily="50" charset="-127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747018" y="1266614"/>
            <a:ext cx="850352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1800" b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Version 1.5                                                          Last Updated  2021.06.21</a:t>
            </a: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763650" y="1088813"/>
            <a:ext cx="8597142" cy="0"/>
          </a:xfrm>
          <a:prstGeom prst="line">
            <a:avLst/>
          </a:prstGeom>
          <a:noFill/>
          <a:ln w="57150" cmpd="thinThick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/>
          </a:p>
        </p:txBody>
      </p:sp>
      <p:graphicFrame>
        <p:nvGraphicFramePr>
          <p:cNvPr id="17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984023"/>
              </p:ext>
            </p:extLst>
          </p:nvPr>
        </p:nvGraphicFramePr>
        <p:xfrm>
          <a:off x="745506" y="1988840"/>
          <a:ext cx="8615288" cy="995680"/>
        </p:xfrm>
        <a:graphic>
          <a:graphicData uri="http://schemas.openxmlformats.org/drawingml/2006/table">
            <a:tbl>
              <a:tblPr/>
              <a:tblGrid>
                <a:gridCol w="2153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3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작성자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화면용도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개발팀 </a:t>
                      </a:r>
                      <a:r>
                        <a:rPr kumimoji="1" lang="ko-KR" altLang="en-US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확인자</a:t>
                      </a:r>
                      <a:endParaRPr kumimoji="1" lang="ko-KR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디자인팀 확인자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허철원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화면 설계서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 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121905"/>
              </p:ext>
            </p:extLst>
          </p:nvPr>
        </p:nvGraphicFramePr>
        <p:xfrm>
          <a:off x="734043" y="3576927"/>
          <a:ext cx="2664296" cy="2260888"/>
        </p:xfrm>
        <a:graphic>
          <a:graphicData uri="http://schemas.openxmlformats.org/drawingml/2006/table">
            <a:tbl>
              <a:tblPr/>
              <a:tblGrid>
                <a:gridCol w="751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02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문서관리</a:t>
                      </a: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변경일</a:t>
                      </a: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전</a:t>
                      </a: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작성</a:t>
                      </a: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20.04.09</a:t>
                      </a: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1.4</a:t>
                      </a: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허철원</a:t>
                      </a: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21.06.21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1.5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허철원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946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86"/>
          <a:stretch/>
        </p:blipFill>
        <p:spPr>
          <a:xfrm>
            <a:off x="-1" y="0"/>
            <a:ext cx="10080625" cy="6858000"/>
          </a:xfrm>
          <a:prstGeom prst="rect">
            <a:avLst/>
          </a:prstGeom>
        </p:spPr>
      </p:pic>
      <p:sp>
        <p:nvSpPr>
          <p:cNvPr id="5122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2498" y="1688877"/>
            <a:ext cx="341351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46" tIns="45693" rIns="89946" bIns="45693" anchor="ctr"/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1800" b="1" dirty="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목 차</a:t>
            </a:r>
          </a:p>
        </p:txBody>
      </p:sp>
      <p:sp>
        <p:nvSpPr>
          <p:cNvPr id="5123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7824" y="2132856"/>
            <a:ext cx="6042736" cy="1049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1" tIns="45693" rIns="91381" bIns="45693" anchor="ctr"/>
          <a:lstStyle>
            <a:lvl1pPr marL="442913" indent="-3429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eriod"/>
            </a:pPr>
            <a:r>
              <a:rPr lang="ko-KR" altLang="en-US" sz="16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자사관리</a:t>
            </a:r>
            <a:endParaRPr lang="en-US" altLang="ko-KR" sz="1600" b="1" dirty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marL="100013" indent="0" eaLnBrk="1" hangingPunct="1">
              <a:lnSpc>
                <a:spcPct val="130000"/>
              </a:lnSpc>
            </a:pPr>
            <a:endParaRPr lang="en-US" altLang="ko-KR" sz="1600" b="1" dirty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>
            <a:off x="1536342" y="2058764"/>
            <a:ext cx="10258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17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344033" y="478067"/>
            <a:ext cx="588600" cy="3385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 algn="ctr">
              <a:defRPr/>
            </a:pPr>
            <a:r>
              <a:rPr lang="ko-KR" altLang="en-US" sz="1600" b="1" dirty="0" err="1">
                <a:solidFill>
                  <a:srgbClr val="FFFFFF">
                    <a:lumMod val="75000"/>
                  </a:srgbClr>
                </a:solidFill>
                <a:latin typeface="Trebuchet MS" pitchFamily="34" charset="0"/>
              </a:rPr>
              <a:t>엔컴</a:t>
            </a:r>
            <a:endParaRPr lang="ko-KR" altLang="en-US" sz="1600" b="1" dirty="0">
              <a:solidFill>
                <a:srgbClr val="FFFFFF">
                  <a:lumMod val="75000"/>
                </a:srgbClr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27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54206"/>
              </p:ext>
            </p:extLst>
          </p:nvPr>
        </p:nvGraphicFramePr>
        <p:xfrm>
          <a:off x="188203" y="1340768"/>
          <a:ext cx="9676646" cy="2822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95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9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95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상호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상호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영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본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지사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대표자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개업일자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종사업자번호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법인번호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본사우편번호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기본주소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상세주소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지사우편번호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기본주소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상세주소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상호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영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기본주소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영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상세주소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영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종목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전화번호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팩스번호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MAIL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HOMEPAGE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0" name="그림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08" y="2708920"/>
            <a:ext cx="180229" cy="172036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58" y="2276872"/>
            <a:ext cx="180229" cy="172036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8856736" y="3861048"/>
            <a:ext cx="645100" cy="177150"/>
            <a:chOff x="11190934" y="4226190"/>
            <a:chExt cx="645100" cy="177150"/>
          </a:xfrm>
        </p:grpSpPr>
        <p:sp>
          <p:nvSpPr>
            <p:cNvPr id="6" name="직사각형 5"/>
            <p:cNvSpPr/>
            <p:nvPr/>
          </p:nvSpPr>
          <p:spPr bwMode="auto">
            <a:xfrm>
              <a:off x="111909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YES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79772" y="1024627"/>
            <a:ext cx="2115027" cy="236513"/>
            <a:chOff x="920300" y="3392022"/>
            <a:chExt cx="900100" cy="236513"/>
          </a:xfrm>
        </p:grpSpPr>
        <p:sp>
          <p:nvSpPr>
            <p:cNvPr id="11" name="한쪽 모서리가 둥근 사각형 10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2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Basic Information</a:t>
              </a:r>
              <a:endParaRPr lang="ko-KR" altLang="en-US" sz="800" dirty="0"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79772" y="1032247"/>
            <a:ext cx="2115027" cy="236513"/>
            <a:chOff x="920300" y="3392022"/>
            <a:chExt cx="900100" cy="236513"/>
          </a:xfrm>
        </p:grpSpPr>
        <p:sp>
          <p:nvSpPr>
            <p:cNvPr id="14" name="한쪽 모서리가 둥근 사각형 13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5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Basic Information</a:t>
              </a:r>
              <a:endParaRPr lang="ko-KR" altLang="en-US" sz="800" dirty="0"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23723" y="537465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0000"/>
                </a:solidFill>
              </a:rPr>
              <a:t>자사관리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5397287" y="970551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</a:rPr>
              <a:t>신규</a:t>
            </a:r>
          </a:p>
        </p:txBody>
      </p:sp>
      <p:sp>
        <p:nvSpPr>
          <p:cNvPr id="29" name="직사각형 28"/>
          <p:cNvSpPr/>
          <p:nvPr/>
        </p:nvSpPr>
        <p:spPr bwMode="auto">
          <a:xfrm>
            <a:off x="6151837" y="969358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30" name="직사각형 29"/>
          <p:cNvSpPr/>
          <p:nvPr/>
        </p:nvSpPr>
        <p:spPr bwMode="auto">
          <a:xfrm>
            <a:off x="6906387" y="971745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7660937" y="974132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32" name="직사각형 31"/>
          <p:cNvSpPr/>
          <p:nvPr/>
        </p:nvSpPr>
        <p:spPr bwMode="auto">
          <a:xfrm>
            <a:off x="8415487" y="975326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700" dirty="0">
                <a:solidFill>
                  <a:schemeClr val="bg1"/>
                </a:solidFill>
              </a:rPr>
              <a:t>저장 후 신규</a:t>
            </a:r>
          </a:p>
        </p:txBody>
      </p:sp>
      <p:sp>
        <p:nvSpPr>
          <p:cNvPr id="33" name="직사각형 32"/>
          <p:cNvSpPr/>
          <p:nvPr/>
        </p:nvSpPr>
        <p:spPr bwMode="auto">
          <a:xfrm>
            <a:off x="9170037" y="976519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</a:rPr>
              <a:t>출력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60569" y="1268760"/>
            <a:ext cx="9749868" cy="525658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188981" y="4437112"/>
            <a:ext cx="2115027" cy="236513"/>
            <a:chOff x="920300" y="3392022"/>
            <a:chExt cx="900100" cy="236513"/>
          </a:xfrm>
        </p:grpSpPr>
        <p:sp>
          <p:nvSpPr>
            <p:cNvPr id="38" name="한쪽 모서리가 둥근 사각형 37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39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Basic Information</a:t>
              </a:r>
              <a:endParaRPr lang="ko-KR" altLang="en-US" sz="800" dirty="0"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73741" y="4437112"/>
            <a:ext cx="2115027" cy="236513"/>
            <a:chOff x="920300" y="3392022"/>
            <a:chExt cx="900100" cy="236513"/>
          </a:xfrm>
        </p:grpSpPr>
        <p:sp>
          <p:nvSpPr>
            <p:cNvPr id="41" name="한쪽 모서리가 둥근 사각형 40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42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Common Information</a:t>
              </a:r>
              <a:endParaRPr lang="ko-KR" altLang="en-US" sz="800" dirty="0"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106877"/>
              </p:ext>
            </p:extLst>
          </p:nvPr>
        </p:nvGraphicFramePr>
        <p:xfrm>
          <a:off x="188202" y="4691236"/>
          <a:ext cx="9676646" cy="16667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환율정보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고정환율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자국화폐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자국화폐소숫점자릿수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금액표기자릿수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환율소숫점처리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부가세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실적기준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파트너 </a:t>
                      </a:r>
                      <a:r>
                        <a:rPr lang="ko-KR" altLang="en-US" sz="800" dirty="0" err="1"/>
                        <a:t>쉐어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비용분배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항공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이익분배</a:t>
                      </a:r>
                      <a:r>
                        <a:rPr lang="en-US" altLang="ko-KR" sz="800" baseline="0" dirty="0"/>
                        <a:t> </a:t>
                      </a:r>
                    </a:p>
                    <a:p>
                      <a:pPr algn="ctr" latinLnBrk="1"/>
                      <a:r>
                        <a:rPr lang="en-US" altLang="ko-KR" sz="800" baseline="0" dirty="0"/>
                        <a:t>(</a:t>
                      </a:r>
                      <a:r>
                        <a:rPr lang="ko-KR" altLang="en-US" sz="800" baseline="0" dirty="0"/>
                        <a:t>항공</a:t>
                      </a:r>
                      <a:r>
                        <a:rPr lang="en-US" altLang="ko-KR" sz="800" baseline="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실적적용시</a:t>
                      </a:r>
                      <a:r>
                        <a:rPr lang="ko-KR" altLang="en-US" sz="800" dirty="0"/>
                        <a:t> 커미션 부가세여부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항공수출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CC.FEE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IATA</a:t>
                      </a:r>
                      <a:r>
                        <a:rPr lang="en-US" altLang="ko-KR" sz="800" baseline="0" dirty="0"/>
                        <a:t> CODE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입력자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/>
                        <a:t>수정자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5" name="그룹 64"/>
          <p:cNvGrpSpPr/>
          <p:nvPr/>
        </p:nvGrpSpPr>
        <p:grpSpPr>
          <a:xfrm>
            <a:off x="1007864" y="4797152"/>
            <a:ext cx="645100" cy="177150"/>
            <a:chOff x="11190934" y="4226190"/>
            <a:chExt cx="645100" cy="177150"/>
          </a:xfrm>
        </p:grpSpPr>
        <p:sp>
          <p:nvSpPr>
            <p:cNvPr id="66" name="직사각형 65"/>
            <p:cNvSpPr/>
            <p:nvPr/>
          </p:nvSpPr>
          <p:spPr bwMode="auto">
            <a:xfrm>
              <a:off x="111909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항공수출</a:t>
              </a:r>
            </a:p>
          </p:txBody>
        </p:sp>
        <p:sp>
          <p:nvSpPr>
            <p:cNvPr id="67" name="직사각형 66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700" dirty="0">
                  <a:solidFill>
                    <a:schemeClr val="tx1"/>
                  </a:solidFill>
                </a:rPr>
                <a:t>▼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1742464" y="4802389"/>
            <a:ext cx="645100" cy="177150"/>
            <a:chOff x="11190934" y="4226190"/>
            <a:chExt cx="645100" cy="177150"/>
          </a:xfrm>
        </p:grpSpPr>
        <p:sp>
          <p:nvSpPr>
            <p:cNvPr id="72" name="직사각형 71"/>
            <p:cNvSpPr/>
            <p:nvPr/>
          </p:nvSpPr>
          <p:spPr bwMode="auto">
            <a:xfrm>
              <a:off x="111909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환율선택</a:t>
              </a:r>
            </a:p>
          </p:txBody>
        </p:sp>
        <p:sp>
          <p:nvSpPr>
            <p:cNvPr id="73" name="직사각형 72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700" dirty="0">
                  <a:solidFill>
                    <a:schemeClr val="tx1"/>
                  </a:solidFill>
                </a:rPr>
                <a:t>▼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3819484" y="4810089"/>
            <a:ext cx="645100" cy="177150"/>
            <a:chOff x="11190934" y="4226190"/>
            <a:chExt cx="645100" cy="177150"/>
          </a:xfrm>
        </p:grpSpPr>
        <p:sp>
          <p:nvSpPr>
            <p:cNvPr id="75" name="직사각형 74"/>
            <p:cNvSpPr/>
            <p:nvPr/>
          </p:nvSpPr>
          <p:spPr bwMode="auto">
            <a:xfrm>
              <a:off x="111909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YES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7" name="직사각형 76"/>
          <p:cNvSpPr/>
          <p:nvPr/>
        </p:nvSpPr>
        <p:spPr bwMode="auto">
          <a:xfrm>
            <a:off x="4522704" y="4797152"/>
            <a:ext cx="664932" cy="1826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1023868" y="5218894"/>
            <a:ext cx="1071878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#,###,##0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1905407" y="5218894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 bwMode="auto">
          <a:xfrm>
            <a:off x="3801300" y="5218894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tx1"/>
                </a:solidFill>
              </a:rPr>
              <a:t>반올림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4947476" y="5218894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5930481" y="5224865"/>
            <a:ext cx="971731" cy="16205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10 %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8773807" y="4828811"/>
            <a:ext cx="602542" cy="163538"/>
            <a:chOff x="11774767" y="2096243"/>
            <a:chExt cx="602542" cy="163538"/>
          </a:xfrm>
        </p:grpSpPr>
        <p:sp>
          <p:nvSpPr>
            <p:cNvPr id="90" name="직사각형 89"/>
            <p:cNvSpPr/>
            <p:nvPr/>
          </p:nvSpPr>
          <p:spPr bwMode="auto">
            <a:xfrm>
              <a:off x="11774767" y="2096243"/>
              <a:ext cx="602364" cy="16353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dirty="0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105" name="직사각형 104"/>
            <p:cNvSpPr/>
            <p:nvPr/>
          </p:nvSpPr>
          <p:spPr bwMode="auto">
            <a:xfrm>
              <a:off x="12193537" y="2097869"/>
              <a:ext cx="183772" cy="16105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6" name="직사각형 105"/>
          <p:cNvSpPr/>
          <p:nvPr/>
        </p:nvSpPr>
        <p:spPr bwMode="auto">
          <a:xfrm>
            <a:off x="5893554" y="4828811"/>
            <a:ext cx="664932" cy="1826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7" name="그림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370" y="4841465"/>
            <a:ext cx="180229" cy="172036"/>
          </a:xfrm>
          <a:prstGeom prst="rect">
            <a:avLst/>
          </a:prstGeom>
        </p:spPr>
      </p:pic>
      <p:sp>
        <p:nvSpPr>
          <p:cNvPr id="108" name="직사각형 107"/>
          <p:cNvSpPr/>
          <p:nvPr/>
        </p:nvSpPr>
        <p:spPr bwMode="auto">
          <a:xfrm>
            <a:off x="6877355" y="4828486"/>
            <a:ext cx="328638" cy="18501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9" name="그림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395" y="4841140"/>
            <a:ext cx="180229" cy="172036"/>
          </a:xfrm>
          <a:prstGeom prst="rect">
            <a:avLst/>
          </a:prstGeom>
        </p:spPr>
      </p:pic>
      <p:grpSp>
        <p:nvGrpSpPr>
          <p:cNvPr id="35" name="그룹 34"/>
          <p:cNvGrpSpPr/>
          <p:nvPr/>
        </p:nvGrpSpPr>
        <p:grpSpPr>
          <a:xfrm>
            <a:off x="8640712" y="5230393"/>
            <a:ext cx="1152129" cy="163704"/>
            <a:chOff x="8762892" y="5230393"/>
            <a:chExt cx="1919837" cy="163704"/>
          </a:xfrm>
        </p:grpSpPr>
        <p:sp>
          <p:nvSpPr>
            <p:cNvPr id="113" name="직사각형 112"/>
            <p:cNvSpPr/>
            <p:nvPr/>
          </p:nvSpPr>
          <p:spPr bwMode="auto">
            <a:xfrm>
              <a:off x="8762892" y="5230393"/>
              <a:ext cx="1917298" cy="15652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sz="700" dirty="0">
                  <a:solidFill>
                    <a:schemeClr val="tx1"/>
                  </a:solidFill>
                </a:rPr>
                <a:t>M.B/L, H.B/L ISSUE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/>
            <p:cNvSpPr/>
            <p:nvPr/>
          </p:nvSpPr>
          <p:spPr bwMode="auto">
            <a:xfrm>
              <a:off x="10496417" y="5232904"/>
              <a:ext cx="186312" cy="1611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8670423" y="5622739"/>
            <a:ext cx="645100" cy="177150"/>
            <a:chOff x="11190934" y="4226190"/>
            <a:chExt cx="645100" cy="177150"/>
          </a:xfrm>
        </p:grpSpPr>
        <p:sp>
          <p:nvSpPr>
            <p:cNvPr id="116" name="직사각형 115"/>
            <p:cNvSpPr/>
            <p:nvPr/>
          </p:nvSpPr>
          <p:spPr bwMode="auto">
            <a:xfrm>
              <a:off x="111909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YES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1707192" y="5628114"/>
            <a:ext cx="1123974" cy="164623"/>
            <a:chOff x="-2880567" y="3087946"/>
            <a:chExt cx="1123974" cy="164623"/>
          </a:xfrm>
        </p:grpSpPr>
        <p:sp>
          <p:nvSpPr>
            <p:cNvPr id="139" name="직사각형 138"/>
            <p:cNvSpPr/>
            <p:nvPr/>
          </p:nvSpPr>
          <p:spPr bwMode="auto">
            <a:xfrm>
              <a:off x="-2880567" y="3087946"/>
              <a:ext cx="1008112" cy="16462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sz="700" dirty="0">
                  <a:solidFill>
                    <a:schemeClr val="tx1"/>
                  </a:solidFill>
                </a:rPr>
                <a:t>FREIGHT + OTHER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40" name="직사각형 139"/>
            <p:cNvSpPr/>
            <p:nvPr/>
          </p:nvSpPr>
          <p:spPr bwMode="auto">
            <a:xfrm>
              <a:off x="-1872456" y="3093422"/>
              <a:ext cx="115863" cy="15046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1" name="그룹 140"/>
          <p:cNvGrpSpPr/>
          <p:nvPr/>
        </p:nvGrpSpPr>
        <p:grpSpPr>
          <a:xfrm>
            <a:off x="1022384" y="5628114"/>
            <a:ext cx="645100" cy="177150"/>
            <a:chOff x="11190934" y="4226190"/>
            <a:chExt cx="645100" cy="177150"/>
          </a:xfrm>
        </p:grpSpPr>
        <p:sp>
          <p:nvSpPr>
            <p:cNvPr id="142" name="직사각형 141"/>
            <p:cNvSpPr/>
            <p:nvPr/>
          </p:nvSpPr>
          <p:spPr bwMode="auto">
            <a:xfrm>
              <a:off x="111909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항공수출</a:t>
              </a:r>
            </a:p>
          </p:txBody>
        </p:sp>
        <p:sp>
          <p:nvSpPr>
            <p:cNvPr id="143" name="직사각형 142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700" dirty="0">
                  <a:solidFill>
                    <a:schemeClr val="tx1"/>
                  </a:solidFill>
                </a:rPr>
                <a:t>▼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3790516" y="5639836"/>
            <a:ext cx="1340732" cy="205078"/>
            <a:chOff x="11037434" y="4226190"/>
            <a:chExt cx="798600" cy="177150"/>
          </a:xfrm>
        </p:grpSpPr>
        <p:sp>
          <p:nvSpPr>
            <p:cNvPr id="101" name="직사각형 100"/>
            <p:cNvSpPr/>
            <p:nvPr/>
          </p:nvSpPr>
          <p:spPr bwMode="auto">
            <a:xfrm>
              <a:off x="110374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 err="1">
                  <a:solidFill>
                    <a:schemeClr val="tx1"/>
                  </a:solidFill>
                </a:rPr>
                <a:t>Chargeble.Weight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2" name="직사각형 121"/>
          <p:cNvSpPr/>
          <p:nvPr/>
        </p:nvSpPr>
        <p:spPr bwMode="auto">
          <a:xfrm>
            <a:off x="5871227" y="6072076"/>
            <a:ext cx="816136" cy="1796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이윤정</a:t>
            </a:r>
          </a:p>
        </p:txBody>
      </p:sp>
      <p:sp>
        <p:nvSpPr>
          <p:cNvPr id="123" name="직사각형 122"/>
          <p:cNvSpPr/>
          <p:nvPr/>
        </p:nvSpPr>
        <p:spPr bwMode="auto">
          <a:xfrm>
            <a:off x="6571501" y="6072077"/>
            <a:ext cx="115863" cy="17745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 bwMode="auto">
          <a:xfrm>
            <a:off x="6719054" y="6072076"/>
            <a:ext cx="816136" cy="17964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2017-01-01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 bwMode="auto">
          <a:xfrm>
            <a:off x="7419328" y="6072077"/>
            <a:ext cx="115863" cy="17745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5885747" y="5668445"/>
            <a:ext cx="1320245" cy="177150"/>
            <a:chOff x="11037434" y="4226190"/>
            <a:chExt cx="798600" cy="177150"/>
          </a:xfrm>
        </p:grpSpPr>
        <p:sp>
          <p:nvSpPr>
            <p:cNvPr id="145" name="직사각형 144"/>
            <p:cNvSpPr/>
            <p:nvPr/>
          </p:nvSpPr>
          <p:spPr bwMode="auto">
            <a:xfrm>
              <a:off x="11037434" y="4231427"/>
              <a:ext cx="627700" cy="17162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 err="1">
                  <a:solidFill>
                    <a:schemeClr val="tx1"/>
                  </a:solidFill>
                </a:rPr>
                <a:t>Net.Weight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직사각형 145"/>
            <p:cNvSpPr/>
            <p:nvPr/>
          </p:nvSpPr>
          <p:spPr bwMode="auto">
            <a:xfrm>
              <a:off x="11649721" y="4226190"/>
              <a:ext cx="186313" cy="17715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0" name="직사각형 149"/>
          <p:cNvSpPr/>
          <p:nvPr/>
        </p:nvSpPr>
        <p:spPr bwMode="auto">
          <a:xfrm>
            <a:off x="1014429" y="6054639"/>
            <a:ext cx="664932" cy="1826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ko-KR" dirty="0">
                <a:solidFill>
                  <a:schemeClr val="tx1"/>
                </a:solidFill>
              </a:rPr>
              <a:t>5 %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1783092" y="6054639"/>
            <a:ext cx="932212" cy="1826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ko-KR" dirty="0">
                <a:solidFill>
                  <a:schemeClr val="tx1"/>
                </a:solidFill>
              </a:rPr>
              <a:t>15000 (MIN)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8632932" y="6072077"/>
            <a:ext cx="816136" cy="1796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이윤정</a:t>
            </a:r>
          </a:p>
        </p:txBody>
      </p:sp>
      <p:sp>
        <p:nvSpPr>
          <p:cNvPr id="153" name="직사각형 152"/>
          <p:cNvSpPr/>
          <p:nvPr/>
        </p:nvSpPr>
        <p:spPr bwMode="auto">
          <a:xfrm>
            <a:off x="9333206" y="6072078"/>
            <a:ext cx="115863" cy="17745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 bwMode="auto">
          <a:xfrm>
            <a:off x="9480759" y="6072077"/>
            <a:ext cx="816136" cy="17964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2017-01-01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 bwMode="auto">
          <a:xfrm>
            <a:off x="10181033" y="6072078"/>
            <a:ext cx="115863" cy="17745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 bwMode="auto">
          <a:xfrm>
            <a:off x="3819484" y="6076163"/>
            <a:ext cx="1308392" cy="1826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 idx="4294967295"/>
          </p:nvPr>
        </p:nvSpPr>
        <p:spPr>
          <a:xfrm>
            <a:off x="5930481" y="19027"/>
            <a:ext cx="1990151" cy="262827"/>
          </a:xfrm>
          <a:prstGeom prst="rect">
            <a:avLst/>
          </a:prstGeom>
        </p:spPr>
        <p:txBody>
          <a:bodyPr/>
          <a:lstStyle/>
          <a:p>
            <a:r>
              <a:rPr lang="ko-KR" altLang="en-US" sz="1300" dirty="0"/>
              <a:t>자사관리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885437" y="277582"/>
            <a:ext cx="204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공통코드</a:t>
            </a:r>
          </a:p>
        </p:txBody>
      </p:sp>
      <p:sp>
        <p:nvSpPr>
          <p:cNvPr id="91" name="직사각형 90"/>
          <p:cNvSpPr/>
          <p:nvPr/>
        </p:nvSpPr>
        <p:spPr bwMode="auto">
          <a:xfrm>
            <a:off x="-2492885" y="2403781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항공수출</a:t>
            </a:r>
          </a:p>
        </p:txBody>
      </p:sp>
      <p:sp>
        <p:nvSpPr>
          <p:cNvPr id="95" name="직사각형 94"/>
          <p:cNvSpPr/>
          <p:nvPr/>
        </p:nvSpPr>
        <p:spPr bwMode="auto">
          <a:xfrm>
            <a:off x="-2499993" y="257265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항공수입</a:t>
            </a:r>
          </a:p>
        </p:txBody>
      </p:sp>
      <p:sp>
        <p:nvSpPr>
          <p:cNvPr id="96" name="직사각형 95"/>
          <p:cNvSpPr/>
          <p:nvPr/>
        </p:nvSpPr>
        <p:spPr bwMode="auto">
          <a:xfrm>
            <a:off x="-2499993" y="2752829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해상수출</a:t>
            </a:r>
          </a:p>
        </p:txBody>
      </p:sp>
      <p:sp>
        <p:nvSpPr>
          <p:cNvPr id="97" name="타원 96"/>
          <p:cNvSpPr/>
          <p:nvPr/>
        </p:nvSpPr>
        <p:spPr>
          <a:xfrm>
            <a:off x="-2592536" y="2060848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-2499992" y="2939097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해상수입</a:t>
            </a:r>
          </a:p>
        </p:txBody>
      </p:sp>
      <p:sp>
        <p:nvSpPr>
          <p:cNvPr id="102" name="직사각형 101"/>
          <p:cNvSpPr/>
          <p:nvPr/>
        </p:nvSpPr>
        <p:spPr bwMode="auto">
          <a:xfrm>
            <a:off x="-1323999" y="2403954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>
                <a:solidFill>
                  <a:schemeClr val="tx1"/>
                </a:solidFill>
              </a:rPr>
              <a:t>현찰사실때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 bwMode="auto">
          <a:xfrm>
            <a:off x="-1331107" y="2572825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>
                <a:solidFill>
                  <a:schemeClr val="tx1"/>
                </a:solidFill>
              </a:rPr>
              <a:t>현찰파실때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 bwMode="auto">
          <a:xfrm>
            <a:off x="-1331107" y="275300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매매기준율</a:t>
            </a:r>
          </a:p>
        </p:txBody>
      </p:sp>
      <p:sp>
        <p:nvSpPr>
          <p:cNvPr id="111" name="직사각형 110"/>
          <p:cNvSpPr/>
          <p:nvPr/>
        </p:nvSpPr>
        <p:spPr bwMode="auto">
          <a:xfrm>
            <a:off x="-1331106" y="2939270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주간환율</a:t>
            </a:r>
          </a:p>
        </p:txBody>
      </p:sp>
      <p:sp>
        <p:nvSpPr>
          <p:cNvPr id="112" name="직사각형 111"/>
          <p:cNvSpPr/>
          <p:nvPr/>
        </p:nvSpPr>
        <p:spPr bwMode="auto">
          <a:xfrm>
            <a:off x="-1323999" y="3125538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고정환율</a:t>
            </a:r>
          </a:p>
        </p:txBody>
      </p:sp>
      <p:sp>
        <p:nvSpPr>
          <p:cNvPr id="118" name="직사각형 117"/>
          <p:cNvSpPr/>
          <p:nvPr/>
        </p:nvSpPr>
        <p:spPr bwMode="auto">
          <a:xfrm>
            <a:off x="10520027" y="1052736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현재</a:t>
            </a:r>
          </a:p>
        </p:txBody>
      </p:sp>
      <p:sp>
        <p:nvSpPr>
          <p:cNvPr id="119" name="직사각형 118"/>
          <p:cNvSpPr/>
          <p:nvPr/>
        </p:nvSpPr>
        <p:spPr bwMode="auto">
          <a:xfrm>
            <a:off x="10512919" y="1221607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반올림</a:t>
            </a:r>
          </a:p>
        </p:txBody>
      </p:sp>
      <p:sp>
        <p:nvSpPr>
          <p:cNvPr id="120" name="직사각형 119"/>
          <p:cNvSpPr/>
          <p:nvPr/>
        </p:nvSpPr>
        <p:spPr bwMode="auto">
          <a:xfrm>
            <a:off x="10512919" y="1401784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올림</a:t>
            </a:r>
          </a:p>
        </p:txBody>
      </p:sp>
      <p:sp>
        <p:nvSpPr>
          <p:cNvPr id="121" name="직사각형 120"/>
          <p:cNvSpPr/>
          <p:nvPr/>
        </p:nvSpPr>
        <p:spPr bwMode="auto">
          <a:xfrm>
            <a:off x="10512920" y="158805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버림</a:t>
            </a:r>
          </a:p>
        </p:txBody>
      </p:sp>
      <p:sp>
        <p:nvSpPr>
          <p:cNvPr id="126" name="직사각형 125"/>
          <p:cNvSpPr/>
          <p:nvPr/>
        </p:nvSpPr>
        <p:spPr bwMode="auto">
          <a:xfrm>
            <a:off x="10520028" y="2021800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BL </a:t>
            </a:r>
            <a:r>
              <a:rPr lang="ko-KR" altLang="en-US" dirty="0">
                <a:solidFill>
                  <a:schemeClr val="tx1"/>
                </a:solidFill>
              </a:rPr>
              <a:t>발행 일자</a:t>
            </a:r>
          </a:p>
        </p:txBody>
      </p:sp>
      <p:sp>
        <p:nvSpPr>
          <p:cNvPr id="127" name="직사각형 126"/>
          <p:cNvSpPr/>
          <p:nvPr/>
        </p:nvSpPr>
        <p:spPr bwMode="auto">
          <a:xfrm>
            <a:off x="10512920" y="2190671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BL </a:t>
            </a:r>
            <a:r>
              <a:rPr lang="ko-KR" altLang="en-US" dirty="0">
                <a:solidFill>
                  <a:schemeClr val="tx1"/>
                </a:solidFill>
              </a:rPr>
              <a:t>발행 일자</a:t>
            </a:r>
          </a:p>
        </p:txBody>
      </p:sp>
      <p:sp>
        <p:nvSpPr>
          <p:cNvPr id="128" name="직사각형 127"/>
          <p:cNvSpPr/>
          <p:nvPr/>
        </p:nvSpPr>
        <p:spPr bwMode="auto">
          <a:xfrm>
            <a:off x="10512920" y="2370848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청구서 발행일자</a:t>
            </a:r>
          </a:p>
        </p:txBody>
      </p:sp>
      <p:sp>
        <p:nvSpPr>
          <p:cNvPr id="129" name="직사각형 128"/>
          <p:cNvSpPr/>
          <p:nvPr/>
        </p:nvSpPr>
        <p:spPr bwMode="auto">
          <a:xfrm>
            <a:off x="10512921" y="2557116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계산서 발행일자</a:t>
            </a:r>
          </a:p>
        </p:txBody>
      </p:sp>
      <p:sp>
        <p:nvSpPr>
          <p:cNvPr id="130" name="직사각형 129"/>
          <p:cNvSpPr/>
          <p:nvPr/>
        </p:nvSpPr>
        <p:spPr bwMode="auto">
          <a:xfrm>
            <a:off x="-2496486" y="3510310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#,###,##0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1" name="직사각형 130"/>
          <p:cNvSpPr/>
          <p:nvPr/>
        </p:nvSpPr>
        <p:spPr bwMode="auto">
          <a:xfrm>
            <a:off x="-2503594" y="3679181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#,###,##0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 bwMode="auto">
          <a:xfrm>
            <a:off x="-2503594" y="3859358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#,###,##0.0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 bwMode="auto">
          <a:xfrm>
            <a:off x="-2503593" y="4045626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#,###,##0.00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 bwMode="auto">
          <a:xfrm>
            <a:off x="-2513420" y="5526361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항공수출</a:t>
            </a:r>
          </a:p>
        </p:txBody>
      </p:sp>
      <p:sp>
        <p:nvSpPr>
          <p:cNvPr id="135" name="직사각형 134"/>
          <p:cNvSpPr/>
          <p:nvPr/>
        </p:nvSpPr>
        <p:spPr bwMode="auto">
          <a:xfrm>
            <a:off x="-2520528" y="569523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항공수입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-2520528" y="5875409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해상수출</a:t>
            </a:r>
          </a:p>
        </p:txBody>
      </p:sp>
      <p:sp>
        <p:nvSpPr>
          <p:cNvPr id="137" name="직사각형 136"/>
          <p:cNvSpPr/>
          <p:nvPr/>
        </p:nvSpPr>
        <p:spPr bwMode="auto">
          <a:xfrm>
            <a:off x="-2520527" y="6061677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해상수입</a:t>
            </a:r>
          </a:p>
        </p:txBody>
      </p:sp>
      <p:sp>
        <p:nvSpPr>
          <p:cNvPr id="147" name="직사각형 146"/>
          <p:cNvSpPr/>
          <p:nvPr/>
        </p:nvSpPr>
        <p:spPr bwMode="auto">
          <a:xfrm>
            <a:off x="-1344534" y="5526534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FREIGHT + OTHER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직사각형 147"/>
          <p:cNvSpPr/>
          <p:nvPr/>
        </p:nvSpPr>
        <p:spPr bwMode="auto">
          <a:xfrm>
            <a:off x="-1351642" y="5695405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FREIGHT + OTHER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9" name="직사각형 148"/>
          <p:cNvSpPr/>
          <p:nvPr/>
        </p:nvSpPr>
        <p:spPr bwMode="auto">
          <a:xfrm>
            <a:off x="-1351642" y="587558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FREIGHT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 bwMode="auto">
          <a:xfrm>
            <a:off x="-1351641" y="6061850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OTHER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 bwMode="auto">
          <a:xfrm>
            <a:off x="-2513420" y="4365104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반올림</a:t>
            </a:r>
          </a:p>
        </p:txBody>
      </p:sp>
      <p:sp>
        <p:nvSpPr>
          <p:cNvPr id="160" name="직사각형 159"/>
          <p:cNvSpPr/>
          <p:nvPr/>
        </p:nvSpPr>
        <p:spPr bwMode="auto">
          <a:xfrm>
            <a:off x="-2520528" y="4533975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반올림</a:t>
            </a:r>
          </a:p>
        </p:txBody>
      </p:sp>
      <p:sp>
        <p:nvSpPr>
          <p:cNvPr id="161" name="직사각형 160"/>
          <p:cNvSpPr/>
          <p:nvPr/>
        </p:nvSpPr>
        <p:spPr bwMode="auto">
          <a:xfrm>
            <a:off x="-2520528" y="471415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절상</a:t>
            </a:r>
          </a:p>
        </p:txBody>
      </p:sp>
      <p:sp>
        <p:nvSpPr>
          <p:cNvPr id="162" name="직사각형 161"/>
          <p:cNvSpPr/>
          <p:nvPr/>
        </p:nvSpPr>
        <p:spPr bwMode="auto">
          <a:xfrm>
            <a:off x="-2520527" y="4900420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절하</a:t>
            </a:r>
          </a:p>
        </p:txBody>
      </p:sp>
      <p:sp>
        <p:nvSpPr>
          <p:cNvPr id="163" name="직사각형 162"/>
          <p:cNvSpPr/>
          <p:nvPr/>
        </p:nvSpPr>
        <p:spPr bwMode="auto">
          <a:xfrm>
            <a:off x="10520028" y="3039214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Chargeble.Weight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 bwMode="auto">
          <a:xfrm>
            <a:off x="10512920" y="3208085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Chargeble.Weight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5" name="직사각형 164"/>
          <p:cNvSpPr/>
          <p:nvPr/>
        </p:nvSpPr>
        <p:spPr bwMode="auto">
          <a:xfrm>
            <a:off x="10512920" y="338826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Gross Weight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 bwMode="auto">
          <a:xfrm>
            <a:off x="10520028" y="4086374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Net.Weight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8" name="직사각형 167"/>
          <p:cNvSpPr/>
          <p:nvPr/>
        </p:nvSpPr>
        <p:spPr bwMode="auto">
          <a:xfrm>
            <a:off x="10512920" y="4255245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Net.Weight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9" name="직사각형 168"/>
          <p:cNvSpPr/>
          <p:nvPr/>
        </p:nvSpPr>
        <p:spPr bwMode="auto">
          <a:xfrm>
            <a:off x="10512920" y="4435422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Sellingt</a:t>
            </a:r>
            <a:r>
              <a:rPr lang="en-US" altLang="ko-KR" dirty="0">
                <a:solidFill>
                  <a:schemeClr val="tx1"/>
                </a:solidFill>
              </a:rPr>
              <a:t> Weight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 bwMode="auto">
          <a:xfrm>
            <a:off x="10512921" y="4621690"/>
            <a:ext cx="110772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Mininum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11737056" y="3039228"/>
            <a:ext cx="2259785" cy="448794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b="1" dirty="0">
                <a:solidFill>
                  <a:schemeClr val="tx1"/>
                </a:solidFill>
              </a:rPr>
              <a:t>MAWB</a:t>
            </a:r>
            <a:r>
              <a:rPr lang="ko-KR" altLang="ko-KR" sz="700" b="1" dirty="0">
                <a:solidFill>
                  <a:schemeClr val="tx1"/>
                </a:solidFill>
              </a:rPr>
              <a:t>의</a:t>
            </a:r>
            <a:r>
              <a:rPr lang="en-US" altLang="ko-KR" sz="700" b="1" dirty="0">
                <a:solidFill>
                  <a:schemeClr val="tx1"/>
                </a:solidFill>
              </a:rPr>
              <a:t> EXP</a:t>
            </a:r>
            <a:r>
              <a:rPr lang="ko-KR" altLang="ko-KR" sz="700" b="1" dirty="0">
                <a:solidFill>
                  <a:schemeClr val="tx1"/>
                </a:solidFill>
              </a:rPr>
              <a:t>금액을</a:t>
            </a:r>
            <a:r>
              <a:rPr lang="en-US" altLang="ko-KR" sz="700" b="1" dirty="0">
                <a:solidFill>
                  <a:schemeClr val="tx1"/>
                </a:solidFill>
              </a:rPr>
              <a:t> HOUSE</a:t>
            </a:r>
            <a:r>
              <a:rPr lang="ko-KR" altLang="ko-KR" sz="700" b="1" dirty="0">
                <a:solidFill>
                  <a:schemeClr val="tx1"/>
                </a:solidFill>
              </a:rPr>
              <a:t>로 </a:t>
            </a:r>
            <a:r>
              <a:rPr lang="ko-KR" altLang="ko-KR" sz="700" b="1" dirty="0" err="1">
                <a:solidFill>
                  <a:schemeClr val="tx1"/>
                </a:solidFill>
              </a:rPr>
              <a:t>배분시</a:t>
            </a:r>
            <a:r>
              <a:rPr lang="en-US" altLang="ko-KR" sz="700" b="1" dirty="0">
                <a:solidFill>
                  <a:schemeClr val="tx1"/>
                </a:solidFill>
              </a:rPr>
              <a:t> C/WT </a:t>
            </a:r>
            <a:r>
              <a:rPr lang="ko-KR" altLang="ko-KR" sz="700" b="1" dirty="0">
                <a:solidFill>
                  <a:schemeClr val="tx1"/>
                </a:solidFill>
              </a:rPr>
              <a:t>또는</a:t>
            </a:r>
            <a:r>
              <a:rPr lang="en-US" altLang="ko-KR" sz="700" b="1" dirty="0">
                <a:solidFill>
                  <a:schemeClr val="tx1"/>
                </a:solidFill>
              </a:rPr>
              <a:t> G/WT</a:t>
            </a:r>
            <a:endParaRPr lang="ko-KR" altLang="ko-KR" sz="700" b="1" dirty="0">
              <a:solidFill>
                <a:schemeClr val="tx1"/>
              </a:solidFill>
            </a:endParaRPr>
          </a:p>
          <a:p>
            <a:r>
              <a:rPr lang="en-US" altLang="ko-KR" sz="700" b="1" dirty="0">
                <a:solidFill>
                  <a:schemeClr val="tx1"/>
                </a:solidFill>
              </a:rPr>
              <a:t>   </a:t>
            </a:r>
            <a:r>
              <a:rPr lang="ko-KR" altLang="ko-KR" sz="700" b="1" dirty="0">
                <a:solidFill>
                  <a:schemeClr val="tx1"/>
                </a:solidFill>
              </a:rPr>
              <a:t>중 어느</a:t>
            </a:r>
            <a:r>
              <a:rPr lang="en-US" altLang="ko-KR" sz="700" b="1" dirty="0">
                <a:solidFill>
                  <a:schemeClr val="tx1"/>
                </a:solidFill>
              </a:rPr>
              <a:t> WT</a:t>
            </a:r>
            <a:r>
              <a:rPr lang="ko-KR" altLang="ko-KR" sz="700" b="1" dirty="0">
                <a:solidFill>
                  <a:schemeClr val="tx1"/>
                </a:solidFill>
              </a:rPr>
              <a:t>로</a:t>
            </a:r>
            <a:r>
              <a:rPr lang="en-US" altLang="ko-KR" sz="700" b="1" dirty="0">
                <a:solidFill>
                  <a:schemeClr val="tx1"/>
                </a:solidFill>
              </a:rPr>
              <a:t> SHARE</a:t>
            </a:r>
            <a:r>
              <a:rPr lang="ko-KR" altLang="ko-KR" sz="700" b="1" dirty="0">
                <a:solidFill>
                  <a:schemeClr val="tx1"/>
                </a:solidFill>
              </a:rPr>
              <a:t>를 할건지 구분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73" name="타원 172"/>
          <p:cNvSpPr/>
          <p:nvPr/>
        </p:nvSpPr>
        <p:spPr>
          <a:xfrm>
            <a:off x="679226" y="4590857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-1414289" y="2060848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1-2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2131687" y="4452835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1-2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76" name="타원 175"/>
          <p:cNvSpPr/>
          <p:nvPr/>
        </p:nvSpPr>
        <p:spPr>
          <a:xfrm>
            <a:off x="8601486" y="4495217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1-3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77" name="타원 176"/>
          <p:cNvSpPr/>
          <p:nvPr/>
        </p:nvSpPr>
        <p:spPr>
          <a:xfrm>
            <a:off x="10320895" y="710662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1-3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78" name="타원 177"/>
          <p:cNvSpPr/>
          <p:nvPr/>
        </p:nvSpPr>
        <p:spPr>
          <a:xfrm>
            <a:off x="-2837527" y="3277932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1-4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79" name="타원 178"/>
          <p:cNvSpPr/>
          <p:nvPr/>
        </p:nvSpPr>
        <p:spPr>
          <a:xfrm>
            <a:off x="-2844635" y="4163780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1-5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0" name="타원 179"/>
          <p:cNvSpPr/>
          <p:nvPr/>
        </p:nvSpPr>
        <p:spPr>
          <a:xfrm>
            <a:off x="10296895" y="1762026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1-6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1" name="타원 180"/>
          <p:cNvSpPr/>
          <p:nvPr/>
        </p:nvSpPr>
        <p:spPr>
          <a:xfrm>
            <a:off x="7539749" y="5058839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1-6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2" name="타원 181"/>
          <p:cNvSpPr/>
          <p:nvPr/>
        </p:nvSpPr>
        <p:spPr>
          <a:xfrm>
            <a:off x="-2909966" y="5354532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1-7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3" name="타원 182"/>
          <p:cNvSpPr/>
          <p:nvPr/>
        </p:nvSpPr>
        <p:spPr>
          <a:xfrm>
            <a:off x="-1417974" y="5227651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1-8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4" name="타원 183"/>
          <p:cNvSpPr/>
          <p:nvPr/>
        </p:nvSpPr>
        <p:spPr>
          <a:xfrm>
            <a:off x="669787" y="5428732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1-7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2542982" y="5293983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1-8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6" name="타원 185"/>
          <p:cNvSpPr/>
          <p:nvPr/>
        </p:nvSpPr>
        <p:spPr>
          <a:xfrm>
            <a:off x="3474842" y="5464971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1-9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7" name="타원 186"/>
          <p:cNvSpPr/>
          <p:nvPr/>
        </p:nvSpPr>
        <p:spPr>
          <a:xfrm>
            <a:off x="10238964" y="2838341"/>
            <a:ext cx="344642" cy="3201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1-9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8" name="타원 187"/>
          <p:cNvSpPr/>
          <p:nvPr/>
        </p:nvSpPr>
        <p:spPr>
          <a:xfrm>
            <a:off x="10217979" y="3792044"/>
            <a:ext cx="423557" cy="34131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1-10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5616730" y="5299389"/>
            <a:ext cx="430572" cy="39853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1-10</a:t>
            </a:r>
            <a:endParaRPr lang="ko-KR" altLang="en-US" sz="1000" b="1" dirty="0" err="1">
              <a:solidFill>
                <a:schemeClr val="bg1"/>
              </a:solidFill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11763179" y="4070937"/>
            <a:ext cx="2259785" cy="73915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b="1" dirty="0">
                <a:solidFill>
                  <a:schemeClr val="tx1"/>
                </a:solidFill>
              </a:rPr>
              <a:t>PROFIT</a:t>
            </a:r>
            <a:r>
              <a:rPr lang="ko-KR" altLang="ko-KR" sz="700" b="1" dirty="0">
                <a:solidFill>
                  <a:schemeClr val="tx1"/>
                </a:solidFill>
              </a:rPr>
              <a:t>금액을 각각</a:t>
            </a:r>
            <a:r>
              <a:rPr lang="en-US" altLang="ko-KR" sz="700" b="1" dirty="0">
                <a:solidFill>
                  <a:schemeClr val="tx1"/>
                </a:solidFill>
              </a:rPr>
              <a:t>HAWB</a:t>
            </a:r>
            <a:r>
              <a:rPr lang="ko-KR" altLang="ko-KR" sz="700" b="1" dirty="0">
                <a:solidFill>
                  <a:schemeClr val="tx1"/>
                </a:solidFill>
              </a:rPr>
              <a:t>로 어떠한</a:t>
            </a:r>
            <a:r>
              <a:rPr lang="en-US" altLang="ko-KR" sz="700" b="1" dirty="0">
                <a:solidFill>
                  <a:schemeClr val="tx1"/>
                </a:solidFill>
              </a:rPr>
              <a:t> WT</a:t>
            </a:r>
            <a:r>
              <a:rPr lang="ko-KR" altLang="ko-KR" sz="700" b="1" dirty="0">
                <a:solidFill>
                  <a:schemeClr val="tx1"/>
                </a:solidFill>
              </a:rPr>
              <a:t>로 분배할건지</a:t>
            </a:r>
            <a:r>
              <a:rPr lang="en-US" altLang="ko-KR" sz="700" b="1" dirty="0">
                <a:solidFill>
                  <a:schemeClr val="tx1"/>
                </a:solidFill>
              </a:rPr>
              <a:t> </a:t>
            </a:r>
            <a:endParaRPr lang="ko-KR" altLang="ko-KR" sz="700" b="1" dirty="0">
              <a:solidFill>
                <a:schemeClr val="tx1"/>
              </a:solidFill>
            </a:endParaRPr>
          </a:p>
          <a:p>
            <a:r>
              <a:rPr lang="en-US" altLang="ko-KR" sz="700" b="1" dirty="0">
                <a:solidFill>
                  <a:schemeClr val="tx1"/>
                </a:solidFill>
              </a:rPr>
              <a:t>  </a:t>
            </a:r>
            <a:r>
              <a:rPr lang="ko-KR" altLang="ko-KR" sz="700" b="1" dirty="0">
                <a:solidFill>
                  <a:schemeClr val="tx1"/>
                </a:solidFill>
              </a:rPr>
              <a:t>여부설정 </a:t>
            </a:r>
            <a:r>
              <a:rPr lang="en-US" altLang="ko-KR" sz="700" b="1" dirty="0">
                <a:solidFill>
                  <a:schemeClr val="tx1"/>
                </a:solidFill>
                <a:sym typeface="Wingdings"/>
              </a:rPr>
              <a:t></a:t>
            </a:r>
            <a:endParaRPr lang="ko-KR" altLang="ko-KR" sz="700" b="1" dirty="0">
              <a:solidFill>
                <a:schemeClr val="tx1"/>
              </a:solidFill>
            </a:endParaRPr>
          </a:p>
          <a:p>
            <a:r>
              <a:rPr lang="en-US" altLang="ko-KR" sz="700" b="1" dirty="0">
                <a:solidFill>
                  <a:schemeClr val="tx1"/>
                </a:solidFill>
              </a:rPr>
              <a:t>   G: </a:t>
            </a:r>
            <a:r>
              <a:rPr lang="en-US" altLang="ko-KR" sz="700" b="1" dirty="0" err="1">
                <a:solidFill>
                  <a:schemeClr val="tx1"/>
                </a:solidFill>
              </a:rPr>
              <a:t>NetWeight</a:t>
            </a:r>
            <a:r>
              <a:rPr lang="en-US" altLang="ko-KR" sz="700" b="1" dirty="0">
                <a:solidFill>
                  <a:schemeClr val="tx1"/>
                </a:solidFill>
              </a:rPr>
              <a:t> * Rate </a:t>
            </a:r>
            <a:r>
              <a:rPr lang="en-US" altLang="ko-KR" sz="700" b="1" dirty="0">
                <a:solidFill>
                  <a:schemeClr val="tx1"/>
                </a:solidFill>
                <a:sym typeface="Wingdings"/>
              </a:rPr>
              <a:t></a:t>
            </a:r>
            <a:r>
              <a:rPr lang="en-US" altLang="ko-KR" sz="700" b="1" dirty="0">
                <a:solidFill>
                  <a:schemeClr val="tx1"/>
                </a:solidFill>
              </a:rPr>
              <a:t> Default</a:t>
            </a:r>
            <a:r>
              <a:rPr lang="ko-KR" altLang="ko-KR" sz="700" b="1" dirty="0">
                <a:solidFill>
                  <a:schemeClr val="tx1"/>
                </a:solidFill>
              </a:rPr>
              <a:t>값</a:t>
            </a:r>
            <a:r>
              <a:rPr lang="en-US" altLang="ko-KR" sz="700" b="1" dirty="0">
                <a:solidFill>
                  <a:schemeClr val="tx1"/>
                </a:solidFill>
              </a:rPr>
              <a:t>/ C: </a:t>
            </a:r>
            <a:r>
              <a:rPr lang="en-US" altLang="ko-KR" sz="700" b="1" dirty="0" err="1">
                <a:solidFill>
                  <a:schemeClr val="tx1"/>
                </a:solidFill>
              </a:rPr>
              <a:t>SellingWeight</a:t>
            </a:r>
            <a:r>
              <a:rPr lang="en-US" altLang="ko-KR" sz="700" b="1" dirty="0">
                <a:solidFill>
                  <a:schemeClr val="tx1"/>
                </a:solidFill>
              </a:rPr>
              <a:t> * Rate/ M: </a:t>
            </a:r>
            <a:r>
              <a:rPr lang="en-US" altLang="ko-KR" sz="700" b="1" dirty="0" err="1">
                <a:solidFill>
                  <a:schemeClr val="tx1"/>
                </a:solidFill>
              </a:rPr>
              <a:t>Mininum</a:t>
            </a:r>
            <a:r>
              <a:rPr lang="en-US" altLang="ko-KR" sz="700" b="1" dirty="0">
                <a:solidFill>
                  <a:schemeClr val="tx1"/>
                </a:solidFill>
              </a:rPr>
              <a:t> </a:t>
            </a:r>
            <a:endParaRPr lang="ko-KR" altLang="ko-KR" sz="7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99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160569" y="620688"/>
            <a:ext cx="9749868" cy="583264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60885" y="738890"/>
            <a:ext cx="1034412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통관정산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78978" y="692696"/>
            <a:ext cx="881907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1.</a:t>
            </a:r>
            <a:r>
              <a:rPr lang="ko-KR" altLang="en-US" dirty="0" err="1">
                <a:solidFill>
                  <a:schemeClr val="tx1"/>
                </a:solidFill>
              </a:rPr>
              <a:t>포워더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4123" y="1020139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Air Out</a:t>
            </a:r>
            <a:endParaRPr lang="ko-KR" altLang="en-US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953" y="1076857"/>
            <a:ext cx="11430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그룹 10"/>
          <p:cNvGrpSpPr/>
          <p:nvPr/>
        </p:nvGrpSpPr>
        <p:grpSpPr>
          <a:xfrm>
            <a:off x="1762808" y="1049040"/>
            <a:ext cx="973882" cy="186543"/>
            <a:chOff x="5434582" y="4097743"/>
            <a:chExt cx="973882" cy="186543"/>
          </a:xfrm>
        </p:grpSpPr>
        <p:grpSp>
          <p:nvGrpSpPr>
            <p:cNvPr id="12" name="그룹 11"/>
            <p:cNvGrpSpPr/>
            <p:nvPr/>
          </p:nvGrpSpPr>
          <p:grpSpPr>
            <a:xfrm>
              <a:off x="5434582" y="4097743"/>
              <a:ext cx="462396" cy="186541"/>
              <a:chOff x="4719504" y="3630808"/>
              <a:chExt cx="462396" cy="186541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4853727" y="3630808"/>
                <a:ext cx="328173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Add</a:t>
                </a:r>
                <a:endParaRPr lang="ko-KR" altLang="en-US" dirty="0"/>
              </a:p>
            </p:txBody>
          </p: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504" y="3654597"/>
                <a:ext cx="142857" cy="133333"/>
              </a:xfrm>
              <a:prstGeom prst="rect">
                <a:avLst/>
              </a:prstGeom>
            </p:spPr>
          </p:pic>
        </p:grpSp>
        <p:grpSp>
          <p:nvGrpSpPr>
            <p:cNvPr id="13" name="그룹 12"/>
            <p:cNvGrpSpPr/>
            <p:nvPr/>
          </p:nvGrpSpPr>
          <p:grpSpPr>
            <a:xfrm>
              <a:off x="5868404" y="4097745"/>
              <a:ext cx="540060" cy="186541"/>
              <a:chOff x="5868404" y="4097745"/>
              <a:chExt cx="540060" cy="186541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5979073" y="4097745"/>
                <a:ext cx="429391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Delete</a:t>
                </a:r>
                <a:endParaRPr lang="ko-KR" altLang="en-US" dirty="0"/>
              </a:p>
            </p:txBody>
          </p:sp>
          <p:pic>
            <p:nvPicPr>
              <p:cNvPr id="15" name="그림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8404" y="4129109"/>
                <a:ext cx="142857" cy="123810"/>
              </a:xfrm>
              <a:prstGeom prst="rect">
                <a:avLst/>
              </a:prstGeom>
            </p:spPr>
          </p:pic>
        </p:grpSp>
      </p:grpSp>
      <p:sp>
        <p:nvSpPr>
          <p:cNvPr id="18" name="직사각형 17"/>
          <p:cNvSpPr/>
          <p:nvPr/>
        </p:nvSpPr>
        <p:spPr>
          <a:xfrm>
            <a:off x="738659" y="1332808"/>
            <a:ext cx="1925390" cy="116008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980958"/>
              </p:ext>
            </p:extLst>
          </p:nvPr>
        </p:nvGraphicFramePr>
        <p:xfrm>
          <a:off x="737953" y="1252505"/>
          <a:ext cx="1926096" cy="990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1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Code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AFC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AIR FREIGHT CHARG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947745" y="1020139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Air In</a:t>
            </a:r>
            <a:endParaRPr lang="ko-KR" altLang="en-US" dirty="0"/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1575" y="1076857"/>
            <a:ext cx="11430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2" name="그룹 21"/>
          <p:cNvGrpSpPr/>
          <p:nvPr/>
        </p:nvGrpSpPr>
        <p:grpSpPr>
          <a:xfrm>
            <a:off x="3926430" y="1049040"/>
            <a:ext cx="973882" cy="186543"/>
            <a:chOff x="5434582" y="4097743"/>
            <a:chExt cx="973882" cy="186543"/>
          </a:xfrm>
        </p:grpSpPr>
        <p:grpSp>
          <p:nvGrpSpPr>
            <p:cNvPr id="23" name="그룹 22"/>
            <p:cNvGrpSpPr/>
            <p:nvPr/>
          </p:nvGrpSpPr>
          <p:grpSpPr>
            <a:xfrm>
              <a:off x="5434582" y="4097743"/>
              <a:ext cx="462396" cy="186541"/>
              <a:chOff x="4719504" y="3630808"/>
              <a:chExt cx="462396" cy="18654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4853727" y="3630808"/>
                <a:ext cx="328173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Add</a:t>
                </a:r>
                <a:endParaRPr lang="ko-KR" altLang="en-US" dirty="0"/>
              </a:p>
            </p:txBody>
          </p:sp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504" y="3654597"/>
                <a:ext cx="142857" cy="133333"/>
              </a:xfrm>
              <a:prstGeom prst="rect">
                <a:avLst/>
              </a:prstGeom>
            </p:spPr>
          </p:pic>
        </p:grpSp>
        <p:grpSp>
          <p:nvGrpSpPr>
            <p:cNvPr id="24" name="그룹 23"/>
            <p:cNvGrpSpPr/>
            <p:nvPr/>
          </p:nvGrpSpPr>
          <p:grpSpPr>
            <a:xfrm>
              <a:off x="5868404" y="4097745"/>
              <a:ext cx="540060" cy="186541"/>
              <a:chOff x="5868404" y="4097745"/>
              <a:chExt cx="540060" cy="186541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5979073" y="4097745"/>
                <a:ext cx="429391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Delete</a:t>
                </a:r>
                <a:endParaRPr lang="ko-KR" altLang="en-US" dirty="0"/>
              </a:p>
            </p:txBody>
          </p:sp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8404" y="4129109"/>
                <a:ext cx="142857" cy="123810"/>
              </a:xfrm>
              <a:prstGeom prst="rect">
                <a:avLst/>
              </a:prstGeom>
            </p:spPr>
          </p:pic>
        </p:grpSp>
      </p:grpSp>
      <p:sp>
        <p:nvSpPr>
          <p:cNvPr id="29" name="직사각형 28"/>
          <p:cNvSpPr/>
          <p:nvPr/>
        </p:nvSpPr>
        <p:spPr>
          <a:xfrm>
            <a:off x="2902281" y="1332808"/>
            <a:ext cx="1925390" cy="116008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00543"/>
              </p:ext>
            </p:extLst>
          </p:nvPr>
        </p:nvGraphicFramePr>
        <p:xfrm>
          <a:off x="2901575" y="1252505"/>
          <a:ext cx="1926096" cy="990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1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Code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AFC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AIR FREIGHT CHARG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125645" y="1020139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Ocean Out</a:t>
            </a:r>
            <a:endParaRPr lang="ko-KR" altLang="en-US" dirty="0"/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9475" y="1076857"/>
            <a:ext cx="11430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3" name="그룹 32"/>
          <p:cNvGrpSpPr/>
          <p:nvPr/>
        </p:nvGrpSpPr>
        <p:grpSpPr>
          <a:xfrm>
            <a:off x="6104330" y="1049040"/>
            <a:ext cx="973882" cy="186543"/>
            <a:chOff x="5434582" y="4097743"/>
            <a:chExt cx="973882" cy="186543"/>
          </a:xfrm>
        </p:grpSpPr>
        <p:grpSp>
          <p:nvGrpSpPr>
            <p:cNvPr id="34" name="그룹 33"/>
            <p:cNvGrpSpPr/>
            <p:nvPr/>
          </p:nvGrpSpPr>
          <p:grpSpPr>
            <a:xfrm>
              <a:off x="5434582" y="4097743"/>
              <a:ext cx="462396" cy="186541"/>
              <a:chOff x="4719504" y="3630808"/>
              <a:chExt cx="462396" cy="186541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4853727" y="3630808"/>
                <a:ext cx="328173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Add</a:t>
                </a:r>
                <a:endParaRPr lang="ko-KR" altLang="en-US" dirty="0"/>
              </a:p>
            </p:txBody>
          </p:sp>
          <p:pic>
            <p:nvPicPr>
              <p:cNvPr id="39" name="그림 3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504" y="3654597"/>
                <a:ext cx="142857" cy="133333"/>
              </a:xfrm>
              <a:prstGeom prst="rect">
                <a:avLst/>
              </a:prstGeom>
            </p:spPr>
          </p:pic>
        </p:grpSp>
        <p:grpSp>
          <p:nvGrpSpPr>
            <p:cNvPr id="35" name="그룹 34"/>
            <p:cNvGrpSpPr/>
            <p:nvPr/>
          </p:nvGrpSpPr>
          <p:grpSpPr>
            <a:xfrm>
              <a:off x="5868404" y="4097745"/>
              <a:ext cx="540060" cy="186541"/>
              <a:chOff x="5868404" y="4097745"/>
              <a:chExt cx="540060" cy="186541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5979073" y="4097745"/>
                <a:ext cx="429391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Delete</a:t>
                </a:r>
                <a:endParaRPr lang="ko-KR" altLang="en-US" dirty="0"/>
              </a:p>
            </p:txBody>
          </p:sp>
          <p:pic>
            <p:nvPicPr>
              <p:cNvPr id="37" name="그림 3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8404" y="4129109"/>
                <a:ext cx="142857" cy="123810"/>
              </a:xfrm>
              <a:prstGeom prst="rect">
                <a:avLst/>
              </a:prstGeom>
            </p:spPr>
          </p:pic>
        </p:grpSp>
      </p:grpSp>
      <p:sp>
        <p:nvSpPr>
          <p:cNvPr id="40" name="직사각형 39"/>
          <p:cNvSpPr/>
          <p:nvPr/>
        </p:nvSpPr>
        <p:spPr>
          <a:xfrm>
            <a:off x="5080181" y="1332808"/>
            <a:ext cx="1925390" cy="116008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487662"/>
              </p:ext>
            </p:extLst>
          </p:nvPr>
        </p:nvGraphicFramePr>
        <p:xfrm>
          <a:off x="5079475" y="1252505"/>
          <a:ext cx="1926096" cy="990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1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Code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AFC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AIR FREIGHT CHARG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7300207" y="1020139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Ocean In</a:t>
            </a:r>
            <a:endParaRPr lang="ko-KR" altLang="en-US" dirty="0"/>
          </a:p>
        </p:txBody>
      </p:sp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4037" y="1076857"/>
            <a:ext cx="11430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4" name="그룹 43"/>
          <p:cNvGrpSpPr/>
          <p:nvPr/>
        </p:nvGrpSpPr>
        <p:grpSpPr>
          <a:xfrm>
            <a:off x="8278892" y="1049040"/>
            <a:ext cx="973882" cy="186543"/>
            <a:chOff x="5434582" y="4097743"/>
            <a:chExt cx="973882" cy="186543"/>
          </a:xfrm>
        </p:grpSpPr>
        <p:grpSp>
          <p:nvGrpSpPr>
            <p:cNvPr id="45" name="그룹 44"/>
            <p:cNvGrpSpPr/>
            <p:nvPr/>
          </p:nvGrpSpPr>
          <p:grpSpPr>
            <a:xfrm>
              <a:off x="5434582" y="4097743"/>
              <a:ext cx="462396" cy="186541"/>
              <a:chOff x="4719504" y="3630808"/>
              <a:chExt cx="462396" cy="186541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4853727" y="3630808"/>
                <a:ext cx="328173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Add</a:t>
                </a:r>
                <a:endParaRPr lang="ko-KR" altLang="en-US" dirty="0"/>
              </a:p>
            </p:txBody>
          </p:sp>
          <p:pic>
            <p:nvPicPr>
              <p:cNvPr id="50" name="그림 4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504" y="3654597"/>
                <a:ext cx="142857" cy="133333"/>
              </a:xfrm>
              <a:prstGeom prst="rect">
                <a:avLst/>
              </a:prstGeom>
            </p:spPr>
          </p:pic>
        </p:grpSp>
        <p:grpSp>
          <p:nvGrpSpPr>
            <p:cNvPr id="46" name="그룹 45"/>
            <p:cNvGrpSpPr/>
            <p:nvPr/>
          </p:nvGrpSpPr>
          <p:grpSpPr>
            <a:xfrm>
              <a:off x="5868404" y="4097745"/>
              <a:ext cx="540060" cy="186541"/>
              <a:chOff x="5868404" y="4097745"/>
              <a:chExt cx="540060" cy="186541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5979073" y="4097745"/>
                <a:ext cx="429391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Delete</a:t>
                </a:r>
                <a:endParaRPr lang="ko-KR" altLang="en-US" dirty="0"/>
              </a:p>
            </p:txBody>
          </p:sp>
          <p:pic>
            <p:nvPicPr>
              <p:cNvPr id="48" name="그림 4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8404" y="4129109"/>
                <a:ext cx="142857" cy="123810"/>
              </a:xfrm>
              <a:prstGeom prst="rect">
                <a:avLst/>
              </a:prstGeom>
            </p:spPr>
          </p:pic>
        </p:grpSp>
      </p:grpSp>
      <p:sp>
        <p:nvSpPr>
          <p:cNvPr id="51" name="직사각형 50"/>
          <p:cNvSpPr/>
          <p:nvPr/>
        </p:nvSpPr>
        <p:spPr>
          <a:xfrm>
            <a:off x="7254743" y="1332808"/>
            <a:ext cx="1925390" cy="116008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270599"/>
              </p:ext>
            </p:extLst>
          </p:nvPr>
        </p:nvGraphicFramePr>
        <p:xfrm>
          <a:off x="7254037" y="1252505"/>
          <a:ext cx="1926096" cy="990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1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Code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AFC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AIR FREIGHT CHARG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타원 53"/>
          <p:cNvSpPr/>
          <p:nvPr/>
        </p:nvSpPr>
        <p:spPr>
          <a:xfrm>
            <a:off x="2715879" y="979201"/>
            <a:ext cx="199303" cy="10471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</a:rPr>
              <a:t>6-2</a:t>
            </a:r>
            <a:endParaRPr lang="ko-KR" altLang="en-US" sz="600" b="1" dirty="0" err="1">
              <a:solidFill>
                <a:schemeClr val="bg1"/>
              </a:solidFill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4903068" y="979201"/>
            <a:ext cx="199303" cy="10471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</a:rPr>
              <a:t>6-3</a:t>
            </a:r>
            <a:endParaRPr lang="ko-KR" altLang="en-US" sz="600" b="1" dirty="0" err="1">
              <a:solidFill>
                <a:schemeClr val="bg1"/>
              </a:solidFill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7099535" y="979201"/>
            <a:ext cx="199303" cy="10471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</a:rPr>
              <a:t>6-4</a:t>
            </a:r>
            <a:endParaRPr lang="ko-KR" altLang="en-US" sz="600" b="1" dirty="0" err="1">
              <a:solidFill>
                <a:schemeClr val="bg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578978" y="3140968"/>
            <a:ext cx="717287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Domestic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85010" y="3369726"/>
            <a:ext cx="8795660" cy="292253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07996" y="3483945"/>
            <a:ext cx="8290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하단문구 설정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1343425" y="3802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A/N(Sea)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29928" y="3756438"/>
            <a:ext cx="609402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A/N(Air)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059409" y="3802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D/O(Air)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767107" y="3802632"/>
            <a:ext cx="804469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D/O(Sea)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3571576" y="3802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Statement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284162" y="3802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S/R(Sea)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5000531" y="3802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S/N(Sea)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 bwMode="auto">
          <a:xfrm rot="5400000" flipV="1">
            <a:off x="5899065" y="3811620"/>
            <a:ext cx="183992" cy="16609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chemeClr val="tx1"/>
                </a:solidFill>
              </a:rPr>
              <a:t>▼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 bwMode="auto">
          <a:xfrm rot="16200000" flipV="1">
            <a:off x="5725275" y="3803920"/>
            <a:ext cx="183986" cy="18148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chemeClr val="tx1"/>
                </a:solidFill>
              </a:rPr>
              <a:t>▼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729928" y="3985196"/>
            <a:ext cx="8508300" cy="7948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807996" y="4060009"/>
            <a:ext cx="8336772" cy="648072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tx1"/>
                </a:solidFill>
              </a:rPr>
              <a:t>귀하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사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명의의 화물이 도착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예정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하였기에 </a:t>
            </a:r>
            <a:r>
              <a:rPr lang="ko-KR" altLang="en-US" dirty="0" err="1">
                <a:solidFill>
                  <a:schemeClr val="tx1"/>
                </a:solidFill>
              </a:rPr>
              <a:t>통지하오니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ORIGINAL B/L</a:t>
            </a:r>
            <a:r>
              <a:rPr lang="ko-KR" altLang="en-US" dirty="0">
                <a:solidFill>
                  <a:schemeClr val="tx1"/>
                </a:solidFill>
              </a:rPr>
              <a:t>을 지참하시고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관련비용을 납부하여 </a:t>
            </a:r>
            <a:r>
              <a:rPr lang="en-US" altLang="ko-KR" dirty="0">
                <a:solidFill>
                  <a:schemeClr val="tx1"/>
                </a:solidFill>
              </a:rPr>
              <a:t>D/O</a:t>
            </a:r>
            <a:r>
              <a:rPr lang="ko-KR" altLang="en-US" dirty="0">
                <a:solidFill>
                  <a:schemeClr val="tx1"/>
                </a:solidFill>
              </a:rPr>
              <a:t>를 발급받아 화물을 인수하여 주시기 바랍니다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07996" y="4886945"/>
            <a:ext cx="26260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Shipping Request / Schedule Notice / Estimate Sheet</a:t>
            </a:r>
            <a:endParaRPr lang="ko-KR" altLang="en-US" dirty="0"/>
          </a:p>
        </p:txBody>
      </p:sp>
      <p:sp>
        <p:nvSpPr>
          <p:cNvPr id="109" name="직사각형 108"/>
          <p:cNvSpPr/>
          <p:nvPr/>
        </p:nvSpPr>
        <p:spPr>
          <a:xfrm>
            <a:off x="1343425" y="5205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S/R(Sea)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729928" y="5159438"/>
            <a:ext cx="609402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S/R(Air)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2059409" y="5205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S/N(Air)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2767107" y="5205632"/>
            <a:ext cx="804469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S/N(Sea)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3571576" y="5205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E/S(Air)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284162" y="520563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E/S(Sea)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729928" y="5388196"/>
            <a:ext cx="8508300" cy="7948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07996" y="5463009"/>
            <a:ext cx="8336772" cy="648072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 err="1">
              <a:solidFill>
                <a:schemeClr val="tx1"/>
              </a:solidFill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173741" y="2780928"/>
            <a:ext cx="2115027" cy="236513"/>
            <a:chOff x="920300" y="3392022"/>
            <a:chExt cx="900100" cy="236513"/>
          </a:xfrm>
        </p:grpSpPr>
        <p:sp>
          <p:nvSpPr>
            <p:cNvPr id="120" name="한쪽 모서리가 둥근 사각형 119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21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ko-KR" altLang="en-US" dirty="0" err="1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레포트</a:t>
              </a:r>
              <a:r>
                <a:rPr lang="ko-KR" altLang="en-US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 설정</a:t>
              </a:r>
              <a:endParaRPr lang="ko-KR" altLang="en-US" sz="800" dirty="0"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23" name="직사각형 122"/>
          <p:cNvSpPr/>
          <p:nvPr/>
        </p:nvSpPr>
        <p:spPr>
          <a:xfrm>
            <a:off x="1304363" y="3174428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-2155600" y="2835873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입금표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-2875680" y="2789679"/>
            <a:ext cx="715985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세금계산서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-1431424" y="2836002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전표</a:t>
            </a:r>
          </a:p>
        </p:txBody>
      </p:sp>
      <p:sp>
        <p:nvSpPr>
          <p:cNvPr id="132" name="직사각형 131"/>
          <p:cNvSpPr/>
          <p:nvPr/>
        </p:nvSpPr>
        <p:spPr bwMode="auto">
          <a:xfrm>
            <a:off x="-2850361" y="3078140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흑백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 bwMode="auto">
          <a:xfrm>
            <a:off x="-1704185" y="3078140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 bwMode="auto">
          <a:xfrm>
            <a:off x="-2850279" y="3263778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컬러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 bwMode="auto">
          <a:xfrm>
            <a:off x="-2850279" y="3441579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양식 계산서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-2880568" y="4078164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흑백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 bwMode="auto">
          <a:xfrm>
            <a:off x="-1734392" y="4078164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 bwMode="auto">
          <a:xfrm>
            <a:off x="-2880486" y="4263802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컬러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9" name="직사각형 138"/>
          <p:cNvSpPr/>
          <p:nvPr/>
        </p:nvSpPr>
        <p:spPr bwMode="auto">
          <a:xfrm>
            <a:off x="-2880486" y="4441603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양식 입금표</a:t>
            </a:r>
          </a:p>
        </p:txBody>
      </p:sp>
      <p:sp>
        <p:nvSpPr>
          <p:cNvPr id="140" name="직사각형 139"/>
          <p:cNvSpPr/>
          <p:nvPr/>
        </p:nvSpPr>
        <p:spPr bwMode="auto">
          <a:xfrm>
            <a:off x="-2875680" y="4990255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이미지 전표</a:t>
            </a:r>
            <a:r>
              <a:rPr lang="en-US" altLang="ko-KR" dirty="0">
                <a:solidFill>
                  <a:schemeClr val="tx1"/>
                </a:solidFill>
              </a:rPr>
              <a:t>(6)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 bwMode="auto">
          <a:xfrm>
            <a:off x="-1729504" y="4990255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-2875598" y="5175893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이미지 전표</a:t>
            </a:r>
            <a:r>
              <a:rPr lang="en-US" altLang="ko-KR" dirty="0">
                <a:solidFill>
                  <a:schemeClr val="tx1"/>
                </a:solidFill>
              </a:rPr>
              <a:t>(9)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-2875598" y="5353694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양식 전표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-2876472" y="3861048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-2156393" y="3805974"/>
            <a:ext cx="715985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입금표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-1436312" y="3852297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전표</a:t>
            </a:r>
          </a:p>
        </p:txBody>
      </p:sp>
      <p:sp>
        <p:nvSpPr>
          <p:cNvPr id="147" name="직사각형 146"/>
          <p:cNvSpPr/>
          <p:nvPr/>
        </p:nvSpPr>
        <p:spPr>
          <a:xfrm>
            <a:off x="-2160488" y="4757143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입금표</a:t>
            </a:r>
          </a:p>
        </p:txBody>
      </p:sp>
      <p:sp>
        <p:nvSpPr>
          <p:cNvPr id="148" name="직사각형 147"/>
          <p:cNvSpPr/>
          <p:nvPr/>
        </p:nvSpPr>
        <p:spPr>
          <a:xfrm>
            <a:off x="-1439891" y="4707914"/>
            <a:ext cx="715985" cy="230219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전표</a:t>
            </a:r>
          </a:p>
        </p:txBody>
      </p:sp>
      <p:sp>
        <p:nvSpPr>
          <p:cNvPr id="149" name="직사각형 148"/>
          <p:cNvSpPr/>
          <p:nvPr/>
        </p:nvSpPr>
        <p:spPr>
          <a:xfrm>
            <a:off x="-2875679" y="4758639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50" name="제목 149"/>
          <p:cNvSpPr>
            <a:spLocks noGrp="1"/>
          </p:cNvSpPr>
          <p:nvPr>
            <p:ph type="title" idx="4294967295"/>
          </p:nvPr>
        </p:nvSpPr>
        <p:spPr>
          <a:xfrm>
            <a:off x="5908012" y="27690"/>
            <a:ext cx="1996848" cy="202034"/>
          </a:xfrm>
          <a:prstGeom prst="rect">
            <a:avLst/>
          </a:prstGeom>
        </p:spPr>
        <p:txBody>
          <a:bodyPr/>
          <a:lstStyle/>
          <a:p>
            <a:r>
              <a:rPr lang="ko-KR" altLang="en-US" sz="1300" dirty="0"/>
              <a:t>자사관리</a:t>
            </a:r>
            <a:r>
              <a:rPr lang="en-US" altLang="ko-KR" sz="1300" dirty="0"/>
              <a:t>2</a:t>
            </a:r>
            <a:endParaRPr lang="ko-KR" altLang="en-US" sz="1300" dirty="0"/>
          </a:p>
        </p:txBody>
      </p:sp>
      <p:sp>
        <p:nvSpPr>
          <p:cNvPr id="151" name="직사각형 150"/>
          <p:cNvSpPr/>
          <p:nvPr/>
        </p:nvSpPr>
        <p:spPr>
          <a:xfrm>
            <a:off x="2015976" y="3182895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입금표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2752891" y="3187575"/>
            <a:ext cx="7159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전표</a:t>
            </a:r>
          </a:p>
        </p:txBody>
      </p:sp>
      <p:cxnSp>
        <p:nvCxnSpPr>
          <p:cNvPr id="154" name="직선 화살표 연결선 153"/>
          <p:cNvCxnSpPr>
            <a:stCxn id="129" idx="3"/>
          </p:cNvCxnSpPr>
          <p:nvPr/>
        </p:nvCxnSpPr>
        <p:spPr>
          <a:xfrm>
            <a:off x="-2159695" y="2904789"/>
            <a:ext cx="3525682" cy="3094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/>
          <p:cNvCxnSpPr/>
          <p:nvPr/>
        </p:nvCxnSpPr>
        <p:spPr>
          <a:xfrm flipV="1">
            <a:off x="-1553992" y="3309251"/>
            <a:ext cx="3750622" cy="5854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/>
          <p:nvPr/>
        </p:nvCxnSpPr>
        <p:spPr>
          <a:xfrm flipV="1">
            <a:off x="-935092" y="3278857"/>
            <a:ext cx="3893817" cy="15372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5885437" y="277582"/>
            <a:ext cx="204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공통코드</a:t>
            </a:r>
          </a:p>
        </p:txBody>
      </p:sp>
    </p:spTree>
    <p:extLst>
      <p:ext uri="{BB962C8B-B14F-4D97-AF65-F5344CB8AC3E}">
        <p14:creationId xmlns:p14="http://schemas.microsoft.com/office/powerpoint/2010/main" val="132451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73741" y="716017"/>
            <a:ext cx="2115027" cy="236513"/>
            <a:chOff x="920300" y="3392022"/>
            <a:chExt cx="900100" cy="236513"/>
          </a:xfrm>
        </p:grpSpPr>
        <p:sp>
          <p:nvSpPr>
            <p:cNvPr id="3" name="한쪽 모서리가 둥근 사각형 2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4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EDI / </a:t>
              </a:r>
              <a:r>
                <a:rPr lang="ko-KR" altLang="en-US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전자세금계산서</a:t>
              </a:r>
              <a:r>
                <a:rPr lang="en-US" altLang="ko-KR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/</a:t>
              </a:r>
              <a:r>
                <a:rPr lang="ko-KR" altLang="en-US" dirty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팩스 설정</a:t>
              </a:r>
              <a:endParaRPr lang="ko-KR" altLang="en-US" sz="800" dirty="0"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5" name="모서리가 둥근 직사각형 4"/>
          <p:cNvSpPr/>
          <p:nvPr/>
        </p:nvSpPr>
        <p:spPr>
          <a:xfrm>
            <a:off x="160569" y="980728"/>
            <a:ext cx="9749868" cy="525658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439912" y="1427826"/>
            <a:ext cx="104128" cy="104128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6082" y="137216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케이씨에스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1472130" y="1451401"/>
            <a:ext cx="57958" cy="5795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897067" y="1427826"/>
            <a:ext cx="104128" cy="10412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3237" y="1372168"/>
            <a:ext cx="4315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None</a:t>
            </a:r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8924" y="1298943"/>
            <a:ext cx="8569860" cy="32985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559" y="1933487"/>
            <a:ext cx="603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Group ID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 bwMode="auto">
          <a:xfrm>
            <a:off x="1617536" y="1933487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24298" y="1772816"/>
            <a:ext cx="8569860" cy="76211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5559" y="2201880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User ID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 bwMode="auto">
          <a:xfrm>
            <a:off x="1617536" y="2201880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44940" y="1933487"/>
            <a:ext cx="6142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Server IP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4399355" y="1933487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44940" y="2201880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Password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 bwMode="auto">
          <a:xfrm>
            <a:off x="4399355" y="2201880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68206" y="1933487"/>
            <a:ext cx="7056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Server Port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 bwMode="auto">
          <a:xfrm>
            <a:off x="7764674" y="1933487"/>
            <a:ext cx="1285468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85731" y="1667449"/>
            <a:ext cx="1379635" cy="17834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팩스설정</a:t>
            </a:r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ko-KR" altLang="en-US" dirty="0">
                <a:solidFill>
                  <a:schemeClr val="tx1"/>
                </a:solidFill>
              </a:rPr>
              <a:t>환경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76394" y="3107151"/>
            <a:ext cx="8853134" cy="2914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352971" y="3263535"/>
            <a:ext cx="746040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관우회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40474" y="3200406"/>
            <a:ext cx="1713803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KT-NET [Manifest / AMS / CSI]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813725" y="3263535"/>
            <a:ext cx="16561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ACPS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464592" y="3263535"/>
            <a:ext cx="1368152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KCNET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99011" y="3265105"/>
            <a:ext cx="714715" cy="1809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AIRCIS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40512" y="3263535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Other Service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640474" y="3446100"/>
            <a:ext cx="8514807" cy="25751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50698" y="3618442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SEND ID</a:t>
            </a:r>
            <a:endParaRPr lang="ko-KR" altLang="en-US" dirty="0"/>
          </a:p>
        </p:txBody>
      </p:sp>
      <p:sp>
        <p:nvSpPr>
          <p:cNvPr id="50" name="직사각형 49"/>
          <p:cNvSpPr/>
          <p:nvPr/>
        </p:nvSpPr>
        <p:spPr bwMode="auto">
          <a:xfrm>
            <a:off x="1656510" y="3618442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50698" y="3873887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RECEIVE ID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987750" y="3618442"/>
            <a:ext cx="10342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MFCS ID/PW/URL</a:t>
            </a:r>
            <a:endParaRPr lang="ko-KR" altLang="en-US" dirty="0"/>
          </a:p>
        </p:txBody>
      </p:sp>
      <p:sp>
        <p:nvSpPr>
          <p:cNvPr id="55" name="직사각형 54"/>
          <p:cNvSpPr/>
          <p:nvPr/>
        </p:nvSpPr>
        <p:spPr bwMode="auto">
          <a:xfrm>
            <a:off x="4014695" y="3618442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909645" y="3618442"/>
            <a:ext cx="9156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Winmate</a:t>
            </a:r>
            <a:r>
              <a:rPr lang="en-US" altLang="ko-KR" dirty="0"/>
              <a:t> ID/PW</a:t>
            </a:r>
            <a:endParaRPr lang="ko-KR" altLang="en-US" dirty="0"/>
          </a:p>
        </p:txBody>
      </p:sp>
      <p:sp>
        <p:nvSpPr>
          <p:cNvPr id="58" name="직사각형 57"/>
          <p:cNvSpPr/>
          <p:nvPr/>
        </p:nvSpPr>
        <p:spPr bwMode="auto">
          <a:xfrm>
            <a:off x="7735376" y="3618442"/>
            <a:ext cx="630204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909645" y="3873887"/>
            <a:ext cx="8242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EDI </a:t>
            </a:r>
            <a:r>
              <a:rPr lang="ko-KR" altLang="en-US" dirty="0"/>
              <a:t>전송 버전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7735376" y="3873887"/>
            <a:ext cx="1285468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729437" y="3535628"/>
            <a:ext cx="8353836" cy="60550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790871" y="3457005"/>
            <a:ext cx="849440" cy="1515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Manifest - Air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4888505" y="3618442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5762315" y="3618442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8391000" y="3618442"/>
            <a:ext cx="630204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1656510" y="3872194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987750" y="3872194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MSRS ID/PW/URL</a:t>
            </a:r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 bwMode="auto">
          <a:xfrm>
            <a:off x="4014695" y="3872194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4888505" y="3872194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 bwMode="auto">
          <a:xfrm>
            <a:off x="5762315" y="3872194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50698" y="4313145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SEND ID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 bwMode="auto">
          <a:xfrm>
            <a:off x="1656510" y="4313145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50698" y="4568590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RECEIVE ID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2987750" y="4313145"/>
            <a:ext cx="10342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MFCS ID/PW/URL</a:t>
            </a:r>
            <a:endParaRPr lang="ko-KR" altLang="en-US" dirty="0"/>
          </a:p>
        </p:txBody>
      </p:sp>
      <p:sp>
        <p:nvSpPr>
          <p:cNvPr id="86" name="직사각형 85"/>
          <p:cNvSpPr/>
          <p:nvPr/>
        </p:nvSpPr>
        <p:spPr bwMode="auto">
          <a:xfrm>
            <a:off x="4014695" y="4313145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27274" y="4313145"/>
            <a:ext cx="9156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Winmate</a:t>
            </a:r>
            <a:r>
              <a:rPr lang="en-US" altLang="ko-KR" dirty="0"/>
              <a:t> ID/PW</a:t>
            </a:r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7127274" y="4568590"/>
            <a:ext cx="7841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Winmate</a:t>
            </a:r>
            <a:r>
              <a:rPr lang="en-US" altLang="ko-KR" dirty="0"/>
              <a:t> PW</a:t>
            </a:r>
            <a:endParaRPr lang="ko-KR" altLang="en-US" dirty="0"/>
          </a:p>
        </p:txBody>
      </p:sp>
      <p:sp>
        <p:nvSpPr>
          <p:cNvPr id="94" name="모서리가 둥근 직사각형 93"/>
          <p:cNvSpPr/>
          <p:nvPr/>
        </p:nvSpPr>
        <p:spPr>
          <a:xfrm>
            <a:off x="729437" y="4200514"/>
            <a:ext cx="8353836" cy="63221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90870" y="4151313"/>
            <a:ext cx="3022855" cy="14199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Manifest – Ocean (EDI </a:t>
            </a:r>
            <a:r>
              <a:rPr lang="ko-KR" altLang="en-US" dirty="0" err="1">
                <a:solidFill>
                  <a:schemeClr val="tx1"/>
                </a:solidFill>
              </a:rPr>
              <a:t>전송버전은</a:t>
            </a:r>
            <a:r>
              <a:rPr lang="ko-KR" altLang="en-US" dirty="0">
                <a:solidFill>
                  <a:schemeClr val="tx1"/>
                </a:solidFill>
              </a:rPr>
              <a:t> 항공 </a:t>
            </a:r>
            <a:r>
              <a:rPr lang="en-US" altLang="ko-KR" dirty="0" err="1">
                <a:solidFill>
                  <a:schemeClr val="tx1"/>
                </a:solidFill>
              </a:rPr>
              <a:t>Mnifest</a:t>
            </a:r>
            <a:r>
              <a:rPr lang="ko-KR" altLang="en-US" dirty="0">
                <a:solidFill>
                  <a:schemeClr val="tx1"/>
                </a:solidFill>
              </a:rPr>
              <a:t>정보와 동일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4888505" y="4313145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5762315" y="4313145"/>
            <a:ext cx="996849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8142115" y="4313145"/>
            <a:ext cx="879089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1656510" y="4566897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987750" y="4566897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MSRS ID/PW/URL</a:t>
            </a:r>
            <a:endParaRPr lang="ko-KR" altLang="en-US" dirty="0"/>
          </a:p>
        </p:txBody>
      </p:sp>
      <p:sp>
        <p:nvSpPr>
          <p:cNvPr id="103" name="직사각형 102"/>
          <p:cNvSpPr/>
          <p:nvPr/>
        </p:nvSpPr>
        <p:spPr bwMode="auto">
          <a:xfrm>
            <a:off x="4014695" y="4566897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5" name="직사각형 104"/>
          <p:cNvSpPr/>
          <p:nvPr/>
        </p:nvSpPr>
        <p:spPr bwMode="auto">
          <a:xfrm>
            <a:off x="4888505" y="4566897"/>
            <a:ext cx="830495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 bwMode="auto">
          <a:xfrm>
            <a:off x="5762315" y="4566897"/>
            <a:ext cx="996849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 bwMode="auto">
          <a:xfrm>
            <a:off x="8142115" y="4570222"/>
            <a:ext cx="879089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50698" y="5019303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SEND ID</a:t>
            </a:r>
            <a:endParaRPr lang="ko-KR" altLang="en-US" dirty="0"/>
          </a:p>
        </p:txBody>
      </p:sp>
      <p:sp>
        <p:nvSpPr>
          <p:cNvPr id="110" name="직사각형 109"/>
          <p:cNvSpPr/>
          <p:nvPr/>
        </p:nvSpPr>
        <p:spPr bwMode="auto">
          <a:xfrm>
            <a:off x="1656510" y="5019303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950698" y="5274748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RECEIVE ID</a:t>
            </a:r>
            <a:endParaRPr lang="ko-KR" alt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2987750" y="5019303"/>
            <a:ext cx="8306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FTP IP/ID/PW</a:t>
            </a:r>
            <a:endParaRPr lang="ko-KR" altLang="en-US" dirty="0"/>
          </a:p>
        </p:txBody>
      </p:sp>
      <p:sp>
        <p:nvSpPr>
          <p:cNvPr id="115" name="직사각형 114"/>
          <p:cNvSpPr/>
          <p:nvPr/>
        </p:nvSpPr>
        <p:spPr bwMode="auto">
          <a:xfrm>
            <a:off x="4014695" y="5019303"/>
            <a:ext cx="1747620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729437" y="4916611"/>
            <a:ext cx="8353836" cy="61252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90870" y="4847166"/>
            <a:ext cx="3223825" cy="14235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AMS – Air Outbound (MFCS, MSRS </a:t>
            </a:r>
            <a:r>
              <a:rPr lang="ko-KR" altLang="en-US" dirty="0">
                <a:solidFill>
                  <a:schemeClr val="tx1"/>
                </a:solidFill>
              </a:rPr>
              <a:t>는 항공 </a:t>
            </a:r>
            <a:r>
              <a:rPr lang="en-US" altLang="ko-KR" dirty="0">
                <a:solidFill>
                  <a:schemeClr val="tx1"/>
                </a:solidFill>
              </a:rPr>
              <a:t>Manifest</a:t>
            </a:r>
            <a:r>
              <a:rPr lang="ko-KR" altLang="en-US" dirty="0">
                <a:solidFill>
                  <a:schemeClr val="tx1"/>
                </a:solidFill>
              </a:rPr>
              <a:t>정보와 동일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1" name="직사각형 120"/>
          <p:cNvSpPr/>
          <p:nvPr/>
        </p:nvSpPr>
        <p:spPr bwMode="auto">
          <a:xfrm>
            <a:off x="5830539" y="5019303"/>
            <a:ext cx="1523431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 bwMode="auto">
          <a:xfrm>
            <a:off x="7406100" y="5019303"/>
            <a:ext cx="1614744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 bwMode="auto">
          <a:xfrm>
            <a:off x="1656510" y="5273055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987750" y="5273055"/>
            <a:ext cx="8435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SQL IP/ID/PW</a:t>
            </a:r>
            <a:endParaRPr lang="ko-KR" altLang="en-US" dirty="0"/>
          </a:p>
        </p:txBody>
      </p:sp>
      <p:sp>
        <p:nvSpPr>
          <p:cNvPr id="126" name="직사각형 125"/>
          <p:cNvSpPr/>
          <p:nvPr/>
        </p:nvSpPr>
        <p:spPr bwMode="auto">
          <a:xfrm>
            <a:off x="4014695" y="5273055"/>
            <a:ext cx="1747620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 bwMode="auto">
          <a:xfrm>
            <a:off x="5830539" y="5273055"/>
            <a:ext cx="1523431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 bwMode="auto">
          <a:xfrm>
            <a:off x="7406100" y="5273055"/>
            <a:ext cx="1614744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729437" y="5613091"/>
            <a:ext cx="8353836" cy="37426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90870" y="5543646"/>
            <a:ext cx="3223825" cy="14235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AMS – Air Outbound (MFCS, MSRS </a:t>
            </a:r>
            <a:r>
              <a:rPr lang="ko-KR" altLang="en-US" dirty="0">
                <a:solidFill>
                  <a:schemeClr val="tx1"/>
                </a:solidFill>
              </a:rPr>
              <a:t>는 항공 </a:t>
            </a:r>
            <a:r>
              <a:rPr lang="en-US" altLang="ko-KR" dirty="0">
                <a:solidFill>
                  <a:schemeClr val="tx1"/>
                </a:solidFill>
              </a:rPr>
              <a:t>Manifest</a:t>
            </a:r>
            <a:r>
              <a:rPr lang="ko-KR" altLang="en-US" dirty="0">
                <a:solidFill>
                  <a:schemeClr val="tx1"/>
                </a:solidFill>
              </a:rPr>
              <a:t>정보와 동일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950698" y="5727901"/>
            <a:ext cx="699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SCKA </a:t>
            </a:r>
            <a:r>
              <a:rPr lang="ko-KR" altLang="en-US" dirty="0"/>
              <a:t>코드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1656510" y="5726208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38936" y="1086196"/>
            <a:ext cx="963607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팩스설정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490831" y="2908473"/>
            <a:ext cx="963607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EDI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9" name="제목 138"/>
          <p:cNvSpPr>
            <a:spLocks noGrp="1"/>
          </p:cNvSpPr>
          <p:nvPr>
            <p:ph type="title" idx="4294967295"/>
          </p:nvPr>
        </p:nvSpPr>
        <p:spPr>
          <a:xfrm>
            <a:off x="5904408" y="27690"/>
            <a:ext cx="2007055" cy="274042"/>
          </a:xfrm>
          <a:prstGeom prst="rect">
            <a:avLst/>
          </a:prstGeom>
        </p:spPr>
        <p:txBody>
          <a:bodyPr/>
          <a:lstStyle/>
          <a:p>
            <a:r>
              <a:rPr lang="ko-KR" altLang="en-US" sz="1300" dirty="0"/>
              <a:t>자사관리</a:t>
            </a:r>
            <a:r>
              <a:rPr lang="en-US" altLang="ko-KR" sz="1300" dirty="0"/>
              <a:t>3</a:t>
            </a:r>
            <a:endParaRPr lang="ko-KR" altLang="en-US" sz="1300" dirty="0"/>
          </a:p>
        </p:txBody>
      </p:sp>
      <p:sp>
        <p:nvSpPr>
          <p:cNvPr id="140" name="TextBox 139"/>
          <p:cNvSpPr txBox="1"/>
          <p:nvPr/>
        </p:nvSpPr>
        <p:spPr>
          <a:xfrm>
            <a:off x="5885437" y="277582"/>
            <a:ext cx="204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공통코드</a:t>
            </a:r>
          </a:p>
        </p:txBody>
      </p:sp>
    </p:spTree>
    <p:extLst>
      <p:ext uri="{BB962C8B-B14F-4D97-AF65-F5344CB8AC3E}">
        <p14:creationId xmlns:p14="http://schemas.microsoft.com/office/powerpoint/2010/main" val="278765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190374" y="874903"/>
            <a:ext cx="9674473" cy="5650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220150" y="1093096"/>
            <a:ext cx="16561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ACPS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871017" y="1093096"/>
            <a:ext cx="1368152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KCNET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505436" y="1094666"/>
            <a:ext cx="714715" cy="1809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AIRCIS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246937" y="1093096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Other Service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42613" y="1096487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KT-NET [Manifest / AMS / CSI]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798933" y="1031761"/>
            <a:ext cx="674562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관우회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2000194" y="1517038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4752280" y="1916387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 bwMode="auto">
          <a:xfrm>
            <a:off x="5948264" y="1916832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7167621" y="1916608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8363605" y="1917053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210879" y="2389240"/>
            <a:ext cx="16561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ACPS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861746" y="2389240"/>
            <a:ext cx="1368152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KCNET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788028" y="2393279"/>
            <a:ext cx="714715" cy="1809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관우회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237666" y="2389240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Other Service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41809" y="2392631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KT-NET [Manifest / AMS / CSI]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518588" y="2331971"/>
            <a:ext cx="674562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AIRCIS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2899488" y="2852936"/>
            <a:ext cx="602542" cy="163538"/>
            <a:chOff x="11774767" y="2096243"/>
            <a:chExt cx="602542" cy="163538"/>
          </a:xfrm>
        </p:grpSpPr>
        <p:sp>
          <p:nvSpPr>
            <p:cNvPr id="55" name="직사각형 54"/>
            <p:cNvSpPr/>
            <p:nvPr/>
          </p:nvSpPr>
          <p:spPr bwMode="auto">
            <a:xfrm>
              <a:off x="11774767" y="2096243"/>
              <a:ext cx="602364" cy="16353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YES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/>
            <p:cNvSpPr/>
            <p:nvPr/>
          </p:nvSpPr>
          <p:spPr bwMode="auto">
            <a:xfrm>
              <a:off x="12193537" y="2097869"/>
              <a:ext cx="183772" cy="16105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11580"/>
              </p:ext>
            </p:extLst>
          </p:nvPr>
        </p:nvGraphicFramePr>
        <p:xfrm>
          <a:off x="403977" y="2708920"/>
          <a:ext cx="9172839" cy="1612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8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4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9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2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1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1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사용여부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항공사 </a:t>
                      </a:r>
                      <a:r>
                        <a:rPr lang="en-US" altLang="ko-KR" sz="800" dirty="0"/>
                        <a:t>FHL  3-</a:t>
                      </a:r>
                      <a:r>
                        <a:rPr lang="ko-KR" altLang="en-US" sz="800" dirty="0"/>
                        <a:t>코드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Traxon</a:t>
                      </a:r>
                      <a:r>
                        <a:rPr lang="en-US" altLang="ko-KR" sz="800" baseline="0" dirty="0"/>
                        <a:t> </a:t>
                      </a:r>
                      <a:r>
                        <a:rPr lang="ko-KR" altLang="en-US" sz="800" baseline="0" dirty="0" err="1"/>
                        <a:t>포워더</a:t>
                      </a:r>
                      <a:r>
                        <a:rPr lang="ko-KR" altLang="en-US" sz="800" baseline="0" dirty="0"/>
                        <a:t> </a:t>
                      </a:r>
                      <a:r>
                        <a:rPr lang="en-US" altLang="ko-KR" sz="800" baseline="0" dirty="0"/>
                        <a:t>6-</a:t>
                      </a:r>
                      <a:r>
                        <a:rPr lang="ko-KR" altLang="en-US" sz="800" baseline="0" dirty="0"/>
                        <a:t>코드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FHL</a:t>
                      </a:r>
                      <a:r>
                        <a:rPr lang="en-US" altLang="ko-KR" sz="800" baseline="0" dirty="0"/>
                        <a:t> FTP_IP/ID/PW/DIR/S.DIR/PIMA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FWB FTP_IP/ID/PW/DIR/S.DIR/PIMA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AIRCIS WEBSITE</a:t>
                      </a:r>
                      <a:endParaRPr lang="ko-KR" altLang="en-US" sz="80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41256"/>
              </p:ext>
            </p:extLst>
          </p:nvPr>
        </p:nvGraphicFramePr>
        <p:xfrm>
          <a:off x="403175" y="1427341"/>
          <a:ext cx="9165174" cy="806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88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SEND</a:t>
                      </a:r>
                      <a:r>
                        <a:rPr lang="en-US" altLang="ko-KR" sz="800" baseline="0" dirty="0"/>
                        <a:t> ID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/>
                        <a:t>uLogisHub</a:t>
                      </a:r>
                      <a:r>
                        <a:rPr lang="en-US" altLang="ko-KR" sz="800" dirty="0"/>
                        <a:t> ID/PW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8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RECEIVE ID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FTP IP/ID/PW/PATH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직사각형 61"/>
          <p:cNvSpPr/>
          <p:nvPr/>
        </p:nvSpPr>
        <p:spPr bwMode="auto">
          <a:xfrm>
            <a:off x="4752280" y="1514012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5948264" y="1514457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2015976" y="1916832"/>
            <a:ext cx="109590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2750830" y="4005644"/>
            <a:ext cx="6609962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501654" y="4525970"/>
            <a:ext cx="16561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AIRCIS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788028" y="4524933"/>
            <a:ext cx="714715" cy="1809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관우회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876334" y="4520894"/>
            <a:ext cx="3692015" cy="1935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기타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441809" y="4524285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KT-NET [Manifest / AMS / CSI]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174772" y="4472092"/>
            <a:ext cx="674562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ACPS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41115"/>
              </p:ext>
            </p:extLst>
          </p:nvPr>
        </p:nvGraphicFramePr>
        <p:xfrm>
          <a:off x="403977" y="4840574"/>
          <a:ext cx="9172839" cy="4031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9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SEND ID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RECEIVE ID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FTP IP/ID/PW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제목 78"/>
          <p:cNvSpPr>
            <a:spLocks noGrp="1"/>
          </p:cNvSpPr>
          <p:nvPr>
            <p:ph type="title" idx="4294967295"/>
          </p:nvPr>
        </p:nvSpPr>
        <p:spPr>
          <a:xfrm>
            <a:off x="5876334" y="33213"/>
            <a:ext cx="2044298" cy="202034"/>
          </a:xfrm>
          <a:prstGeom prst="rect">
            <a:avLst/>
          </a:prstGeom>
        </p:spPr>
        <p:txBody>
          <a:bodyPr/>
          <a:lstStyle/>
          <a:p>
            <a:r>
              <a:rPr lang="ko-KR" altLang="en-US" sz="1300" dirty="0"/>
              <a:t>자사관리</a:t>
            </a:r>
            <a:r>
              <a:rPr lang="en-US" altLang="ko-KR" sz="1300" dirty="0"/>
              <a:t>4</a:t>
            </a:r>
            <a:endParaRPr lang="ko-KR" altLang="en-US" sz="1300" dirty="0"/>
          </a:p>
        </p:txBody>
      </p:sp>
      <p:sp>
        <p:nvSpPr>
          <p:cNvPr id="80" name="TextBox 79"/>
          <p:cNvSpPr txBox="1"/>
          <p:nvPr/>
        </p:nvSpPr>
        <p:spPr>
          <a:xfrm>
            <a:off x="5885437" y="277582"/>
            <a:ext cx="204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공통코드</a:t>
            </a:r>
          </a:p>
        </p:txBody>
      </p:sp>
    </p:spTree>
    <p:extLst>
      <p:ext uri="{BB962C8B-B14F-4D97-AF65-F5344CB8AC3E}">
        <p14:creationId xmlns:p14="http://schemas.microsoft.com/office/powerpoint/2010/main" val="140396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287784" y="874903"/>
            <a:ext cx="9505056" cy="2914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135754"/>
              </p:ext>
            </p:extLst>
          </p:nvPr>
        </p:nvGraphicFramePr>
        <p:xfrm>
          <a:off x="403977" y="1124744"/>
          <a:ext cx="9244849" cy="806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5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7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8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8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FTP IP/ID/PW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SEND ID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RECEIVE ID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eTradeBill</a:t>
                      </a:r>
                      <a:r>
                        <a:rPr lang="en-US" altLang="ko-KR" sz="800" baseline="0" dirty="0"/>
                        <a:t> ID/PW</a:t>
                      </a:r>
                      <a:endParaRPr lang="ko-KR" altLang="en-US" sz="8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직사각형 42"/>
          <p:cNvSpPr/>
          <p:nvPr/>
        </p:nvSpPr>
        <p:spPr>
          <a:xfrm>
            <a:off x="287784" y="700227"/>
            <a:ext cx="963607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전자세금계산서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제목 43"/>
          <p:cNvSpPr>
            <a:spLocks noGrp="1"/>
          </p:cNvSpPr>
          <p:nvPr>
            <p:ph type="title" idx="4294967295"/>
          </p:nvPr>
        </p:nvSpPr>
        <p:spPr>
          <a:xfrm>
            <a:off x="5904408" y="14951"/>
            <a:ext cx="2016224" cy="202034"/>
          </a:xfrm>
          <a:prstGeom prst="rect">
            <a:avLst/>
          </a:prstGeom>
        </p:spPr>
        <p:txBody>
          <a:bodyPr/>
          <a:lstStyle/>
          <a:p>
            <a:r>
              <a:rPr lang="ko-KR" altLang="en-US" sz="1300" dirty="0"/>
              <a:t>자사관리</a:t>
            </a:r>
            <a:r>
              <a:rPr lang="en-US" altLang="ko-KR" sz="1300" dirty="0"/>
              <a:t>5</a:t>
            </a:r>
            <a:endParaRPr lang="ko-KR" altLang="en-US" sz="1300" dirty="0"/>
          </a:p>
        </p:txBody>
      </p:sp>
      <p:sp>
        <p:nvSpPr>
          <p:cNvPr id="45" name="TextBox 44"/>
          <p:cNvSpPr txBox="1"/>
          <p:nvPr/>
        </p:nvSpPr>
        <p:spPr>
          <a:xfrm>
            <a:off x="5885437" y="277582"/>
            <a:ext cx="204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공통코드</a:t>
            </a:r>
          </a:p>
        </p:txBody>
      </p:sp>
    </p:spTree>
    <p:extLst>
      <p:ext uri="{BB962C8B-B14F-4D97-AF65-F5344CB8AC3E}">
        <p14:creationId xmlns:p14="http://schemas.microsoft.com/office/powerpoint/2010/main" val="2060007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85437" y="277582"/>
            <a:ext cx="204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공통코드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04045" y="1506569"/>
            <a:ext cx="1292294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번호체계 설정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81728" y="1848546"/>
            <a:ext cx="1292294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항공수출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874022" y="1903282"/>
            <a:ext cx="544826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항공수입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418848" y="1903282"/>
            <a:ext cx="90067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해상수출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319522" y="1903282"/>
            <a:ext cx="90067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해상수입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220196" y="1903282"/>
            <a:ext cx="1114060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통관정산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7657143" y="1538420"/>
            <a:ext cx="557433" cy="17282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저장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8242894" y="1844824"/>
            <a:ext cx="973882" cy="186543"/>
            <a:chOff x="5434582" y="4097743"/>
            <a:chExt cx="973882" cy="186543"/>
          </a:xfrm>
        </p:grpSpPr>
        <p:grpSp>
          <p:nvGrpSpPr>
            <p:cNvPr id="18" name="그룹 17"/>
            <p:cNvGrpSpPr/>
            <p:nvPr/>
          </p:nvGrpSpPr>
          <p:grpSpPr>
            <a:xfrm>
              <a:off x="5434582" y="4097743"/>
              <a:ext cx="462396" cy="186541"/>
              <a:chOff x="4719504" y="3630808"/>
              <a:chExt cx="462396" cy="186541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4853727" y="3630808"/>
                <a:ext cx="328173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Add</a:t>
                </a:r>
                <a:endParaRPr lang="ko-KR" altLang="en-US" dirty="0"/>
              </a:p>
            </p:txBody>
          </p:sp>
          <p:pic>
            <p:nvPicPr>
              <p:cNvPr id="23" name="그림 2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504" y="3654597"/>
                <a:ext cx="142857" cy="133333"/>
              </a:xfrm>
              <a:prstGeom prst="rect">
                <a:avLst/>
              </a:prstGeom>
            </p:spPr>
          </p:pic>
        </p:grpSp>
        <p:grpSp>
          <p:nvGrpSpPr>
            <p:cNvPr id="19" name="그룹 18"/>
            <p:cNvGrpSpPr/>
            <p:nvPr/>
          </p:nvGrpSpPr>
          <p:grpSpPr>
            <a:xfrm>
              <a:off x="5868404" y="4097745"/>
              <a:ext cx="540060" cy="186541"/>
              <a:chOff x="5868404" y="4097745"/>
              <a:chExt cx="540060" cy="186541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5979073" y="4097745"/>
                <a:ext cx="429391" cy="186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dirty="0"/>
                  <a:t>Delete</a:t>
                </a:r>
                <a:endParaRPr lang="ko-KR" altLang="en-US" dirty="0"/>
              </a:p>
            </p:txBody>
          </p:sp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8404" y="4129109"/>
                <a:ext cx="142857" cy="123810"/>
              </a:xfrm>
              <a:prstGeom prst="rect">
                <a:avLst/>
              </a:prstGeom>
            </p:spPr>
          </p:pic>
        </p:grpSp>
      </p:grp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16362"/>
              </p:ext>
            </p:extLst>
          </p:nvPr>
        </p:nvGraphicFramePr>
        <p:xfrm>
          <a:off x="597264" y="2174128"/>
          <a:ext cx="8699686" cy="606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3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9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52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95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9560">
                  <a:extLst>
                    <a:ext uri="{9D8B030D-6E8A-4147-A177-3AD203B41FA5}">
                      <a16:colId xmlns:a16="http://schemas.microsoft.com/office/drawing/2014/main" val="429565902"/>
                    </a:ext>
                  </a:extLst>
                </a:gridCol>
                <a:gridCol w="933908">
                  <a:extLst>
                    <a:ext uri="{9D8B030D-6E8A-4147-A177-3AD203B41FA5}">
                      <a16:colId xmlns:a16="http://schemas.microsoft.com/office/drawing/2014/main" val="3925610354"/>
                    </a:ext>
                  </a:extLst>
                </a:gridCol>
              </a:tblGrid>
              <a:tr h="182562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Bound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bg1"/>
                          </a:solidFill>
                        </a:rPr>
                        <a:t>포워더코드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공항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항구코드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Customer(Len)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Date(Type)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err="1">
                          <a:solidFill>
                            <a:schemeClr val="bg1"/>
                          </a:solidFill>
                        </a:rPr>
                        <a:t>Seq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-No(Len)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사용여부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Job No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Job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   Y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Y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Y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YYMMDD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YES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직사각형 24"/>
          <p:cNvSpPr/>
          <p:nvPr/>
        </p:nvSpPr>
        <p:spPr bwMode="auto">
          <a:xfrm>
            <a:off x="2736056" y="2360926"/>
            <a:ext cx="186546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3646564" y="2360926"/>
            <a:ext cx="186546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6005894" y="2360926"/>
            <a:ext cx="186546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7086014" y="2360926"/>
            <a:ext cx="186546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8166134" y="2360926"/>
            <a:ext cx="186546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752280" y="2383047"/>
            <a:ext cx="186546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9124350" y="2360926"/>
            <a:ext cx="172601" cy="2096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361015" y="2069412"/>
            <a:ext cx="215405" cy="10471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6-2</a:t>
            </a:r>
            <a:endParaRPr lang="ko-KR" altLang="en-US" sz="700" b="1" dirty="0" err="1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220150" y="1093096"/>
            <a:ext cx="1656184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ACPS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871017" y="1093096"/>
            <a:ext cx="1368152" cy="1825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KCNET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505436" y="1094666"/>
            <a:ext cx="714715" cy="1809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AIRCIS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2613" y="1096487"/>
            <a:ext cx="2330683" cy="1791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KT-NET [Manifest / AMS / CSI]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796495" y="1096233"/>
            <a:ext cx="714715" cy="1809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관우회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7256810" y="1033358"/>
            <a:ext cx="1713803" cy="242302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Other 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8371311" y="1539858"/>
            <a:ext cx="557433" cy="17282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42" name="직사각형 41"/>
          <p:cNvSpPr/>
          <p:nvPr/>
        </p:nvSpPr>
        <p:spPr bwMode="auto">
          <a:xfrm>
            <a:off x="300911" y="3501024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1447087" y="3501024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300993" y="3686662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00993" y="3864463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1991476" y="3523124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3137652" y="3523124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 bwMode="auto">
          <a:xfrm>
            <a:off x="1991558" y="3708762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1991558" y="3886563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3638356" y="3498545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4784532" y="3498545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3638438" y="3684183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3638438" y="3861984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5216643" y="3487407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6362819" y="3487407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216725" y="3673045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5216725" y="3850846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6827150" y="3509507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YYMM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7973326" y="3509507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6827232" y="3695145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YYMM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6827232" y="3872946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YYMMDD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8390884" y="3509507"/>
            <a:ext cx="1326576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9537060" y="3509507"/>
            <a:ext cx="183772" cy="16105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8390966" y="3695145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 bwMode="auto">
          <a:xfrm>
            <a:off x="8390966" y="3872946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5228502" y="4043220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5228502" y="4221021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5225192" y="4407455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5225192" y="4585256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5236969" y="4777630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 bwMode="auto">
          <a:xfrm>
            <a:off x="8396854" y="4060154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8396854" y="4237955"/>
            <a:ext cx="1154561" cy="163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flipV="1">
            <a:off x="1295896" y="2845421"/>
            <a:ext cx="1122952" cy="65049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 flipV="1">
            <a:off x="2654764" y="2924944"/>
            <a:ext cx="574774" cy="58210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 flipV="1">
            <a:off x="4319073" y="2829596"/>
            <a:ext cx="0" cy="66631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V="1">
            <a:off x="5852066" y="2845421"/>
            <a:ext cx="0" cy="66631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 flipH="1" flipV="1">
            <a:off x="6907312" y="2840734"/>
            <a:ext cx="575155" cy="64667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 flipH="1" flipV="1">
            <a:off x="8214576" y="2845421"/>
            <a:ext cx="787504" cy="64198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878273" y="2121770"/>
            <a:ext cx="747133" cy="239156"/>
          </a:xfrm>
          <a:prstGeom prst="rect">
            <a:avLst/>
          </a:prstGeom>
          <a:solidFill>
            <a:schemeClr val="accent1">
              <a:lumMod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번호체계명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663852" y="2121770"/>
            <a:ext cx="655247" cy="239156"/>
          </a:xfrm>
          <a:prstGeom prst="rect">
            <a:avLst/>
          </a:prstGeom>
          <a:solidFill>
            <a:schemeClr val="accent1">
              <a:lumMod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체계구분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08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5832400" y="44624"/>
            <a:ext cx="2160240" cy="202034"/>
          </a:xfrm>
          <a:prstGeom prst="rect">
            <a:avLst/>
          </a:prstGeom>
        </p:spPr>
        <p:txBody>
          <a:bodyPr/>
          <a:lstStyle/>
          <a:p>
            <a:r>
              <a:rPr lang="en-US" altLang="ko-KR" sz="1100" dirty="0"/>
              <a:t>AWB</a:t>
            </a:r>
            <a:r>
              <a:rPr lang="en-US" altLang="ko-KR" sz="1100" baseline="0" dirty="0"/>
              <a:t> </a:t>
            </a:r>
            <a:r>
              <a:rPr lang="ko-KR" altLang="en-US" sz="1100" baseline="0" dirty="0"/>
              <a:t>화면 기본데이터 설정</a:t>
            </a:r>
            <a:endParaRPr lang="ko-KR" altLang="en-US" sz="1100" dirty="0"/>
          </a:p>
        </p:txBody>
      </p:sp>
      <p:sp>
        <p:nvSpPr>
          <p:cNvPr id="3" name="직사각형 2"/>
          <p:cNvSpPr/>
          <p:nvPr/>
        </p:nvSpPr>
        <p:spPr>
          <a:xfrm>
            <a:off x="9876066" y="5199419"/>
            <a:ext cx="4675698" cy="148070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79958"/>
              </p:ext>
            </p:extLst>
          </p:nvPr>
        </p:nvGraphicFramePr>
        <p:xfrm>
          <a:off x="762745" y="1606718"/>
          <a:ext cx="5717430" cy="296709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74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5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B/L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B/L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항목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적용범위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B/L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항목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Place of Receipt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Port of Loading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Freight Payable at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effectLst/>
                        </a:rPr>
                        <a:t>Gross Weight Unit</a:t>
                      </a:r>
                      <a:endParaRPr lang="en-US" altLang="ko-KR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Freight Term</a:t>
                      </a:r>
                      <a:endParaRPr lang="en-US" altLang="ko-KR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콤보박스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Service Term</a:t>
                      </a:r>
                      <a:endParaRPr lang="en-US" altLang="ko-KR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콤보박스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BL Issue Type</a:t>
                      </a:r>
                      <a:endParaRPr lang="en-US" altLang="ko-KR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콤보박스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청구 </a:t>
                      </a:r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기본환종</a:t>
                      </a:r>
                      <a:endParaRPr lang="en-US" altLang="ko-KR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effectLst/>
                        </a:rPr>
                        <a:t>Singnature</a:t>
                      </a:r>
                      <a:endParaRPr lang="en-US" altLang="ko-KR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텍스트 박스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284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 bwMode="auto">
          <a:xfrm>
            <a:off x="10656936" y="3013059"/>
            <a:ext cx="184841" cy="144954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600" dirty="0">
              <a:solidFill>
                <a:srgbClr val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 bwMode="auto">
          <a:xfrm flipV="1">
            <a:off x="10656936" y="2997128"/>
            <a:ext cx="184841" cy="1911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rgbClr val="000000"/>
                </a:solidFill>
              </a:rPr>
              <a:t>▼</a:t>
            </a:r>
            <a:endParaRPr lang="ko-KR" altLang="en-US" sz="600" dirty="0">
              <a:solidFill>
                <a:srgbClr val="000000"/>
              </a:solidFill>
            </a:endParaRPr>
          </a:p>
        </p:txBody>
      </p:sp>
      <p:sp>
        <p:nvSpPr>
          <p:cNvPr id="7" name="직사각형 6"/>
          <p:cNvSpPr/>
          <p:nvPr/>
        </p:nvSpPr>
        <p:spPr bwMode="auto">
          <a:xfrm rot="10800000" flipV="1">
            <a:off x="10656936" y="4098980"/>
            <a:ext cx="180722" cy="1931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rgbClr val="000000"/>
                </a:solidFill>
              </a:rPr>
              <a:t>▼</a:t>
            </a:r>
            <a:endParaRPr lang="ko-KR" altLang="en-US" sz="600" dirty="0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 bwMode="auto">
          <a:xfrm rot="5400000">
            <a:off x="3231387" y="3797623"/>
            <a:ext cx="175255" cy="44595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600" dirty="0">
              <a:solidFill>
                <a:srgbClr val="000000"/>
              </a:solidFill>
            </a:endParaRPr>
          </a:p>
        </p:txBody>
      </p:sp>
      <p:sp>
        <p:nvSpPr>
          <p:cNvPr id="9" name="직사각형 8"/>
          <p:cNvSpPr/>
          <p:nvPr/>
        </p:nvSpPr>
        <p:spPr bwMode="auto">
          <a:xfrm rot="5400000" flipV="1">
            <a:off x="5553157" y="5935408"/>
            <a:ext cx="175251" cy="1839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rgbClr val="000000"/>
                </a:solidFill>
              </a:rPr>
              <a:t>▼</a:t>
            </a:r>
            <a:endParaRPr lang="ko-KR" altLang="en-US" sz="600" dirty="0">
              <a:solidFill>
                <a:srgbClr val="000000"/>
              </a:solidFill>
            </a:endParaRPr>
          </a:p>
        </p:txBody>
      </p:sp>
      <p:sp>
        <p:nvSpPr>
          <p:cNvPr id="10" name="직사각형 9"/>
          <p:cNvSpPr/>
          <p:nvPr/>
        </p:nvSpPr>
        <p:spPr bwMode="auto">
          <a:xfrm rot="16200000" flipV="1">
            <a:off x="1065626" y="5935899"/>
            <a:ext cx="174222" cy="184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rgbClr val="000000"/>
                </a:solidFill>
              </a:rPr>
              <a:t>▼</a:t>
            </a:r>
            <a:endParaRPr lang="ko-KR" altLang="en-US" sz="600" dirty="0">
              <a:solidFill>
                <a:srgbClr val="000000"/>
              </a:solidFill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1521032" y="4445685"/>
            <a:ext cx="115654" cy="2235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 dirty="0">
                <a:solidFill>
                  <a:srgbClr val="000000"/>
                </a:solidFill>
              </a:rPr>
              <a:t>▼</a:t>
            </a:r>
            <a:endParaRPr lang="ko-KR" altLang="en-US" sz="600" dirty="0">
              <a:solidFill>
                <a:srgbClr val="000000"/>
              </a:solidFill>
            </a:endParaRPr>
          </a:p>
        </p:txBody>
      </p:sp>
      <p:pic>
        <p:nvPicPr>
          <p:cNvPr id="15" name="그림 14"/>
          <p:cNvPicPr/>
          <p:nvPr/>
        </p:nvPicPr>
        <p:blipFill rotWithShape="1">
          <a:blip r:embed="rId2"/>
          <a:srcRect l="14590" t="44075" r="83163" b="41796"/>
          <a:stretch/>
        </p:blipFill>
        <p:spPr>
          <a:xfrm>
            <a:off x="11466995" y="3365782"/>
            <a:ext cx="169691" cy="254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그룹 15"/>
          <p:cNvGrpSpPr/>
          <p:nvPr/>
        </p:nvGrpSpPr>
        <p:grpSpPr>
          <a:xfrm>
            <a:off x="8640712" y="1268760"/>
            <a:ext cx="973882" cy="215446"/>
            <a:chOff x="5434582" y="4097743"/>
            <a:chExt cx="973882" cy="215446"/>
          </a:xfrm>
        </p:grpSpPr>
        <p:grpSp>
          <p:nvGrpSpPr>
            <p:cNvPr id="17" name="그룹 16"/>
            <p:cNvGrpSpPr/>
            <p:nvPr/>
          </p:nvGrpSpPr>
          <p:grpSpPr>
            <a:xfrm>
              <a:off x="5434582" y="4097743"/>
              <a:ext cx="462396" cy="215444"/>
              <a:chOff x="4719504" y="3630808"/>
              <a:chExt cx="462396" cy="215444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4792050" y="3630808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dirty="0">
                    <a:solidFill>
                      <a:srgbClr val="000000"/>
                    </a:solidFill>
                  </a:rPr>
                  <a:t>추가</a:t>
                </a:r>
              </a:p>
            </p:txBody>
          </p:sp>
          <p:pic>
            <p:nvPicPr>
              <p:cNvPr id="22" name="그림 2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504" y="3654597"/>
                <a:ext cx="142857" cy="133333"/>
              </a:xfrm>
              <a:prstGeom prst="rect">
                <a:avLst/>
              </a:prstGeom>
            </p:spPr>
          </p:pic>
        </p:grpSp>
        <p:grpSp>
          <p:nvGrpSpPr>
            <p:cNvPr id="18" name="그룹 17"/>
            <p:cNvGrpSpPr/>
            <p:nvPr/>
          </p:nvGrpSpPr>
          <p:grpSpPr>
            <a:xfrm>
              <a:off x="5868404" y="4097745"/>
              <a:ext cx="540060" cy="215444"/>
              <a:chOff x="5868404" y="4097745"/>
              <a:chExt cx="540060" cy="21544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018614" y="4097745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dirty="0">
                    <a:solidFill>
                      <a:srgbClr val="000000"/>
                    </a:solidFill>
                  </a:rPr>
                  <a:t>삭제</a:t>
                </a:r>
              </a:p>
            </p:txBody>
          </p:sp>
          <p:pic>
            <p:nvPicPr>
              <p:cNvPr id="20" name="그림 1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8404" y="4129109"/>
                <a:ext cx="142857" cy="123810"/>
              </a:xfrm>
              <a:prstGeom prst="rect">
                <a:avLst/>
              </a:prstGeom>
            </p:spPr>
          </p:pic>
        </p:grpSp>
      </p:grpSp>
      <p:sp>
        <p:nvSpPr>
          <p:cNvPr id="23" name="타원 22"/>
          <p:cNvSpPr/>
          <p:nvPr/>
        </p:nvSpPr>
        <p:spPr>
          <a:xfrm>
            <a:off x="9216776" y="551723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1-4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160992" y="2067912"/>
            <a:ext cx="1912575" cy="458465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>
                <a:solidFill>
                  <a:srgbClr val="000000"/>
                </a:solidFill>
              </a:rPr>
              <a:t>아무 이벤트 없음</a:t>
            </a:r>
            <a:r>
              <a:rPr lang="en-US" altLang="ko-KR" sz="700" b="1" dirty="0">
                <a:solidFill>
                  <a:srgbClr val="000000"/>
                </a:solidFill>
              </a:rPr>
              <a:t>.</a:t>
            </a:r>
          </a:p>
          <a:p>
            <a:r>
              <a:rPr lang="ko-KR" altLang="en-US" sz="700" b="1" dirty="0">
                <a:solidFill>
                  <a:srgbClr val="000000"/>
                </a:solidFill>
              </a:rPr>
              <a:t>사용자 수기 작성 영역임</a:t>
            </a:r>
            <a:r>
              <a:rPr lang="en-US" altLang="ko-KR" sz="700" b="1" dirty="0">
                <a:solidFill>
                  <a:srgbClr val="000000"/>
                </a:solidFill>
              </a:rPr>
              <a:t>!!!</a:t>
            </a:r>
          </a:p>
          <a:p>
            <a:r>
              <a:rPr lang="en-US" altLang="ko-KR" sz="700" b="1" dirty="0">
                <a:solidFill>
                  <a:srgbClr val="000000"/>
                </a:solidFill>
              </a:rPr>
              <a:t>AFC </a:t>
            </a:r>
            <a:r>
              <a:rPr lang="ko-KR" altLang="en-US" sz="700" b="1" dirty="0">
                <a:solidFill>
                  <a:srgbClr val="000000"/>
                </a:solidFill>
              </a:rPr>
              <a:t>코드에 대해서는 제어 없음</a:t>
            </a:r>
            <a:r>
              <a:rPr lang="en-US" altLang="ko-KR" sz="700" b="1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타원 24"/>
          <p:cNvSpPr/>
          <p:nvPr/>
        </p:nvSpPr>
        <p:spPr>
          <a:xfrm>
            <a:off x="10619426" y="492343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1-2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12240693" y="455745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1-3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750753" y="3737830"/>
            <a:ext cx="2277726" cy="286505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rgbClr val="FF0000"/>
                </a:solidFill>
              </a:rPr>
              <a:t>사용자 입력 가능 처리 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ko-KR" altLang="en-US" sz="700" b="1" dirty="0">
                <a:solidFill>
                  <a:srgbClr val="FF0000"/>
                </a:solidFill>
              </a:rPr>
              <a:t>숫자만 입력 가능 </a:t>
            </a:r>
            <a:r>
              <a:rPr lang="en-US" altLang="ko-KR" sz="700" b="1" dirty="0">
                <a:solidFill>
                  <a:srgbClr val="FF0000"/>
                </a:solidFill>
              </a:rPr>
              <a:t>, </a:t>
            </a:r>
            <a:r>
              <a:rPr lang="ko-KR" altLang="en-US" sz="700" b="1" dirty="0">
                <a:solidFill>
                  <a:srgbClr val="FF0000"/>
                </a:solidFill>
              </a:rPr>
              <a:t>소수점 둘째짜리 까지 허용 처리</a:t>
            </a:r>
            <a:endParaRPr lang="en-US" altLang="ko-KR" sz="700" b="1" dirty="0">
              <a:solidFill>
                <a:srgbClr val="FF0000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179388" y="874903"/>
            <a:ext cx="9757468" cy="565044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9" name="직사각형 1"/>
          <p:cNvSpPr>
            <a:spLocks noChangeArrowheads="1"/>
          </p:cNvSpPr>
          <p:nvPr/>
        </p:nvSpPr>
        <p:spPr bwMode="auto">
          <a:xfrm>
            <a:off x="-3060742" y="260648"/>
            <a:ext cx="280846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개요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매출세금계산서 및 매입세금계산서 등록 데이터를 기준으로 회계프로그램으로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세금계산서 데이터 품목 운임코드와 계정과목을 연계하여 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이관설정 관리 화면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이관설정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구분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연동 선택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회계프로그램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연동처리시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선택증가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계정 반제 사용 여부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 계정과 처리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계정를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 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미연동시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세금계산서 발행이 완료된 데이터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자사정보설정 관리 화면 신규 또는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등록 및 수정 가능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계정과목 항목은 비활성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2-2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계정과목 코드 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버튼 </a:t>
            </a:r>
            <a:r>
              <a:rPr lang="ko-KR" altLang="en-US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클릭시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계정과목 코드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2-3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계정과목 이름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비활성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매입계정 화면도 매출 계정 화면과 동일하게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0000"/>
                </a:solidFill>
                <a:latin typeface="Rix고딕 M"/>
                <a:ea typeface="Rix고딕 M"/>
              </a:rPr>
              <a:t>⁂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Check</a:t>
            </a:r>
          </a:p>
          <a:p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2-1, 2-3 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불가능처리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Rectangle 91"/>
          <p:cNvSpPr>
            <a:spLocks noChangeArrowheads="1"/>
          </p:cNvSpPr>
          <p:nvPr/>
        </p:nvSpPr>
        <p:spPr bwMode="auto">
          <a:xfrm>
            <a:off x="-3147836" y="44624"/>
            <a:ext cx="2969664" cy="19957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>
              <a:solidFill>
                <a:srgbClr val="FFFFFF"/>
              </a:solidFill>
              <a:latin typeface="굴림" charset="-127"/>
            </a:endParaRPr>
          </a:p>
        </p:txBody>
      </p:sp>
      <p:sp>
        <p:nvSpPr>
          <p:cNvPr id="31" name="Text Box 92"/>
          <p:cNvSpPr txBox="1">
            <a:spLocks noChangeArrowheads="1"/>
          </p:cNvSpPr>
          <p:nvPr/>
        </p:nvSpPr>
        <p:spPr bwMode="auto">
          <a:xfrm>
            <a:off x="-3060742" y="68437"/>
            <a:ext cx="2324631" cy="159462"/>
          </a:xfrm>
          <a:prstGeom prst="rect">
            <a:avLst/>
          </a:prstGeom>
          <a:noFill/>
          <a:ln>
            <a:noFill/>
          </a:ln>
        </p:spPr>
        <p:txBody>
          <a:bodyPr wrap="square"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32" name="Rectangle 93"/>
          <p:cNvSpPr>
            <a:spLocks noChangeArrowheads="1"/>
          </p:cNvSpPr>
          <p:nvPr/>
        </p:nvSpPr>
        <p:spPr bwMode="auto">
          <a:xfrm>
            <a:off x="-3132596" y="5841268"/>
            <a:ext cx="2954423" cy="19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altLang="ko-KR" b="1" dirty="0">
                <a:solidFill>
                  <a:srgbClr val="000000"/>
                </a:solidFill>
              </a:rPr>
              <a:t>Additional comments (</a:t>
            </a:r>
            <a:r>
              <a:rPr lang="ko-KR" altLang="en-US" b="1" dirty="0">
                <a:solidFill>
                  <a:srgbClr val="000000"/>
                </a:solidFill>
              </a:rPr>
              <a:t>추가설명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en-US" altLang="ko-KR" b="1" dirty="0">
              <a:solidFill>
                <a:srgbClr val="FFFFFF"/>
              </a:solidFill>
              <a:latin typeface="굴림" charset="-127"/>
              <a:cs typeface="Times New Roman" pitchFamily="18" charset="0"/>
            </a:endParaRPr>
          </a:p>
        </p:txBody>
      </p:sp>
      <p:sp>
        <p:nvSpPr>
          <p:cNvPr id="33" name="Rectangle 60"/>
          <p:cNvSpPr>
            <a:spLocks noChangeArrowheads="1"/>
          </p:cNvSpPr>
          <p:nvPr/>
        </p:nvSpPr>
        <p:spPr bwMode="auto">
          <a:xfrm>
            <a:off x="-3132596" y="244197"/>
            <a:ext cx="2954424" cy="6497171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34" name="직사각형 1"/>
          <p:cNvSpPr>
            <a:spLocks noChangeArrowheads="1"/>
          </p:cNvSpPr>
          <p:nvPr/>
        </p:nvSpPr>
        <p:spPr bwMode="auto">
          <a:xfrm>
            <a:off x="-3080774" y="6060766"/>
            <a:ext cx="28084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반제 </a:t>
            </a:r>
            <a:endParaRPr lang="en-US" altLang="ko-KR" b="1" dirty="0">
              <a:solidFill>
                <a:srgbClr val="FF0000"/>
              </a:solidFill>
              <a:latin typeface="Rix고딕 M"/>
              <a:ea typeface="Rix고딕 M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예를 들어 매출세금계산서를 발행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완료후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발생계정 또는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발생데이타라고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하면 추후 입금처리가 완료가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된후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부분입금 포함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입금처리 데이터를 처리 계정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처리데이터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라고 부르며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과 처리계정을 연동시킨다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. 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23723" y="568500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0000"/>
                </a:solidFill>
              </a:rPr>
              <a:t>AWB / BL  </a:t>
            </a:r>
            <a:r>
              <a:rPr lang="ko-KR" altLang="en-US" b="1" dirty="0">
                <a:solidFill>
                  <a:srgbClr val="000000"/>
                </a:solidFill>
              </a:rPr>
              <a:t>기본설정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0262655" y="1253875"/>
            <a:ext cx="1112810" cy="18792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0000"/>
                </a:solidFill>
              </a:rPr>
              <a:t>항공수출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11378744" y="1309540"/>
            <a:ext cx="1007248" cy="1380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항공수입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2385992" y="1309540"/>
            <a:ext cx="1007248" cy="1380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해상수출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3393240" y="1309540"/>
            <a:ext cx="1007248" cy="1380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해상수입</a:t>
            </a:r>
          </a:p>
        </p:txBody>
      </p:sp>
      <p:sp>
        <p:nvSpPr>
          <p:cNvPr id="40" name="직사각형 39"/>
          <p:cNvSpPr/>
          <p:nvPr/>
        </p:nvSpPr>
        <p:spPr bwMode="auto">
          <a:xfrm>
            <a:off x="12222510" y="3019387"/>
            <a:ext cx="900228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공용</a:t>
            </a:r>
          </a:p>
        </p:txBody>
      </p:sp>
      <p:sp>
        <p:nvSpPr>
          <p:cNvPr id="41" name="직사각형 40"/>
          <p:cNvSpPr/>
          <p:nvPr/>
        </p:nvSpPr>
        <p:spPr bwMode="auto">
          <a:xfrm>
            <a:off x="13008221" y="3019388"/>
            <a:ext cx="11438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12223870" y="3188258"/>
            <a:ext cx="89874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사용자</a:t>
            </a:r>
          </a:p>
        </p:txBody>
      </p:sp>
      <p:sp>
        <p:nvSpPr>
          <p:cNvPr id="43" name="타원 42"/>
          <p:cNvSpPr/>
          <p:nvPr/>
        </p:nvSpPr>
        <p:spPr>
          <a:xfrm>
            <a:off x="11889879" y="296826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1-2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69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/>
          <p:cNvSpPr/>
          <p:nvPr/>
        </p:nvSpPr>
        <p:spPr>
          <a:xfrm>
            <a:off x="123723" y="537465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0000"/>
                </a:solidFill>
              </a:rPr>
              <a:t>출력양식설정</a:t>
            </a:r>
          </a:p>
        </p:txBody>
      </p:sp>
      <p:sp>
        <p:nvSpPr>
          <p:cNvPr id="95" name="직사각형 94"/>
          <p:cNvSpPr/>
          <p:nvPr/>
        </p:nvSpPr>
        <p:spPr bwMode="auto">
          <a:xfrm>
            <a:off x="1190326" y="2317682"/>
            <a:ext cx="678040" cy="1766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96" name="직사각형 95"/>
          <p:cNvSpPr/>
          <p:nvPr/>
        </p:nvSpPr>
        <p:spPr bwMode="auto">
          <a:xfrm>
            <a:off x="2129878" y="2328285"/>
            <a:ext cx="1312896" cy="181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89577" y="3187615"/>
            <a:ext cx="9757881" cy="450194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15776" y="331993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</a:rPr>
              <a:t>청구일자</a:t>
            </a:r>
          </a:p>
        </p:txBody>
      </p:sp>
      <p:sp>
        <p:nvSpPr>
          <p:cNvPr id="99" name="모서리가 둥근 직사각형 98"/>
          <p:cNvSpPr/>
          <p:nvPr/>
        </p:nvSpPr>
        <p:spPr>
          <a:xfrm>
            <a:off x="176420" y="6317278"/>
            <a:ext cx="9685076" cy="191941"/>
          </a:xfrm>
          <a:prstGeom prst="roundRect">
            <a:avLst/>
          </a:prstGeom>
          <a:solidFill>
            <a:srgbClr val="D3E5F9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188819" y="3323436"/>
            <a:ext cx="853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Total </a:t>
            </a:r>
            <a:r>
              <a:rPr lang="ko-KR" altLang="en-US" dirty="0">
                <a:solidFill>
                  <a:srgbClr val="000000"/>
                </a:solidFill>
              </a:rPr>
              <a:t>출력기준</a:t>
            </a: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8188819" y="3281886"/>
            <a:ext cx="1650606" cy="272646"/>
          </a:xfrm>
          <a:prstGeom prst="roundRect">
            <a:avLst>
              <a:gd name="adj" fmla="val 4642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8988854" y="3379094"/>
            <a:ext cx="104128" cy="104128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035024" y="3323436"/>
            <a:ext cx="3626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Yes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9021072" y="3402669"/>
            <a:ext cx="57958" cy="5795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9441139" y="3379094"/>
            <a:ext cx="104128" cy="10412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487309" y="3323436"/>
            <a:ext cx="316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No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7" name="표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91649"/>
              </p:ext>
            </p:extLst>
          </p:nvPr>
        </p:nvGraphicFramePr>
        <p:xfrm>
          <a:off x="195738" y="1807846"/>
          <a:ext cx="9633108" cy="7891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1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4577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업무그룹</a:t>
                      </a:r>
                      <a:r>
                        <a:rPr lang="en-US" altLang="ko-KR" sz="700" dirty="0"/>
                        <a:t>/</a:t>
                      </a:r>
                      <a:r>
                        <a:rPr lang="ko-KR" altLang="en-US" sz="700" dirty="0"/>
                        <a:t>업무구분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입력사원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본</a:t>
                      </a:r>
                      <a:r>
                        <a:rPr lang="en-US" altLang="ko-KR" sz="700" dirty="0"/>
                        <a:t>/</a:t>
                      </a:r>
                      <a:r>
                        <a:rPr lang="ko-KR" altLang="en-US" sz="700" dirty="0"/>
                        <a:t>지사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청구지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B/L NO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출발지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도착지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" name="직사각형 107"/>
          <p:cNvSpPr/>
          <p:nvPr/>
        </p:nvSpPr>
        <p:spPr bwMode="auto">
          <a:xfrm>
            <a:off x="1190326" y="1918494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2019-01-01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09" name="Picture 12"/>
          <p:cNvPicPr>
            <a:picLocks noChangeAspect="1" noChangeArrowheads="1"/>
          </p:cNvPicPr>
          <p:nvPr/>
        </p:nvPicPr>
        <p:blipFill>
          <a:blip r:embed="rId2" cstate="print"/>
          <a:srcRect l="75599"/>
          <a:stretch>
            <a:fillRect/>
          </a:stretch>
        </p:blipFill>
        <p:spPr bwMode="auto">
          <a:xfrm>
            <a:off x="2076548" y="1928956"/>
            <a:ext cx="262278" cy="15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" name="TextBox 109"/>
          <p:cNvSpPr txBox="1"/>
          <p:nvPr/>
        </p:nvSpPr>
        <p:spPr>
          <a:xfrm>
            <a:off x="2305438" y="1889350"/>
            <a:ext cx="2265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~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2562091" y="1918494"/>
            <a:ext cx="853452" cy="18185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2019-01-01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12" name="Picture 12"/>
          <p:cNvPicPr>
            <a:picLocks noChangeAspect="1" noChangeArrowheads="1"/>
          </p:cNvPicPr>
          <p:nvPr/>
        </p:nvPicPr>
        <p:blipFill>
          <a:blip r:embed="rId2" cstate="print"/>
          <a:srcRect l="75599"/>
          <a:stretch>
            <a:fillRect/>
          </a:stretch>
        </p:blipFill>
        <p:spPr bwMode="auto">
          <a:xfrm>
            <a:off x="3442774" y="1928956"/>
            <a:ext cx="262278" cy="15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직사각형 112"/>
          <p:cNvSpPr/>
          <p:nvPr/>
        </p:nvSpPr>
        <p:spPr bwMode="auto">
          <a:xfrm>
            <a:off x="1930628" y="1921210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4" name="직사각형 113"/>
          <p:cNvSpPr/>
          <p:nvPr/>
        </p:nvSpPr>
        <p:spPr bwMode="auto">
          <a:xfrm>
            <a:off x="3301415" y="1921210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5" name="직사각형 114"/>
          <p:cNvSpPr/>
          <p:nvPr/>
        </p:nvSpPr>
        <p:spPr bwMode="auto">
          <a:xfrm>
            <a:off x="251780" y="1908660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입출항일자</a:t>
            </a:r>
          </a:p>
        </p:txBody>
      </p:sp>
      <p:sp>
        <p:nvSpPr>
          <p:cNvPr id="116" name="직사각형 115"/>
          <p:cNvSpPr/>
          <p:nvPr/>
        </p:nvSpPr>
        <p:spPr bwMode="auto">
          <a:xfrm>
            <a:off x="935403" y="1912160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7" name="직사각형 116"/>
          <p:cNvSpPr/>
          <p:nvPr/>
        </p:nvSpPr>
        <p:spPr bwMode="auto">
          <a:xfrm>
            <a:off x="9036756" y="1911610"/>
            <a:ext cx="575812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118" name="직사각형 117"/>
          <p:cNvSpPr/>
          <p:nvPr/>
        </p:nvSpPr>
        <p:spPr bwMode="auto">
          <a:xfrm>
            <a:off x="5148842" y="1935255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9" name="직사각형 118"/>
          <p:cNvSpPr/>
          <p:nvPr/>
        </p:nvSpPr>
        <p:spPr bwMode="auto">
          <a:xfrm>
            <a:off x="5339849" y="2301909"/>
            <a:ext cx="807241" cy="2000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964" y="2321444"/>
            <a:ext cx="177132" cy="169080"/>
          </a:xfrm>
          <a:prstGeom prst="rect">
            <a:avLst/>
          </a:prstGeom>
        </p:spPr>
      </p:pic>
      <p:sp>
        <p:nvSpPr>
          <p:cNvPr id="121" name="직사각형 120"/>
          <p:cNvSpPr/>
          <p:nvPr/>
        </p:nvSpPr>
        <p:spPr bwMode="auto">
          <a:xfrm>
            <a:off x="5349297" y="1916515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122" name="직사각형 121"/>
          <p:cNvSpPr/>
          <p:nvPr/>
        </p:nvSpPr>
        <p:spPr bwMode="auto">
          <a:xfrm>
            <a:off x="6032920" y="1920015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3" name="직사각형 122"/>
          <p:cNvSpPr/>
          <p:nvPr/>
        </p:nvSpPr>
        <p:spPr bwMode="auto">
          <a:xfrm>
            <a:off x="4433844" y="2304971"/>
            <a:ext cx="827786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H B/L NO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124" name="직사각형 123"/>
          <p:cNvSpPr/>
          <p:nvPr/>
        </p:nvSpPr>
        <p:spPr bwMode="auto">
          <a:xfrm>
            <a:off x="5149346" y="2313337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5" name="직사각형 124"/>
          <p:cNvSpPr/>
          <p:nvPr/>
        </p:nvSpPr>
        <p:spPr bwMode="auto">
          <a:xfrm>
            <a:off x="7020532" y="1935255"/>
            <a:ext cx="827786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홍길동</a:t>
            </a:r>
          </a:p>
        </p:txBody>
      </p:sp>
      <p:sp>
        <p:nvSpPr>
          <p:cNvPr id="126" name="직사각형 125"/>
          <p:cNvSpPr/>
          <p:nvPr/>
        </p:nvSpPr>
        <p:spPr bwMode="auto">
          <a:xfrm>
            <a:off x="7736034" y="1943621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7" name="직사각형 126"/>
          <p:cNvSpPr/>
          <p:nvPr/>
        </p:nvSpPr>
        <p:spPr bwMode="auto">
          <a:xfrm>
            <a:off x="4428244" y="1930608"/>
            <a:ext cx="827786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128" name="직사각형 127"/>
          <p:cNvSpPr/>
          <p:nvPr/>
        </p:nvSpPr>
        <p:spPr bwMode="auto">
          <a:xfrm>
            <a:off x="9498440" y="1918814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9" name="직사각형 128"/>
          <p:cNvSpPr/>
          <p:nvPr/>
        </p:nvSpPr>
        <p:spPr bwMode="auto">
          <a:xfrm>
            <a:off x="7020532" y="2325365"/>
            <a:ext cx="447697" cy="1691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30" name="그림 1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14" y="2329126"/>
            <a:ext cx="177132" cy="169080"/>
          </a:xfrm>
          <a:prstGeom prst="rect">
            <a:avLst/>
          </a:prstGeom>
        </p:spPr>
      </p:pic>
      <p:sp>
        <p:nvSpPr>
          <p:cNvPr id="131" name="직사각형 130"/>
          <p:cNvSpPr/>
          <p:nvPr/>
        </p:nvSpPr>
        <p:spPr bwMode="auto">
          <a:xfrm>
            <a:off x="9036756" y="2318203"/>
            <a:ext cx="447697" cy="1691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32" name="그림 1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738" y="2321964"/>
            <a:ext cx="177132" cy="169080"/>
          </a:xfrm>
          <a:prstGeom prst="rect">
            <a:avLst/>
          </a:prstGeom>
        </p:spPr>
      </p:pic>
      <p:grpSp>
        <p:nvGrpSpPr>
          <p:cNvPr id="133" name="그룹 132"/>
          <p:cNvGrpSpPr/>
          <p:nvPr/>
        </p:nvGrpSpPr>
        <p:grpSpPr>
          <a:xfrm>
            <a:off x="166121" y="1493406"/>
            <a:ext cx="2115027" cy="236513"/>
            <a:chOff x="920300" y="3392022"/>
            <a:chExt cx="900100" cy="236513"/>
          </a:xfrm>
        </p:grpSpPr>
        <p:sp>
          <p:nvSpPr>
            <p:cNvPr id="134" name="한쪽 모서리가 둥근 사각형 133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5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Basic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36" name="모서리가 둥근 직사각형 135"/>
          <p:cNvSpPr/>
          <p:nvPr/>
        </p:nvSpPr>
        <p:spPr>
          <a:xfrm>
            <a:off x="174181" y="3734552"/>
            <a:ext cx="9773278" cy="15158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137" name="그룹 136"/>
          <p:cNvGrpSpPr/>
          <p:nvPr/>
        </p:nvGrpSpPr>
        <p:grpSpPr>
          <a:xfrm>
            <a:off x="166121" y="2906460"/>
            <a:ext cx="2115027" cy="236513"/>
            <a:chOff x="920300" y="3392022"/>
            <a:chExt cx="900100" cy="236513"/>
          </a:xfrm>
        </p:grpSpPr>
        <p:sp>
          <p:nvSpPr>
            <p:cNvPr id="138" name="한쪽 모서리가 둥근 사각형 137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9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Account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91840" y="3335547"/>
            <a:ext cx="934936" cy="158114"/>
            <a:chOff x="827844" y="2751590"/>
            <a:chExt cx="934936" cy="158114"/>
          </a:xfrm>
        </p:grpSpPr>
        <p:sp>
          <p:nvSpPr>
            <p:cNvPr id="141" name="직사각형 140"/>
            <p:cNvSpPr/>
            <p:nvPr/>
          </p:nvSpPr>
          <p:spPr bwMode="auto">
            <a:xfrm>
              <a:off x="827844" y="2751590"/>
              <a:ext cx="934936" cy="15811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800" dirty="0">
                  <a:solidFill>
                    <a:srgbClr val="FFFFFF">
                      <a:lumMod val="50000"/>
                    </a:srgbClr>
                  </a:solidFill>
                </a:rPr>
                <a:t>2019-01-01</a:t>
              </a:r>
              <a:endParaRPr lang="ko-KR" altLang="en-US" sz="800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  <p:pic>
          <p:nvPicPr>
            <p:cNvPr id="142" name="Picture 12"/>
            <p:cNvPicPr>
              <a:picLocks noChangeAspect="1" noChangeArrowheads="1"/>
            </p:cNvPicPr>
            <p:nvPr/>
          </p:nvPicPr>
          <p:blipFill>
            <a:blip r:embed="rId2" cstate="print"/>
            <a:srcRect l="75599"/>
            <a:stretch>
              <a:fillRect/>
            </a:stretch>
          </p:blipFill>
          <p:spPr bwMode="auto">
            <a:xfrm>
              <a:off x="1530881" y="2757342"/>
              <a:ext cx="227369" cy="152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143" name="표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1438"/>
              </p:ext>
            </p:extLst>
          </p:nvPr>
        </p:nvGraphicFramePr>
        <p:xfrm>
          <a:off x="185125" y="3806560"/>
          <a:ext cx="9669048" cy="624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47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063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837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182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업무구분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</a:rPr>
                        <a:t>Bound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입출항일자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B/L No.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편명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선명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C.W/T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G.W/T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용적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청구번호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청구지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실적일자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통화단위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Ex.Rate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부가세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합계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" name="표 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762496"/>
              </p:ext>
            </p:extLst>
          </p:nvPr>
        </p:nvGraphicFramePr>
        <p:xfrm>
          <a:off x="179772" y="4562644"/>
          <a:ext cx="3600401" cy="606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8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입력사원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본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지사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Job No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443" y="4044069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6" name="직사각형 145"/>
          <p:cNvSpPr/>
          <p:nvPr/>
        </p:nvSpPr>
        <p:spPr>
          <a:xfrm>
            <a:off x="1797376" y="3293286"/>
            <a:ext cx="2414844" cy="242633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rgbClr val="0000FF"/>
                </a:solidFill>
              </a:rPr>
              <a:t>기본값 </a:t>
            </a:r>
            <a:r>
              <a:rPr lang="en-US" altLang="ko-KR" sz="700" dirty="0">
                <a:solidFill>
                  <a:srgbClr val="0000FF"/>
                </a:solidFill>
              </a:rPr>
              <a:t>: </a:t>
            </a:r>
            <a:r>
              <a:rPr lang="ko-KR" altLang="en-US" sz="700" dirty="0">
                <a:solidFill>
                  <a:srgbClr val="0000FF"/>
                </a:solidFill>
              </a:rPr>
              <a:t>시스템 일자  표시 처리</a:t>
            </a:r>
            <a:r>
              <a:rPr lang="en-US" altLang="ko-KR" sz="700" dirty="0">
                <a:solidFill>
                  <a:srgbClr val="0000FF"/>
                </a:solidFill>
              </a:rPr>
              <a:t>(</a:t>
            </a:r>
            <a:r>
              <a:rPr lang="ko-KR" altLang="en-US" sz="700" dirty="0">
                <a:solidFill>
                  <a:srgbClr val="0000FF"/>
                </a:solidFill>
              </a:rPr>
              <a:t>사용자 변경 가능</a:t>
            </a:r>
            <a:r>
              <a:rPr lang="en-US" altLang="ko-KR" sz="700" dirty="0">
                <a:solidFill>
                  <a:srgbClr val="0000FF"/>
                </a:solidFill>
              </a:rPr>
              <a:t>)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6769527" y="2575382"/>
            <a:ext cx="2775740" cy="421570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rgbClr val="FF0066"/>
                </a:solidFill>
              </a:rPr>
              <a:t>업무구분 </a:t>
            </a:r>
            <a:r>
              <a:rPr lang="en-US" altLang="ko-KR" sz="700" dirty="0">
                <a:solidFill>
                  <a:srgbClr val="FF0066"/>
                </a:solidFill>
              </a:rPr>
              <a:t>: </a:t>
            </a:r>
            <a:r>
              <a:rPr lang="ko-KR" altLang="en-US" sz="700" dirty="0">
                <a:solidFill>
                  <a:srgbClr val="FF0066"/>
                </a:solidFill>
              </a:rPr>
              <a:t>항공 </a:t>
            </a:r>
            <a:r>
              <a:rPr lang="en-US" altLang="ko-KR" sz="700" dirty="0">
                <a:solidFill>
                  <a:srgbClr val="FF0066"/>
                </a:solidFill>
              </a:rPr>
              <a:t>-&gt; </a:t>
            </a:r>
            <a:r>
              <a:rPr lang="ko-KR" altLang="en-US" sz="700" dirty="0">
                <a:solidFill>
                  <a:srgbClr val="FF0066"/>
                </a:solidFill>
              </a:rPr>
              <a:t>공항코드 검색 처리</a:t>
            </a:r>
            <a:endParaRPr lang="en-US" altLang="ko-KR" sz="700" dirty="0">
              <a:solidFill>
                <a:srgbClr val="FF0066"/>
              </a:solidFill>
            </a:endParaRPr>
          </a:p>
          <a:p>
            <a:r>
              <a:rPr lang="en-US" altLang="ko-KR" sz="700" dirty="0">
                <a:solidFill>
                  <a:srgbClr val="FF0066"/>
                </a:solidFill>
              </a:rPr>
              <a:t>               </a:t>
            </a:r>
            <a:r>
              <a:rPr lang="ko-KR" altLang="en-US" sz="700" dirty="0">
                <a:solidFill>
                  <a:srgbClr val="FF0066"/>
                </a:solidFill>
              </a:rPr>
              <a:t>해상 </a:t>
            </a:r>
            <a:r>
              <a:rPr lang="en-US" altLang="ko-KR" sz="700" dirty="0">
                <a:solidFill>
                  <a:srgbClr val="FF0066"/>
                </a:solidFill>
              </a:rPr>
              <a:t>-&gt; </a:t>
            </a:r>
            <a:r>
              <a:rPr lang="ko-KR" altLang="en-US" sz="700" dirty="0">
                <a:solidFill>
                  <a:srgbClr val="FF0066"/>
                </a:solidFill>
              </a:rPr>
              <a:t>항구코드 검색 처리</a:t>
            </a:r>
            <a:endParaRPr lang="en-US" altLang="ko-KR" sz="700" dirty="0">
              <a:solidFill>
                <a:srgbClr val="FF0066"/>
              </a:solidFill>
            </a:endParaRPr>
          </a:p>
          <a:p>
            <a:r>
              <a:rPr lang="ko-KR" altLang="en-US" sz="700" dirty="0">
                <a:solidFill>
                  <a:srgbClr val="FF0066"/>
                </a:solidFill>
              </a:rPr>
              <a:t>도착지  </a:t>
            </a:r>
            <a:r>
              <a:rPr lang="en-US" altLang="ko-KR" sz="700" dirty="0">
                <a:solidFill>
                  <a:srgbClr val="FF0066"/>
                </a:solidFill>
              </a:rPr>
              <a:t>-&gt; </a:t>
            </a:r>
            <a:r>
              <a:rPr lang="ko-KR" altLang="en-US" sz="700" dirty="0">
                <a:solidFill>
                  <a:srgbClr val="FF0066"/>
                </a:solidFill>
              </a:rPr>
              <a:t>해상업무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ko-KR" altLang="en-US" sz="700" dirty="0" err="1">
                <a:solidFill>
                  <a:srgbClr val="FF0066"/>
                </a:solidFill>
              </a:rPr>
              <a:t>인경우</a:t>
            </a:r>
            <a:r>
              <a:rPr lang="ko-KR" altLang="en-US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>
                <a:solidFill>
                  <a:srgbClr val="FF0066"/>
                </a:solidFill>
              </a:rPr>
              <a:t>B/L </a:t>
            </a:r>
            <a:r>
              <a:rPr lang="ko-KR" altLang="en-US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>
                <a:solidFill>
                  <a:srgbClr val="FF0066"/>
                </a:solidFill>
              </a:rPr>
              <a:t>DISCHARGE PORT </a:t>
            </a:r>
            <a:r>
              <a:rPr lang="ko-KR" altLang="en-US" sz="700" dirty="0">
                <a:solidFill>
                  <a:srgbClr val="FF0066"/>
                </a:solidFill>
              </a:rPr>
              <a:t>항목 기준</a:t>
            </a:r>
          </a:p>
        </p:txBody>
      </p:sp>
      <p:sp>
        <p:nvSpPr>
          <p:cNvPr id="148" name="직사각형 147"/>
          <p:cNvSpPr/>
          <p:nvPr/>
        </p:nvSpPr>
        <p:spPr>
          <a:xfrm>
            <a:off x="143768" y="3734551"/>
            <a:ext cx="9799471" cy="1515895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-28880" y="3529338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55" name="타원 154"/>
          <p:cNvSpPr/>
          <p:nvPr/>
        </p:nvSpPr>
        <p:spPr>
          <a:xfrm>
            <a:off x="5015813" y="250984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1-7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156" name="타원 155"/>
          <p:cNvSpPr/>
          <p:nvPr/>
        </p:nvSpPr>
        <p:spPr>
          <a:xfrm>
            <a:off x="887556" y="415702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2-1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301415" y="4054380"/>
            <a:ext cx="1904491" cy="508264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rgbClr val="FF0066"/>
                </a:solidFill>
              </a:rPr>
              <a:t>B/L NO. </a:t>
            </a:r>
          </a:p>
          <a:p>
            <a:r>
              <a:rPr lang="en-US" altLang="ko-KR" sz="700" dirty="0">
                <a:solidFill>
                  <a:srgbClr val="FF0066"/>
                </a:solidFill>
              </a:rPr>
              <a:t>MASTER DIRECT </a:t>
            </a:r>
            <a:r>
              <a:rPr lang="ko-KR" altLang="en-US" sz="700" dirty="0">
                <a:solidFill>
                  <a:srgbClr val="FF0066"/>
                </a:solidFill>
              </a:rPr>
              <a:t>건 인 경우 </a:t>
            </a:r>
            <a:r>
              <a:rPr lang="en-US" altLang="ko-KR" sz="700" dirty="0">
                <a:solidFill>
                  <a:srgbClr val="FF0066"/>
                </a:solidFill>
              </a:rPr>
              <a:t>MASTER B/L </a:t>
            </a:r>
          </a:p>
          <a:p>
            <a:r>
              <a:rPr lang="en-US" altLang="ko-KR" sz="700" dirty="0">
                <a:solidFill>
                  <a:srgbClr val="FF0066"/>
                </a:solidFill>
              </a:rPr>
              <a:t>NO </a:t>
            </a:r>
            <a:r>
              <a:rPr lang="ko-KR" altLang="en-US" sz="700" dirty="0">
                <a:solidFill>
                  <a:srgbClr val="FF0066"/>
                </a:solidFill>
              </a:rPr>
              <a:t>표기 처리 후 </a:t>
            </a:r>
            <a:r>
              <a:rPr lang="en-US" altLang="ko-KR" sz="700" dirty="0">
                <a:solidFill>
                  <a:srgbClr val="FF0066"/>
                </a:solidFill>
              </a:rPr>
              <a:t>B/L NO(M) </a:t>
            </a:r>
            <a:r>
              <a:rPr lang="ko-KR" altLang="en-US" sz="700" dirty="0">
                <a:solidFill>
                  <a:srgbClr val="FF0066"/>
                </a:solidFill>
              </a:rPr>
              <a:t>표기 처리</a:t>
            </a:r>
            <a:endParaRPr lang="en-US" altLang="ko-KR" sz="700" dirty="0">
              <a:solidFill>
                <a:srgbClr val="FF0066"/>
              </a:solidFill>
            </a:endParaRPr>
          </a:p>
          <a:p>
            <a:r>
              <a:rPr lang="en-US" altLang="ko-KR" sz="700" b="1" dirty="0">
                <a:solidFill>
                  <a:srgbClr val="0066FF"/>
                </a:solidFill>
              </a:rPr>
              <a:t>HOUSE B/L </a:t>
            </a:r>
            <a:r>
              <a:rPr lang="ko-KR" altLang="en-US" sz="700" b="1" dirty="0">
                <a:solidFill>
                  <a:srgbClr val="0066FF"/>
                </a:solidFill>
              </a:rPr>
              <a:t>인 경우 </a:t>
            </a:r>
            <a:r>
              <a:rPr lang="en-US" altLang="ko-KR" sz="700" b="1" dirty="0">
                <a:solidFill>
                  <a:srgbClr val="0066FF"/>
                </a:solidFill>
              </a:rPr>
              <a:t>HOUSE B/L </a:t>
            </a:r>
          </a:p>
          <a:p>
            <a:r>
              <a:rPr lang="en-US" altLang="ko-KR" sz="700" b="1" dirty="0">
                <a:solidFill>
                  <a:srgbClr val="0066FF"/>
                </a:solidFill>
              </a:rPr>
              <a:t>NO </a:t>
            </a:r>
            <a:r>
              <a:rPr lang="ko-KR" altLang="en-US" sz="700" b="1" dirty="0">
                <a:solidFill>
                  <a:srgbClr val="0066FF"/>
                </a:solidFill>
              </a:rPr>
              <a:t>표기 처리 후 </a:t>
            </a:r>
            <a:r>
              <a:rPr lang="en-US" altLang="ko-KR" sz="700" b="1" dirty="0">
                <a:solidFill>
                  <a:srgbClr val="0066FF"/>
                </a:solidFill>
              </a:rPr>
              <a:t>B/L NO(H) </a:t>
            </a:r>
            <a:r>
              <a:rPr lang="ko-KR" altLang="en-US" sz="700" b="1" dirty="0">
                <a:solidFill>
                  <a:srgbClr val="0066FF"/>
                </a:solidFill>
              </a:rPr>
              <a:t>표기 처리</a:t>
            </a:r>
            <a:endParaRPr lang="en-US" altLang="ko-KR" sz="700" b="1" dirty="0">
              <a:solidFill>
                <a:srgbClr val="0066FF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217931" y="2494305"/>
            <a:ext cx="2355982" cy="445388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0000FF"/>
                </a:solidFill>
              </a:rPr>
              <a:t>거래처 코드 </a:t>
            </a:r>
            <a:r>
              <a:rPr lang="ko-KR" altLang="en-US" dirty="0" err="1">
                <a:solidFill>
                  <a:srgbClr val="0000FF"/>
                </a:solidFill>
              </a:rPr>
              <a:t>조회시</a:t>
            </a:r>
            <a:r>
              <a:rPr lang="ko-KR" altLang="en-US" dirty="0">
                <a:solidFill>
                  <a:srgbClr val="0000FF"/>
                </a:solidFill>
              </a:rPr>
              <a:t> 화주  기본조회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00FF"/>
                </a:solidFill>
              </a:rPr>
              <a:t>화주코드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한글 상호 조회 및 표시 처리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※B/L </a:t>
            </a:r>
            <a:r>
              <a:rPr lang="ko-KR" altLang="en-US" b="1" dirty="0">
                <a:solidFill>
                  <a:srgbClr val="FF0000"/>
                </a:solidFill>
              </a:rPr>
              <a:t>청구데이터 운임목록 </a:t>
            </a:r>
            <a:r>
              <a:rPr lang="en-US" altLang="ko-KR" b="1" dirty="0">
                <a:solidFill>
                  <a:srgbClr val="FF0000"/>
                </a:solidFill>
              </a:rPr>
              <a:t>Account </a:t>
            </a:r>
            <a:r>
              <a:rPr lang="ko-KR" altLang="en-US" b="1" dirty="0">
                <a:solidFill>
                  <a:srgbClr val="FF0000"/>
                </a:solidFill>
              </a:rPr>
              <a:t>등록 기준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5377499" y="4058588"/>
            <a:ext cx="2090730" cy="612068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rgbClr val="FF0066"/>
                </a:solidFill>
              </a:rPr>
              <a:t>청구번호 </a:t>
            </a:r>
            <a:r>
              <a:rPr lang="en-US" altLang="ko-KR" sz="700" dirty="0">
                <a:solidFill>
                  <a:srgbClr val="FF0066"/>
                </a:solidFill>
              </a:rPr>
              <a:t>: </a:t>
            </a:r>
            <a:r>
              <a:rPr lang="ko-KR" altLang="en-US" sz="700" dirty="0">
                <a:solidFill>
                  <a:srgbClr val="FF0066"/>
                </a:solidFill>
              </a:rPr>
              <a:t>사용자 </a:t>
            </a:r>
            <a:r>
              <a:rPr lang="ko-KR" altLang="en-US" sz="700" dirty="0" err="1">
                <a:solidFill>
                  <a:srgbClr val="FF0066"/>
                </a:solidFill>
              </a:rPr>
              <a:t>청구확정후</a:t>
            </a:r>
            <a:r>
              <a:rPr lang="ko-KR" altLang="en-US" sz="700" dirty="0">
                <a:solidFill>
                  <a:srgbClr val="FF0066"/>
                </a:solidFill>
              </a:rPr>
              <a:t> 청구번호 항목에 청구번호 표시 처리</a:t>
            </a:r>
            <a:endParaRPr lang="en-US" altLang="ko-KR" sz="700" dirty="0">
              <a:solidFill>
                <a:srgbClr val="FF0066"/>
              </a:solidFill>
            </a:endParaRPr>
          </a:p>
          <a:p>
            <a:r>
              <a:rPr lang="ko-KR" altLang="en-US" sz="700" dirty="0">
                <a:solidFill>
                  <a:srgbClr val="FF0066"/>
                </a:solidFill>
              </a:rPr>
              <a:t>청구번호가 있는 데이터만 매출세금계산서 발행 메뉴 이동 가능 </a:t>
            </a:r>
            <a:endParaRPr lang="en-US" altLang="ko-KR" sz="700" dirty="0">
              <a:solidFill>
                <a:srgbClr val="FF0066"/>
              </a:solidFill>
            </a:endParaRPr>
          </a:p>
          <a:p>
            <a:r>
              <a:rPr lang="ko-KR" altLang="en-US" sz="700" b="1" dirty="0">
                <a:solidFill>
                  <a:srgbClr val="0000FF"/>
                </a:solidFill>
              </a:rPr>
              <a:t>신규 </a:t>
            </a:r>
            <a:r>
              <a:rPr lang="ko-KR" altLang="en-US" sz="700" b="1" dirty="0" err="1">
                <a:solidFill>
                  <a:srgbClr val="0000FF"/>
                </a:solidFill>
              </a:rPr>
              <a:t>조회시에는</a:t>
            </a:r>
            <a:r>
              <a:rPr lang="ko-KR" altLang="en-US" sz="700" b="1" dirty="0">
                <a:solidFill>
                  <a:srgbClr val="0000FF"/>
                </a:solidFill>
              </a:rPr>
              <a:t>  청구번호 항목 </a:t>
            </a:r>
            <a:r>
              <a:rPr lang="ko-KR" altLang="en-US" sz="700" b="1" dirty="0" err="1">
                <a:solidFill>
                  <a:srgbClr val="0000FF"/>
                </a:solidFill>
              </a:rPr>
              <a:t>빈값</a:t>
            </a:r>
            <a:r>
              <a:rPr lang="ko-KR" altLang="en-US" sz="700" b="1" dirty="0">
                <a:solidFill>
                  <a:srgbClr val="0000FF"/>
                </a:solidFill>
              </a:rPr>
              <a:t> 처리</a:t>
            </a:r>
            <a:endParaRPr lang="en-US" altLang="ko-KR" sz="700" b="1" dirty="0">
              <a:solidFill>
                <a:srgbClr val="0000FF"/>
              </a:solidFill>
            </a:endParaRPr>
          </a:p>
        </p:txBody>
      </p:sp>
      <p:sp>
        <p:nvSpPr>
          <p:cNvPr id="160" name="타원 159"/>
          <p:cNvSpPr/>
          <p:nvPr/>
        </p:nvSpPr>
        <p:spPr>
          <a:xfrm>
            <a:off x="7949978" y="314606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1-8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84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"/>
          <p:cNvSpPr>
            <a:spLocks noChangeArrowheads="1"/>
          </p:cNvSpPr>
          <p:nvPr/>
        </p:nvSpPr>
        <p:spPr bwMode="auto">
          <a:xfrm>
            <a:off x="-3060742" y="260648"/>
            <a:ext cx="2808465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개요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특정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출럭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양식을 위치에 맞춰서 설정하는 관리 화면 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AWB(B/L) Form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 화면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특송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B/L Form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 화면회계 이관설정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세금계산서 발행이 완료된 데이터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자사정보설정 관리 화면 신규 또는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등록 및 수정 가능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Rectangle 91"/>
          <p:cNvSpPr>
            <a:spLocks noChangeArrowheads="1"/>
          </p:cNvSpPr>
          <p:nvPr/>
        </p:nvSpPr>
        <p:spPr bwMode="auto">
          <a:xfrm>
            <a:off x="-3147836" y="44624"/>
            <a:ext cx="2969664" cy="19957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>
              <a:solidFill>
                <a:srgbClr val="FFFFFF"/>
              </a:solidFill>
              <a:latin typeface="굴림" charset="-127"/>
            </a:endParaRPr>
          </a:p>
        </p:txBody>
      </p:sp>
      <p:sp>
        <p:nvSpPr>
          <p:cNvPr id="5" name="Text Box 92"/>
          <p:cNvSpPr txBox="1">
            <a:spLocks noChangeArrowheads="1"/>
          </p:cNvSpPr>
          <p:nvPr/>
        </p:nvSpPr>
        <p:spPr bwMode="auto">
          <a:xfrm>
            <a:off x="-3060742" y="68437"/>
            <a:ext cx="2324631" cy="159462"/>
          </a:xfrm>
          <a:prstGeom prst="rect">
            <a:avLst/>
          </a:prstGeom>
          <a:noFill/>
          <a:ln>
            <a:noFill/>
          </a:ln>
        </p:spPr>
        <p:txBody>
          <a:bodyPr wrap="square"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6" name="Rectangle 93"/>
          <p:cNvSpPr>
            <a:spLocks noChangeArrowheads="1"/>
          </p:cNvSpPr>
          <p:nvPr/>
        </p:nvSpPr>
        <p:spPr bwMode="auto">
          <a:xfrm>
            <a:off x="-3132596" y="5841268"/>
            <a:ext cx="2954423" cy="19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altLang="ko-KR" b="1" dirty="0">
                <a:solidFill>
                  <a:srgbClr val="000000"/>
                </a:solidFill>
              </a:rPr>
              <a:t>Additional comments (</a:t>
            </a:r>
            <a:r>
              <a:rPr lang="ko-KR" altLang="en-US" b="1" dirty="0">
                <a:solidFill>
                  <a:srgbClr val="000000"/>
                </a:solidFill>
              </a:rPr>
              <a:t>추가설명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en-US" altLang="ko-KR" b="1" dirty="0">
              <a:solidFill>
                <a:srgbClr val="FFFFFF"/>
              </a:solidFill>
              <a:latin typeface="굴림" charset="-127"/>
              <a:cs typeface="Times New Roman" pitchFamily="18" charset="0"/>
            </a:endParaRPr>
          </a:p>
        </p:txBody>
      </p:sp>
      <p:sp>
        <p:nvSpPr>
          <p:cNvPr id="7" name="Rectangle 60"/>
          <p:cNvSpPr>
            <a:spLocks noChangeArrowheads="1"/>
          </p:cNvSpPr>
          <p:nvPr/>
        </p:nvSpPr>
        <p:spPr bwMode="auto">
          <a:xfrm>
            <a:off x="-3132596" y="244197"/>
            <a:ext cx="2954424" cy="6497171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8" name="직사각형 1"/>
          <p:cNvSpPr>
            <a:spLocks noChangeArrowheads="1"/>
          </p:cNvSpPr>
          <p:nvPr/>
        </p:nvSpPr>
        <p:spPr bwMode="auto">
          <a:xfrm>
            <a:off x="-3080774" y="6060766"/>
            <a:ext cx="28084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세금계산서 출력물에 대해서는 전자세금계산서 확산에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따라서기존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출력물 사용하는 업체가 발생시 추가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될수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있슴</a:t>
            </a:r>
            <a:endParaRPr lang="en-US" altLang="ko-KR" b="1" dirty="0">
              <a:solidFill>
                <a:srgbClr val="FF0000"/>
              </a:solidFill>
              <a:latin typeface="Rix고딕 M"/>
              <a:ea typeface="Rix고딕 M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32" y="699322"/>
            <a:ext cx="4464274" cy="5699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106" y="3789040"/>
            <a:ext cx="4752772" cy="200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113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580216"/>
            <a:ext cx="4736760" cy="601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693" y="5733256"/>
            <a:ext cx="4768296" cy="907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3619203"/>
            <a:ext cx="23431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345278" y="3619203"/>
            <a:ext cx="2284385" cy="38586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출력항목 설정</a:t>
            </a:r>
          </a:p>
        </p:txBody>
      </p:sp>
      <p:sp>
        <p:nvSpPr>
          <p:cNvPr id="6" name="직사각형 1"/>
          <p:cNvSpPr>
            <a:spLocks noChangeArrowheads="1"/>
          </p:cNvSpPr>
          <p:nvPr/>
        </p:nvSpPr>
        <p:spPr bwMode="auto">
          <a:xfrm>
            <a:off x="-3060742" y="260648"/>
            <a:ext cx="280846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개요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특정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출럭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양식을 위치에 맞춰서 설정하는 관리 화면 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AWB(B/L) Form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세부설정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출력항목설정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항목을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클릭후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사용자 위치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설정할수있는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91"/>
          <p:cNvSpPr>
            <a:spLocks noChangeArrowheads="1"/>
          </p:cNvSpPr>
          <p:nvPr/>
        </p:nvSpPr>
        <p:spPr bwMode="auto">
          <a:xfrm>
            <a:off x="-3147836" y="44624"/>
            <a:ext cx="2969664" cy="19957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>
              <a:solidFill>
                <a:srgbClr val="FFFFFF"/>
              </a:solidFill>
              <a:latin typeface="굴림" charset="-127"/>
            </a:endParaRPr>
          </a:p>
        </p:txBody>
      </p:sp>
      <p:sp>
        <p:nvSpPr>
          <p:cNvPr id="8" name="Text Box 92"/>
          <p:cNvSpPr txBox="1">
            <a:spLocks noChangeArrowheads="1"/>
          </p:cNvSpPr>
          <p:nvPr/>
        </p:nvSpPr>
        <p:spPr bwMode="auto">
          <a:xfrm>
            <a:off x="-3060742" y="68437"/>
            <a:ext cx="2324631" cy="159462"/>
          </a:xfrm>
          <a:prstGeom prst="rect">
            <a:avLst/>
          </a:prstGeom>
          <a:noFill/>
          <a:ln>
            <a:noFill/>
          </a:ln>
        </p:spPr>
        <p:txBody>
          <a:bodyPr wrap="square"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9" name="Rectangle 93"/>
          <p:cNvSpPr>
            <a:spLocks noChangeArrowheads="1"/>
          </p:cNvSpPr>
          <p:nvPr/>
        </p:nvSpPr>
        <p:spPr bwMode="auto">
          <a:xfrm>
            <a:off x="-3132596" y="5841268"/>
            <a:ext cx="2954423" cy="19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altLang="ko-KR" b="1" dirty="0">
                <a:solidFill>
                  <a:srgbClr val="000000"/>
                </a:solidFill>
              </a:rPr>
              <a:t>Additional comments (</a:t>
            </a:r>
            <a:r>
              <a:rPr lang="ko-KR" altLang="en-US" b="1" dirty="0">
                <a:solidFill>
                  <a:srgbClr val="000000"/>
                </a:solidFill>
              </a:rPr>
              <a:t>추가설명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en-US" altLang="ko-KR" b="1" dirty="0">
              <a:solidFill>
                <a:srgbClr val="FFFFFF"/>
              </a:solidFill>
              <a:latin typeface="굴림" charset="-127"/>
              <a:cs typeface="Times New Roman" pitchFamily="18" charset="0"/>
            </a:endParaRPr>
          </a:p>
        </p:txBody>
      </p:sp>
      <p:sp>
        <p:nvSpPr>
          <p:cNvPr id="10" name="Rectangle 60"/>
          <p:cNvSpPr>
            <a:spLocks noChangeArrowheads="1"/>
          </p:cNvSpPr>
          <p:nvPr/>
        </p:nvSpPr>
        <p:spPr bwMode="auto">
          <a:xfrm>
            <a:off x="-3132596" y="244197"/>
            <a:ext cx="2954424" cy="6497171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1" name="직사각형 1"/>
          <p:cNvSpPr>
            <a:spLocks noChangeArrowheads="1"/>
          </p:cNvSpPr>
          <p:nvPr/>
        </p:nvSpPr>
        <p:spPr bwMode="auto">
          <a:xfrm>
            <a:off x="-3080774" y="6060766"/>
            <a:ext cx="28084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세금계산서 출력물에 대해서는 전자세금계산서 확산에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따라서기존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출력물 사용하는 업체가 발생시 추가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될수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있슴</a:t>
            </a:r>
            <a:endParaRPr lang="en-US" altLang="ko-KR" b="1" dirty="0">
              <a:solidFill>
                <a:srgbClr val="FF0000"/>
              </a:solidFill>
              <a:latin typeface="Rix고딕 M"/>
              <a:ea typeface="Rix고딕 M"/>
            </a:endParaRPr>
          </a:p>
        </p:txBody>
      </p:sp>
    </p:spTree>
    <p:extLst>
      <p:ext uri="{BB962C8B-B14F-4D97-AF65-F5344CB8AC3E}">
        <p14:creationId xmlns:p14="http://schemas.microsoft.com/office/powerpoint/2010/main" val="3927804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979845" y="277462"/>
            <a:ext cx="35618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solidFill>
                  <a:srgbClr val="000000"/>
                </a:solidFill>
              </a:rPr>
              <a:t>1.1.1</a:t>
            </a:r>
            <a:endParaRPr lang="ko-KR" altLang="en-US" sz="600" b="1" dirty="0">
              <a:solidFill>
                <a:srgbClr val="000000"/>
              </a:solidFill>
            </a:endParaRPr>
          </a:p>
        </p:txBody>
      </p:sp>
      <p:sp>
        <p:nvSpPr>
          <p:cNvPr id="184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/Interface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5904408" y="31480"/>
            <a:ext cx="2017196" cy="187490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/>
              <a:t>회계 이관설정</a:t>
            </a:r>
            <a:r>
              <a:rPr lang="en-US" altLang="ko-KR" sz="1100" dirty="0"/>
              <a:t>(1/3)</a:t>
            </a:r>
            <a:endParaRPr lang="ko-KR" altLang="en-US" sz="1100" dirty="0"/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174181" y="1729126"/>
            <a:ext cx="9773278" cy="480177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143768" y="1981395"/>
            <a:ext cx="9799471" cy="4587854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123723" y="568500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0000"/>
                </a:solidFill>
              </a:rPr>
              <a:t>회계 이관 설정</a:t>
            </a:r>
          </a:p>
        </p:txBody>
      </p:sp>
      <p:sp>
        <p:nvSpPr>
          <p:cNvPr id="130" name="직사각형 129"/>
          <p:cNvSpPr/>
          <p:nvPr/>
        </p:nvSpPr>
        <p:spPr bwMode="auto">
          <a:xfrm>
            <a:off x="12132972" y="624345"/>
            <a:ext cx="900228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사용</a:t>
            </a:r>
          </a:p>
        </p:txBody>
      </p:sp>
      <p:sp>
        <p:nvSpPr>
          <p:cNvPr id="131" name="직사각형 130"/>
          <p:cNvSpPr/>
          <p:nvPr/>
        </p:nvSpPr>
        <p:spPr bwMode="auto">
          <a:xfrm>
            <a:off x="12918683" y="624346"/>
            <a:ext cx="11438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2" name="직사각형 131"/>
          <p:cNvSpPr/>
          <p:nvPr/>
        </p:nvSpPr>
        <p:spPr bwMode="auto">
          <a:xfrm>
            <a:off x="12134332" y="793216"/>
            <a:ext cx="89874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미사용</a:t>
            </a:r>
          </a:p>
        </p:txBody>
      </p:sp>
      <p:sp>
        <p:nvSpPr>
          <p:cNvPr id="135" name="직사각형 134"/>
          <p:cNvSpPr/>
          <p:nvPr/>
        </p:nvSpPr>
        <p:spPr bwMode="auto">
          <a:xfrm>
            <a:off x="10638565" y="599802"/>
            <a:ext cx="892431" cy="1934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rgbClr val="000000"/>
                </a:solidFill>
              </a:rPr>
              <a:t>엔컴회계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6" name="직사각형 135"/>
          <p:cNvSpPr/>
          <p:nvPr/>
        </p:nvSpPr>
        <p:spPr bwMode="auto">
          <a:xfrm>
            <a:off x="11416480" y="599804"/>
            <a:ext cx="11438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7" name="직사각형 136"/>
          <p:cNvSpPr/>
          <p:nvPr/>
        </p:nvSpPr>
        <p:spPr bwMode="auto">
          <a:xfrm>
            <a:off x="10632129" y="768674"/>
            <a:ext cx="89874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엔컴회계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165627" y="880077"/>
            <a:ext cx="9777611" cy="172659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FFFF"/>
                </a:solidFill>
              </a:rPr>
              <a:t>회계 이관 설정</a:t>
            </a:r>
          </a:p>
        </p:txBody>
      </p:sp>
      <p:sp>
        <p:nvSpPr>
          <p:cNvPr id="180" name="직사각형 1"/>
          <p:cNvSpPr>
            <a:spLocks noChangeArrowheads="1"/>
          </p:cNvSpPr>
          <p:nvPr/>
        </p:nvSpPr>
        <p:spPr bwMode="auto">
          <a:xfrm>
            <a:off x="-3060742" y="260648"/>
            <a:ext cx="280846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개요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매출세금계산서 및 매입세금계산서 등록 데이터를 기준으로 회계프로그램으로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세금계산서 데이터 품목 운임코드와 계정과목을 연계하여 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이관설정 관리 화면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이관설정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구분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연동 선택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회계프로그램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연동처리시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선택증가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계정 반제 사용 여부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 계정과 처리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계정를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 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미연동시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세금계산서 발행이 완료된 데이터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자사정보설정 관리 화면 신규 또는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등록 및 수정 가능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계정과목 항목은 비활성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2-2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계정과목 코드 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버튼 </a:t>
            </a:r>
            <a:r>
              <a:rPr lang="ko-KR" altLang="en-US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클릭시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계정과목 코드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2-3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계정과목 이름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비활성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매입계정 화면도 매출 계정 화면과 동일하게 처리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0000"/>
                </a:solidFill>
                <a:latin typeface="Rix고딕 M"/>
                <a:ea typeface="Rix고딕 M"/>
              </a:rPr>
              <a:t>⁂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Check</a:t>
            </a:r>
          </a:p>
          <a:p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2-1, 2-3 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불가능처리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CC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Rectangle 91"/>
          <p:cNvSpPr>
            <a:spLocks noChangeArrowheads="1"/>
          </p:cNvSpPr>
          <p:nvPr/>
        </p:nvSpPr>
        <p:spPr bwMode="auto">
          <a:xfrm>
            <a:off x="-3147836" y="44624"/>
            <a:ext cx="2969664" cy="19957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>
              <a:solidFill>
                <a:srgbClr val="FFFFFF"/>
              </a:solidFill>
              <a:latin typeface="굴림" charset="-127"/>
            </a:endParaRPr>
          </a:p>
        </p:txBody>
      </p:sp>
      <p:sp>
        <p:nvSpPr>
          <p:cNvPr id="185" name="Text Box 92"/>
          <p:cNvSpPr txBox="1">
            <a:spLocks noChangeArrowheads="1"/>
          </p:cNvSpPr>
          <p:nvPr/>
        </p:nvSpPr>
        <p:spPr bwMode="auto">
          <a:xfrm>
            <a:off x="-3060742" y="68437"/>
            <a:ext cx="2324631" cy="159462"/>
          </a:xfrm>
          <a:prstGeom prst="rect">
            <a:avLst/>
          </a:prstGeom>
          <a:noFill/>
          <a:ln>
            <a:noFill/>
          </a:ln>
        </p:spPr>
        <p:txBody>
          <a:bodyPr wrap="square"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86" name="Rectangle 93"/>
          <p:cNvSpPr>
            <a:spLocks noChangeArrowheads="1"/>
          </p:cNvSpPr>
          <p:nvPr/>
        </p:nvSpPr>
        <p:spPr bwMode="auto">
          <a:xfrm>
            <a:off x="-3132596" y="5841268"/>
            <a:ext cx="2954423" cy="19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altLang="ko-KR" b="1" dirty="0">
                <a:solidFill>
                  <a:srgbClr val="000000"/>
                </a:solidFill>
              </a:rPr>
              <a:t>Additional comments (</a:t>
            </a:r>
            <a:r>
              <a:rPr lang="ko-KR" altLang="en-US" b="1" dirty="0">
                <a:solidFill>
                  <a:srgbClr val="000000"/>
                </a:solidFill>
              </a:rPr>
              <a:t>추가설명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en-US" altLang="ko-KR" b="1" dirty="0">
              <a:solidFill>
                <a:srgbClr val="FFFFFF"/>
              </a:solidFill>
              <a:latin typeface="굴림" charset="-127"/>
              <a:cs typeface="Times New Roman" pitchFamily="18" charset="0"/>
            </a:endParaRPr>
          </a:p>
        </p:txBody>
      </p:sp>
      <p:sp>
        <p:nvSpPr>
          <p:cNvPr id="187" name="Rectangle 60"/>
          <p:cNvSpPr>
            <a:spLocks noChangeArrowheads="1"/>
          </p:cNvSpPr>
          <p:nvPr/>
        </p:nvSpPr>
        <p:spPr bwMode="auto">
          <a:xfrm>
            <a:off x="-3132596" y="244197"/>
            <a:ext cx="2954424" cy="6497171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88" name="직사각형 1"/>
          <p:cNvSpPr>
            <a:spLocks noChangeArrowheads="1"/>
          </p:cNvSpPr>
          <p:nvPr/>
        </p:nvSpPr>
        <p:spPr bwMode="auto">
          <a:xfrm>
            <a:off x="-3080774" y="6060766"/>
            <a:ext cx="28084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반제 </a:t>
            </a:r>
            <a:endParaRPr lang="en-US" altLang="ko-KR" b="1" dirty="0">
              <a:solidFill>
                <a:srgbClr val="FF0000"/>
              </a:solidFill>
              <a:latin typeface="Rix고딕 M"/>
              <a:ea typeface="Rix고딕 M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예를 들어 매출세금계산서를 발행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완료후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발생계정 또는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발생데이타라고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하면 추후 입금처리가 완료가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된후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부분입금 포함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입금처리 데이터를 처리 계정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처리데이터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라고 부르며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과 처리계정을 연동시킨다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. 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10638566" y="1907554"/>
            <a:ext cx="2743727" cy="504056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rgbClr val="FF0000"/>
                </a:solidFill>
              </a:rPr>
              <a:t>전자세금계산서 </a:t>
            </a:r>
            <a:r>
              <a:rPr lang="en-US" altLang="ko-KR" sz="700" b="1" dirty="0">
                <a:solidFill>
                  <a:srgbClr val="FF0000"/>
                </a:solidFill>
              </a:rPr>
              <a:t>VAN </a:t>
            </a:r>
            <a:r>
              <a:rPr lang="ko-KR" altLang="en-US" sz="700" b="1" dirty="0">
                <a:solidFill>
                  <a:srgbClr val="FF0000"/>
                </a:solidFill>
              </a:rPr>
              <a:t>사업자 </a:t>
            </a:r>
            <a:r>
              <a:rPr lang="en-US" altLang="ko-KR" sz="700" b="1" dirty="0">
                <a:solidFill>
                  <a:srgbClr val="FF0000"/>
                </a:solidFill>
              </a:rPr>
              <a:t>-&gt;</a:t>
            </a:r>
          </a:p>
          <a:p>
            <a:r>
              <a:rPr lang="ko-KR" altLang="en-US" sz="700" b="1" dirty="0">
                <a:solidFill>
                  <a:srgbClr val="FF0000"/>
                </a:solidFill>
              </a:rPr>
              <a:t>시스템에 등록된 </a:t>
            </a:r>
            <a:r>
              <a:rPr lang="en-US" altLang="ko-KR" sz="700" b="1" dirty="0">
                <a:solidFill>
                  <a:srgbClr val="FF0000"/>
                </a:solidFill>
              </a:rPr>
              <a:t>VAN </a:t>
            </a:r>
            <a:r>
              <a:rPr lang="ko-KR" altLang="en-US" sz="700" b="1" dirty="0">
                <a:solidFill>
                  <a:srgbClr val="FF0000"/>
                </a:solidFill>
              </a:rPr>
              <a:t>사업자 명 표시 처리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ko-KR" altLang="en-US" sz="700" b="1" dirty="0">
                <a:solidFill>
                  <a:srgbClr val="FF0000"/>
                </a:solidFill>
              </a:rPr>
              <a:t>전자세금계산서 구분 </a:t>
            </a:r>
            <a:r>
              <a:rPr lang="en-US" altLang="ko-KR" sz="700" b="1" dirty="0">
                <a:solidFill>
                  <a:srgbClr val="FF0000"/>
                </a:solidFill>
              </a:rPr>
              <a:t>-&gt;</a:t>
            </a:r>
          </a:p>
          <a:p>
            <a:r>
              <a:rPr lang="ko-KR" altLang="en-US" sz="700" b="1" dirty="0">
                <a:solidFill>
                  <a:srgbClr val="FF0000"/>
                </a:solidFill>
              </a:rPr>
              <a:t>전자세금계산서 발송여부 </a:t>
            </a:r>
            <a:endParaRPr lang="en-US" altLang="ko-KR" sz="700" b="1" dirty="0">
              <a:solidFill>
                <a:srgbClr val="FF0000"/>
              </a:solidFill>
            </a:endParaRPr>
          </a:p>
        </p:txBody>
      </p:sp>
      <p:sp>
        <p:nvSpPr>
          <p:cNvPr id="170" name="타원 169"/>
          <p:cNvSpPr/>
          <p:nvPr/>
        </p:nvSpPr>
        <p:spPr>
          <a:xfrm>
            <a:off x="11800341" y="5732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1-2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173" name="타원 172"/>
          <p:cNvSpPr/>
          <p:nvPr/>
        </p:nvSpPr>
        <p:spPr>
          <a:xfrm>
            <a:off x="10298138" y="54868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1-1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196" name="타원 195"/>
          <p:cNvSpPr/>
          <p:nvPr/>
        </p:nvSpPr>
        <p:spPr>
          <a:xfrm>
            <a:off x="10324143" y="175069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1-7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graphicFrame>
        <p:nvGraphicFramePr>
          <p:cNvPr id="207" name="표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70048"/>
              </p:ext>
            </p:extLst>
          </p:nvPr>
        </p:nvGraphicFramePr>
        <p:xfrm>
          <a:off x="287784" y="2284773"/>
          <a:ext cx="4531936" cy="414045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5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1201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국내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215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부가세예수금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218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부가세예수금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수익계정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해외미수금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1202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해외수익계정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(AO)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항공수출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해외수익계정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(AI)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  <a:p>
                      <a:pPr algn="l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4112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항공수입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해외수익계정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(SO)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  <a:p>
                      <a:pPr algn="l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4113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해상수출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해외수익계정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(SI)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  <a:p>
                      <a:pPr algn="l" latinLnBrk="1"/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환차익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715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외환차익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2" name="표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242597"/>
              </p:ext>
            </p:extLst>
          </p:nvPr>
        </p:nvGraphicFramePr>
        <p:xfrm>
          <a:off x="5116888" y="2284773"/>
          <a:ext cx="4531936" cy="414045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2121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국내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123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부가세대급금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129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부가세대급금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비용계정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해외미지급금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2122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미지급금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해외비용계정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(AO)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항공수출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해외비용계정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(AI)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5112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항공수입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해외비용계정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(SO)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5113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해상수출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해외비용계정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(SI)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환차손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815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외환차손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3" name="모서리가 둥근 직사각형 222"/>
          <p:cNvSpPr/>
          <p:nvPr/>
        </p:nvSpPr>
        <p:spPr>
          <a:xfrm>
            <a:off x="287784" y="2092393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</a:rPr>
              <a:t>매출계정</a:t>
            </a: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5119876" y="2090647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</a:rPr>
              <a:t>매입계정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155008" y="1844824"/>
            <a:ext cx="1112810" cy="18792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</a:rPr>
              <a:t>포워더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1271097" y="1883555"/>
            <a:ext cx="1007248" cy="1380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통관정산</a:t>
            </a:r>
          </a:p>
        </p:txBody>
      </p:sp>
      <p:sp>
        <p:nvSpPr>
          <p:cNvPr id="229" name="직사각형 228"/>
          <p:cNvSpPr/>
          <p:nvPr/>
        </p:nvSpPr>
        <p:spPr>
          <a:xfrm>
            <a:off x="2270049" y="1883555"/>
            <a:ext cx="657232" cy="13073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운송정산</a:t>
            </a:r>
          </a:p>
        </p:txBody>
      </p:sp>
      <p:pic>
        <p:nvPicPr>
          <p:cNvPr id="230" name="그림 2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280" y="2703619"/>
            <a:ext cx="307230" cy="293264"/>
          </a:xfrm>
          <a:prstGeom prst="rect">
            <a:avLst/>
          </a:prstGeom>
        </p:spPr>
      </p:pic>
      <p:pic>
        <p:nvPicPr>
          <p:cNvPr id="232" name="그림 2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008" y="3080593"/>
            <a:ext cx="307230" cy="293264"/>
          </a:xfrm>
          <a:prstGeom prst="rect">
            <a:avLst/>
          </a:prstGeom>
        </p:spPr>
      </p:pic>
      <p:pic>
        <p:nvPicPr>
          <p:cNvPr id="233" name="그림 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008" y="3465074"/>
            <a:ext cx="307230" cy="293264"/>
          </a:xfrm>
          <a:prstGeom prst="rect">
            <a:avLst/>
          </a:prstGeom>
        </p:spPr>
      </p:pic>
      <p:pic>
        <p:nvPicPr>
          <p:cNvPr id="234" name="그림 2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42" y="3838813"/>
            <a:ext cx="307230" cy="293264"/>
          </a:xfrm>
          <a:prstGeom prst="rect">
            <a:avLst/>
          </a:prstGeom>
        </p:spPr>
      </p:pic>
      <p:pic>
        <p:nvPicPr>
          <p:cNvPr id="235" name="그림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42" y="4207320"/>
            <a:ext cx="307230" cy="293264"/>
          </a:xfrm>
          <a:prstGeom prst="rect">
            <a:avLst/>
          </a:prstGeom>
        </p:spPr>
      </p:pic>
      <p:pic>
        <p:nvPicPr>
          <p:cNvPr id="236" name="그림 2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008" y="4584294"/>
            <a:ext cx="307230" cy="293264"/>
          </a:xfrm>
          <a:prstGeom prst="rect">
            <a:avLst/>
          </a:prstGeom>
        </p:spPr>
      </p:pic>
      <p:pic>
        <p:nvPicPr>
          <p:cNvPr id="237" name="그림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42" y="4961268"/>
            <a:ext cx="307230" cy="293264"/>
          </a:xfrm>
          <a:prstGeom prst="rect">
            <a:avLst/>
          </a:prstGeom>
        </p:spPr>
      </p:pic>
      <p:pic>
        <p:nvPicPr>
          <p:cNvPr id="238" name="그림 2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409" y="5345749"/>
            <a:ext cx="307230" cy="293264"/>
          </a:xfrm>
          <a:prstGeom prst="rect">
            <a:avLst/>
          </a:prstGeom>
        </p:spPr>
      </p:pic>
      <p:pic>
        <p:nvPicPr>
          <p:cNvPr id="239" name="그림 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214" y="5711021"/>
            <a:ext cx="307230" cy="293264"/>
          </a:xfrm>
          <a:prstGeom prst="rect">
            <a:avLst/>
          </a:prstGeom>
        </p:spPr>
      </p:pic>
      <p:pic>
        <p:nvPicPr>
          <p:cNvPr id="241" name="그림 2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950" y="6096462"/>
            <a:ext cx="307230" cy="293264"/>
          </a:xfrm>
          <a:prstGeom prst="rect">
            <a:avLst/>
          </a:prstGeom>
        </p:spPr>
      </p:pic>
      <p:pic>
        <p:nvPicPr>
          <p:cNvPr id="242" name="그림 2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544" y="2703619"/>
            <a:ext cx="307230" cy="293264"/>
          </a:xfrm>
          <a:prstGeom prst="rect">
            <a:avLst/>
          </a:prstGeom>
        </p:spPr>
      </p:pic>
      <p:pic>
        <p:nvPicPr>
          <p:cNvPr id="243" name="그림 2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72" y="3080593"/>
            <a:ext cx="307230" cy="293264"/>
          </a:xfrm>
          <a:prstGeom prst="rect">
            <a:avLst/>
          </a:prstGeom>
        </p:spPr>
      </p:pic>
      <p:pic>
        <p:nvPicPr>
          <p:cNvPr id="244" name="그림 2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72" y="3465074"/>
            <a:ext cx="307230" cy="293264"/>
          </a:xfrm>
          <a:prstGeom prst="rect">
            <a:avLst/>
          </a:prstGeom>
        </p:spPr>
      </p:pic>
      <p:pic>
        <p:nvPicPr>
          <p:cNvPr id="245" name="그림 2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206" y="3838813"/>
            <a:ext cx="307230" cy="293264"/>
          </a:xfrm>
          <a:prstGeom prst="rect">
            <a:avLst/>
          </a:prstGeom>
        </p:spPr>
      </p:pic>
      <p:pic>
        <p:nvPicPr>
          <p:cNvPr id="246" name="그림 2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206" y="4207320"/>
            <a:ext cx="307230" cy="293264"/>
          </a:xfrm>
          <a:prstGeom prst="rect">
            <a:avLst/>
          </a:prstGeom>
        </p:spPr>
      </p:pic>
      <p:pic>
        <p:nvPicPr>
          <p:cNvPr id="247" name="그림 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72" y="4584294"/>
            <a:ext cx="307230" cy="293264"/>
          </a:xfrm>
          <a:prstGeom prst="rect">
            <a:avLst/>
          </a:prstGeom>
        </p:spPr>
      </p:pic>
      <p:pic>
        <p:nvPicPr>
          <p:cNvPr id="248" name="그림 2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206" y="4961268"/>
            <a:ext cx="307230" cy="293264"/>
          </a:xfrm>
          <a:prstGeom prst="rect">
            <a:avLst/>
          </a:prstGeom>
        </p:spPr>
      </p:pic>
      <p:pic>
        <p:nvPicPr>
          <p:cNvPr id="250" name="그림 2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73" y="5345749"/>
            <a:ext cx="307230" cy="293264"/>
          </a:xfrm>
          <a:prstGeom prst="rect">
            <a:avLst/>
          </a:prstGeom>
        </p:spPr>
      </p:pic>
      <p:pic>
        <p:nvPicPr>
          <p:cNvPr id="251" name="그림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478" y="5711021"/>
            <a:ext cx="307230" cy="293264"/>
          </a:xfrm>
          <a:prstGeom prst="rect">
            <a:avLst/>
          </a:prstGeom>
        </p:spPr>
      </p:pic>
      <p:pic>
        <p:nvPicPr>
          <p:cNvPr id="254" name="그림 2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214" y="6096462"/>
            <a:ext cx="307230" cy="293264"/>
          </a:xfrm>
          <a:prstGeom prst="rect">
            <a:avLst/>
          </a:prstGeom>
        </p:spPr>
      </p:pic>
      <p:sp>
        <p:nvSpPr>
          <p:cNvPr id="255" name="타원 254"/>
          <p:cNvSpPr/>
          <p:nvPr/>
        </p:nvSpPr>
        <p:spPr>
          <a:xfrm>
            <a:off x="-167037" y="1707461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638707" y="2259516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2-1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1871960" y="2265703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2-2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259" name="직사각형 258"/>
          <p:cNvSpPr/>
          <p:nvPr/>
        </p:nvSpPr>
        <p:spPr>
          <a:xfrm>
            <a:off x="3472420" y="2257236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2-3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163578" y="1124744"/>
            <a:ext cx="9773278" cy="48413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268" name="타원 267"/>
          <p:cNvSpPr/>
          <p:nvPr/>
        </p:nvSpPr>
        <p:spPr>
          <a:xfrm>
            <a:off x="-172244" y="736694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1625211" y="1261548"/>
            <a:ext cx="894821" cy="247867"/>
            <a:chOff x="689107" y="1278482"/>
            <a:chExt cx="676120" cy="171760"/>
          </a:xfrm>
        </p:grpSpPr>
        <p:sp>
          <p:nvSpPr>
            <p:cNvPr id="76" name="직사각형 75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 err="1">
                  <a:solidFill>
                    <a:schemeClr val="tx1"/>
                  </a:solidFill>
                </a:rPr>
                <a:t>엔컴회계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78" name="모서리가 둥근 직사각형 77"/>
          <p:cNvSpPr/>
          <p:nvPr/>
        </p:nvSpPr>
        <p:spPr>
          <a:xfrm>
            <a:off x="163578" y="1124744"/>
            <a:ext cx="9773278" cy="48413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217500" y="1262318"/>
            <a:ext cx="696558" cy="247867"/>
            <a:chOff x="689107" y="1278482"/>
            <a:chExt cx="676120" cy="171760"/>
          </a:xfrm>
        </p:grpSpPr>
        <p:sp>
          <p:nvSpPr>
            <p:cNvPr id="80" name="직사각형 79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81" name="직사각형 80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82" name="직사각형 81"/>
          <p:cNvSpPr/>
          <p:nvPr/>
        </p:nvSpPr>
        <p:spPr>
          <a:xfrm>
            <a:off x="489420" y="1261548"/>
            <a:ext cx="1022500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회계 프로그램 구분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2871930" y="1268760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회계 계정 반제 사용여부</a:t>
            </a:r>
          </a:p>
        </p:txBody>
      </p:sp>
      <p:sp>
        <p:nvSpPr>
          <p:cNvPr id="84" name="도넛 83"/>
          <p:cNvSpPr/>
          <p:nvPr/>
        </p:nvSpPr>
        <p:spPr>
          <a:xfrm>
            <a:off x="307594" y="1308030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5" name="도넛 84"/>
          <p:cNvSpPr/>
          <p:nvPr/>
        </p:nvSpPr>
        <p:spPr>
          <a:xfrm>
            <a:off x="2664048" y="1312948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04917" y="112892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1-1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3312120" y="1148182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1-2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6737779" y="1256906"/>
            <a:ext cx="625987" cy="247867"/>
            <a:chOff x="689107" y="1278482"/>
            <a:chExt cx="676120" cy="171760"/>
          </a:xfrm>
        </p:grpSpPr>
        <p:sp>
          <p:nvSpPr>
            <p:cNvPr id="89" name="직사각형 88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90" name="직사각형 89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5392210" y="1263348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매출계정 이관여부</a:t>
            </a:r>
          </a:p>
        </p:txBody>
      </p:sp>
      <p:sp>
        <p:nvSpPr>
          <p:cNvPr id="92" name="도넛 91"/>
          <p:cNvSpPr/>
          <p:nvPr/>
        </p:nvSpPr>
        <p:spPr>
          <a:xfrm>
            <a:off x="5184328" y="1307536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904408" y="1142770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1-3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9114043" y="1256844"/>
            <a:ext cx="606789" cy="247867"/>
            <a:chOff x="689107" y="1278482"/>
            <a:chExt cx="676120" cy="171760"/>
          </a:xfrm>
        </p:grpSpPr>
        <p:sp>
          <p:nvSpPr>
            <p:cNvPr id="95" name="직사각형 94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96" name="직사각형 95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97" name="직사각형 96"/>
          <p:cNvSpPr/>
          <p:nvPr/>
        </p:nvSpPr>
        <p:spPr>
          <a:xfrm>
            <a:off x="7768474" y="1263286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매입계정 이관여부</a:t>
            </a:r>
          </a:p>
        </p:txBody>
      </p:sp>
      <p:sp>
        <p:nvSpPr>
          <p:cNvPr id="98" name="도넛 97"/>
          <p:cNvSpPr/>
          <p:nvPr/>
        </p:nvSpPr>
        <p:spPr>
          <a:xfrm>
            <a:off x="7560592" y="1307474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8280672" y="114270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1-4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10629527" y="1133797"/>
            <a:ext cx="900228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사용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11415238" y="1133798"/>
            <a:ext cx="11438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2" name="직사각형 101"/>
          <p:cNvSpPr/>
          <p:nvPr/>
        </p:nvSpPr>
        <p:spPr bwMode="auto">
          <a:xfrm>
            <a:off x="10630887" y="1302668"/>
            <a:ext cx="89874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미사용</a:t>
            </a:r>
          </a:p>
        </p:txBody>
      </p:sp>
      <p:sp>
        <p:nvSpPr>
          <p:cNvPr id="103" name="타원 102"/>
          <p:cNvSpPr/>
          <p:nvPr/>
        </p:nvSpPr>
        <p:spPr>
          <a:xfrm>
            <a:off x="10296896" y="108267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1-3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108" name="직사각형 107"/>
          <p:cNvSpPr/>
          <p:nvPr/>
        </p:nvSpPr>
        <p:spPr bwMode="auto">
          <a:xfrm>
            <a:off x="12123017" y="1103859"/>
            <a:ext cx="900228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사용</a:t>
            </a:r>
          </a:p>
        </p:txBody>
      </p:sp>
      <p:sp>
        <p:nvSpPr>
          <p:cNvPr id="109" name="직사각형 108"/>
          <p:cNvSpPr/>
          <p:nvPr/>
        </p:nvSpPr>
        <p:spPr bwMode="auto">
          <a:xfrm>
            <a:off x="12908728" y="1103860"/>
            <a:ext cx="11438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0" name="직사각형 109"/>
          <p:cNvSpPr/>
          <p:nvPr/>
        </p:nvSpPr>
        <p:spPr bwMode="auto">
          <a:xfrm>
            <a:off x="12124377" y="1272730"/>
            <a:ext cx="89874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</a:rPr>
              <a:t>미사용</a:t>
            </a:r>
          </a:p>
        </p:txBody>
      </p:sp>
      <p:sp>
        <p:nvSpPr>
          <p:cNvPr id="111" name="타원 110"/>
          <p:cNvSpPr/>
          <p:nvPr/>
        </p:nvSpPr>
        <p:spPr>
          <a:xfrm>
            <a:off x="11790386" y="105273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1-4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96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174181" y="1988840"/>
            <a:ext cx="9773278" cy="28803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3768" y="2088610"/>
            <a:ext cx="9799471" cy="2492518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292877" y="1728911"/>
            <a:ext cx="1000860" cy="18792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통관정산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83509" y="1767642"/>
            <a:ext cx="1112400" cy="1491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</a:rPr>
              <a:t>포워더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295966" y="1767642"/>
            <a:ext cx="657232" cy="1491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운송정산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256448"/>
              </p:ext>
            </p:extLst>
          </p:nvPr>
        </p:nvGraphicFramePr>
        <p:xfrm>
          <a:off x="287784" y="2398990"/>
          <a:ext cx="4531936" cy="18820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5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1201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국내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215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부가세예수금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218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부가세예수금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수익계정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091559"/>
              </p:ext>
            </p:extLst>
          </p:nvPr>
        </p:nvGraphicFramePr>
        <p:xfrm>
          <a:off x="5116888" y="2398990"/>
          <a:ext cx="4531936" cy="18820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2121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국내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123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부가세대급금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129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부가세대급금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비용계정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모서리가 둥근 직사각형 31"/>
          <p:cNvSpPr/>
          <p:nvPr/>
        </p:nvSpPr>
        <p:spPr>
          <a:xfrm>
            <a:off x="287784" y="2206610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</a:rPr>
              <a:t>매출계정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119876" y="2204864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</a:rPr>
              <a:t>매입계정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80" y="2817836"/>
            <a:ext cx="307230" cy="293264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08" y="3194810"/>
            <a:ext cx="307230" cy="293264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08" y="3579291"/>
            <a:ext cx="307230" cy="29326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42" y="3953030"/>
            <a:ext cx="307230" cy="29326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544" y="2817836"/>
            <a:ext cx="307230" cy="293264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272" y="3194810"/>
            <a:ext cx="307230" cy="293264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272" y="3579291"/>
            <a:ext cx="307230" cy="293264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206" y="3953030"/>
            <a:ext cx="307230" cy="293264"/>
          </a:xfrm>
          <a:prstGeom prst="rect">
            <a:avLst/>
          </a:prstGeom>
        </p:spPr>
      </p:pic>
      <p:sp>
        <p:nvSpPr>
          <p:cNvPr id="54" name="직사각형 53"/>
          <p:cNvSpPr/>
          <p:nvPr/>
        </p:nvSpPr>
        <p:spPr>
          <a:xfrm>
            <a:off x="638707" y="2373733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2-1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871960" y="2379920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2-2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472420" y="2371453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2-3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49" name="직사각형 1"/>
          <p:cNvSpPr>
            <a:spLocks noChangeArrowheads="1"/>
          </p:cNvSpPr>
          <p:nvPr/>
        </p:nvSpPr>
        <p:spPr bwMode="auto">
          <a:xfrm>
            <a:off x="-3060742" y="260648"/>
            <a:ext cx="280846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개요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통관정산 매출 및 매입 데이터를 기준으로 매출세금계산서 및 매입세금계산서 등록 데이터를 기준으로 회계프로그램으로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세금계산서 데이터 품목 운임코드와 계정과목을 연계하여 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이관설정 관리 화면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이관설정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구분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연동 선택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회계프로그램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연동처리시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선택증가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계정 반제 사용 여부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 계정과 처리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계정를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 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미연동시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0000"/>
                </a:solidFill>
                <a:latin typeface="Rix고딕 M"/>
                <a:ea typeface="Rix고딕 M"/>
              </a:rPr>
              <a:t>⁂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Check</a:t>
            </a:r>
          </a:p>
          <a:p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2-1, 2-3 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불가능처리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Rectangle 91"/>
          <p:cNvSpPr>
            <a:spLocks noChangeArrowheads="1"/>
          </p:cNvSpPr>
          <p:nvPr/>
        </p:nvSpPr>
        <p:spPr bwMode="auto">
          <a:xfrm>
            <a:off x="-3147836" y="44624"/>
            <a:ext cx="2969664" cy="19957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>
              <a:solidFill>
                <a:srgbClr val="FFFFFF"/>
              </a:solidFill>
              <a:latin typeface="굴림" charset="-127"/>
            </a:endParaRPr>
          </a:p>
        </p:txBody>
      </p:sp>
      <p:sp>
        <p:nvSpPr>
          <p:cNvPr id="51" name="Text Box 92"/>
          <p:cNvSpPr txBox="1">
            <a:spLocks noChangeArrowheads="1"/>
          </p:cNvSpPr>
          <p:nvPr/>
        </p:nvSpPr>
        <p:spPr bwMode="auto">
          <a:xfrm>
            <a:off x="-3060742" y="68437"/>
            <a:ext cx="2324631" cy="159462"/>
          </a:xfrm>
          <a:prstGeom prst="rect">
            <a:avLst/>
          </a:prstGeom>
          <a:noFill/>
          <a:ln>
            <a:noFill/>
          </a:ln>
        </p:spPr>
        <p:txBody>
          <a:bodyPr wrap="square"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52" name="Rectangle 93"/>
          <p:cNvSpPr>
            <a:spLocks noChangeArrowheads="1"/>
          </p:cNvSpPr>
          <p:nvPr/>
        </p:nvSpPr>
        <p:spPr bwMode="auto">
          <a:xfrm>
            <a:off x="-3132596" y="5841268"/>
            <a:ext cx="2954423" cy="19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altLang="ko-KR" b="1" dirty="0">
                <a:solidFill>
                  <a:srgbClr val="000000"/>
                </a:solidFill>
              </a:rPr>
              <a:t>Additional comments (</a:t>
            </a:r>
            <a:r>
              <a:rPr lang="ko-KR" altLang="en-US" b="1" dirty="0">
                <a:solidFill>
                  <a:srgbClr val="000000"/>
                </a:solidFill>
              </a:rPr>
              <a:t>추가설명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en-US" altLang="ko-KR" b="1" dirty="0">
              <a:solidFill>
                <a:srgbClr val="FFFFFF"/>
              </a:solidFill>
              <a:latin typeface="굴림" charset="-127"/>
              <a:cs typeface="Times New Roman" pitchFamily="18" charset="0"/>
            </a:endParaRPr>
          </a:p>
        </p:txBody>
      </p:sp>
      <p:sp>
        <p:nvSpPr>
          <p:cNvPr id="53" name="Rectangle 60"/>
          <p:cNvSpPr>
            <a:spLocks noChangeArrowheads="1"/>
          </p:cNvSpPr>
          <p:nvPr/>
        </p:nvSpPr>
        <p:spPr bwMode="auto">
          <a:xfrm>
            <a:off x="-3132596" y="244197"/>
            <a:ext cx="2954424" cy="6497171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69" name="직사각형 1"/>
          <p:cNvSpPr>
            <a:spLocks noChangeArrowheads="1"/>
          </p:cNvSpPr>
          <p:nvPr/>
        </p:nvSpPr>
        <p:spPr bwMode="auto">
          <a:xfrm>
            <a:off x="-3080774" y="6060766"/>
            <a:ext cx="28084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반제 </a:t>
            </a:r>
            <a:endParaRPr lang="en-US" altLang="ko-KR" b="1" dirty="0">
              <a:solidFill>
                <a:srgbClr val="FF0000"/>
              </a:solidFill>
              <a:latin typeface="Rix고딕 M"/>
              <a:ea typeface="Rix고딕 M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예를 들어 매출세금계산서를 발행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완료후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발생계정 또는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발생데이타라고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하면 추후 입금처리가 완료가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된후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부분입금 포함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입금처리 데이터를 처리 계정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처리데이터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라고 부르며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과 처리계정을 연동시킨다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. 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65627" y="880077"/>
            <a:ext cx="9777611" cy="172659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FFFF"/>
                </a:solidFill>
              </a:rPr>
              <a:t>회계 이관 설정</a:t>
            </a:r>
          </a:p>
        </p:txBody>
      </p:sp>
      <p:sp>
        <p:nvSpPr>
          <p:cNvPr id="71" name="모서리가 둥근 직사각형 70"/>
          <p:cNvSpPr/>
          <p:nvPr/>
        </p:nvSpPr>
        <p:spPr>
          <a:xfrm>
            <a:off x="163578" y="1124744"/>
            <a:ext cx="9773278" cy="48413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1625211" y="1261548"/>
            <a:ext cx="894821" cy="247867"/>
            <a:chOff x="689107" y="1278482"/>
            <a:chExt cx="676120" cy="171760"/>
          </a:xfrm>
        </p:grpSpPr>
        <p:sp>
          <p:nvSpPr>
            <p:cNvPr id="73" name="직사각형 72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 err="1">
                  <a:solidFill>
                    <a:schemeClr val="tx1"/>
                  </a:solidFill>
                </a:rPr>
                <a:t>엔컴회계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75" name="모서리가 둥근 직사각형 74"/>
          <p:cNvSpPr/>
          <p:nvPr/>
        </p:nvSpPr>
        <p:spPr>
          <a:xfrm>
            <a:off x="163578" y="1124744"/>
            <a:ext cx="9773278" cy="48413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4217500" y="1262318"/>
            <a:ext cx="696558" cy="247867"/>
            <a:chOff x="689107" y="1278482"/>
            <a:chExt cx="676120" cy="171760"/>
          </a:xfrm>
        </p:grpSpPr>
        <p:sp>
          <p:nvSpPr>
            <p:cNvPr id="77" name="직사각형 76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78" name="직사각형 77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79" name="직사각형 78"/>
          <p:cNvSpPr/>
          <p:nvPr/>
        </p:nvSpPr>
        <p:spPr>
          <a:xfrm>
            <a:off x="489420" y="1261548"/>
            <a:ext cx="1022500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회계 프로그램 구분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2871930" y="1268760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회계 계정 반제 사용여부</a:t>
            </a:r>
          </a:p>
        </p:txBody>
      </p:sp>
      <p:sp>
        <p:nvSpPr>
          <p:cNvPr id="81" name="도넛 80"/>
          <p:cNvSpPr/>
          <p:nvPr/>
        </p:nvSpPr>
        <p:spPr>
          <a:xfrm>
            <a:off x="307594" y="1308030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2" name="도넛 81"/>
          <p:cNvSpPr/>
          <p:nvPr/>
        </p:nvSpPr>
        <p:spPr>
          <a:xfrm>
            <a:off x="2664048" y="1312948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04917" y="112892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1-1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3312120" y="1148182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1-2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6737779" y="1256906"/>
            <a:ext cx="625987" cy="247867"/>
            <a:chOff x="689107" y="1278482"/>
            <a:chExt cx="676120" cy="171760"/>
          </a:xfrm>
        </p:grpSpPr>
        <p:sp>
          <p:nvSpPr>
            <p:cNvPr id="86" name="직사각형 85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87" name="직사각형 86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5392210" y="1263348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매출계정 이관여부</a:t>
            </a:r>
          </a:p>
        </p:txBody>
      </p:sp>
      <p:sp>
        <p:nvSpPr>
          <p:cNvPr id="89" name="도넛 88"/>
          <p:cNvSpPr/>
          <p:nvPr/>
        </p:nvSpPr>
        <p:spPr>
          <a:xfrm>
            <a:off x="5184328" y="1307536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904408" y="1142770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1-3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9114043" y="1256844"/>
            <a:ext cx="606789" cy="247867"/>
            <a:chOff x="689107" y="1278482"/>
            <a:chExt cx="676120" cy="171760"/>
          </a:xfrm>
        </p:grpSpPr>
        <p:sp>
          <p:nvSpPr>
            <p:cNvPr id="92" name="직사각형 91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93" name="직사각형 92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94" name="직사각형 93"/>
          <p:cNvSpPr/>
          <p:nvPr/>
        </p:nvSpPr>
        <p:spPr>
          <a:xfrm>
            <a:off x="7768474" y="1263286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매입계정 이관여부</a:t>
            </a:r>
          </a:p>
        </p:txBody>
      </p:sp>
      <p:sp>
        <p:nvSpPr>
          <p:cNvPr id="95" name="도넛 94"/>
          <p:cNvSpPr/>
          <p:nvPr/>
        </p:nvSpPr>
        <p:spPr>
          <a:xfrm>
            <a:off x="7560592" y="1307474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8280672" y="114270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1-4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5808681" y="44624"/>
            <a:ext cx="2255967" cy="251463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/>
              <a:t>회계 이관설정</a:t>
            </a:r>
            <a:r>
              <a:rPr lang="en-US" altLang="ko-KR" sz="1100" dirty="0"/>
              <a:t>(2/3)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65932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174181" y="2276872"/>
            <a:ext cx="9773278" cy="28803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3768" y="2420888"/>
            <a:ext cx="9799471" cy="2448272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316784" y="1988840"/>
            <a:ext cx="1000860" cy="18792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운송정산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83509" y="2027571"/>
            <a:ext cx="1112400" cy="1491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</a:rPr>
              <a:t>포워더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295896" y="2027571"/>
            <a:ext cx="1015364" cy="1491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</a:rPr>
              <a:t>통관정산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aphicFrame>
        <p:nvGraphicFramePr>
          <p:cNvPr id="84" name="표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344544"/>
              </p:ext>
            </p:extLst>
          </p:nvPr>
        </p:nvGraphicFramePr>
        <p:xfrm>
          <a:off x="287784" y="2687022"/>
          <a:ext cx="4531936" cy="18820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5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1201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미수금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국내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215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부가세예수금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218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부가세예수금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수익계정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4114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운송수익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5" name="표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287658"/>
              </p:ext>
            </p:extLst>
          </p:nvPr>
        </p:nvGraphicFramePr>
        <p:xfrm>
          <a:off x="5116888" y="2687022"/>
          <a:ext cx="4531936" cy="18820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계정과목이름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2121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미지급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국내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123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선급금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부가세대급금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129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2"/>
                          </a:solidFill>
                        </a:rPr>
                        <a:t>부가세대급금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159890"/>
                  </a:ext>
                </a:extLst>
              </a:tr>
              <a:tr h="3764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비용계정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5114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운송원가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2"/>
                          </a:solidFill>
                        </a:rPr>
                        <a:t>해상수입</a:t>
                      </a:r>
                      <a:r>
                        <a:rPr lang="en-US" altLang="ko-KR" sz="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" name="모서리가 둥근 직사각형 85"/>
          <p:cNvSpPr/>
          <p:nvPr/>
        </p:nvSpPr>
        <p:spPr>
          <a:xfrm>
            <a:off x="287784" y="2494642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</a:rPr>
              <a:t>매출계정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5119876" y="2492896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</a:rPr>
              <a:t>매입계정</a:t>
            </a:r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80" y="3105868"/>
            <a:ext cx="307230" cy="293264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08" y="3482842"/>
            <a:ext cx="307230" cy="293264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08" y="3867323"/>
            <a:ext cx="307230" cy="293264"/>
          </a:xfrm>
          <a:prstGeom prst="rect">
            <a:avLst/>
          </a:prstGeom>
        </p:spPr>
      </p:pic>
      <p:pic>
        <p:nvPicPr>
          <p:cNvPr id="91" name="그림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42" y="4241062"/>
            <a:ext cx="307230" cy="293264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544" y="3105868"/>
            <a:ext cx="307230" cy="293264"/>
          </a:xfrm>
          <a:prstGeom prst="rect">
            <a:avLst/>
          </a:prstGeom>
        </p:spPr>
      </p:pic>
      <p:pic>
        <p:nvPicPr>
          <p:cNvPr id="93" name="그림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272" y="3482842"/>
            <a:ext cx="307230" cy="293264"/>
          </a:xfrm>
          <a:prstGeom prst="rect">
            <a:avLst/>
          </a:prstGeom>
        </p:spPr>
      </p:pic>
      <p:pic>
        <p:nvPicPr>
          <p:cNvPr id="94" name="그림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272" y="3867323"/>
            <a:ext cx="307230" cy="293264"/>
          </a:xfrm>
          <a:prstGeom prst="rect">
            <a:avLst/>
          </a:prstGeom>
        </p:spPr>
      </p:pic>
      <p:pic>
        <p:nvPicPr>
          <p:cNvPr id="95" name="그림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206" y="4241062"/>
            <a:ext cx="307230" cy="293264"/>
          </a:xfrm>
          <a:prstGeom prst="rect">
            <a:avLst/>
          </a:prstGeom>
        </p:spPr>
      </p:pic>
      <p:sp>
        <p:nvSpPr>
          <p:cNvPr id="96" name="직사각형 95"/>
          <p:cNvSpPr/>
          <p:nvPr/>
        </p:nvSpPr>
        <p:spPr>
          <a:xfrm>
            <a:off x="638707" y="2661765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2-1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871960" y="2667952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2-2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3472420" y="2659485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FFC000"/>
                </a:solidFill>
              </a:rPr>
              <a:t>2-3</a:t>
            </a:r>
            <a:endParaRPr lang="ko-KR" altLang="en-US" sz="900" b="1" dirty="0" err="1">
              <a:solidFill>
                <a:srgbClr val="FFC000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165627" y="880077"/>
            <a:ext cx="9777611" cy="172659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FFFF"/>
                </a:solidFill>
              </a:rPr>
              <a:t>회계 이관 설정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63578" y="1124744"/>
            <a:ext cx="9773278" cy="48413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1625211" y="1261548"/>
            <a:ext cx="894821" cy="247867"/>
            <a:chOff x="689107" y="1278482"/>
            <a:chExt cx="676120" cy="171760"/>
          </a:xfrm>
        </p:grpSpPr>
        <p:sp>
          <p:nvSpPr>
            <p:cNvPr id="28" name="직사각형 27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 err="1">
                  <a:solidFill>
                    <a:schemeClr val="tx1"/>
                  </a:solidFill>
                </a:rPr>
                <a:t>엔컴회계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30" name="모서리가 둥근 직사각형 29"/>
          <p:cNvSpPr/>
          <p:nvPr/>
        </p:nvSpPr>
        <p:spPr>
          <a:xfrm>
            <a:off x="163578" y="1124744"/>
            <a:ext cx="9773278" cy="484137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rgbClr val="000000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4217500" y="1262318"/>
            <a:ext cx="696558" cy="247867"/>
            <a:chOff x="689107" y="1278482"/>
            <a:chExt cx="676120" cy="171760"/>
          </a:xfrm>
        </p:grpSpPr>
        <p:sp>
          <p:nvSpPr>
            <p:cNvPr id="32" name="직사각형 31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489420" y="1261548"/>
            <a:ext cx="1022500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회계 프로그램 구분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2871930" y="1268760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회계 계정 반제 사용여부</a:t>
            </a:r>
          </a:p>
        </p:txBody>
      </p:sp>
      <p:sp>
        <p:nvSpPr>
          <p:cNvPr id="36" name="도넛 35"/>
          <p:cNvSpPr/>
          <p:nvPr/>
        </p:nvSpPr>
        <p:spPr>
          <a:xfrm>
            <a:off x="307594" y="1308030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7" name="도넛 36"/>
          <p:cNvSpPr/>
          <p:nvPr/>
        </p:nvSpPr>
        <p:spPr>
          <a:xfrm>
            <a:off x="2664048" y="1312948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04917" y="112892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1-1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312120" y="1148182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1-2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6737779" y="1256906"/>
            <a:ext cx="625987" cy="247867"/>
            <a:chOff x="689107" y="1278482"/>
            <a:chExt cx="676120" cy="171760"/>
          </a:xfrm>
        </p:grpSpPr>
        <p:sp>
          <p:nvSpPr>
            <p:cNvPr id="41" name="직사각형 40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42" name="직사각형 41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43" name="직사각형 42"/>
          <p:cNvSpPr/>
          <p:nvPr/>
        </p:nvSpPr>
        <p:spPr>
          <a:xfrm>
            <a:off x="5392210" y="1263348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매출계정 이관여부</a:t>
            </a:r>
          </a:p>
        </p:txBody>
      </p:sp>
      <p:sp>
        <p:nvSpPr>
          <p:cNvPr id="44" name="도넛 43"/>
          <p:cNvSpPr/>
          <p:nvPr/>
        </p:nvSpPr>
        <p:spPr>
          <a:xfrm>
            <a:off x="5184328" y="1307536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904408" y="1142770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1-3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9114043" y="1256844"/>
            <a:ext cx="606789" cy="247867"/>
            <a:chOff x="689107" y="1278482"/>
            <a:chExt cx="676120" cy="171760"/>
          </a:xfrm>
        </p:grpSpPr>
        <p:sp>
          <p:nvSpPr>
            <p:cNvPr id="47" name="직사각형 46"/>
            <p:cNvSpPr/>
            <p:nvPr/>
          </p:nvSpPr>
          <p:spPr bwMode="auto">
            <a:xfrm>
              <a:off x="689107" y="1278482"/>
              <a:ext cx="676120" cy="17176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>
                  <a:solidFill>
                    <a:schemeClr val="tx1"/>
                  </a:solidFill>
                </a:rPr>
                <a:t>사용</a:t>
              </a:r>
            </a:p>
          </p:txBody>
        </p:sp>
        <p:sp>
          <p:nvSpPr>
            <p:cNvPr id="48" name="직사각형 47"/>
            <p:cNvSpPr/>
            <p:nvPr/>
          </p:nvSpPr>
          <p:spPr bwMode="auto">
            <a:xfrm>
              <a:off x="1215421" y="1281640"/>
              <a:ext cx="149553" cy="165577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FFFFFF">
                      <a:lumMod val="50000"/>
                    </a:srgbClr>
                  </a:solidFill>
                </a:rPr>
                <a:t>▼</a:t>
              </a:r>
              <a:endParaRPr lang="ko-KR" altLang="en-US" dirty="0">
                <a:solidFill>
                  <a:srgbClr val="FFFFFF">
                    <a:lumMod val="50000"/>
                  </a:srgbClr>
                </a:solidFill>
              </a:endParaRPr>
            </a:p>
          </p:txBody>
        </p:sp>
      </p:grpSp>
      <p:sp>
        <p:nvSpPr>
          <p:cNvPr id="49" name="직사각형 48"/>
          <p:cNvSpPr/>
          <p:nvPr/>
        </p:nvSpPr>
        <p:spPr>
          <a:xfrm>
            <a:off x="7768474" y="1263286"/>
            <a:ext cx="1232278" cy="24786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rgbClr val="FF0066"/>
                </a:solidFill>
              </a:rPr>
              <a:t>매입계정 이관여부</a:t>
            </a:r>
          </a:p>
        </p:txBody>
      </p:sp>
      <p:sp>
        <p:nvSpPr>
          <p:cNvPr id="50" name="도넛 49"/>
          <p:cNvSpPr/>
          <p:nvPr/>
        </p:nvSpPr>
        <p:spPr>
          <a:xfrm>
            <a:off x="7560592" y="1307474"/>
            <a:ext cx="152098" cy="154902"/>
          </a:xfrm>
          <a:prstGeom prst="donu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280672" y="114270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1-4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52" name="직사각형 1"/>
          <p:cNvSpPr>
            <a:spLocks noChangeArrowheads="1"/>
          </p:cNvSpPr>
          <p:nvPr/>
        </p:nvSpPr>
        <p:spPr bwMode="auto">
          <a:xfrm>
            <a:off x="-3060742" y="260648"/>
            <a:ext cx="280846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개요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운송정산 매출 및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매입데이타에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기준으로 매출세금계산서 및 매입세금계산서 등록 데이터를 기준으로 회계프로그램으로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세금계산서 데이터 품목 운임코드와 계정과목을 연계하여 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이관설정 관리 화면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이관설정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구분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프로그램 연동 선택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회계프로그램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연동처리시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선택증가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계정 반제 사용 여부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 계정과 처리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계정를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연동시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 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미연동시 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 </a:t>
            </a:r>
            <a:r>
              <a:rPr lang="ko-KR" altLang="en-US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매입계정 이관 구분 처리</a:t>
            </a:r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0000"/>
                </a:solidFill>
                <a:latin typeface="Rix고딕 M"/>
                <a:ea typeface="Rix고딕 M"/>
              </a:rPr>
              <a:t>⁂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Check</a:t>
            </a:r>
          </a:p>
          <a:p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2-1, 2-3 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불가능처리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Rectangle 91"/>
          <p:cNvSpPr>
            <a:spLocks noChangeArrowheads="1"/>
          </p:cNvSpPr>
          <p:nvPr/>
        </p:nvSpPr>
        <p:spPr bwMode="auto">
          <a:xfrm>
            <a:off x="-3147836" y="44624"/>
            <a:ext cx="2969664" cy="19957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>
              <a:solidFill>
                <a:srgbClr val="FFFFFF"/>
              </a:solidFill>
              <a:latin typeface="굴림" charset="-127"/>
            </a:endParaRPr>
          </a:p>
        </p:txBody>
      </p:sp>
      <p:sp>
        <p:nvSpPr>
          <p:cNvPr id="54" name="Text Box 92"/>
          <p:cNvSpPr txBox="1">
            <a:spLocks noChangeArrowheads="1"/>
          </p:cNvSpPr>
          <p:nvPr/>
        </p:nvSpPr>
        <p:spPr bwMode="auto">
          <a:xfrm>
            <a:off x="-3060742" y="68437"/>
            <a:ext cx="2324631" cy="159462"/>
          </a:xfrm>
          <a:prstGeom prst="rect">
            <a:avLst/>
          </a:prstGeom>
          <a:noFill/>
          <a:ln>
            <a:noFill/>
          </a:ln>
        </p:spPr>
        <p:txBody>
          <a:bodyPr wrap="square"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55" name="Rectangle 93"/>
          <p:cNvSpPr>
            <a:spLocks noChangeArrowheads="1"/>
          </p:cNvSpPr>
          <p:nvPr/>
        </p:nvSpPr>
        <p:spPr bwMode="auto">
          <a:xfrm>
            <a:off x="-3132596" y="5841268"/>
            <a:ext cx="2954423" cy="197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altLang="ko-KR" b="1" dirty="0">
                <a:solidFill>
                  <a:srgbClr val="000000"/>
                </a:solidFill>
              </a:rPr>
              <a:t>Additional comments (</a:t>
            </a:r>
            <a:r>
              <a:rPr lang="ko-KR" altLang="en-US" b="1" dirty="0">
                <a:solidFill>
                  <a:srgbClr val="000000"/>
                </a:solidFill>
              </a:rPr>
              <a:t>추가설명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en-US" altLang="ko-KR" b="1" dirty="0">
              <a:solidFill>
                <a:srgbClr val="FFFFFF"/>
              </a:solidFill>
              <a:latin typeface="굴림" charset="-127"/>
              <a:cs typeface="Times New Roman" pitchFamily="18" charset="0"/>
            </a:endParaRPr>
          </a:p>
        </p:txBody>
      </p:sp>
      <p:sp>
        <p:nvSpPr>
          <p:cNvPr id="56" name="Rectangle 60"/>
          <p:cNvSpPr>
            <a:spLocks noChangeArrowheads="1"/>
          </p:cNvSpPr>
          <p:nvPr/>
        </p:nvSpPr>
        <p:spPr bwMode="auto">
          <a:xfrm>
            <a:off x="-3132596" y="244197"/>
            <a:ext cx="2954424" cy="6497171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57" name="직사각형 1"/>
          <p:cNvSpPr>
            <a:spLocks noChangeArrowheads="1"/>
          </p:cNvSpPr>
          <p:nvPr/>
        </p:nvSpPr>
        <p:spPr bwMode="auto">
          <a:xfrm>
            <a:off x="-3080774" y="6060766"/>
            <a:ext cx="28084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반제 </a:t>
            </a:r>
            <a:endParaRPr lang="en-US" altLang="ko-KR" b="1" dirty="0">
              <a:solidFill>
                <a:srgbClr val="FF0000"/>
              </a:solidFill>
              <a:latin typeface="Rix고딕 M"/>
              <a:ea typeface="Rix고딕 M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예를 들어 매출세금계산서를 발행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완료후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발생계정 또는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발생데이타라고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 하면 추후 입금처리가 완료가 </a:t>
            </a:r>
            <a:r>
              <a:rPr lang="ko-KR" altLang="en-US" b="1" dirty="0" err="1">
                <a:solidFill>
                  <a:srgbClr val="FF0000"/>
                </a:solidFill>
                <a:latin typeface="Rix고딕 M"/>
                <a:ea typeface="Rix고딕 M"/>
              </a:rPr>
              <a:t>된후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부분입금 포함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입금처리 데이터를 처리 계정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처리데이터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)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라고 부르며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Rix고딕 M"/>
                <a:ea typeface="Rix고딕 M"/>
              </a:rPr>
              <a:t>발생계정 과 처리계정을 연동시킨다</a:t>
            </a:r>
            <a:r>
              <a:rPr lang="en-US" altLang="ko-KR" b="1" dirty="0">
                <a:solidFill>
                  <a:srgbClr val="FF0000"/>
                </a:solidFill>
                <a:latin typeface="Rix고딕 M"/>
                <a:ea typeface="Rix고딕 M"/>
              </a:rPr>
              <a:t>. 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5808681" y="44624"/>
            <a:ext cx="2255967" cy="251463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/>
              <a:t>회계 이관설정</a:t>
            </a:r>
            <a:r>
              <a:rPr lang="en-US" altLang="ko-KR" sz="1100" dirty="0"/>
              <a:t>(3/3)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82403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69557"/>
              </p:ext>
            </p:extLst>
          </p:nvPr>
        </p:nvGraphicFramePr>
        <p:xfrm>
          <a:off x="195737" y="1403566"/>
          <a:ext cx="9729340" cy="11837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77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6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45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회계프로그램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회계반제사용 여부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매출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수기계산서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거래처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No.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이관여부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전자세금계산서 </a:t>
                      </a:r>
                      <a:r>
                        <a:rPr lang="en-US" altLang="ko-KR" sz="700" dirty="0"/>
                        <a:t>VAN </a:t>
                      </a:r>
                      <a:r>
                        <a:rPr lang="ko-KR" altLang="en-US" sz="700" dirty="0"/>
                        <a:t>사업자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/>
                        <a:t>전자세금계산서 구분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입력사원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본</a:t>
                      </a:r>
                      <a:r>
                        <a:rPr lang="en-US" altLang="ko-KR" sz="700" dirty="0"/>
                        <a:t>/</a:t>
                      </a:r>
                      <a:r>
                        <a:rPr lang="ko-KR" altLang="en-US" sz="700" dirty="0"/>
                        <a:t>지사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타원 2"/>
          <p:cNvSpPr/>
          <p:nvPr/>
        </p:nvSpPr>
        <p:spPr>
          <a:xfrm>
            <a:off x="50769" y="1155131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1583928" y="1490153"/>
            <a:ext cx="1836200" cy="227950"/>
            <a:chOff x="1613479" y="1391351"/>
            <a:chExt cx="1836200" cy="227950"/>
          </a:xfrm>
        </p:grpSpPr>
        <p:sp>
          <p:nvSpPr>
            <p:cNvPr id="9" name="직사각형 8"/>
            <p:cNvSpPr/>
            <p:nvPr/>
          </p:nvSpPr>
          <p:spPr bwMode="auto">
            <a:xfrm>
              <a:off x="1613479" y="1420211"/>
              <a:ext cx="796239" cy="18282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800" dirty="0">
                  <a:solidFill>
                    <a:srgbClr val="000000"/>
                  </a:solidFill>
                </a:rPr>
                <a:t>2019-04-01</a:t>
              </a:r>
              <a:endParaRPr lang="ko-KR" altLang="en-US" sz="800" dirty="0">
                <a:solidFill>
                  <a:srgbClr val="00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98021" y="1391351"/>
              <a:ext cx="2265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</a:rPr>
                <a:t>~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2589758" y="1420211"/>
              <a:ext cx="796239" cy="18282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800" dirty="0">
                  <a:solidFill>
                    <a:srgbClr val="000000"/>
                  </a:solidFill>
                </a:rPr>
                <a:t>2019-06-30</a:t>
              </a:r>
              <a:endParaRPr lang="ko-KR" altLang="en-US" sz="800" dirty="0">
                <a:solidFill>
                  <a:srgbClr val="000000"/>
                </a:solidFill>
              </a:endParaRPr>
            </a:p>
          </p:txBody>
        </p:sp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1148" y="1400594"/>
              <a:ext cx="180828" cy="214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8851" y="1404789"/>
              <a:ext cx="180828" cy="214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직사각형 13"/>
          <p:cNvSpPr/>
          <p:nvPr/>
        </p:nvSpPr>
        <p:spPr bwMode="auto">
          <a:xfrm>
            <a:off x="9253032" y="1498414"/>
            <a:ext cx="575812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15" name="직사각형 14"/>
          <p:cNvSpPr/>
          <p:nvPr/>
        </p:nvSpPr>
        <p:spPr bwMode="auto">
          <a:xfrm>
            <a:off x="5120859" y="1515261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5313293" y="1506883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5996916" y="1510383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7416576" y="1507240"/>
            <a:ext cx="988594" cy="2108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매출세금계산서</a:t>
            </a:r>
          </a:p>
        </p:txBody>
      </p:sp>
      <p:sp>
        <p:nvSpPr>
          <p:cNvPr id="19" name="직사각형 18"/>
          <p:cNvSpPr/>
          <p:nvPr/>
        </p:nvSpPr>
        <p:spPr bwMode="auto">
          <a:xfrm>
            <a:off x="8292886" y="1515606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4400261" y="1510614"/>
            <a:ext cx="827786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21" name="직사각형 20"/>
          <p:cNvSpPr/>
          <p:nvPr/>
        </p:nvSpPr>
        <p:spPr bwMode="auto">
          <a:xfrm>
            <a:off x="9714716" y="1505618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1587053" y="1897801"/>
            <a:ext cx="678040" cy="1900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700" dirty="0">
                <a:solidFill>
                  <a:srgbClr val="000000"/>
                </a:solidFill>
              </a:rPr>
              <a:t>거래처코드</a:t>
            </a:r>
          </a:p>
        </p:txBody>
      </p:sp>
      <p:sp>
        <p:nvSpPr>
          <p:cNvPr id="23" name="직사각형 22"/>
          <p:cNvSpPr/>
          <p:nvPr/>
        </p:nvSpPr>
        <p:spPr bwMode="auto">
          <a:xfrm>
            <a:off x="2526605" y="1905822"/>
            <a:ext cx="1142444" cy="181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한글상호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691" y="1923044"/>
            <a:ext cx="177132" cy="169080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 bwMode="auto">
          <a:xfrm>
            <a:off x="4392240" y="1894532"/>
            <a:ext cx="1080973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>
                <a:solidFill>
                  <a:srgbClr val="000000"/>
                </a:solidFill>
              </a:rPr>
              <a:t>세금계산서 번호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5359086" y="1894877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7417102" y="1907622"/>
            <a:ext cx="989912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N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8292886" y="1915988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275659" y="1111133"/>
            <a:ext cx="605231" cy="242411"/>
            <a:chOff x="8491671" y="847116"/>
            <a:chExt cx="605231" cy="242411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91671" y="851432"/>
              <a:ext cx="200000" cy="238095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91670" y="847116"/>
              <a:ext cx="218269" cy="238111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6902" y="850705"/>
              <a:ext cx="200000" cy="238095"/>
            </a:xfrm>
            <a:prstGeom prst="rect">
              <a:avLst/>
            </a:prstGeom>
          </p:spPr>
        </p:pic>
      </p:grpSp>
      <p:sp>
        <p:nvSpPr>
          <p:cNvPr id="33" name="직사각형 32"/>
          <p:cNvSpPr/>
          <p:nvPr/>
        </p:nvSpPr>
        <p:spPr bwMode="auto">
          <a:xfrm>
            <a:off x="5545222" y="1904116"/>
            <a:ext cx="1080973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>
                <a:solidFill>
                  <a:srgbClr val="000000"/>
                </a:solidFill>
              </a:rPr>
              <a:t>세금계산서 번호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1587053" y="2290458"/>
            <a:ext cx="1080973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KTNET - ETB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2553899" y="2290803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4973007" y="2292367"/>
            <a:ext cx="1080973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5939853" y="2292712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7417102" y="2299210"/>
            <a:ext cx="575812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39" name="직사각형 38"/>
          <p:cNvSpPr/>
          <p:nvPr/>
        </p:nvSpPr>
        <p:spPr bwMode="auto">
          <a:xfrm>
            <a:off x="7878786" y="2306414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9252780" y="2284818"/>
            <a:ext cx="575812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41" name="직사각형 40"/>
          <p:cNvSpPr/>
          <p:nvPr/>
        </p:nvSpPr>
        <p:spPr bwMode="auto">
          <a:xfrm>
            <a:off x="9714464" y="2292022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467635" y="1214280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1-1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525928" y="123018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1-2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7655960" y="1238800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1-3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8604708" y="123018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1-4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832460" y="2025732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1-5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821983" y="2038037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1-6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82684" y="2589931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1-7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056143" y="2589931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1-8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417102" y="2589931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1-9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219371" y="2591638"/>
            <a:ext cx="559780" cy="1647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0000FF"/>
                </a:solidFill>
              </a:rPr>
              <a:t>1-10</a:t>
            </a:r>
            <a:endParaRPr lang="ko-KR" altLang="en-US" sz="900" b="1" dirty="0" err="1">
              <a:solidFill>
                <a:srgbClr val="0000FF"/>
              </a:solidFill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1265446" y="4259106"/>
            <a:ext cx="678040" cy="1766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2204998" y="4269709"/>
            <a:ext cx="1312896" cy="181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1265446" y="3828290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2019-01-01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55" name="Picture 12"/>
          <p:cNvPicPr>
            <a:picLocks noChangeAspect="1" noChangeArrowheads="1"/>
          </p:cNvPicPr>
          <p:nvPr/>
        </p:nvPicPr>
        <p:blipFill>
          <a:blip r:embed="rId7" cstate="print"/>
          <a:srcRect l="75599"/>
          <a:stretch>
            <a:fillRect/>
          </a:stretch>
        </p:blipFill>
        <p:spPr bwMode="auto">
          <a:xfrm>
            <a:off x="2151668" y="3838752"/>
            <a:ext cx="262278" cy="15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TextBox 55"/>
          <p:cNvSpPr txBox="1"/>
          <p:nvPr/>
        </p:nvSpPr>
        <p:spPr>
          <a:xfrm>
            <a:off x="2380558" y="3799146"/>
            <a:ext cx="2265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~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2637211" y="3828290"/>
            <a:ext cx="853452" cy="18185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2019-01-01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58" name="Picture 12"/>
          <p:cNvPicPr>
            <a:picLocks noChangeAspect="1" noChangeArrowheads="1"/>
          </p:cNvPicPr>
          <p:nvPr/>
        </p:nvPicPr>
        <p:blipFill>
          <a:blip r:embed="rId7" cstate="print"/>
          <a:srcRect l="75599"/>
          <a:stretch>
            <a:fillRect/>
          </a:stretch>
        </p:blipFill>
        <p:spPr bwMode="auto">
          <a:xfrm>
            <a:off x="3517894" y="3838752"/>
            <a:ext cx="262278" cy="15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직사각형 58"/>
          <p:cNvSpPr/>
          <p:nvPr/>
        </p:nvSpPr>
        <p:spPr bwMode="auto">
          <a:xfrm>
            <a:off x="2005748" y="3831006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3376535" y="3831006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251780" y="3818456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지출일자</a:t>
            </a:r>
          </a:p>
        </p:txBody>
      </p:sp>
      <p:sp>
        <p:nvSpPr>
          <p:cNvPr id="62" name="직사각형 61"/>
          <p:cNvSpPr/>
          <p:nvPr/>
        </p:nvSpPr>
        <p:spPr bwMode="auto">
          <a:xfrm>
            <a:off x="1046527" y="3821956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84" y="4262868"/>
            <a:ext cx="177132" cy="169080"/>
          </a:xfrm>
          <a:prstGeom prst="rect">
            <a:avLst/>
          </a:prstGeom>
        </p:spPr>
      </p:pic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672212"/>
              </p:ext>
            </p:extLst>
          </p:nvPr>
        </p:nvGraphicFramePr>
        <p:xfrm>
          <a:off x="194724" y="3695183"/>
          <a:ext cx="9659448" cy="145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34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4577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업무그룹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업무구분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입력사원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지출처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/>
                        <a:t>운임코드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1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Prepaid</a:t>
                      </a:r>
                      <a:r>
                        <a:rPr lang="en-US" altLang="ko-KR" sz="700" baseline="0" dirty="0"/>
                        <a:t> / Collect</a:t>
                      </a:r>
                      <a:endParaRPr lang="en-US" altLang="ko-KR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영업유형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/>
                        <a:t>부가세 여부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본</a:t>
                      </a:r>
                      <a:r>
                        <a:rPr lang="en-US" altLang="ko-KR" sz="700" dirty="0"/>
                        <a:t>/</a:t>
                      </a:r>
                      <a:r>
                        <a:rPr lang="ko-KR" altLang="en-US" sz="700" dirty="0"/>
                        <a:t>지사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직사각형 64"/>
          <p:cNvSpPr/>
          <p:nvPr/>
        </p:nvSpPr>
        <p:spPr bwMode="auto">
          <a:xfrm>
            <a:off x="5492366" y="3811922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6905186" y="3814510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67" name="직사각형 66"/>
          <p:cNvSpPr/>
          <p:nvPr/>
        </p:nvSpPr>
        <p:spPr bwMode="auto">
          <a:xfrm>
            <a:off x="7588809" y="3818010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4771768" y="3807275"/>
            <a:ext cx="827786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69" name="직사각형 68"/>
          <p:cNvSpPr/>
          <p:nvPr/>
        </p:nvSpPr>
        <p:spPr bwMode="auto">
          <a:xfrm>
            <a:off x="4680273" y="4270435"/>
            <a:ext cx="684075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운임코드</a:t>
            </a:r>
          </a:p>
        </p:txBody>
      </p:sp>
      <p:sp>
        <p:nvSpPr>
          <p:cNvPr id="70" name="직사각형 69"/>
          <p:cNvSpPr/>
          <p:nvPr/>
        </p:nvSpPr>
        <p:spPr bwMode="auto">
          <a:xfrm>
            <a:off x="1265018" y="4806612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71" name="직사각형 70"/>
          <p:cNvSpPr/>
          <p:nvPr/>
        </p:nvSpPr>
        <p:spPr bwMode="auto">
          <a:xfrm>
            <a:off x="1948641" y="4810112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7914926" y="4787667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73" name="직사각형 72"/>
          <p:cNvSpPr/>
          <p:nvPr/>
        </p:nvSpPr>
        <p:spPr bwMode="auto">
          <a:xfrm>
            <a:off x="8598549" y="4791167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-98563" y="359466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1-2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43768" y="3636735"/>
            <a:ext cx="9799471" cy="1592465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76" name="직사각형 75"/>
          <p:cNvSpPr/>
          <p:nvPr/>
        </p:nvSpPr>
        <p:spPr bwMode="auto">
          <a:xfrm>
            <a:off x="3888006" y="4798143"/>
            <a:ext cx="683957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77" name="직사각형 76"/>
          <p:cNvSpPr/>
          <p:nvPr/>
        </p:nvSpPr>
        <p:spPr bwMode="auto">
          <a:xfrm>
            <a:off x="4458132" y="4805347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1027167" y="371490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1-3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4500252" y="369167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1-4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6581150" y="369821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1-4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838579" y="4473792"/>
            <a:ext cx="2248636" cy="249477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solidFill>
                  <a:srgbClr val="0000FF"/>
                </a:solidFill>
              </a:rPr>
              <a:t>지출처</a:t>
            </a:r>
            <a:r>
              <a:rPr lang="ko-KR" altLang="en-US" dirty="0">
                <a:solidFill>
                  <a:srgbClr val="0000FF"/>
                </a:solidFill>
              </a:rPr>
              <a:t> 코드 </a:t>
            </a:r>
            <a:r>
              <a:rPr lang="ko-KR" altLang="en-US" dirty="0" err="1">
                <a:solidFill>
                  <a:srgbClr val="0000FF"/>
                </a:solidFill>
              </a:rPr>
              <a:t>조회시</a:t>
            </a:r>
            <a:r>
              <a:rPr lang="ko-KR" altLang="en-US" dirty="0">
                <a:solidFill>
                  <a:srgbClr val="0000FF"/>
                </a:solidFill>
              </a:rPr>
              <a:t> 화주코드   기본조회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00FF"/>
                </a:solidFill>
              </a:rPr>
              <a:t>화주코드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한글 상호 조회 및 표시 처리</a:t>
            </a:r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6604332" y="412075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1-7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251780" y="497063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1-8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656232" y="498195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1-9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4680272" y="498195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1-10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6898444" y="495055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1-11</a:t>
            </a:r>
            <a:endParaRPr lang="ko-KR" altLang="en-US" sz="700" b="1" dirty="0" err="1">
              <a:solidFill>
                <a:srgbClr val="FFFFFF"/>
              </a:solidFill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356" y="4270513"/>
            <a:ext cx="177132" cy="169080"/>
          </a:xfrm>
          <a:prstGeom prst="rect">
            <a:avLst/>
          </a:prstGeom>
        </p:spPr>
      </p:pic>
      <p:sp>
        <p:nvSpPr>
          <p:cNvPr id="88" name="직사각형 87"/>
          <p:cNvSpPr/>
          <p:nvPr/>
        </p:nvSpPr>
        <p:spPr bwMode="auto">
          <a:xfrm>
            <a:off x="5724388" y="4271247"/>
            <a:ext cx="929736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운임이름</a:t>
            </a:r>
          </a:p>
        </p:txBody>
      </p:sp>
      <p:sp>
        <p:nvSpPr>
          <p:cNvPr id="89" name="직사각형 88"/>
          <p:cNvSpPr/>
          <p:nvPr/>
        </p:nvSpPr>
        <p:spPr bwMode="auto">
          <a:xfrm>
            <a:off x="6897847" y="4281716"/>
            <a:ext cx="683957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>
                <a:solidFill>
                  <a:srgbClr val="000000"/>
                </a:solidFill>
              </a:rPr>
              <a:t>H B/L NO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90" name="직사각형 89"/>
          <p:cNvSpPr/>
          <p:nvPr/>
        </p:nvSpPr>
        <p:spPr bwMode="auto">
          <a:xfrm>
            <a:off x="7475593" y="4288920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1" name="직사각형 90"/>
          <p:cNvSpPr/>
          <p:nvPr/>
        </p:nvSpPr>
        <p:spPr bwMode="auto">
          <a:xfrm>
            <a:off x="7909215" y="4271247"/>
            <a:ext cx="1775159" cy="193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92" name="직사각형 91"/>
          <p:cNvSpPr/>
          <p:nvPr/>
        </p:nvSpPr>
        <p:spPr bwMode="auto">
          <a:xfrm>
            <a:off x="8739503" y="3804061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홍길동</a:t>
            </a:r>
          </a:p>
        </p:txBody>
      </p:sp>
      <p:sp>
        <p:nvSpPr>
          <p:cNvPr id="93" name="직사각형 92"/>
          <p:cNvSpPr/>
          <p:nvPr/>
        </p:nvSpPr>
        <p:spPr bwMode="auto">
          <a:xfrm>
            <a:off x="9423126" y="3807561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5969628" y="4810110"/>
            <a:ext cx="797794" cy="1847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>
                <a:solidFill>
                  <a:srgbClr val="000000"/>
                </a:solidFill>
              </a:rPr>
              <a:t>전체</a:t>
            </a:r>
          </a:p>
        </p:txBody>
      </p:sp>
      <p:sp>
        <p:nvSpPr>
          <p:cNvPr id="95" name="직사각형 94"/>
          <p:cNvSpPr/>
          <p:nvPr/>
        </p:nvSpPr>
        <p:spPr bwMode="auto">
          <a:xfrm>
            <a:off x="6653251" y="4813610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519634" y="4497999"/>
            <a:ext cx="2248636" cy="207628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0000FF"/>
                </a:solidFill>
              </a:rPr>
              <a:t>검색버튼 </a:t>
            </a:r>
            <a:r>
              <a:rPr lang="en-US" altLang="ko-KR" dirty="0">
                <a:solidFill>
                  <a:srgbClr val="0000FF"/>
                </a:solidFill>
              </a:rPr>
              <a:t>: </a:t>
            </a:r>
            <a:r>
              <a:rPr lang="ko-KR" altLang="en-US" dirty="0">
                <a:solidFill>
                  <a:srgbClr val="0000FF"/>
                </a:solidFill>
              </a:rPr>
              <a:t>운임코드 검색 팝업 제공 처리</a:t>
            </a:r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21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83" y="1052736"/>
            <a:ext cx="9001813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51979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2DBPMRbQEK4PwqppxHtX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Ne9y31qx0OExXY5K1tKhA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보고서 양식-HiLo(201101)">
  <a:themeElements>
    <a:clrScheme name="보고서 양식-HiLo(201101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보고서 양식-HiLo(201101)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noFill/>
        <a:ln w="9525">
          <a:solidFill>
            <a:srgbClr val="333333"/>
          </a:solidFill>
          <a:miter lim="800000"/>
          <a:headEnd/>
          <a:tailEnd type="stealth" w="med" len="med"/>
        </a:ln>
      </a:spPr>
      <a:bodyPr/>
      <a:lstStyle/>
    </a:lnDef>
  </a:objectDefaults>
  <a:extraClrSchemeLst>
    <a:extraClrScheme>
      <a:clrScheme name="보고서 양식-HiLo(201101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65780</TotalTime>
  <Words>2706</Words>
  <Application>Microsoft Office PowerPoint</Application>
  <PresentationFormat>사용자 지정</PresentationFormat>
  <Paragraphs>1013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17</vt:i4>
      </vt:variant>
    </vt:vector>
  </HeadingPairs>
  <TitlesOfParts>
    <vt:vector size="32" baseType="lpstr">
      <vt:lpstr>Rix고딕 M</vt:lpstr>
      <vt:lpstr>Rix모던고딕 B</vt:lpstr>
      <vt:lpstr>굴림</vt:lpstr>
      <vt:lpstr>굴림체</vt:lpstr>
      <vt:lpstr>돋움</vt:lpstr>
      <vt:lpstr>맑은 고딕</vt:lpstr>
      <vt:lpstr>Arial</vt:lpstr>
      <vt:lpstr>Century Gothic</vt:lpstr>
      <vt:lpstr>Tahoma</vt:lpstr>
      <vt:lpstr>Times New Roman</vt:lpstr>
      <vt:lpstr>Trebuchet MS</vt:lpstr>
      <vt:lpstr>Wingdings</vt:lpstr>
      <vt:lpstr>기본 디자인</vt:lpstr>
      <vt:lpstr>보고서 양식-HiLo(201101)</vt:lpstr>
      <vt:lpstr>5_기본 디자인</vt:lpstr>
      <vt:lpstr>PowerPoint 프레젠테이션</vt:lpstr>
      <vt:lpstr>PowerPoint 프레젠테이션</vt:lpstr>
      <vt:lpstr>자사관리</vt:lpstr>
      <vt:lpstr>자사관리2</vt:lpstr>
      <vt:lpstr>자사관리3</vt:lpstr>
      <vt:lpstr>자사관리4</vt:lpstr>
      <vt:lpstr>자사관리5</vt:lpstr>
      <vt:lpstr>PowerPoint 프레젠테이션</vt:lpstr>
      <vt:lpstr>AWB 화면 기본데이터 설정</vt:lpstr>
      <vt:lpstr>PowerPoint 프레젠테이션</vt:lpstr>
      <vt:lpstr>PowerPoint 프레젠테이션</vt:lpstr>
      <vt:lpstr>PowerPoint 프레젠테이션</vt:lpstr>
      <vt:lpstr>회계 이관설정(1/3)</vt:lpstr>
      <vt:lpstr>회계 이관설정(2/3)</vt:lpstr>
      <vt:lpstr>회계 이관설정(3/3)</vt:lpstr>
      <vt:lpstr>PowerPoint 프레젠테이션</vt:lpstr>
      <vt:lpstr>PowerPoint 프레젠테이션</vt:lpstr>
    </vt:vector>
  </TitlesOfParts>
  <Company>nklkg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htrfyn</dc:creator>
  <cp:lastModifiedBy>철원 허</cp:lastModifiedBy>
  <cp:revision>3167</cp:revision>
  <cp:lastPrinted>2012-07-25T06:04:23Z</cp:lastPrinted>
  <dcterms:created xsi:type="dcterms:W3CDTF">2006-04-26T01:16:56Z</dcterms:created>
  <dcterms:modified xsi:type="dcterms:W3CDTF">2026-02-20T04:56:05Z</dcterms:modified>
</cp:coreProperties>
</file>